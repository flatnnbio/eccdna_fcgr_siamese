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7"/>
  </p:notesMasterIdLst>
  <p:sldIdLst>
    <p:sldId id="256" r:id="rId2"/>
    <p:sldId id="262" r:id="rId3"/>
    <p:sldId id="258" r:id="rId4"/>
    <p:sldId id="259" r:id="rId5"/>
    <p:sldId id="261" r:id="rId6"/>
    <p:sldId id="299" r:id="rId7"/>
    <p:sldId id="260" r:id="rId8"/>
    <p:sldId id="300" r:id="rId9"/>
    <p:sldId id="263" r:id="rId10"/>
    <p:sldId id="302" r:id="rId11"/>
    <p:sldId id="303" r:id="rId12"/>
    <p:sldId id="305" r:id="rId13"/>
    <p:sldId id="298" r:id="rId14"/>
    <p:sldId id="304" r:id="rId15"/>
    <p:sldId id="307" r:id="rId16"/>
    <p:sldId id="308" r:id="rId17"/>
    <p:sldId id="309" r:id="rId18"/>
    <p:sldId id="311" r:id="rId19"/>
    <p:sldId id="270" r:id="rId20"/>
    <p:sldId id="269" r:id="rId21"/>
    <p:sldId id="264" r:id="rId22"/>
    <p:sldId id="312" r:id="rId23"/>
    <p:sldId id="310" r:id="rId24"/>
    <p:sldId id="313" r:id="rId25"/>
    <p:sldId id="275" r:id="rId2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8"/>
    </p:embeddedFont>
    <p:embeddedFont>
      <p:font typeface="Gotu" panose="020B0604020202020204" charset="0"/>
      <p:regular r:id="rId29"/>
    </p:embeddedFont>
    <p:embeddedFont>
      <p:font typeface="Hind" panose="02000000000000000000" pitchFamily="2" charset="0"/>
      <p:regular r:id="rId30"/>
      <p:bold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  <p:embeddedFont>
      <p:font typeface="Raleway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84D"/>
    <a:srgbClr val="314257"/>
    <a:srgbClr val="CFD8DF"/>
    <a:srgbClr val="EFE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DA97CB-BC0C-4334-BA0E-3EFF393776C6}">
  <a:tblStyle styleId="{2CDA97CB-BC0C-4334-BA0E-3EFF393776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5DCA86B-6774-4E93-95F1-1FBCC145B91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5" autoAdjust="0"/>
    <p:restoredTop sz="69020" autoAdjust="0"/>
  </p:normalViewPr>
  <p:slideViewPr>
    <p:cSldViewPr snapToGrid="0">
      <p:cViewPr varScale="1">
        <p:scale>
          <a:sx n="75" d="100"/>
          <a:sy n="75" d="100"/>
        </p:scale>
        <p:origin x="1824" y="43"/>
      </p:cViewPr>
      <p:guideLst/>
    </p:cSldViewPr>
  </p:slideViewPr>
  <p:outlineViewPr>
    <p:cViewPr>
      <p:scale>
        <a:sx n="33" d="100"/>
        <a:sy n="33" d="100"/>
      </p:scale>
      <p:origin x="0" y="-279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646" name="Google Shape;64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i="0" dirty="0"/>
              <a:t>Buongiorno, oggi presento il mio progetto dal titolo FCGR e Siamese Networks per l’analisi di similarità di eccDNA ed è un lavoro che si </a:t>
            </a:r>
            <a:r>
              <a:rPr lang="it-IT" i="0"/>
              <a:t>concentra appunto </a:t>
            </a:r>
            <a:r>
              <a:rPr lang="it-IT" i="0" dirty="0"/>
              <a:t>sull’uso di rappresentazioni FCGR e deep learning per l’analisi di sequenze eccDNA</a:t>
            </a:r>
            <a:endParaRPr i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30" name="Google Shape;730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Il progetto nasce da una domanda principale: capire se nelle sequenze di </a:t>
            </a:r>
            <a:r>
              <a:rPr lang="it-IT" dirty="0" err="1"/>
              <a:t>eccDNA</a:t>
            </a:r>
            <a:r>
              <a:rPr lang="it-IT" dirty="0"/>
              <a:t> sia presente un segnale composizionale che possa essere utilizzato per distinguere, o almeno mettere in relazione, campioni associati a diverse condizioni biologiche.</a:t>
            </a:r>
          </a:p>
          <a:p>
            <a:pPr marL="158750" indent="0">
              <a:buNone/>
            </a:pPr>
            <a:r>
              <a:rPr lang="it-IT" dirty="0"/>
              <a:t>Per affrontare questa domanda ho definito tre obiettivi.</a:t>
            </a:r>
          </a:p>
          <a:p>
            <a:pPr marL="158750" indent="0">
              <a:buNone/>
            </a:pPr>
            <a:r>
              <a:rPr lang="it-IT" dirty="0"/>
              <a:t>Il primo è trasformare le sequenze di </a:t>
            </a:r>
            <a:r>
              <a:rPr lang="it-IT" dirty="0" err="1"/>
              <a:t>eccDNA</a:t>
            </a:r>
            <a:r>
              <a:rPr lang="it-IT" dirty="0"/>
              <a:t> in rappresentazioni FCGR, in modo da descriverne la composizione attraverso le frequenze dei k-</a:t>
            </a:r>
            <a:r>
              <a:rPr lang="it-IT" dirty="0" err="1"/>
              <a:t>mer</a:t>
            </a:r>
            <a:r>
              <a:rPr lang="it-IT" dirty="0"/>
              <a:t> organizzate in una matrice bidimensionale.</a:t>
            </a:r>
          </a:p>
          <a:p>
            <a:pPr marL="158750" indent="0">
              <a:buNone/>
            </a:pPr>
            <a:r>
              <a:rPr lang="it-IT" dirty="0"/>
              <a:t>Il secondo obiettivo è utilizzare queste rappresentazioni per apprendere uno spazio di similarità tramite una Siamese Network. L’idea è fare in modo che campioni appartenenti alla stessa classe vengano rappresentati più vicini tra loro, mentre campioni appartenenti a classi differenti vengano allontanati. Questo approccio prende il nome di </a:t>
            </a:r>
            <a:r>
              <a:rPr lang="it-IT" dirty="0" err="1"/>
              <a:t>metric</a:t>
            </a:r>
            <a:r>
              <a:rPr lang="it-IT" dirty="0"/>
              <a:t> learning.</a:t>
            </a:r>
          </a:p>
          <a:p>
            <a:pPr marL="158750" indent="0">
              <a:buNone/>
            </a:pPr>
            <a:r>
              <a:rPr lang="it-IT" dirty="0"/>
              <a:t>Il terzo obiettivo è verificare quanto questo approccio sia realmente utile confrontandolo con una CNN </a:t>
            </a:r>
            <a:r>
              <a:rPr lang="it-IT" dirty="0" err="1"/>
              <a:t>multiclass</a:t>
            </a:r>
            <a:r>
              <a:rPr lang="it-IT" dirty="0"/>
              <a:t> diretta, costruita nelle condizioni più comparabili possibili. In questo secondo caso il modello non apprende principalmente una misura di similarità, ma viene addestrato direttamente a distinguere le 12 classi e produce un punteggio per ciascuna classe.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683" name="Google Shape;683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La presentazione è organizzata in 6 parti: 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02" name="Google Shape;702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1258269c9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18" name="Google Shape;718;g21258269c9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Prima di entrare nella parte computazionale, è utile chiarire che cosa si intende per eccDNA.</a:t>
            </a:r>
          </a:p>
          <a:p>
            <a:pPr marL="158750" indent="0">
              <a:buNone/>
            </a:pPr>
            <a:r>
              <a:rPr lang="it-IT" dirty="0"/>
              <a:t>Con DNA </a:t>
            </a:r>
            <a:r>
              <a:rPr lang="it-IT" dirty="0" err="1"/>
              <a:t>extracromosomico</a:t>
            </a:r>
            <a:r>
              <a:rPr lang="it-IT" dirty="0"/>
              <a:t> circolare si indicano molecole di DNA circolare che derivano dal genoma cromosomico, ma che si trovano al di fuori dei cromosomi.</a:t>
            </a:r>
          </a:p>
          <a:p>
            <a:pPr marL="158750" indent="0">
              <a:buNone/>
            </a:pPr>
            <a:r>
              <a:rPr lang="it-IT" dirty="0"/>
              <a:t>Un aspetto importante è che l’eccDNA non è esclusivamente associato a condizioni patologiche: può essere osservato anche in tessuti sani. Per questo nel progetto non è considerata la presenza di eccDNA come indicatore diretto di malattia.</a:t>
            </a:r>
          </a:p>
          <a:p>
            <a:pPr marL="158750" indent="0">
              <a:buNone/>
            </a:pPr>
            <a:r>
              <a:rPr lang="it-IT" dirty="0"/>
              <a:t>In ambito oncologico, però, alcune forme di DNA </a:t>
            </a:r>
            <a:r>
              <a:rPr lang="it-IT" dirty="0" err="1"/>
              <a:t>extracromosomico</a:t>
            </a:r>
            <a:r>
              <a:rPr lang="it-IT" dirty="0"/>
              <a:t> sono particolarmente interessanti perché possono essere associate all’amplificazione di oncogeni, all’eterogeneità tumorale e alla capacità del tumore di adattarsi più rapidamente, anche rispetto ai trattamenti.</a:t>
            </a:r>
          </a:p>
          <a:p>
            <a:pPr marL="158750" indent="0">
              <a:buNone/>
            </a:pPr>
            <a:r>
              <a:rPr lang="it-IT" dirty="0"/>
              <a:t>Per questo motivo il problema affrontato è capire se </a:t>
            </a:r>
            <a:r>
              <a:rPr lang="it-IT" b="0" dirty="0"/>
              <a:t>la composizione delle sequenze eccDNA </a:t>
            </a:r>
            <a:r>
              <a:rPr lang="it-IT" dirty="0"/>
              <a:t>contenga pattern associabili a differenti classi tumorali e alla classe </a:t>
            </a:r>
            <a:r>
              <a:rPr lang="it-IT" dirty="0" err="1"/>
              <a:t>Healthy</a:t>
            </a:r>
            <a:endParaRPr lang="it-IT" dirty="0"/>
          </a:p>
          <a:p>
            <a:pPr marL="158750" indent="0">
              <a:buNone/>
            </a:pPr>
            <a:endParaRPr lang="it-IT" dirty="0"/>
          </a:p>
          <a:p>
            <a:pPr marL="158750" indent="0">
              <a:buNone/>
            </a:pPr>
            <a:r>
              <a:rPr lang="it-IT" dirty="0"/>
              <a:t>Note: Gli oncogeni sono geni che, quando vengono attivati o amplificati in modo anomalo, possono favorire la proliferazione incontrollata delle cellule. In alcuni tumori, l’</a:t>
            </a:r>
            <a:r>
              <a:rPr lang="it-IT" dirty="0" err="1"/>
              <a:t>eccDNA</a:t>
            </a:r>
            <a:r>
              <a:rPr lang="it-IT" dirty="0"/>
              <a:t> può contenere copie aggiuntive di questi geni, contribuendo alla progressione tumorale.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>
          <a:extLst>
            <a:ext uri="{FF2B5EF4-FFF2-40B4-BE49-F238E27FC236}">
              <a16:creationId xmlns:a16="http://schemas.microsoft.com/office/drawing/2014/main" id="{ED52196D-A8E2-0504-E8EB-6E9CA806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1258269c9b_0_226:notes">
            <a:extLst>
              <a:ext uri="{FF2B5EF4-FFF2-40B4-BE49-F238E27FC236}">
                <a16:creationId xmlns:a16="http://schemas.microsoft.com/office/drawing/2014/main" id="{FF150EB1-475F-E25C-EA87-48215B1C2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4" name="Google Shape;774;g21258269c9b_0_226:notes">
                <a:extLst>
                  <a:ext uri="{FF2B5EF4-FFF2-40B4-BE49-F238E27FC236}">
                    <a16:creationId xmlns:a16="http://schemas.microsoft.com/office/drawing/2014/main" id="{31F038AD-B6F9-CDB4-7B70-74207C9363B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8750" indent="0">
                  <a:buNone/>
                </a:pPr>
                <a:r>
                  <a:rPr lang="it-IT" dirty="0"/>
                  <a:t>Una volta definite le sequenze eccDNA da analizzare, il passo successivo è trasformarle in una rappresentazione utilizzabile da una rete </a:t>
                </a:r>
                <a:r>
                  <a:rPr lang="it-IT" dirty="0" err="1"/>
                  <a:t>convoluzionale</a:t>
                </a:r>
                <a:r>
                  <a:rPr lang="it-IT" dirty="0"/>
                  <a:t>.</a:t>
                </a:r>
              </a:p>
              <a:p>
                <a:pPr marL="158750" indent="0">
                  <a:buNone/>
                </a:pPr>
                <a:r>
                  <a:rPr lang="it-IT" dirty="0"/>
                  <a:t>Il punto di partenza sono i k-</a:t>
                </a:r>
                <a:r>
                  <a:rPr lang="it-IT" dirty="0" err="1"/>
                  <a:t>mer</a:t>
                </a:r>
                <a:r>
                  <a:rPr lang="it-IT" dirty="0"/>
                  <a:t>, cioè sottosequenze di lunghezza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</m:oMath>
                </a14:m>
                <a:r>
                  <a:rPr lang="it-IT" dirty="0"/>
                  <a:t>. Scorrendo la sequenza possiamo contare quante volte compare ciascun possibile k-</a:t>
                </a:r>
                <a:r>
                  <a:rPr lang="it-IT" dirty="0" err="1"/>
                  <a:t>mer</a:t>
                </a:r>
                <a:r>
                  <a:rPr lang="it-IT" dirty="0"/>
                  <a:t>, ottenendo così una descrizione della composizione della sequenza senza dover effettuare un allineamento esplicito.</a:t>
                </a:r>
              </a:p>
              <a:p>
                <a:pPr marL="158750" indent="0">
                  <a:buNone/>
                </a:pPr>
                <a:r>
                  <a:rPr lang="it-IT" dirty="0"/>
                  <a:t>Queste frequenze vengono organizzate tramite la Frequency Chaos Game </a:t>
                </a:r>
                <a:r>
                  <a:rPr lang="it-IT" dirty="0" err="1"/>
                  <a:t>Representation</a:t>
                </a:r>
                <a:r>
                  <a:rPr lang="it-IT" dirty="0"/>
                  <a:t>, o FCGR che associa ogni possibile k-</a:t>
                </a:r>
                <a:r>
                  <a:rPr lang="it-IT" dirty="0" err="1"/>
                  <a:t>mer</a:t>
                </a:r>
                <a:r>
                  <a:rPr lang="it-IT" dirty="0"/>
                  <a:t> a una posizione specifica di una matrice bidimensionale e il valore della cella rappresenta la sua frequenza.</a:t>
                </a:r>
              </a:p>
              <a:p>
                <a:pPr marL="158750" indent="0">
                  <a:buNone/>
                </a:pPr>
                <a:r>
                  <a:rPr lang="it-IT" dirty="0"/>
                  <a:t>In questo modo una sequenza di DNA viene trasformata in un’immagine a singolo canale, che può essere utilizzata come input per una CNN.</a:t>
                </a:r>
              </a:p>
              <a:p>
                <a:pPr marL="158750" indent="0">
                  <a:buNone/>
                </a:pPr>
                <a:r>
                  <a:rPr lang="it-IT" dirty="0"/>
                  <a:t>La dimensione della matrice dipende da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</m:oMath>
                </a14:m>
                <a:r>
                  <a:rPr lang="it-IT" dirty="0"/>
                  <a:t>: 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100" b="0" i="0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pPr>
                      <m:e>
                        <m:r>
                          <a:rPr lang="it-IT" sz="1100" b="0" i="0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it-IT" sz="1100" b="0" i="1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𝑘</m:t>
                        </m:r>
                      </m:sup>
                    </m:sSup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×</m:t>
                    </m:r>
                    <m:sSup>
                      <m:sSupPr>
                        <m:ctrlPr>
                          <a:rPr lang="it-IT" sz="1100" b="0" i="0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pPr>
                      <m:e>
                        <m:r>
                          <a:rPr lang="it-IT" sz="1100" b="0" i="0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it-IT" sz="1100" b="0" i="1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it-IT" dirty="0"/>
                  <a:t>. In una prima fase ho esplorato valori di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1" u="none" strike="noStrike" cap="none" spc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</m:t>
                    </m:r>
                  </m:oMath>
                </a14:m>
                <a:r>
                  <a:rPr lang="it-IT" dirty="0"/>
                  <a:t>fino a 10 per valutare come cambiavano risoluzione, </a:t>
                </a:r>
                <a:r>
                  <a:rPr lang="it-IT" dirty="0" err="1"/>
                  <a:t>sparsità</a:t>
                </a:r>
                <a:r>
                  <a:rPr lang="it-IT" dirty="0"/>
                  <a:t> e costo computazionale delle FCGR. La dimensione cresce esponenzialmente: passando da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</m:oMath>
                </a14:m>
                <a:r>
                  <a:rPr lang="it-IT" dirty="0"/>
                  <a:t>a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+1</m:t>
                    </m:r>
                  </m:oMath>
                </a14:m>
                <a:r>
                  <a:rPr lang="it-IT" dirty="0"/>
                  <a:t>, il numero di celle quadruplica.</a:t>
                </a:r>
              </a:p>
              <a:p>
                <a:pPr marL="158750" indent="0">
                  <a:buNone/>
                </a:pPr>
                <a:r>
                  <a:rPr lang="it-IT" dirty="0"/>
                  <a:t>Successivamente, per la selezione del parametro da utilizzare nel modello, ho concentrato l’</a:t>
                </a:r>
                <a:r>
                  <a:rPr lang="it-IT" dirty="0" err="1"/>
                  <a:t>ablation</a:t>
                </a:r>
                <a:r>
                  <a:rPr lang="it-IT" dirty="0"/>
                  <a:t> principalmente su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=6</m:t>
                    </m:r>
                    <m:r>
                      <a:rPr lang="it-IT" sz="1100" b="0" i="0" u="none" strike="noStrike" cap="none" spc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</m:t>
                    </m:r>
                  </m:oMath>
                </a14:m>
                <a:r>
                  <a:rPr lang="it-IT" dirty="0"/>
                  <a:t>e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=7</m:t>
                    </m:r>
                  </m:oMath>
                </a14:m>
                <a:r>
                  <a:rPr lang="it-IT" dirty="0"/>
                  <a:t>. </a:t>
                </a:r>
              </a:p>
              <a:p>
                <a:pPr marL="158750" indent="0">
                  <a:buNone/>
                </a:pPr>
                <a:r>
                  <a:rPr lang="it-IT" dirty="0"/>
                  <a:t>Il passaggio a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=7</m:t>
                    </m:r>
                    <m:r>
                      <a:rPr lang="it-IT" sz="1100" b="0" i="0" u="none" strike="noStrike" cap="none" spc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</m:t>
                    </m:r>
                  </m:oMath>
                </a14:m>
                <a:r>
                  <a:rPr lang="it-IT" dirty="0"/>
                  <a:t>non ha prodotto un miglioramento consistente delle prestazioni di validazione rispetto a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=6</m:t>
                    </m:r>
                  </m:oMath>
                </a14:m>
                <a:r>
                  <a:rPr lang="it-IT" dirty="0"/>
                  <a:t>. Per questo non era conveniente spingersi ulteriormente verso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=8,9,10</m:t>
                    </m:r>
                  </m:oMath>
                </a14:m>
                <a:r>
                  <a:rPr lang="it-IT" dirty="0"/>
                  <a:t>, dove il costo aumenta molto e le matrici diventano progressivamente più sparse. Ho quindi scelto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=6</m:t>
                    </m:r>
                  </m:oMath>
                </a14:m>
                <a:r>
                  <a:rPr lang="it-IT" dirty="0"/>
                  <a:t> come miglior compromesso tra informazione composizionale, dimensione della rappresentazione e costo computazionale.</a:t>
                </a:r>
              </a:p>
            </p:txBody>
          </p:sp>
        </mc:Choice>
        <mc:Fallback xmlns="">
          <p:sp>
            <p:nvSpPr>
              <p:cNvPr id="774" name="Google Shape;774;g21258269c9b_0_226:notes">
                <a:extLst>
                  <a:ext uri="{FF2B5EF4-FFF2-40B4-BE49-F238E27FC236}">
                    <a16:creationId xmlns:a16="http://schemas.microsoft.com/office/drawing/2014/main" id="{31F038AD-B6F9-CDB4-7B70-74207C9363B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8750" indent="0">
                  <a:buNone/>
                </a:pPr>
                <a:r>
                  <a:rPr lang="it-IT" dirty="0"/>
                  <a:t>Una volta definite le sequenze eccDNA da analizzare, il passo successivo è trasformarle in una rappresentazione utilizzabile da una rete </a:t>
                </a:r>
                <a:r>
                  <a:rPr lang="it-IT" dirty="0" err="1"/>
                  <a:t>convoluzionale</a:t>
                </a:r>
                <a:r>
                  <a:rPr lang="it-IT" dirty="0"/>
                  <a:t>.</a:t>
                </a:r>
              </a:p>
              <a:p>
                <a:pPr marL="158750" indent="0">
                  <a:buNone/>
                </a:pPr>
                <a:r>
                  <a:rPr lang="it-IT" dirty="0"/>
                  <a:t>Il punto di partenza sono i k-</a:t>
                </a:r>
                <a:r>
                  <a:rPr lang="it-IT" dirty="0" err="1"/>
                  <a:t>mer</a:t>
                </a:r>
                <a:r>
                  <a:rPr lang="it-IT" dirty="0"/>
                  <a:t>, cioè sottosequenze di lunghezza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𝑘</a:t>
                </a:r>
                <a:r>
                  <a:rPr lang="it-IT" dirty="0"/>
                  <a:t>. Scorrendo la sequenza possiamo contare quante volte compare ciascun possibile k-</a:t>
                </a:r>
                <a:r>
                  <a:rPr lang="it-IT" dirty="0" err="1"/>
                  <a:t>mer</a:t>
                </a:r>
                <a:r>
                  <a:rPr lang="it-IT" dirty="0"/>
                  <a:t>, ottenendo così una descrizione della composizione della sequenza senza dover effettuare un allineamento esplicito.</a:t>
                </a:r>
              </a:p>
              <a:p>
                <a:pPr marL="158750" indent="0">
                  <a:buNone/>
                </a:pPr>
                <a:r>
                  <a:rPr lang="it-IT" dirty="0"/>
                  <a:t>Queste frequenze vengono organizzate tramite la Frequency Chaos Game </a:t>
                </a:r>
                <a:r>
                  <a:rPr lang="it-IT" dirty="0" err="1"/>
                  <a:t>Representation</a:t>
                </a:r>
                <a:r>
                  <a:rPr lang="it-IT" dirty="0"/>
                  <a:t>, o FCGR che associa ogni possibile k-</a:t>
                </a:r>
                <a:r>
                  <a:rPr lang="it-IT" dirty="0" err="1"/>
                  <a:t>mer</a:t>
                </a:r>
                <a:r>
                  <a:rPr lang="it-IT" dirty="0"/>
                  <a:t> a una posizione specifica di una matrice bidimensionale e il valore della cella rappresenta la sua frequenza.</a:t>
                </a:r>
              </a:p>
              <a:p>
                <a:pPr marL="158750" indent="0">
                  <a:buNone/>
                </a:pPr>
                <a:r>
                  <a:rPr lang="it-IT" dirty="0"/>
                  <a:t>In questo modo una sequenza di DNA viene trasformata in un’immagine a singolo canale, che può essere utilizzata come input per una CNN.</a:t>
                </a:r>
              </a:p>
              <a:p>
                <a:pPr marL="158750" indent="0">
                  <a:buNone/>
                </a:pPr>
                <a:r>
                  <a:rPr lang="it-IT" dirty="0"/>
                  <a:t>La dimensione della matrice dipende da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𝑘</a:t>
                </a:r>
                <a:r>
                  <a:rPr lang="it-IT" dirty="0"/>
                  <a:t>: è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2^𝑘×2^𝑘</a:t>
                </a:r>
                <a:r>
                  <a:rPr lang="it-IT" dirty="0"/>
                  <a:t>. In una prima fase ho esplorato valori di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𝑘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 </a:t>
                </a:r>
                <a:r>
                  <a:rPr lang="it-IT" dirty="0"/>
                  <a:t>fino a 10 per valutare come cambiavano risoluzione, </a:t>
                </a:r>
                <a:r>
                  <a:rPr lang="it-IT" dirty="0" err="1"/>
                  <a:t>sparsità</a:t>
                </a:r>
                <a:r>
                  <a:rPr lang="it-IT" dirty="0"/>
                  <a:t> e costo computazionale delle FCGR. La dimensione cresce esponenzialmente: passando da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𝑘</a:t>
                </a:r>
                <a:r>
                  <a:rPr lang="it-IT" dirty="0"/>
                  <a:t>a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𝑘+1</a:t>
                </a:r>
                <a:r>
                  <a:rPr lang="it-IT" dirty="0"/>
                  <a:t>, il numero di celle quadruplica.</a:t>
                </a:r>
              </a:p>
              <a:p>
                <a:pPr marL="158750" indent="0">
                  <a:buNone/>
                </a:pPr>
                <a:r>
                  <a:rPr lang="it-IT" dirty="0"/>
                  <a:t>Successivamente, per la selezione del parametro da utilizzare nel modello, ho concentrato l’</a:t>
                </a:r>
                <a:r>
                  <a:rPr lang="it-IT" dirty="0" err="1"/>
                  <a:t>ablation</a:t>
                </a:r>
                <a:r>
                  <a:rPr lang="it-IT" dirty="0"/>
                  <a:t> principalmente su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𝑘=6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 </a:t>
                </a:r>
                <a:r>
                  <a:rPr lang="it-IT" dirty="0"/>
                  <a:t>e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𝑘=7</a:t>
                </a:r>
                <a:r>
                  <a:rPr lang="it-IT" dirty="0"/>
                  <a:t>. </a:t>
                </a:r>
              </a:p>
              <a:p>
                <a:pPr marL="158750" indent="0">
                  <a:buNone/>
                </a:pPr>
                <a:r>
                  <a:rPr lang="it-IT" dirty="0"/>
                  <a:t>Il passaggio a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𝑘=7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 </a:t>
                </a:r>
                <a:r>
                  <a:rPr lang="it-IT" dirty="0"/>
                  <a:t>non ha prodotto un miglioramento consistente delle prestazioni di validazione rispetto a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𝑘=6</a:t>
                </a:r>
                <a:r>
                  <a:rPr lang="it-IT" dirty="0"/>
                  <a:t>. Per questo non era conveniente spingersi ulteriormente verso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𝑘=8,9,10</a:t>
                </a:r>
                <a:r>
                  <a:rPr lang="it-IT" dirty="0"/>
                  <a:t>, dove il costo aumenta molto e le matrici diventano progressivamente più sparse. Ho quindi scelto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𝑘=6</a:t>
                </a:r>
                <a:r>
                  <a:rPr lang="it-IT" dirty="0"/>
                  <a:t> come miglior compromesso tra informazione composizionale, dimensione della rappresentazione e costo computazionale.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317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4459266da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10" name="Google Shape;710;g24459266da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Una volta trasformate le sequenze in FCGR, il primo paradigma che ho utilizzato è il </a:t>
            </a:r>
            <a:r>
              <a:rPr lang="it-IT" dirty="0" err="1"/>
              <a:t>metric</a:t>
            </a:r>
            <a:r>
              <a:rPr lang="it-IT" dirty="0"/>
              <a:t> learning tramite una rete Siamese.</a:t>
            </a:r>
          </a:p>
          <a:p>
            <a:pPr marL="158750" indent="0">
              <a:buNone/>
            </a:pPr>
            <a:r>
              <a:rPr lang="it-IT" dirty="0"/>
              <a:t>Una rete Siamese è composta da due rami che condividono esattamente gli stessi pesi. In questo caso entrambi i rami utilizzano la stessa CNN come encoder e trasformano le due FCGR in due rappresentazioni vettoriali nello spazio latente.</a:t>
            </a:r>
          </a:p>
          <a:p>
            <a:pPr marL="158750" indent="0">
              <a:buNone/>
            </a:pPr>
            <a:r>
              <a:rPr lang="it-IT" dirty="0"/>
              <a:t>Come già accennato l’obiettivo del </a:t>
            </a:r>
            <a:r>
              <a:rPr lang="it-IT" dirty="0" err="1"/>
              <a:t>metric</a:t>
            </a:r>
            <a:r>
              <a:rPr lang="it-IT" dirty="0"/>
              <a:t> learning non è ancora assegnare una classe, ma imparare una geometria: campioni appartenenti alla stessa classe devono risultare vicini, mentre campioni di classi differenti devono essere più distanti. Quindi il modello non impara direttamente a predire una classe, ma impara  uno spazio latente, in cui la distanza tra i campioni abbia un significato. Successivamente, un nuovo campione può essere associato a una classe confrontando il suo </a:t>
            </a:r>
            <a:r>
              <a:rPr lang="it-IT" dirty="0" err="1"/>
              <a:t>embedding</a:t>
            </a:r>
            <a:r>
              <a:rPr lang="it-IT" dirty="0"/>
              <a:t> con quelli di campioni di riferimento.</a:t>
            </a:r>
          </a:p>
          <a:p>
            <a:pPr marL="158750" indent="0">
              <a:buNone/>
            </a:pPr>
            <a:r>
              <a:rPr lang="it-IT" dirty="0"/>
              <a:t>Questo è il principio centrale della pipeline Siamese utilizzata nel progetto.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>
          <a:extLst>
            <a:ext uri="{FF2B5EF4-FFF2-40B4-BE49-F238E27FC236}">
              <a16:creationId xmlns:a16="http://schemas.microsoft.com/office/drawing/2014/main" id="{11621B24-EDA4-D8B5-1E81-966898175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1258269c9b_0_0:notes">
            <a:extLst>
              <a:ext uri="{FF2B5EF4-FFF2-40B4-BE49-F238E27FC236}">
                <a16:creationId xmlns:a16="http://schemas.microsoft.com/office/drawing/2014/main" id="{53AE56A7-B039-1ADA-6A4A-D37CD6BEE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02" name="Google Shape;702;g21258269c9b_0_0:notes">
            <a:extLst>
              <a:ext uri="{FF2B5EF4-FFF2-40B4-BE49-F238E27FC236}">
                <a16:creationId xmlns:a16="http://schemas.microsoft.com/office/drawing/2014/main" id="{6AA24595-BBA8-C76A-BBFF-C3BBF7491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Passiamo ora al dataset utilizzato e alla costruzione del task finale.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2041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140bdeee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60" name="Google Shape;760;g2140bdeee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Il dataset di partenza mette in relazione sequenze eccDNA e informazioni biologiche associate.</a:t>
            </a:r>
          </a:p>
          <a:p>
            <a:pPr marL="158750" indent="0">
              <a:buNone/>
            </a:pPr>
            <a:r>
              <a:rPr lang="it-IT" dirty="0"/>
              <a:t>Le principali sorgenti sono </a:t>
            </a:r>
            <a:r>
              <a:rPr lang="it-IT" dirty="0" err="1"/>
              <a:t>CircleBase</a:t>
            </a:r>
            <a:r>
              <a:rPr lang="it-IT" dirty="0"/>
              <a:t> V2 ed </a:t>
            </a:r>
            <a:r>
              <a:rPr lang="it-IT" dirty="0" err="1"/>
              <a:t>eccDNABase</a:t>
            </a:r>
            <a:r>
              <a:rPr lang="it-IT" dirty="0"/>
              <a:t>. I dati sono organizzati principalmente in due file: un file FASTA contenente le sequenze e un file TSV contenente i metadati; i record dei due file vengono collegati attraverso un identificativo comune.</a:t>
            </a:r>
          </a:p>
          <a:p>
            <a:pPr marL="158750" indent="0">
              <a:buNone/>
            </a:pPr>
            <a:r>
              <a:rPr lang="it-IT" dirty="0"/>
              <a:t>Tra i metadati sono presenti diverse informazioni, ma per questo progetto il campo utilizzato come target è la disease associata al record.</a:t>
            </a:r>
          </a:p>
          <a:p>
            <a:pPr marL="158750" indent="0">
              <a:buNone/>
            </a:pPr>
            <a:r>
              <a:rPr lang="it-IT" dirty="0"/>
              <a:t>Inoltre il dataset originale è molto ampio, con circa 3,76 milioni di record: circa 450 mila associati alla classe Healthy e oltre 3,3 milioni associati a condizioni patologiche.</a:t>
            </a:r>
          </a:p>
          <a:p>
            <a:pPr marL="158750" indent="0">
              <a:buNone/>
            </a:pPr>
            <a:r>
              <a:rPr lang="it-IT" dirty="0"/>
              <a:t>Dopo la fase di analisi e selezione delle classi, il task finale è stato definito su 12 classi: 11 classi tumorali più la classe Healthy.</a:t>
            </a:r>
          </a:p>
          <a:p>
            <a:pPr marL="158750" indent="0">
              <a:buNone/>
            </a:pPr>
            <a:r>
              <a:rPr lang="it-IT" dirty="0"/>
              <a:t>La presenza della classe Healthy è importante perché, come visto prima, l’eccDNA può essere presente anche in condizioni non patologiche.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>
          <a:extLst>
            <a:ext uri="{FF2B5EF4-FFF2-40B4-BE49-F238E27FC236}">
              <a16:creationId xmlns:a16="http://schemas.microsoft.com/office/drawing/2014/main" id="{955539DC-A123-A4BC-2089-3A6F15A2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140bdeeea4_0_0:notes">
            <a:extLst>
              <a:ext uri="{FF2B5EF4-FFF2-40B4-BE49-F238E27FC236}">
                <a16:creationId xmlns:a16="http://schemas.microsoft.com/office/drawing/2014/main" id="{16730E8E-CC5A-2738-55B0-57CDEFB62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60" name="Google Shape;760;g2140bdeeea4_0_0:notes">
            <a:extLst>
              <a:ext uri="{FF2B5EF4-FFF2-40B4-BE49-F238E27FC236}">
                <a16:creationId xmlns:a16="http://schemas.microsoft.com/office/drawing/2014/main" id="{49B1C637-A1F8-D3EB-6007-EE806CE950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Il task finale utilizza 96.167 campioni per il training, 9.753 per la </a:t>
            </a:r>
            <a:r>
              <a:rPr lang="it-IT" dirty="0" err="1"/>
              <a:t>validation</a:t>
            </a:r>
            <a:r>
              <a:rPr lang="it-IT" dirty="0"/>
              <a:t> e 8.923 per il test. Per gli split è stato mantenuto come riferimento il campo </a:t>
            </a:r>
            <a:r>
              <a:rPr lang="it-IT" sz="1100" b="0" i="0" u="none" strike="noStrike" cap="none" spc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split_cluster</a:t>
            </a:r>
            <a:r>
              <a:rPr lang="it-IT" dirty="0"/>
              <a:t>, che permette di ridurre il rischio che regioni genomiche molto simili finiscano in insiemi differenti.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it-IT" dirty="0"/>
              <a:t>Un aspetto importante nella preparazione del dataset è stato il controllo del data leakage. Infatti, il test è stato mantenuto congelato durante la selezione degli </a:t>
            </a:r>
            <a:r>
              <a:rPr lang="it-IT" dirty="0" err="1"/>
              <a:t>iperparametri</a:t>
            </a:r>
            <a:r>
              <a:rPr lang="it-IT" dirty="0"/>
              <a:t> e dei checkpoint ed è stato utilizzato soltanto per la valutazione finale.</a:t>
            </a:r>
          </a:p>
          <a:p>
            <a:pPr marL="158750" indent="0">
              <a:buNone/>
            </a:pPr>
            <a:r>
              <a:rPr lang="it-IT" dirty="0"/>
              <a:t>Anche nel </a:t>
            </a:r>
            <a:r>
              <a:rPr lang="it-IT" dirty="0" err="1"/>
              <a:t>metric</a:t>
            </a:r>
            <a:r>
              <a:rPr lang="it-IT" dirty="0"/>
              <a:t> learning, le coppie vengono costruite soltanto dopo aver effettuato lo split, e la reference bank utilizzata in inferenza contiene esclusivamente campioni provenienti dal training set.</a:t>
            </a:r>
          </a:p>
          <a:p>
            <a:pPr marL="158750" indent="0">
              <a:buNone/>
            </a:pPr>
            <a:r>
              <a:rPr lang="it-IT" dirty="0"/>
              <a:t>Per quanto riguarda lo sbilanciamento ho eseguito due esperimenti: inizialmente ho utilizzato un </a:t>
            </a:r>
            <a:r>
              <a:rPr lang="it-IT" dirty="0" err="1"/>
              <a:t>downsampling</a:t>
            </a:r>
            <a:r>
              <a:rPr lang="it-IT" dirty="0"/>
              <a:t> alla numerosità della classe minoritaria, cioè 2.111 campioni per classe, ottenendo un training set di 25.332 campioni.</a:t>
            </a:r>
          </a:p>
          <a:p>
            <a:pPr marL="158750" indent="0">
              <a:buNone/>
            </a:pPr>
            <a:r>
              <a:rPr lang="it-IT" dirty="0"/>
              <a:t>Successivamente ho mantenuto tutti i 96.167 campioni e ho spostato il bilanciamento a livello di batch: ogni batch contiene 5 campioni per ciascuna delle 12 classi, per un batch size complessivo di 60.</a:t>
            </a:r>
          </a:p>
          <a:p>
            <a:pPr marL="158750" indent="0">
              <a:buNone/>
            </a:pPr>
            <a:r>
              <a:rPr lang="it-IT" dirty="0"/>
              <a:t>In questo modo nessun campione delle classi maggioritarie viene eliminato, mentre le classi minoritarie vengono campionate più frequentemente.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1662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>
          <a:extLst>
            <a:ext uri="{FF2B5EF4-FFF2-40B4-BE49-F238E27FC236}">
              <a16:creationId xmlns:a16="http://schemas.microsoft.com/office/drawing/2014/main" id="{B6D1B1CB-DF04-F894-3ADF-79A9C7DED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1258269c9b_0_0:notes">
            <a:extLst>
              <a:ext uri="{FF2B5EF4-FFF2-40B4-BE49-F238E27FC236}">
                <a16:creationId xmlns:a16="http://schemas.microsoft.com/office/drawing/2014/main" id="{C1934522-2A02-20A3-F315-E6255BD351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02" name="Google Shape;702;g21258269c9b_0_0:notes">
            <a:extLst>
              <a:ext uri="{FF2B5EF4-FFF2-40B4-BE49-F238E27FC236}">
                <a16:creationId xmlns:a16="http://schemas.microsoft.com/office/drawing/2014/main" id="{C18C1F55-7D7E-55EE-C1F6-1D6285D968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7107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>
          <a:extLst>
            <a:ext uri="{FF2B5EF4-FFF2-40B4-BE49-F238E27FC236}">
              <a16:creationId xmlns:a16="http://schemas.microsoft.com/office/drawing/2014/main" id="{5812F1C0-12AE-357B-59CF-AE3381F19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1258269c9b_0_103:notes">
            <a:extLst>
              <a:ext uri="{FF2B5EF4-FFF2-40B4-BE49-F238E27FC236}">
                <a16:creationId xmlns:a16="http://schemas.microsoft.com/office/drawing/2014/main" id="{DAFD6548-9D05-084A-FE95-8C48B18CB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18" name="Google Shape;718;g21258269c9b_0_103:notes">
            <a:extLst>
              <a:ext uri="{FF2B5EF4-FFF2-40B4-BE49-F238E27FC236}">
                <a16:creationId xmlns:a16="http://schemas.microsoft.com/office/drawing/2014/main" id="{F4BC5F15-F308-DE6C-C841-A397B6CBE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Prima di descrivere separatamente i due modelli, guardiamo il </a:t>
            </a:r>
            <a:r>
              <a:rPr lang="it-IT" dirty="0" err="1"/>
              <a:t>backbone</a:t>
            </a:r>
            <a:r>
              <a:rPr lang="it-IT" dirty="0"/>
              <a:t> </a:t>
            </a:r>
            <a:r>
              <a:rPr lang="it-IT" dirty="0" err="1"/>
              <a:t>convoluzionale</a:t>
            </a:r>
            <a:r>
              <a:rPr lang="it-IT" dirty="0"/>
              <a:t> che hanno in comune.</a:t>
            </a:r>
          </a:p>
          <a:p>
            <a:pPr marL="158750" indent="0">
              <a:buNone/>
            </a:pPr>
            <a:r>
              <a:rPr lang="it-IT" dirty="0"/>
              <a:t>L’input della rete è una FCGR 64 x 64 che viene elaborata attraverso una successione di cinque </a:t>
            </a:r>
            <a:r>
              <a:rPr lang="it-IT" dirty="0" err="1"/>
              <a:t>layer</a:t>
            </a:r>
            <a:r>
              <a:rPr lang="it-IT" dirty="0"/>
              <a:t> </a:t>
            </a:r>
            <a:r>
              <a:rPr lang="it-IT" dirty="0" err="1"/>
              <a:t>convoluzionali</a:t>
            </a:r>
            <a:r>
              <a:rPr lang="it-IT" dirty="0"/>
              <a:t> con kernel 3×3. Il numero di canali aumenta progressivamente da 32 a 64 e infine a 128, mentre tre operazioni di MaxPooling riducono gradualmente la risoluzione spaziale. Nei blocchi </a:t>
            </a:r>
            <a:r>
              <a:rPr lang="it-IT" dirty="0" err="1"/>
              <a:t>convoluzionali</a:t>
            </a:r>
            <a:r>
              <a:rPr lang="it-IT" dirty="0"/>
              <a:t> viene utilizzata la Group </a:t>
            </a:r>
            <a:r>
              <a:rPr lang="it-IT" dirty="0" err="1"/>
              <a:t>Normalization</a:t>
            </a:r>
            <a:r>
              <a:rPr lang="it-IT" dirty="0"/>
              <a:t> insieme alla funzione di attivazione ReLU. Dopo l’ultima convoluzione viene applicato un Adaptive </a:t>
            </a:r>
            <a:r>
              <a:rPr lang="it-IT" dirty="0" err="1"/>
              <a:t>Average</a:t>
            </a:r>
            <a:r>
              <a:rPr lang="it-IT" dirty="0"/>
              <a:t> Pooling che porta le feature </a:t>
            </a:r>
            <a:r>
              <a:rPr lang="it-IT" dirty="0" err="1"/>
              <a:t>map</a:t>
            </a:r>
            <a:r>
              <a:rPr lang="it-IT" dirty="0"/>
              <a:t> a dimensione 4×4. L’output viene quindi appiattito in un vettore di 2048 elementi e proiettato attraverso due </a:t>
            </a:r>
            <a:r>
              <a:rPr lang="it-IT" dirty="0" err="1"/>
              <a:t>layer</a:t>
            </a:r>
            <a:r>
              <a:rPr lang="it-IT" dirty="0"/>
              <a:t> </a:t>
            </a:r>
            <a:r>
              <a:rPr lang="it-IT" dirty="0" err="1"/>
              <a:t>fully</a:t>
            </a:r>
            <a:r>
              <a:rPr lang="it-IT" dirty="0"/>
              <a:t> </a:t>
            </a:r>
            <a:r>
              <a:rPr lang="it-IT" dirty="0" err="1"/>
              <a:t>connected</a:t>
            </a:r>
            <a:r>
              <a:rPr lang="it-IT" dirty="0"/>
              <a:t>, prima a 256 e poi a 128 dimensioni.</a:t>
            </a:r>
          </a:p>
          <a:p>
            <a:pPr marL="158750" indent="0">
              <a:buNone/>
            </a:pPr>
            <a:r>
              <a:rPr lang="it-IT" dirty="0"/>
              <a:t>Il punto importante è che </a:t>
            </a:r>
            <a:r>
              <a:rPr lang="it-IT" b="0" dirty="0"/>
              <a:t>questo </a:t>
            </a:r>
            <a:r>
              <a:rPr lang="it-IT" b="0" dirty="0" err="1"/>
              <a:t>backbone</a:t>
            </a:r>
            <a:r>
              <a:rPr lang="it-IT" b="0" dirty="0"/>
              <a:t> è identico</a:t>
            </a:r>
            <a:r>
              <a:rPr lang="it-IT" dirty="0"/>
              <a:t> sia per la Siamese Network sia per la CNN diretta e quello che cambia è solamente l’uso finale della rappresentazione a 128 dimensioni. In questo modo il confronto tra i due approcci dipende principalmente dal diverso paradigma di apprendimento e non da una diversa capacità del feature </a:t>
            </a:r>
            <a:r>
              <a:rPr lang="it-IT" dirty="0" err="1"/>
              <a:t>extractor</a:t>
            </a:r>
            <a:r>
              <a:rPr lang="it-IT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40984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>
          <a:extLst>
            <a:ext uri="{FF2B5EF4-FFF2-40B4-BE49-F238E27FC236}">
              <a16:creationId xmlns:a16="http://schemas.microsoft.com/office/drawing/2014/main" id="{54E0EACA-38AD-0A23-C1B8-E73DE1DFB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11e375b9f55_0_12:notes">
            <a:extLst>
              <a:ext uri="{FF2B5EF4-FFF2-40B4-BE49-F238E27FC236}">
                <a16:creationId xmlns:a16="http://schemas.microsoft.com/office/drawing/2014/main" id="{26D073FA-5D1D-466B-CABF-0BACB1FB7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3" name="Google Shape;793;g11e375b9f55_0_12:notes">
                <a:extLst>
                  <a:ext uri="{FF2B5EF4-FFF2-40B4-BE49-F238E27FC236}">
                    <a16:creationId xmlns:a16="http://schemas.microsoft.com/office/drawing/2014/main" id="{FEFE8835-41D1-5A9E-9AAB-CFD0248C2C5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8750" indent="0">
                  <a:buNone/>
                </a:pPr>
                <a:r>
                  <a:rPr lang="it-IT" dirty="0"/>
                  <a:t>Il training della Siamese è stato suddiviso in due fasi.</a:t>
                </a:r>
              </a:p>
              <a:p>
                <a:pPr marL="158750" indent="0">
                  <a:buNone/>
                </a:pPr>
                <a:r>
                  <a:rPr lang="it-IT" dirty="0"/>
                  <a:t>Nelle prime tre epoche utilizzo un </a:t>
                </a:r>
                <a:r>
                  <a:rPr lang="it-IT" dirty="0" err="1"/>
                  <a:t>warm</a:t>
                </a:r>
                <a:r>
                  <a:rPr lang="it-IT" dirty="0"/>
                  <a:t>-up con coppie positive e negative campionate casualmente. Questa prima fase serve a dare all’encoder una struttura iniziale dello spazio degli embedding, perché all’inizio del training le distanze tra campioni non sono ancora sufficientemente informative per guidare il mining.</a:t>
                </a:r>
              </a:p>
              <a:p>
                <a:pPr marL="158750" indent="0">
                  <a:buNone/>
                </a:pPr>
                <a:r>
                  <a:rPr lang="it-IT" dirty="0"/>
                  <a:t>Successivamente passo al Dynamic Semi-Hard Negative Mining. Per ogni anchor viene scelto un positive della stessa classe e vengono generati sei candidati negative appartenenti a classi differenti.</a:t>
                </a:r>
              </a:p>
              <a:p>
                <a:pPr marL="158750" indent="0">
                  <a:buNone/>
                </a:pPr>
                <a:r>
                  <a:rPr lang="it-IT" dirty="0"/>
                  <a:t>Il confronto tra gli embedding viene effettuato tramite </a:t>
                </a:r>
                <a:r>
                  <a:rPr lang="it-IT" b="0" dirty="0"/>
                  <a:t>distanza Euclidea</a:t>
                </a:r>
                <a:r>
                  <a:rPr lang="it-IT" dirty="0"/>
                  <a:t>. Si cerca un negative che soddisfi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00" b="0" i="1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it-IT" sz="1100" b="0" i="1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it-IT" sz="1100" b="0" i="0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+</m:t>
                        </m:r>
                      </m:sub>
                    </m:sSub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&lt;</m:t>
                    </m:r>
                    <m:sSub>
                      <m:sSubPr>
                        <m:ctrlPr>
                          <a:rPr lang="it-IT" sz="1100" b="0" i="1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it-IT" sz="1100" b="0" i="1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it-IT" sz="1100" b="0" i="0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−</m:t>
                        </m:r>
                      </m:sub>
                    </m:sSub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&lt;</m:t>
                    </m:r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𝑚</m:t>
                    </m:r>
                  </m:oMath>
                </a14:m>
                <a:r>
                  <a:rPr lang="it-IT" dirty="0"/>
                  <a:t> (dove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00" b="0" i="1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it-IT" sz="1100" b="0" i="1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it-IT" sz="1100" b="0" i="0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+</m:t>
                        </m:r>
                      </m:sub>
                    </m:sSub>
                  </m:oMath>
                </a14:m>
                <a:r>
                  <a:rPr lang="it-IT" dirty="0"/>
                  <a:t>è la distanza tra anchor e positive,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00" b="0" i="1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it-IT" sz="1100" b="0" i="1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it-IT" sz="1100" b="0" i="0" u="none" strike="noStrike" cap="none" spc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−</m:t>
                        </m:r>
                      </m:sub>
                    </m:sSub>
                  </m:oMath>
                </a14:m>
                <a:r>
                  <a:rPr lang="it-IT" dirty="0"/>
                  <a:t>quella tra anchor e negative e il margine è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𝑚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=1.25</m:t>
                    </m:r>
                  </m:oMath>
                </a14:m>
                <a:r>
                  <a:rPr lang="it-IT" dirty="0"/>
                  <a:t>). Quindi il negative deve essere già più lontano del positive, ma deve trovarsi ancora all’interno del margine. È proprio questa seconda condizione a renderlo informativo: il modello non lo separa ancora abbastanza. Ho scelto il semi-hard mining perché permette di concentrarsi su esempi difficili ma non estremi. Negli esperimenti preliminari, un hard mining più aggressivo risultava meno stabile, probabilmente perché selezionava continuamente i negative più difficili, che nelle prime fasi possono anche essere </a:t>
                </a:r>
                <a:r>
                  <a:rPr lang="it-IT" dirty="0" err="1"/>
                  <a:t>outlier</a:t>
                </a:r>
                <a:r>
                  <a:rPr lang="it-IT" dirty="0"/>
                  <a:t> o esempi molto ambigui.</a:t>
                </a:r>
              </a:p>
              <a:p>
                <a:pPr marL="15875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it-IT" dirty="0"/>
                  <a:t>La Contrastive Loss utilizza la stessa distanza Euclidea per l’ottimizzazione: riduce la distanza tra campioni della stessa classe e penalizza i negative che rimangono entro il margine, questo</a:t>
                </a:r>
                <a:r>
                  <a:rPr lang="it-IT" baseline="0" dirty="0"/>
                  <a:t> p</a:t>
                </a:r>
                <a:r>
                  <a:rPr lang="it-IT" dirty="0"/>
                  <a:t>erché nella </a:t>
                </a:r>
                <a:r>
                  <a:rPr lang="it-IT" b="0" dirty="0"/>
                  <a:t>Contrastive Loss</a:t>
                </a:r>
                <a:r>
                  <a:rPr lang="it-IT" dirty="0"/>
                  <a:t> il margine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𝑚</m:t>
                    </m:r>
                    <m:r>
                      <a:rPr lang="it-IT" sz="1100" b="0" i="1" u="none" strike="noStrike" cap="none" spc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</m:t>
                    </m:r>
                  </m:oMath>
                </a14:m>
                <a:r>
                  <a:rPr lang="it-IT" dirty="0"/>
                  <a:t>rappresenta la distanza minima che vogliamo tra due campioni di classi diverse.</a:t>
                </a:r>
              </a:p>
              <a:p>
                <a:pPr marL="158750" indent="0">
                  <a:buNone/>
                </a:pPr>
                <a:r>
                  <a:rPr lang="it-IT" dirty="0"/>
                  <a:t>Il checkpoint migliore viene infine selezionato sulla ROC-AUC del </a:t>
                </a:r>
                <a:r>
                  <a:rPr lang="it-IT" dirty="0" err="1"/>
                  <a:t>validation</a:t>
                </a:r>
                <a:r>
                  <a:rPr lang="it-IT" dirty="0"/>
                  <a:t> </a:t>
                </a:r>
                <a:r>
                  <a:rPr lang="it-IT" dirty="0" err="1"/>
                  <a:t>pairwise</a:t>
                </a:r>
                <a:r>
                  <a:rPr lang="it-IT" dirty="0"/>
                  <a:t> set (è il set di validazione costruito sotto forma di coppie di campioni, perché la Siamese viene valutata sulla capacità di distinguere coppie </a:t>
                </a:r>
                <a:r>
                  <a:rPr lang="it-IT" dirty="0" err="1"/>
                  <a:t>same</a:t>
                </a:r>
                <a:r>
                  <a:rPr lang="it-IT" dirty="0"/>
                  <a:t>-class da coppie </a:t>
                </a:r>
                <a:r>
                  <a:rPr lang="it-IT" dirty="0" err="1"/>
                  <a:t>different</a:t>
                </a:r>
                <a:r>
                  <a:rPr lang="it-IT" dirty="0"/>
                  <a:t>-class).</a:t>
                </a:r>
              </a:p>
              <a:p>
                <a:pPr marL="158750" indent="0">
                  <a:buNone/>
                </a:pPr>
                <a:endParaRPr lang="it-IT" dirty="0"/>
              </a:p>
              <a:p>
                <a:pPr marL="158750" indent="0">
                  <a:buNone/>
                </a:pPr>
                <a:r>
                  <a:rPr lang="it-IT" dirty="0"/>
                  <a:t>Note:</a:t>
                </a:r>
              </a:p>
            </p:txBody>
          </p:sp>
        </mc:Choice>
        <mc:Fallback xmlns="">
          <p:sp>
            <p:nvSpPr>
              <p:cNvPr id="793" name="Google Shape;793;g11e375b9f55_0_12:notes">
                <a:extLst>
                  <a:ext uri="{FF2B5EF4-FFF2-40B4-BE49-F238E27FC236}">
                    <a16:creationId xmlns:a16="http://schemas.microsoft.com/office/drawing/2014/main" id="{FEFE8835-41D1-5A9E-9AAB-CFD0248C2C5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8750" indent="0">
                  <a:buNone/>
                </a:pPr>
                <a:r>
                  <a:rPr lang="it-IT" dirty="0"/>
                  <a:t>Il training della Siamese è stato suddiviso in due fasi.</a:t>
                </a:r>
              </a:p>
              <a:p>
                <a:pPr marL="158750" indent="0">
                  <a:buNone/>
                </a:pPr>
                <a:r>
                  <a:rPr lang="it-IT" dirty="0"/>
                  <a:t>Nelle prime tre epoche utilizzo un </a:t>
                </a:r>
                <a:r>
                  <a:rPr lang="it-IT" dirty="0" err="1"/>
                  <a:t>warm</a:t>
                </a:r>
                <a:r>
                  <a:rPr lang="it-IT" dirty="0"/>
                  <a:t>-up con coppie positive e negative campionate casualmente. Questa prima fase serve a dare all’encoder una struttura iniziale dello spazio degli embedding, perché all’inizio del training le distanze tra campioni non sono ancora sufficientemente informative per guidare il mining.</a:t>
                </a:r>
              </a:p>
              <a:p>
                <a:pPr marL="158750" indent="0">
                  <a:buNone/>
                </a:pPr>
                <a:r>
                  <a:rPr lang="it-IT" dirty="0"/>
                  <a:t>Successivamente passo al Dynamic Semi-Hard Negative Mining. Per ogni anchor viene scelto un positive della stessa classe e vengono generati sei candidati negative appartenenti a classi differenti.</a:t>
                </a:r>
              </a:p>
              <a:p>
                <a:pPr marL="158750" indent="0">
                  <a:buNone/>
                </a:pPr>
                <a:r>
                  <a:rPr lang="it-IT" dirty="0"/>
                  <a:t>Il confronto tra gli embedding viene effettuato tramite </a:t>
                </a:r>
                <a:r>
                  <a:rPr lang="it-IT" b="0" dirty="0"/>
                  <a:t>distanza Euclidea</a:t>
                </a:r>
                <a:r>
                  <a:rPr lang="it-IT" dirty="0"/>
                  <a:t>. Si cerca un negative che soddisfi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𝑑_+&lt;𝑑_−&lt;𝑚</a:t>
                </a:r>
                <a:r>
                  <a:rPr lang="it-IT" dirty="0"/>
                  <a:t> (dove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𝑑_+</a:t>
                </a:r>
                <a:r>
                  <a:rPr lang="it-IT" dirty="0"/>
                  <a:t>è la distanza tra anchor e positive,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𝑑_−</a:t>
                </a:r>
                <a:r>
                  <a:rPr lang="it-IT" dirty="0"/>
                  <a:t>quella tra anchor e negative e il margine è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𝑚=1.25</a:t>
                </a:r>
                <a:r>
                  <a:rPr lang="it-IT" dirty="0"/>
                  <a:t>). Quindi il negative deve essere già più lontano del positive, ma deve trovarsi ancora all’interno del margine. È proprio questa seconda condizione a renderlo informativo: il modello non lo separa ancora abbastanza. Ho scelto il semi-hard mining perché permette di concentrarsi su esempi difficili ma non estremi. Negli esperimenti preliminari, un hard mining più aggressivo risultava meno stabile, probabilmente perché selezionava continuamente i negative più difficili, che nelle prime fasi possono anche essere </a:t>
                </a:r>
                <a:r>
                  <a:rPr lang="it-IT" dirty="0" err="1"/>
                  <a:t>outlier</a:t>
                </a:r>
                <a:r>
                  <a:rPr lang="it-IT" dirty="0"/>
                  <a:t> o esempi molto ambigui.</a:t>
                </a:r>
              </a:p>
              <a:p>
                <a:pPr marL="15875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it-IT" dirty="0"/>
                  <a:t>La Contrastive Loss utilizza la stessa distanza Euclidea per l’ottimizzazione: riduce la distanza tra campioni della stessa classe e penalizza i negative che rimangono entro il margine, questo</a:t>
                </a:r>
                <a:r>
                  <a:rPr lang="it-IT" baseline="0" dirty="0"/>
                  <a:t> p</a:t>
                </a:r>
                <a:r>
                  <a:rPr lang="it-IT" dirty="0"/>
                  <a:t>erché nella </a:t>
                </a:r>
                <a:r>
                  <a:rPr lang="it-IT" b="0" dirty="0"/>
                  <a:t>Contrastive Loss</a:t>
                </a:r>
                <a:r>
                  <a:rPr lang="it-IT" dirty="0"/>
                  <a:t> il margine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𝑚 </a:t>
                </a:r>
                <a:r>
                  <a:rPr lang="it-IT" dirty="0"/>
                  <a:t>rappresenta la distanza minima che vogliamo tra due campioni di classi diverse.</a:t>
                </a:r>
              </a:p>
              <a:p>
                <a:pPr marL="158750" indent="0">
                  <a:buNone/>
                </a:pPr>
                <a:r>
                  <a:rPr lang="it-IT" dirty="0"/>
                  <a:t>Il checkpoint migliore viene infine selezionato sulla ROC-AUC del </a:t>
                </a:r>
                <a:r>
                  <a:rPr lang="it-IT" dirty="0" err="1"/>
                  <a:t>validation</a:t>
                </a:r>
                <a:r>
                  <a:rPr lang="it-IT" dirty="0"/>
                  <a:t> </a:t>
                </a:r>
                <a:r>
                  <a:rPr lang="it-IT" dirty="0" err="1"/>
                  <a:t>pairwise</a:t>
                </a:r>
                <a:r>
                  <a:rPr lang="it-IT" dirty="0"/>
                  <a:t> set (è il set di validazione costruito sotto forma di coppie di campioni, perché la Siamese viene valutata sulla capacità di distinguere coppie </a:t>
                </a:r>
                <a:r>
                  <a:rPr lang="it-IT" dirty="0" err="1"/>
                  <a:t>same</a:t>
                </a:r>
                <a:r>
                  <a:rPr lang="it-IT" dirty="0"/>
                  <a:t>-class da coppie </a:t>
                </a:r>
                <a:r>
                  <a:rPr lang="it-IT" dirty="0" err="1"/>
                  <a:t>different</a:t>
                </a:r>
                <a:r>
                  <a:rPr lang="it-IT" dirty="0"/>
                  <a:t>-class).</a:t>
                </a:r>
              </a:p>
              <a:p>
                <a:pPr marL="158750" indent="0">
                  <a:buNone/>
                </a:pPr>
                <a:endParaRPr lang="it-IT" dirty="0"/>
              </a:p>
              <a:p>
                <a:pPr marL="158750" indent="0">
                  <a:buNone/>
                </a:pPr>
                <a:r>
                  <a:rPr lang="it-IT" dirty="0"/>
                  <a:t>Note: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889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>
          <a:extLst>
            <a:ext uri="{FF2B5EF4-FFF2-40B4-BE49-F238E27FC236}">
              <a16:creationId xmlns:a16="http://schemas.microsoft.com/office/drawing/2014/main" id="{EB3B63A0-B975-F3A7-75B8-3915E039F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1e375b9f55_0_86:notes">
            <a:extLst>
              <a:ext uri="{FF2B5EF4-FFF2-40B4-BE49-F238E27FC236}">
                <a16:creationId xmlns:a16="http://schemas.microsoft.com/office/drawing/2014/main" id="{3113FB01-48B2-D057-6142-627A6A0894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803" name="Google Shape;803;g11e375b9f55_0_86:notes">
            <a:extLst>
              <a:ext uri="{FF2B5EF4-FFF2-40B4-BE49-F238E27FC236}">
                <a16:creationId xmlns:a16="http://schemas.microsoft.com/office/drawing/2014/main" id="{E6A440C1-35A9-91A6-B98C-7CFE33E6F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A questo punto la Siamese ha imparato a trasformare ogni FCGR in un embedding, ma non produce direttamente una delle 12 classi. È quindi necessario definire una procedura di inferenza multiclass.</a:t>
            </a:r>
          </a:p>
          <a:p>
            <a:pPr marL="158750" indent="0">
              <a:buNone/>
            </a:pPr>
            <a:r>
              <a:rPr lang="it-IT" dirty="0"/>
              <a:t>Per farlo ho costruito una reference bank utilizzando esclusivamente gli embedding dei campioni appartenenti al training set.</a:t>
            </a:r>
          </a:p>
          <a:p>
            <a:pPr marL="158750" indent="0">
              <a:buNone/>
            </a:pPr>
            <a:r>
              <a:rPr lang="it-IT" dirty="0"/>
              <a:t>Essa viene bilanciata a 2.111 riferimenti per classe, cioè alla numerosità della classe meno rappresentata. Questo evita che una classe abbia un vantaggio semplicemente perché dispone di un numero maggiore di esempi di riferimento.</a:t>
            </a:r>
          </a:p>
          <a:p>
            <a:pPr marL="158750" indent="0">
              <a:buNone/>
            </a:pPr>
            <a:r>
              <a:rPr lang="it-IT" dirty="0"/>
              <a:t>Quando arriva una nuova sequenza, viene trasformata in FCGR, passata attraverso l'encoder e si ottiene il suo embedding 128D normalizzato.</a:t>
            </a:r>
          </a:p>
          <a:p>
            <a:pPr marL="158750" indent="0">
              <a:buNone/>
            </a:pPr>
            <a:r>
              <a:rPr lang="it-IT" dirty="0"/>
              <a:t>Viene calcolata quindi la cosine similarity tra questo embedding e quelli presenti nella reference bank.</a:t>
            </a:r>
          </a:p>
          <a:p>
            <a:pPr marL="158750" indent="0">
              <a:buNone/>
            </a:pPr>
            <a:r>
              <a:rPr lang="it-IT" dirty="0"/>
              <a:t>Per ogni classe si considerano le 20 similarità più elevate e si calcola la media. Questo valore diventa lo score della classe.</a:t>
            </a:r>
          </a:p>
          <a:p>
            <a:pPr marL="158750" indent="0">
              <a:buNone/>
            </a:pPr>
            <a:r>
              <a:rPr lang="it-IT" dirty="0"/>
              <a:t>Ordinando questi score si ottiene un ranking delle 12 classi in modo da valutare non soltanto il Top-1, ma anche Top-3 e Top-5.</a:t>
            </a:r>
          </a:p>
          <a:p>
            <a:pPr marL="158750" indent="0">
              <a:buNone/>
            </a:pPr>
            <a:r>
              <a:rPr lang="it-IT" dirty="0"/>
              <a:t>È importante sottolineare che la Siamese non produce direttamente una probabilità di classe: la classificazione deriva dalla posizione del nuovo campione nello spazio di similarità rispetto ai campioni del training</a:t>
            </a:r>
          </a:p>
          <a:p>
            <a:pPr marL="158750" indent="0">
              <a:buNone/>
            </a:pPr>
            <a:endParaRPr lang="it-IT" dirty="0"/>
          </a:p>
          <a:p>
            <a:pPr marL="158750" indent="0">
              <a:buNone/>
            </a:pPr>
            <a:r>
              <a:rPr lang="it-IT" dirty="0"/>
              <a:t>Note : Ho utilizzato la cosine </a:t>
            </a:r>
            <a:r>
              <a:rPr lang="it-IT" dirty="0" err="1"/>
              <a:t>similarity</a:t>
            </a:r>
            <a:r>
              <a:rPr lang="it-IT" dirty="0"/>
              <a:t> perché gli </a:t>
            </a:r>
            <a:r>
              <a:rPr lang="it-IT" dirty="0" err="1"/>
              <a:t>embedding</a:t>
            </a:r>
            <a:r>
              <a:rPr lang="it-IT" dirty="0"/>
              <a:t> della Siamese sono normalizzati L2. In questo caso la cosine </a:t>
            </a:r>
            <a:r>
              <a:rPr lang="it-IT" dirty="0" err="1"/>
              <a:t>similarity</a:t>
            </a:r>
            <a:r>
              <a:rPr lang="it-IT" dirty="0"/>
              <a:t> misura direttamente quanto due </a:t>
            </a:r>
            <a:r>
              <a:rPr lang="it-IT" dirty="0" err="1"/>
              <a:t>embedding</a:t>
            </a:r>
            <a:r>
              <a:rPr lang="it-IT" dirty="0"/>
              <a:t> sono orientati nella stessa direzione, indipendentemente dalla loro scala, ed è quindi adatta a confrontare rappresentazioni nello spazio latente. (Normalizzato L2 significa che ogni </a:t>
            </a:r>
            <a:r>
              <a:rPr lang="it-IT" dirty="0" err="1"/>
              <a:t>embedding</a:t>
            </a:r>
            <a:r>
              <a:rPr lang="it-IT" dirty="0"/>
              <a:t> viene riscalato in modo che la sua norma Euclidea sia uguale a 1).</a:t>
            </a:r>
          </a:p>
        </p:txBody>
      </p:sp>
    </p:spTree>
    <p:extLst>
      <p:ext uri="{BB962C8B-B14F-4D97-AF65-F5344CB8AC3E}">
        <p14:creationId xmlns:p14="http://schemas.microsoft.com/office/powerpoint/2010/main" val="3101279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70E5DA7B-0411-0824-7EB3-3915F81F3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4459266da8_2_0:notes">
            <a:extLst>
              <a:ext uri="{FF2B5EF4-FFF2-40B4-BE49-F238E27FC236}">
                <a16:creationId xmlns:a16="http://schemas.microsoft.com/office/drawing/2014/main" id="{EBA43B47-BA63-57BA-5369-AD93A3425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0" name="Google Shape;710;g24459266da8_2_0:notes">
                <a:extLst>
                  <a:ext uri="{FF2B5EF4-FFF2-40B4-BE49-F238E27FC236}">
                    <a16:creationId xmlns:a16="http://schemas.microsoft.com/office/drawing/2014/main" id="{30E14E0F-642B-39CE-BEC1-B4A47E95CA5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8750" indent="0">
                  <a:buNone/>
                </a:pPr>
                <a:r>
                  <a:rPr lang="it-IT" dirty="0"/>
                  <a:t>Dopo aver definito la pipeline Siamese, è stata introdotta una CNN multiclass diretta come baseline di confronto per capire se il </a:t>
                </a:r>
                <a:r>
                  <a:rPr lang="it-IT" dirty="0" err="1"/>
                  <a:t>metric</a:t>
                </a:r>
                <a:r>
                  <a:rPr lang="it-IT" dirty="0"/>
                  <a:t> learning della Siamese fornisse realmente un vantaggio rispetto a una classificazione supervisionata standard</a:t>
                </a:r>
              </a:p>
              <a:p>
                <a:pPr marL="158750" indent="0">
                  <a:buNone/>
                </a:pPr>
                <a:r>
                  <a:rPr lang="it-IT" dirty="0"/>
                  <a:t>La</a:t>
                </a:r>
                <a:r>
                  <a:rPr lang="it-IT" baseline="0" dirty="0"/>
                  <a:t> </a:t>
                </a:r>
                <a:r>
                  <a:rPr lang="it-IT" dirty="0"/>
                  <a:t>CNN utilizza esattamente la stessa rappresentazione FCGR con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=6</m:t>
                    </m:r>
                  </m:oMath>
                </a14:m>
                <a:r>
                  <a:rPr lang="it-IT" dirty="0"/>
                  <a:t>, lo stesso training set completo e lo stesso </a:t>
                </a:r>
                <a:r>
                  <a:rPr lang="it-IT" dirty="0" err="1"/>
                  <a:t>backbone</a:t>
                </a:r>
                <a:r>
                  <a:rPr lang="it-IT" dirty="0"/>
                  <a:t> CNN mostrato precedentemente.</a:t>
                </a:r>
              </a:p>
              <a:p>
                <a:pPr marL="158750" indent="0">
                  <a:buNone/>
                </a:pPr>
                <a:r>
                  <a:rPr lang="it-IT" dirty="0"/>
                  <a:t>La differenza avviene dopo la rappresentazione a 128 dimensioni. Nella Siamese questa viene normalizzata e utilizzata come embedding per misurare la similarità tra campioni. Nella CNN diretta, invece, il vettore 128D viene passato a un </a:t>
                </a:r>
                <a:r>
                  <a:rPr lang="it-IT" dirty="0" err="1"/>
                  <a:t>layer</a:t>
                </a:r>
                <a:r>
                  <a:rPr lang="it-IT" dirty="0"/>
                  <a:t> lineare che produce direttamente 12 logits, uno per ciascuna classe.</a:t>
                </a:r>
              </a:p>
              <a:p>
                <a:pPr marL="158750" indent="0">
                  <a:buNone/>
                </a:pPr>
                <a:r>
                  <a:rPr lang="it-IT" dirty="0"/>
                  <a:t>Durante il training viene utilizzata la Cross-</a:t>
                </a:r>
                <a:r>
                  <a:rPr lang="it-IT" dirty="0" err="1"/>
                  <a:t>Entropy</a:t>
                </a:r>
                <a:r>
                  <a:rPr lang="it-IT" dirty="0"/>
                  <a:t> Loss e il </a:t>
                </a:r>
                <a:r>
                  <a:rPr lang="it-IT" dirty="0" err="1"/>
                  <a:t>softmax</a:t>
                </a:r>
                <a:r>
                  <a:rPr lang="it-IT" dirty="0"/>
                  <a:t> non viene applicato durante l'ottimizzazione, perché la Cross-</a:t>
                </a:r>
                <a:r>
                  <a:rPr lang="it-IT" dirty="0" err="1"/>
                  <a:t>Entropy</a:t>
                </a:r>
                <a:r>
                  <a:rPr lang="it-IT" dirty="0"/>
                  <a:t> lavora direttamente sui logits; viene invece utilizzato in inferenza per ottenere una distribuzione normalizzata sulle classi.</a:t>
                </a:r>
              </a:p>
              <a:p>
                <a:pPr marL="158750" indent="0">
                  <a:buNone/>
                </a:pPr>
                <a:r>
                  <a:rPr lang="it-IT" dirty="0"/>
                  <a:t>Anche qui viene mantenuto l'intero training set e viene utilizzato </a:t>
                </a:r>
                <a:r>
                  <a:rPr lang="it-IT" dirty="0" err="1"/>
                  <a:t>balanced</a:t>
                </a:r>
                <a:r>
                  <a:rPr lang="it-IT" dirty="0"/>
                  <a:t> batch sampling, con 5 campioni per ciascuna delle 12 classi e quindi batch size pari a 60.</a:t>
                </a:r>
              </a:p>
              <a:p>
                <a:pPr marL="158750" indent="0">
                  <a:buNone/>
                </a:pPr>
                <a:r>
                  <a:rPr lang="it-IT" dirty="0"/>
                  <a:t>Il checkpoint viene selezionato sulla Macro-F1 di </a:t>
                </a:r>
                <a:r>
                  <a:rPr lang="it-IT" dirty="0" err="1"/>
                  <a:t>validation</a:t>
                </a:r>
                <a:r>
                  <a:rPr lang="it-IT" dirty="0"/>
                  <a:t>.</a:t>
                </a:r>
              </a:p>
              <a:p>
                <a:pPr marL="158750" indent="0">
                  <a:buNone/>
                </a:pPr>
                <a:r>
                  <a:rPr lang="it-IT" dirty="0"/>
                  <a:t>Questo confronto è importante perché permette di verificare se eventuali differenze di prestazione derivino dal paradigma Siamese rispetto alla classificazione diretta, e non da una diversa architettura dell'encoder.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710" name="Google Shape;710;g24459266da8_2_0:notes">
                <a:extLst>
                  <a:ext uri="{FF2B5EF4-FFF2-40B4-BE49-F238E27FC236}">
                    <a16:creationId xmlns:a16="http://schemas.microsoft.com/office/drawing/2014/main" id="{30E14E0F-642B-39CE-BEC1-B4A47E95CA5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8750" indent="0">
                  <a:buNone/>
                </a:pPr>
                <a:r>
                  <a:rPr lang="it-IT" dirty="0"/>
                  <a:t>Dopo aver definito la pipeline Siamese, è stata introdotta una CNN multiclass diretta come baseline di confronto per capire se il </a:t>
                </a:r>
                <a:r>
                  <a:rPr lang="it-IT" dirty="0" err="1"/>
                  <a:t>metric</a:t>
                </a:r>
                <a:r>
                  <a:rPr lang="it-IT" dirty="0"/>
                  <a:t> learning della Siamese fornisse realmente un vantaggio rispetto a una classificazione supervisionata standard</a:t>
                </a:r>
              </a:p>
              <a:p>
                <a:pPr marL="158750" indent="0">
                  <a:buNone/>
                </a:pPr>
                <a:r>
                  <a:rPr lang="it-IT" dirty="0"/>
                  <a:t>La</a:t>
                </a:r>
                <a:r>
                  <a:rPr lang="it-IT" baseline="0" dirty="0"/>
                  <a:t> </a:t>
                </a:r>
                <a:r>
                  <a:rPr lang="it-IT" dirty="0"/>
                  <a:t>CNN utilizza esattamente la stessa rappresentazione FCGR con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𝑘=6</a:t>
                </a:r>
                <a:r>
                  <a:rPr lang="it-IT" dirty="0"/>
                  <a:t>, lo stesso training set completo e lo stesso </a:t>
                </a:r>
                <a:r>
                  <a:rPr lang="it-IT" dirty="0" err="1"/>
                  <a:t>backbone</a:t>
                </a:r>
                <a:r>
                  <a:rPr lang="it-IT" dirty="0"/>
                  <a:t> CNN mostrato precedentemente.</a:t>
                </a:r>
              </a:p>
              <a:p>
                <a:pPr marL="158750" indent="0">
                  <a:buNone/>
                </a:pPr>
                <a:r>
                  <a:rPr lang="it-IT" dirty="0"/>
                  <a:t>La differenza avviene dopo la rappresentazione a 128 dimensioni. Nella Siamese questa viene normalizzata e utilizzata come embedding per misurare la similarità tra campioni. Nella CNN diretta, invece, il vettore 128D viene passato a un </a:t>
                </a:r>
                <a:r>
                  <a:rPr lang="it-IT" dirty="0" err="1"/>
                  <a:t>layer</a:t>
                </a:r>
                <a:r>
                  <a:rPr lang="it-IT" dirty="0"/>
                  <a:t> lineare che produce direttamente 12 logits, uno per ciascuna classe.</a:t>
                </a:r>
              </a:p>
              <a:p>
                <a:pPr marL="158750" indent="0">
                  <a:buNone/>
                </a:pPr>
                <a:r>
                  <a:rPr lang="it-IT" dirty="0"/>
                  <a:t>Durante il training viene utilizzata la Cross-</a:t>
                </a:r>
                <a:r>
                  <a:rPr lang="it-IT" dirty="0" err="1"/>
                  <a:t>Entropy</a:t>
                </a:r>
                <a:r>
                  <a:rPr lang="it-IT" dirty="0"/>
                  <a:t> Loss e il </a:t>
                </a:r>
                <a:r>
                  <a:rPr lang="it-IT" dirty="0" err="1"/>
                  <a:t>softmax</a:t>
                </a:r>
                <a:r>
                  <a:rPr lang="it-IT" dirty="0"/>
                  <a:t> non viene applicato durante l'ottimizzazione, perché la Cross-</a:t>
                </a:r>
                <a:r>
                  <a:rPr lang="it-IT" dirty="0" err="1"/>
                  <a:t>Entropy</a:t>
                </a:r>
                <a:r>
                  <a:rPr lang="it-IT" dirty="0"/>
                  <a:t> lavora direttamente sui logits; viene invece utilizzato in inferenza per ottenere una distribuzione normalizzata sulle classi.</a:t>
                </a:r>
              </a:p>
              <a:p>
                <a:pPr marL="158750" indent="0">
                  <a:buNone/>
                </a:pPr>
                <a:r>
                  <a:rPr lang="it-IT" dirty="0"/>
                  <a:t>Anche qui viene mantenuto l'intero training set e viene utilizzato </a:t>
                </a:r>
                <a:r>
                  <a:rPr lang="it-IT" dirty="0" err="1"/>
                  <a:t>balanced</a:t>
                </a:r>
                <a:r>
                  <a:rPr lang="it-IT" dirty="0"/>
                  <a:t> batch sampling, con 5 campioni per ciascuna delle 12 classi e quindi batch size pari a 60.</a:t>
                </a:r>
              </a:p>
              <a:p>
                <a:pPr marL="158750" indent="0">
                  <a:buNone/>
                </a:pPr>
                <a:r>
                  <a:rPr lang="it-IT" dirty="0"/>
                  <a:t>Il checkpoint viene selezionato sulla Macro-F1 di </a:t>
                </a:r>
                <a:r>
                  <a:rPr lang="it-IT" dirty="0" err="1"/>
                  <a:t>validation</a:t>
                </a:r>
                <a:r>
                  <a:rPr lang="it-IT" dirty="0"/>
                  <a:t>.</a:t>
                </a:r>
              </a:p>
              <a:p>
                <a:pPr marL="158750" indent="0">
                  <a:buNone/>
                </a:pPr>
                <a:r>
                  <a:rPr lang="it-IT" dirty="0"/>
                  <a:t>Questo confronto è importante perché permette di verificare se eventuali differenze di prestazione derivino dal paradigma Siamese rispetto alla classificazione diretta, e non da una diversa architettura dell'encoder.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1626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>
          <a:extLst>
            <a:ext uri="{FF2B5EF4-FFF2-40B4-BE49-F238E27FC236}">
              <a16:creationId xmlns:a16="http://schemas.microsoft.com/office/drawing/2014/main" id="{D069F6AD-1E33-F9AF-1882-2673977B9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1258269c9b_0_0:notes">
            <a:extLst>
              <a:ext uri="{FF2B5EF4-FFF2-40B4-BE49-F238E27FC236}">
                <a16:creationId xmlns:a16="http://schemas.microsoft.com/office/drawing/2014/main" id="{AE310BE8-E350-9BBF-B18E-F0BC1006D8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02" name="Google Shape;702;g21258269c9b_0_0:notes">
            <a:extLst>
              <a:ext uri="{FF2B5EF4-FFF2-40B4-BE49-F238E27FC236}">
                <a16:creationId xmlns:a16="http://schemas.microsoft.com/office/drawing/2014/main" id="{14F4A977-A591-17FF-180E-0E14DBF39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2264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3DD299CE-31AB-C04E-3113-551D58A6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1258269c9b_0_111:notes">
            <a:extLst>
              <a:ext uri="{FF2B5EF4-FFF2-40B4-BE49-F238E27FC236}">
                <a16:creationId xmlns:a16="http://schemas.microsoft.com/office/drawing/2014/main" id="{7FAE9EE3-7CC0-0B2C-D50F-2774515BC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0" name="Google Shape;730;g21258269c9b_0_111:notes">
                <a:extLst>
                  <a:ext uri="{FF2B5EF4-FFF2-40B4-BE49-F238E27FC236}">
                    <a16:creationId xmlns:a16="http://schemas.microsoft.com/office/drawing/2014/main" id="{2AD62336-82CB-F58F-8607-497F59A48A6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8750" indent="0">
                  <a:buNone/>
                </a:pPr>
                <a:r>
                  <a:rPr lang="it-IT" dirty="0"/>
                  <a:t>Prima di mostrare i risultati finali, riassumo brevemente gli esperimenti che hanno portato alla scelta della configurazione definitiva.</a:t>
                </a:r>
              </a:p>
              <a:p>
                <a:pPr marL="158750" indent="0">
                  <a:buNone/>
                </a:pPr>
                <a:r>
                  <a:rPr lang="it-IT" dirty="0"/>
                  <a:t>Per la rappresentazione FCGR ho confrontato principalmente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=6</m:t>
                    </m:r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=7</m:t>
                    </m:r>
                  </m:oMath>
                </a14:m>
                <a:r>
                  <a:rPr lang="it-IT" dirty="0"/>
                  <a:t>. Il passaggio da 6 a 7 aumenta di quattro volte il numero di celle, ma il miglioramento osservato è stato molto contenuto e non coerente sul ranking </a:t>
                </a:r>
                <a:r>
                  <a:rPr lang="it-IT" dirty="0" err="1"/>
                  <a:t>multiclass</a:t>
                </a:r>
                <a:r>
                  <a:rPr lang="it-IT" dirty="0"/>
                  <a:t>;</a:t>
                </a:r>
                <a:r>
                  <a:rPr lang="it-IT" baseline="0" dirty="0"/>
                  <a:t> p</a:t>
                </a:r>
                <a:r>
                  <a:rPr lang="it-IT" dirty="0"/>
                  <a:t>er questo ho mantenuto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=6</m:t>
                    </m:r>
                  </m:oMath>
                </a14:m>
                <a:r>
                  <a:rPr lang="it-IT" dirty="0"/>
                  <a:t>.</a:t>
                </a:r>
              </a:p>
              <a:p>
                <a:pPr marL="158750" indent="0">
                  <a:buNone/>
                </a:pPr>
                <a:r>
                  <a:rPr lang="it-IT" dirty="0"/>
                  <a:t>Per quanto riguarda la funzione obiettivo, ho testato prima la </a:t>
                </a:r>
                <a:r>
                  <a:rPr lang="it-IT" dirty="0" err="1"/>
                  <a:t>constrastive</a:t>
                </a:r>
                <a:r>
                  <a:rPr lang="it-IT" dirty="0"/>
                  <a:t> </a:t>
                </a:r>
                <a:r>
                  <a:rPr lang="it-IT" dirty="0" err="1"/>
                  <a:t>loss</a:t>
                </a:r>
                <a:r>
                  <a:rPr lang="it-IT" dirty="0"/>
                  <a:t> euclidea, successivamente le formulazioni basate direttamente sulla cosine </a:t>
                </a:r>
                <a:r>
                  <a:rPr lang="it-IT" dirty="0" err="1"/>
                  <a:t>similarity</a:t>
                </a:r>
                <a:r>
                  <a:rPr lang="it-IT" dirty="0"/>
                  <a:t> non hanno migliorato le prestazioni, mentre la Triplet Loss con batch-hard mining ha mostrato problemi di collasso degli </a:t>
                </a:r>
                <a:r>
                  <a:rPr lang="it-IT" dirty="0" err="1"/>
                  <a:t>embedding</a:t>
                </a:r>
                <a:r>
                  <a:rPr lang="it-IT" dirty="0"/>
                  <a:t>. La Contrastive Loss basata sulla distanza Euclidea è risultata quindi la soluzione più stabile.</a:t>
                </a:r>
              </a:p>
              <a:p>
                <a:pPr marL="158750" indent="0">
                  <a:buNone/>
                </a:pPr>
                <a:r>
                  <a:rPr lang="it-IT" dirty="0"/>
                  <a:t>Anche la scelta dei negative è stata valutata sperimentalmente. Il random sampling costituiva la baseline, e mentre un hard negative mining troppo aggressivo ha peggiorato la </a:t>
                </a:r>
                <a:r>
                  <a:rPr lang="it-IT" dirty="0" err="1"/>
                  <a:t>validation</a:t>
                </a:r>
                <a:r>
                  <a:rPr lang="it-IT" dirty="0"/>
                  <a:t>, il Dynamic Semi-Hard Mining ha invece fornito il miglior compromesso tra difficoltà degli esempi e stabilità del training.</a:t>
                </a:r>
              </a:p>
              <a:p>
                <a:pPr marL="158750" indent="0">
                  <a:buNone/>
                </a:pPr>
                <a:r>
                  <a:rPr lang="it-IT" dirty="0"/>
                  <a:t>Infine, per trasformare gli </a:t>
                </a:r>
                <a:r>
                  <a:rPr lang="it-IT" dirty="0" err="1"/>
                  <a:t>embedding</a:t>
                </a:r>
                <a:r>
                  <a:rPr lang="it-IT" dirty="0"/>
                  <a:t> in una previsione </a:t>
                </a:r>
                <a:r>
                  <a:rPr lang="it-IT" dirty="0" err="1"/>
                  <a:t>multiclass</a:t>
                </a:r>
                <a:r>
                  <a:rPr lang="it-IT" dirty="0"/>
                  <a:t>, un singolo prototipo per classe risultava troppo limitante. La </a:t>
                </a:r>
                <a:r>
                  <a:rPr lang="it-IT" dirty="0" err="1"/>
                  <a:t>reference</a:t>
                </a:r>
                <a:r>
                  <a:rPr lang="it-IT" dirty="0"/>
                  <a:t> bank permette invece di rappresentare meglio la variabilità interna di ciascuna classe. Sulla </a:t>
                </a:r>
                <a:r>
                  <a:rPr lang="it-IT" dirty="0" err="1"/>
                  <a:t>validation</a:t>
                </a:r>
                <a:r>
                  <a:rPr lang="it-IT" dirty="0"/>
                  <a:t>, l’utilizzo delle 20 similarità più alte per classe ha fornito il miglior Macro-F1.</a:t>
                </a:r>
              </a:p>
              <a:p>
                <a:pPr marL="158750" indent="0">
                  <a:buNone/>
                </a:pPr>
                <a:r>
                  <a:rPr lang="it-IT" dirty="0"/>
                  <a:t>Queste analisi portano quindi alla configurazione finale basata su FCGR </a:t>
                </a:r>
                <a14:m>
                  <m:oMath xmlns:m="http://schemas.openxmlformats.org/officeDocument/2006/math">
                    <m:r>
                      <a:rPr lang="it-IT" sz="1100" b="0" i="1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𝑘</m:t>
                    </m:r>
                    <m:r>
                      <a:rPr lang="it-IT" sz="1100" b="0" i="0" u="none" strike="noStrike" cap="none" spc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=6</m:t>
                    </m:r>
                  </m:oMath>
                </a14:m>
                <a:r>
                  <a:rPr lang="it-IT" dirty="0"/>
                  <a:t>, CNN V3, Contrastive Loss Euclidea, Dynamic Semi-Hard Mining e ranking Top-20.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730" name="Google Shape;730;g21258269c9b_0_111:notes">
                <a:extLst>
                  <a:ext uri="{FF2B5EF4-FFF2-40B4-BE49-F238E27FC236}">
                    <a16:creationId xmlns:a16="http://schemas.microsoft.com/office/drawing/2014/main" id="{2AD62336-82CB-F58F-8607-497F59A48A6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8750" indent="0">
                  <a:buNone/>
                </a:pPr>
                <a:r>
                  <a:rPr lang="it-IT" dirty="0"/>
                  <a:t>Prima di mostrare i risultati finali, riassumo brevemente gli esperimenti che hanno portato alla scelta della configurazione definitiva.</a:t>
                </a:r>
              </a:p>
              <a:p>
                <a:pPr marL="158750" indent="0">
                  <a:buNone/>
                </a:pPr>
                <a:r>
                  <a:rPr lang="it-IT" dirty="0"/>
                  <a:t>Per la rappresentazione FCGR ho confrontato principalmente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𝑘=6</a:t>
                </a:r>
                <a:r>
                  <a:rPr lang="it-IT" dirty="0"/>
                  <a:t> e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𝑘=7</a:t>
                </a:r>
                <a:r>
                  <a:rPr lang="it-IT" dirty="0"/>
                  <a:t>. Il passaggio da 6 a 7 aumenta di quattro volte il numero di celle, ma il miglioramento osservato è stato molto contenuto e non coerente sul ranking </a:t>
                </a:r>
                <a:r>
                  <a:rPr lang="it-IT" dirty="0" err="1"/>
                  <a:t>multiclass</a:t>
                </a:r>
                <a:r>
                  <a:rPr lang="it-IT" dirty="0"/>
                  <a:t>;</a:t>
                </a:r>
                <a:r>
                  <a:rPr lang="it-IT" baseline="0" dirty="0"/>
                  <a:t> p</a:t>
                </a:r>
                <a:r>
                  <a:rPr lang="it-IT" dirty="0"/>
                  <a:t>er questo ho mantenuto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𝑘=6</a:t>
                </a:r>
                <a:r>
                  <a:rPr lang="it-IT" dirty="0"/>
                  <a:t>.</a:t>
                </a:r>
              </a:p>
              <a:p>
                <a:pPr marL="158750" indent="0">
                  <a:buNone/>
                </a:pPr>
                <a:r>
                  <a:rPr lang="it-IT" dirty="0"/>
                  <a:t>Per quanto riguarda la funzione obiettivo, ho testato prima la </a:t>
                </a:r>
                <a:r>
                  <a:rPr lang="it-IT" dirty="0" err="1"/>
                  <a:t>constrastive</a:t>
                </a:r>
                <a:r>
                  <a:rPr lang="it-IT" dirty="0"/>
                  <a:t> </a:t>
                </a:r>
                <a:r>
                  <a:rPr lang="it-IT" dirty="0" err="1"/>
                  <a:t>loss</a:t>
                </a:r>
                <a:r>
                  <a:rPr lang="it-IT" dirty="0"/>
                  <a:t> euclidea, successivamente le formulazioni basate direttamente sulla cosine </a:t>
                </a:r>
                <a:r>
                  <a:rPr lang="it-IT" dirty="0" err="1"/>
                  <a:t>similarity</a:t>
                </a:r>
                <a:r>
                  <a:rPr lang="it-IT" dirty="0"/>
                  <a:t> non hanno migliorato le prestazioni, mentre la Triplet Loss con batch-hard mining ha mostrato problemi di collasso degli </a:t>
                </a:r>
                <a:r>
                  <a:rPr lang="it-IT" dirty="0" err="1"/>
                  <a:t>embedding</a:t>
                </a:r>
                <a:r>
                  <a:rPr lang="it-IT" dirty="0"/>
                  <a:t>. La Contrastive Loss basata sulla distanza Euclidea è risultata quindi la soluzione più stabile.</a:t>
                </a:r>
              </a:p>
              <a:p>
                <a:pPr marL="158750" indent="0">
                  <a:buNone/>
                </a:pPr>
                <a:r>
                  <a:rPr lang="it-IT" dirty="0"/>
                  <a:t>Anche la scelta dei negative è stata valutata sperimentalmente. Il random sampling costituiva la baseline, e mentre un hard negative mining troppo aggressivo ha peggiorato la </a:t>
                </a:r>
                <a:r>
                  <a:rPr lang="it-IT" dirty="0" err="1"/>
                  <a:t>validation</a:t>
                </a:r>
                <a:r>
                  <a:rPr lang="it-IT" dirty="0"/>
                  <a:t>, il Dynamic Semi-Hard Mining ha invece fornito il miglior compromesso tra difficoltà degli esempi e stabilità del training.</a:t>
                </a:r>
              </a:p>
              <a:p>
                <a:pPr marL="158750" indent="0">
                  <a:buNone/>
                </a:pPr>
                <a:r>
                  <a:rPr lang="it-IT" dirty="0"/>
                  <a:t>Infine, per trasformare gli </a:t>
                </a:r>
                <a:r>
                  <a:rPr lang="it-IT" dirty="0" err="1"/>
                  <a:t>embedding</a:t>
                </a:r>
                <a:r>
                  <a:rPr lang="it-IT" dirty="0"/>
                  <a:t> in una previsione </a:t>
                </a:r>
                <a:r>
                  <a:rPr lang="it-IT" dirty="0" err="1"/>
                  <a:t>multiclass</a:t>
                </a:r>
                <a:r>
                  <a:rPr lang="it-IT" dirty="0"/>
                  <a:t>, un singolo prototipo per classe risultava troppo limitante. La </a:t>
                </a:r>
                <a:r>
                  <a:rPr lang="it-IT" dirty="0" err="1"/>
                  <a:t>reference</a:t>
                </a:r>
                <a:r>
                  <a:rPr lang="it-IT" dirty="0"/>
                  <a:t> bank permette invece di rappresentare meglio la variabilità interna di ciascuna classe. Sulla </a:t>
                </a:r>
                <a:r>
                  <a:rPr lang="it-IT" dirty="0" err="1"/>
                  <a:t>validation</a:t>
                </a:r>
                <a:r>
                  <a:rPr lang="it-IT" dirty="0"/>
                  <a:t>, l’utilizzo delle 20 similarità più alte per classe ha fornito il miglior Macro-F1.</a:t>
                </a:r>
              </a:p>
              <a:p>
                <a:pPr marL="158750" indent="0">
                  <a:buNone/>
                </a:pPr>
                <a:r>
                  <a:rPr lang="it-IT" dirty="0"/>
                  <a:t>Queste analisi portano quindi alla configurazione finale basata su FCGR </a:t>
                </a:r>
                <a:r>
                  <a:rPr lang="it-IT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𝑘=6</a:t>
                </a:r>
                <a:r>
                  <a:rPr lang="it-IT" dirty="0"/>
                  <a:t>, CNN V3, Contrastive Loss Euclidea, Dynamic Semi-Hard Mining e ranking Top-20.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9374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>
          <a:extLst>
            <a:ext uri="{FF2B5EF4-FFF2-40B4-BE49-F238E27FC236}">
              <a16:creationId xmlns:a16="http://schemas.microsoft.com/office/drawing/2014/main" id="{99B8438F-4E0C-DDAF-29CB-00D6EA80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1258269c9b_0_103:notes">
            <a:extLst>
              <a:ext uri="{FF2B5EF4-FFF2-40B4-BE49-F238E27FC236}">
                <a16:creationId xmlns:a16="http://schemas.microsoft.com/office/drawing/2014/main" id="{E999AEAE-6FA5-E297-7C1D-8E19CFDE1C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18" name="Google Shape;718;g21258269c9b_0_103:notes">
            <a:extLst>
              <a:ext uri="{FF2B5EF4-FFF2-40B4-BE49-F238E27FC236}">
                <a16:creationId xmlns:a16="http://schemas.microsoft.com/office/drawing/2014/main" id="{D698EF1A-9373-652D-8EE9-865C69566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Il primo confronto riguarda l’effetto della strategia di bilanciamento.</a:t>
            </a:r>
          </a:p>
          <a:p>
            <a:pPr marL="158750" indent="0">
              <a:buNone/>
            </a:pPr>
            <a:r>
              <a:rPr lang="it-IT" dirty="0"/>
              <a:t>Nella configurazione iniziale avevo effettuato un </a:t>
            </a:r>
            <a:r>
              <a:rPr lang="it-IT" dirty="0" err="1"/>
              <a:t>downsampling</a:t>
            </a:r>
            <a:r>
              <a:rPr lang="it-IT" dirty="0"/>
              <a:t> portando tutte le classi alla numerosità della classe minoritaria, cioè 2.111 campioni, ottenendo un training set di circa 25 mila esempi.</a:t>
            </a:r>
          </a:p>
          <a:p>
            <a:pPr marL="158750" indent="0">
              <a:buNone/>
            </a:pPr>
            <a:r>
              <a:rPr lang="it-IT" dirty="0"/>
              <a:t>Successivamente ho mantenuto invece tutti i 96.167 campioni e ho spostato il bilanciamento a livello di batch.</a:t>
            </a:r>
          </a:p>
          <a:p>
            <a:pPr marL="158750" indent="0">
              <a:buNone/>
            </a:pPr>
            <a:r>
              <a:rPr lang="it-IT" dirty="0"/>
              <a:t>In </a:t>
            </a:r>
            <a:r>
              <a:rPr lang="it-IT" dirty="0" err="1"/>
              <a:t>validation</a:t>
            </a:r>
            <a:r>
              <a:rPr lang="it-IT" dirty="0"/>
              <a:t> il full-training produce piccoli miglioramenti coerenti, compresa la ROC-AUC </a:t>
            </a:r>
            <a:r>
              <a:rPr lang="it-IT" dirty="0" err="1"/>
              <a:t>pairwise</a:t>
            </a:r>
            <a:r>
              <a:rPr lang="it-IT" dirty="0"/>
              <a:t>. Sul test, però, il comportamento è più interessante.</a:t>
            </a:r>
          </a:p>
          <a:p>
            <a:pPr marL="158750" indent="0">
              <a:buNone/>
            </a:pPr>
            <a:r>
              <a:rPr lang="it-IT" dirty="0"/>
              <a:t>La Siamese </a:t>
            </a:r>
            <a:r>
              <a:rPr lang="it-IT" dirty="0" err="1"/>
              <a:t>downsampled</a:t>
            </a:r>
            <a:r>
              <a:rPr lang="it-IT" dirty="0"/>
              <a:t> mantiene risultati leggermente migliori in Top-1 e Macro-F1, mentre la configurazione full-</a:t>
            </a:r>
            <a:r>
              <a:rPr lang="it-IT" dirty="0" err="1"/>
              <a:t>train</a:t>
            </a:r>
            <a:r>
              <a:rPr lang="it-IT" dirty="0"/>
              <a:t> migliora Top-3 e Top-5.</a:t>
            </a:r>
          </a:p>
          <a:p>
            <a:pPr marL="158750" indent="0">
              <a:buNone/>
            </a:pPr>
            <a:r>
              <a:rPr lang="it-IT" dirty="0"/>
              <a:t>Quindi mantenere tutti i dati non porta automaticamente a una decisione Top-1 migliore, ma sembra migliorare la qualità complessiva del ranking: la classe corretta compare più frequentemente tra le prime tre o cinque posizioni.</a:t>
            </a:r>
          </a:p>
          <a:p>
            <a:pPr marL="158750" indent="0">
              <a:buNone/>
            </a:pPr>
            <a:r>
              <a:rPr lang="it-IT" dirty="0"/>
              <a:t>Questo suggerisce che l’informazione aggiuntiva aiuti a strutturare meglio lo spazio di similarità, senza però risolvere completamente la sovrapposizione tra alcune classi.</a:t>
            </a:r>
          </a:p>
          <a:p>
            <a:pPr marL="158750" indent="0">
              <a:buNone/>
            </a:pPr>
            <a:r>
              <a:rPr lang="it-IT" dirty="0"/>
              <a:t>Invece nel task </a:t>
            </a:r>
            <a:r>
              <a:rPr lang="it-IT" dirty="0" err="1"/>
              <a:t>pairwais</a:t>
            </a:r>
            <a:r>
              <a:rPr lang="it-IT" dirty="0"/>
              <a:t>, cioè capire se due coppie sono vicine o lontane nello spazio latente, i risultati erano:</a:t>
            </a:r>
          </a:p>
          <a:p>
            <a:pPr marL="158750" indent="0">
              <a:buNone/>
            </a:pPr>
            <a:r>
              <a:rPr lang="it-IT" dirty="0"/>
              <a:t>Siamese </a:t>
            </a:r>
            <a:r>
              <a:rPr lang="it-IT" dirty="0" err="1"/>
              <a:t>downsampled</a:t>
            </a:r>
            <a:r>
              <a:rPr lang="it-IT" dirty="0"/>
              <a:t>: best </a:t>
            </a:r>
            <a:r>
              <a:rPr lang="it-IT" dirty="0" err="1"/>
              <a:t>validation</a:t>
            </a:r>
            <a:r>
              <a:rPr lang="it-IT" dirty="0"/>
              <a:t> ROC-AUC 0.6649; sul test </a:t>
            </a:r>
            <a:r>
              <a:rPr lang="it-IT" dirty="0" err="1"/>
              <a:t>pairwise</a:t>
            </a:r>
            <a:r>
              <a:rPr lang="it-IT" dirty="0"/>
              <a:t> ROC-AUC 0.6525, </a:t>
            </a:r>
            <a:r>
              <a:rPr lang="it-IT" dirty="0" err="1"/>
              <a:t>accuracy</a:t>
            </a:r>
            <a:r>
              <a:rPr lang="it-IT" dirty="0"/>
              <a:t>/</a:t>
            </a:r>
            <a:r>
              <a:rPr lang="it-IT" dirty="0" err="1"/>
              <a:t>balanced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 circa 0.6106, Macro-F1 0.6106.</a:t>
            </a:r>
          </a:p>
          <a:p>
            <a:pPr marL="158750" indent="0">
              <a:buNone/>
            </a:pPr>
            <a:r>
              <a:rPr lang="it-IT" dirty="0"/>
              <a:t>Siamese full-</a:t>
            </a:r>
            <a:r>
              <a:rPr lang="it-IT" dirty="0" err="1"/>
              <a:t>train</a:t>
            </a:r>
            <a:r>
              <a:rPr lang="it-IT" dirty="0"/>
              <a:t> </a:t>
            </a:r>
            <a:r>
              <a:rPr lang="it-IT" dirty="0" err="1"/>
              <a:t>balanced</a:t>
            </a:r>
            <a:r>
              <a:rPr lang="it-IT" dirty="0"/>
              <a:t>: best </a:t>
            </a:r>
            <a:r>
              <a:rPr lang="it-IT" dirty="0" err="1"/>
              <a:t>validation</a:t>
            </a:r>
            <a:r>
              <a:rPr lang="it-IT" dirty="0"/>
              <a:t> ROC-AUC 0.6701, quindi un piccolo miglioramento rispetto alla versione </a:t>
            </a:r>
            <a:r>
              <a:rPr lang="it-IT" dirty="0" err="1"/>
              <a:t>downsampled</a:t>
            </a:r>
            <a:r>
              <a:rPr lang="it-IT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5236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50ca4c70d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844" name="Google Shape;844;g250ca4c70d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Ho confrontato la Siamese </a:t>
            </a:r>
            <a:r>
              <a:rPr lang="it-IT" dirty="0" err="1"/>
              <a:t>downsampled</a:t>
            </a:r>
            <a:r>
              <a:rPr lang="it-IT" dirty="0"/>
              <a:t>, la Siamese full-</a:t>
            </a:r>
            <a:r>
              <a:rPr lang="it-IT" dirty="0" err="1"/>
              <a:t>train</a:t>
            </a:r>
            <a:r>
              <a:rPr lang="it-IT" dirty="0"/>
              <a:t> </a:t>
            </a:r>
            <a:r>
              <a:rPr lang="it-IT" dirty="0" err="1"/>
              <a:t>balanced</a:t>
            </a:r>
            <a:r>
              <a:rPr lang="it-IT" dirty="0"/>
              <a:t> e la CNN </a:t>
            </a:r>
            <a:r>
              <a:rPr lang="it-IT" dirty="0" err="1"/>
              <a:t>multiclass</a:t>
            </a:r>
            <a:r>
              <a:rPr lang="it-IT" dirty="0"/>
              <a:t> diretta.</a:t>
            </a:r>
          </a:p>
          <a:p>
            <a:pPr marL="158750" indent="0">
              <a:buNone/>
            </a:pPr>
            <a:r>
              <a:rPr lang="it-IT" dirty="0"/>
              <a:t>Il risultato principale è che la CNN diretta ottiene le migliori prestazioni complessive: è il miglior modello in Top-1 </a:t>
            </a:r>
            <a:r>
              <a:rPr lang="it-IT" dirty="0" err="1"/>
              <a:t>accuracy</a:t>
            </a:r>
            <a:r>
              <a:rPr lang="it-IT" dirty="0"/>
              <a:t>, Macro-F1 e Balanced </a:t>
            </a:r>
            <a:r>
              <a:rPr lang="it-IT" dirty="0" err="1"/>
              <a:t>Accuracy</a:t>
            </a:r>
            <a:r>
              <a:rPr lang="it-IT" dirty="0"/>
              <a:t>, e risulta leggermente migliore anche nel ranking Top-3 e Top-5</a:t>
            </a:r>
          </a:p>
          <a:p>
            <a:pPr marL="158750" indent="0">
              <a:buNone/>
            </a:pPr>
            <a:r>
              <a:rPr lang="it-IT" dirty="0"/>
              <a:t>Quindi, nel nostro setting sperimentale, l’approccio </a:t>
            </a:r>
            <a:r>
              <a:rPr lang="it-IT" dirty="0" err="1"/>
              <a:t>metric</a:t>
            </a:r>
            <a:r>
              <a:rPr lang="it-IT" dirty="0"/>
              <a:t> learning non supera una classificazione supervisionata standard</a:t>
            </a:r>
          </a:p>
          <a:p>
            <a:pPr marL="158750" indent="0">
              <a:buNone/>
            </a:pPr>
            <a:r>
              <a:rPr lang="it-IT" dirty="0"/>
              <a:t>Tuttavia, la Siamese resta utile perché costruisce uno spazio di similarità interpretabile e consente un’inferenza basata su ranking e </a:t>
            </a:r>
            <a:r>
              <a:rPr lang="it-IT" dirty="0" err="1"/>
              <a:t>reference</a:t>
            </a:r>
            <a:r>
              <a:rPr lang="it-IT" dirty="0"/>
              <a:t> bank, che era coerente con la richiesta del progetto.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1105afc42a3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838" name="Google Shape;838;g1105afc42a3_1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Dopo aver confrontato le metriche aggregate, ho analizzato anche dove i modelli commettono gli errori.</a:t>
            </a:r>
          </a:p>
          <a:p>
            <a:pPr marL="158750" indent="0">
              <a:buNone/>
            </a:pPr>
            <a:r>
              <a:rPr lang="it-IT" dirty="0"/>
              <a:t>Le confusioni non risultano distribuite casualmente tra le classi. Una delle più evidenti riguarda prostate cancer, che viene frequentemente classificato come </a:t>
            </a:r>
            <a:r>
              <a:rPr lang="it-IT" dirty="0" err="1"/>
              <a:t>ovarian</a:t>
            </a:r>
            <a:r>
              <a:rPr lang="it-IT" dirty="0"/>
              <a:t> </a:t>
            </a:r>
            <a:r>
              <a:rPr lang="it-IT" dirty="0" err="1"/>
              <a:t>cancer</a:t>
            </a:r>
            <a:r>
              <a:rPr lang="it-IT" dirty="0"/>
              <a:t>.</a:t>
            </a:r>
          </a:p>
          <a:p>
            <a:pPr marL="158750" indent="0">
              <a:buNone/>
            </a:pPr>
            <a:r>
              <a:rPr lang="it-IT" dirty="0"/>
              <a:t>Un comportamento simile emerge anche tra altre coppie</a:t>
            </a:r>
          </a:p>
          <a:p>
            <a:pPr marL="158750" indent="0">
              <a:buNone/>
            </a:pPr>
            <a:r>
              <a:rPr lang="it-IT" dirty="0"/>
              <a:t>La CNN riduce alcune confusioni rispetto alla Siamese, ad esempio glioblastoma verso </a:t>
            </a:r>
            <a:r>
              <a:rPr lang="it-IT" dirty="0" err="1"/>
              <a:t>leukemia</a:t>
            </a:r>
            <a:r>
              <a:rPr lang="it-IT" dirty="0"/>
              <a:t> e </a:t>
            </a:r>
            <a:r>
              <a:rPr lang="it-IT" dirty="0" err="1"/>
              <a:t>colorectal</a:t>
            </a:r>
            <a:r>
              <a:rPr lang="it-IT" dirty="0"/>
              <a:t> verso </a:t>
            </a:r>
            <a:r>
              <a:rPr lang="it-IT" dirty="0" err="1"/>
              <a:t>cervical</a:t>
            </a:r>
            <a:r>
              <a:rPr lang="it-IT" dirty="0"/>
              <a:t>, ma ne accentua altre, soprattutto </a:t>
            </a:r>
            <a:r>
              <a:rPr lang="it-IT" dirty="0" err="1"/>
              <a:t>cervical</a:t>
            </a:r>
            <a:r>
              <a:rPr lang="it-IT" dirty="0"/>
              <a:t> adenocarcinoma verso </a:t>
            </a:r>
            <a:r>
              <a:rPr lang="it-IT" dirty="0" err="1"/>
              <a:t>gastric</a:t>
            </a:r>
            <a:r>
              <a:rPr lang="it-IT" dirty="0"/>
              <a:t> cancer e </a:t>
            </a:r>
            <a:r>
              <a:rPr lang="it-IT" dirty="0" err="1"/>
              <a:t>lymphoma</a:t>
            </a:r>
            <a:r>
              <a:rPr lang="it-IT" dirty="0"/>
              <a:t>.</a:t>
            </a:r>
          </a:p>
          <a:p>
            <a:pPr marL="158750" indent="0">
              <a:buNone/>
            </a:pPr>
            <a:r>
              <a:rPr lang="it-IT" dirty="0"/>
              <a:t>L’aspetto interessante è che diverse confusioni persistono anche cambiando completamente l’obiettivo di training. Questo suggerisce che una parte della difficoltà non dipenda esclusivamente dalla Contrastive Loss o dalla Siamese, ma dalla limitata separabilità delle classi nella rappresentazione FCGR.</a:t>
            </a:r>
          </a:p>
          <a:p>
            <a:pPr marL="158750" indent="0">
              <a:buNone/>
            </a:pPr>
            <a:r>
              <a:rPr lang="it-IT" dirty="0"/>
              <a:t>Questo risultato verrà confermato anche dall’analisi dello spazio latente.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1258269c9b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74" name="Google Shape;774;g21258269c9b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Per capire meglio le prestazioni aggregate ho analizzato anche il comportamento dei modelli classe per classe.</a:t>
            </a:r>
          </a:p>
          <a:p>
            <a:pPr marL="158750" indent="0">
              <a:buNone/>
            </a:pPr>
            <a:r>
              <a:rPr lang="it-IT" dirty="0"/>
              <a:t>Il primo elemento evidente è che le difficoltà non sono distribuite uniformemente. Melanoma è la classe più facilmente riconosciuta da tutti e tre i modelli. Anche </a:t>
            </a:r>
            <a:r>
              <a:rPr lang="it-IT" dirty="0" err="1"/>
              <a:t>gastric</a:t>
            </a:r>
            <a:r>
              <a:rPr lang="it-IT" dirty="0"/>
              <a:t> cancer e </a:t>
            </a:r>
            <a:r>
              <a:rPr lang="it-IT" dirty="0" err="1"/>
              <a:t>ovarian</a:t>
            </a:r>
            <a:r>
              <a:rPr lang="it-IT" dirty="0"/>
              <a:t> cancer presentano valori relativamente più elevati.</a:t>
            </a:r>
          </a:p>
          <a:p>
            <a:pPr marL="158750" indent="0">
              <a:buNone/>
            </a:pPr>
            <a:r>
              <a:rPr lang="it-IT" dirty="0"/>
              <a:t>Al contrario, prostate cancer è particolarmente difficile e anche la classe Healthy rimane poco separabile.</a:t>
            </a:r>
          </a:p>
          <a:p>
            <a:pPr marL="158750" indent="0">
              <a:buNone/>
            </a:pPr>
            <a:r>
              <a:rPr lang="it-IT" dirty="0"/>
              <a:t>Il fatto che queste difficoltà persistano utilizzando obiettivi di training differenti suggerisce che il problema non dipenda soltanto dalla loss della Siamese.</a:t>
            </a:r>
          </a:p>
          <a:p>
            <a:pPr marL="158750" indent="0">
              <a:buNone/>
            </a:pPr>
            <a:r>
              <a:rPr lang="it-IT" dirty="0"/>
              <a:t>Per approfondire questo aspetto ho quindi analizzato la geometria dello spazio latente. Diverse coppie di centroidi risultano particolarmente vicine ed esse coincidono in larga parte con quelle già osservate nelle </a:t>
            </a:r>
            <a:r>
              <a:rPr lang="it-IT" dirty="0" err="1"/>
              <a:t>confusion</a:t>
            </a:r>
            <a:r>
              <a:rPr lang="it-IT" dirty="0"/>
              <a:t> </a:t>
            </a:r>
            <a:r>
              <a:rPr lang="it-IT" dirty="0" err="1"/>
              <a:t>matrix</a:t>
            </a:r>
            <a:r>
              <a:rPr lang="it-IT" dirty="0"/>
              <a:t>.</a:t>
            </a:r>
          </a:p>
          <a:p>
            <a:pPr marL="158750" indent="0">
              <a:buNone/>
            </a:pPr>
            <a:r>
              <a:rPr lang="it-IT" dirty="0"/>
              <a:t>Inoltre ho confrontato le rappresentazioni interne dell’encoder a 2048, 256 e 128 dimensioni. Le prestazioni nel ranking rimangono molto simili, quindi la proiezione finale a 128 dimensioni non sembra essere il principale collo di bottiglia.</a:t>
            </a:r>
          </a:p>
          <a:p>
            <a:pPr marL="158750" indent="0">
              <a:buNone/>
            </a:pPr>
            <a:r>
              <a:rPr lang="it-IT" dirty="0"/>
              <a:t>Nel complesso, i risultati suggeriscono che una parte della difficoltà sia già presente nella rappresentazione composizionale appresa dalle FCGR.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>
          <a:extLst>
            <a:ext uri="{FF2B5EF4-FFF2-40B4-BE49-F238E27FC236}">
              <a16:creationId xmlns:a16="http://schemas.microsoft.com/office/drawing/2014/main" id="{228162CF-9675-D6B7-14FE-92B11DA6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1258269c9b_0_0:notes">
            <a:extLst>
              <a:ext uri="{FF2B5EF4-FFF2-40B4-BE49-F238E27FC236}">
                <a16:creationId xmlns:a16="http://schemas.microsoft.com/office/drawing/2014/main" id="{A74C6674-929F-4330-44F9-3028A57D2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02" name="Google Shape;702;g21258269c9b_0_0:notes">
            <a:extLst>
              <a:ext uri="{FF2B5EF4-FFF2-40B4-BE49-F238E27FC236}">
                <a16:creationId xmlns:a16="http://schemas.microsoft.com/office/drawing/2014/main" id="{AE2B8D77-487C-FEBF-8CE5-E07B94A3C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213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>
          <a:extLst>
            <a:ext uri="{FF2B5EF4-FFF2-40B4-BE49-F238E27FC236}">
              <a16:creationId xmlns:a16="http://schemas.microsoft.com/office/drawing/2014/main" id="{E7791E97-A9D5-E186-CC47-DA8FAA94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140bdeeea4_0_0:notes">
            <a:extLst>
              <a:ext uri="{FF2B5EF4-FFF2-40B4-BE49-F238E27FC236}">
                <a16:creationId xmlns:a16="http://schemas.microsoft.com/office/drawing/2014/main" id="{19D814EB-58F2-2FB1-99CD-714AA393A9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60" name="Google Shape;760;g2140bdeeea4_0_0:notes">
            <a:extLst>
              <a:ext uri="{FF2B5EF4-FFF2-40B4-BE49-F238E27FC236}">
                <a16:creationId xmlns:a16="http://schemas.microsoft.com/office/drawing/2014/main" id="{BFDB57BB-1468-13FF-BD3A-4FCD12496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Riassumendo, il progetto permette di arrivare a tre conclusioni principali.</a:t>
            </a:r>
          </a:p>
          <a:p>
            <a:pPr marL="158750" indent="0">
              <a:buNone/>
            </a:pPr>
            <a:r>
              <a:rPr lang="it-IT" dirty="0"/>
              <a:t>La prima riguarda la Siamese Network. Il modello riesce effettivamente ad apprendere uno spazio di similarità disease-aware: anche quando la prima classe proposta non è corretta, la classe vera compare tra le prime tre posizioni in circa il 66% dei casi e tra le prime cinque in oltre l’83%. La Siamese mantiene quindi un valore specifico per </a:t>
            </a:r>
            <a:r>
              <a:rPr lang="it-IT" dirty="0" err="1"/>
              <a:t>similarity</a:t>
            </a:r>
            <a:r>
              <a:rPr lang="it-IT" dirty="0"/>
              <a:t> </a:t>
            </a:r>
            <a:r>
              <a:rPr lang="it-IT" dirty="0" err="1"/>
              <a:t>search</a:t>
            </a:r>
            <a:r>
              <a:rPr lang="it-IT" dirty="0"/>
              <a:t>, </a:t>
            </a:r>
            <a:r>
              <a:rPr lang="it-IT" dirty="0" err="1"/>
              <a:t>retrieval</a:t>
            </a:r>
            <a:r>
              <a:rPr lang="it-IT" dirty="0"/>
              <a:t> e ranking tra campioni.</a:t>
            </a:r>
          </a:p>
          <a:p>
            <a:pPr marL="158750" indent="0">
              <a:buNone/>
            </a:pPr>
            <a:r>
              <a:rPr lang="it-IT" dirty="0"/>
              <a:t>La seconda conclusione emerge dal confronto con la CNN </a:t>
            </a:r>
            <a:r>
              <a:rPr lang="it-IT" dirty="0" err="1"/>
              <a:t>multiclass</a:t>
            </a:r>
            <a:r>
              <a:rPr lang="it-IT" dirty="0"/>
              <a:t> diretta. Utilizzando la stessa FCGR, lo stesso </a:t>
            </a:r>
            <a:r>
              <a:rPr lang="it-IT" dirty="0" err="1"/>
              <a:t>backbone</a:t>
            </a:r>
            <a:r>
              <a:rPr lang="it-IT" dirty="0"/>
              <a:t> e lo stesso training set, la CNN diretta ottiene le migliori prestazioni complessive nella classificazione a 12 classi. Quindi, in questo setting, il </a:t>
            </a:r>
            <a:r>
              <a:rPr lang="it-IT" dirty="0" err="1"/>
              <a:t>metric</a:t>
            </a:r>
            <a:r>
              <a:rPr lang="it-IT" dirty="0"/>
              <a:t> learning non fornisce un vantaggio quando l’obiettivo è esclusivamente una decisione Top-1.</a:t>
            </a:r>
          </a:p>
          <a:p>
            <a:pPr marL="158750" indent="0">
              <a:buNone/>
            </a:pPr>
            <a:r>
              <a:rPr lang="it-IT" dirty="0"/>
              <a:t>Infine, il limite principale sembra essere la separabilità delle classi. Diverse confusioni persistono con modelli e obiettivi di training differenti e l’analisi dello spazio latente mostra una forte sovrapposizione tra molte classi.</a:t>
            </a:r>
          </a:p>
          <a:p>
            <a:pPr marL="158750" indent="0">
              <a:buNone/>
            </a:pPr>
            <a:r>
              <a:rPr lang="it-IT" dirty="0"/>
              <a:t>Inoltre, confrontando le rappresentazioni interne dell’encoder, la situazione non cambia e questo suggerisce che la compressione finale non sia il principale collo di bottiglia.</a:t>
            </a:r>
          </a:p>
          <a:p>
            <a:pPr marL="158750" indent="0">
              <a:buNone/>
            </a:pPr>
            <a:r>
              <a:rPr lang="it-IT" dirty="0"/>
              <a:t>Nel complesso, quindi, le FCGR contengono un segnale associato alla </a:t>
            </a:r>
            <a:r>
              <a:rPr lang="it-IT" dirty="0" err="1"/>
              <a:t>disease</a:t>
            </a:r>
            <a:r>
              <a:rPr lang="it-IT" dirty="0"/>
              <a:t>, ma la sola composizione dei k-</a:t>
            </a:r>
            <a:r>
              <a:rPr lang="it-IT" dirty="0" err="1"/>
              <a:t>mer</a:t>
            </a:r>
            <a:r>
              <a:rPr lang="it-IT" dirty="0"/>
              <a:t> non sembra sufficiente per ottenere una separazione netta delle dodici classi.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5666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>
          <a:extLst>
            <a:ext uri="{FF2B5EF4-FFF2-40B4-BE49-F238E27FC236}">
              <a16:creationId xmlns:a16="http://schemas.microsoft.com/office/drawing/2014/main" id="{523E6F06-C529-B67B-F657-1B06FC36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140bdeeea4_0_0:notes">
            <a:extLst>
              <a:ext uri="{FF2B5EF4-FFF2-40B4-BE49-F238E27FC236}">
                <a16:creationId xmlns:a16="http://schemas.microsoft.com/office/drawing/2014/main" id="{E73E5B38-CBAE-C127-AAA6-23D4FEBEFD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60" name="Google Shape;760;g2140bdeeea4_0_0:notes">
            <a:extLst>
              <a:ext uri="{FF2B5EF4-FFF2-40B4-BE49-F238E27FC236}">
                <a16:creationId xmlns:a16="http://schemas.microsoft.com/office/drawing/2014/main" id="{606319FF-BE6C-2A6A-2F22-69A3CCF73A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it-IT" dirty="0"/>
              <a:t>Come sviluppi futuri, ci sono tre direzioni principali che potrebbero permettere di superare alcuni dei limiti osservati.</a:t>
            </a:r>
          </a:p>
          <a:p>
            <a:pPr marL="158750" indent="0">
              <a:buNone/>
            </a:pPr>
            <a:r>
              <a:rPr lang="it-IT" dirty="0"/>
              <a:t>La prima riguarda l’integrazione di informazioni aggiuntive rispetto alla sola sequenza, infatti sarebbe interessante aggiungere informazioni come la lunghezza dell’</a:t>
            </a:r>
            <a:r>
              <a:rPr lang="it-IT" dirty="0" err="1"/>
              <a:t>eccDNA</a:t>
            </a:r>
            <a:r>
              <a:rPr lang="it-IT" dirty="0"/>
              <a:t>, il GC content, le coordinate genomiche o eventuali annotazioni funzionali. Questo permetterebbe di verificare se parte della sovrapposizione tra le classi possa essere risolta introducendo un contesto biologico più ricco.</a:t>
            </a:r>
          </a:p>
          <a:p>
            <a:pPr marL="158750" indent="0">
              <a:buNone/>
            </a:pPr>
            <a:r>
              <a:rPr lang="it-IT" dirty="0"/>
              <a:t>Una seconda direzione riguarda la costruzione degli split. Si potrebbero utilizzare criteri ancora più severi basati, ad esempio, su tissue, cell line o source database, in modo da valutare quanto il modello sia realmente in grado di generalizzare verso contesti biologici non osservati durante il training.</a:t>
            </a:r>
          </a:p>
          <a:p>
            <a:pPr marL="158750" indent="0">
              <a:buNone/>
            </a:pPr>
            <a:r>
              <a:rPr lang="it-IT" dirty="0"/>
              <a:t>Infine, sarebbe interessante esplorare strategie di </a:t>
            </a:r>
            <a:r>
              <a:rPr lang="it-IT" dirty="0" err="1"/>
              <a:t>pretraining</a:t>
            </a:r>
            <a:r>
              <a:rPr lang="it-IT" dirty="0"/>
              <a:t> self-</a:t>
            </a:r>
            <a:r>
              <a:rPr lang="it-IT" dirty="0" err="1"/>
              <a:t>supervised</a:t>
            </a:r>
            <a:r>
              <a:rPr lang="it-IT" dirty="0"/>
              <a:t> sulle FCGR. L’idea sarebbe utilizzare una quantità maggiore di sequenze per apprendere prima una rappresentazione generale della composizione dell’</a:t>
            </a:r>
            <a:r>
              <a:rPr lang="it-IT" dirty="0" err="1"/>
              <a:t>eccDNA</a:t>
            </a:r>
            <a:r>
              <a:rPr lang="it-IT" dirty="0"/>
              <a:t> e successivamente effettuare un fine-tuning sul task disease-aware.</a:t>
            </a:r>
          </a:p>
          <a:p>
            <a:pPr marL="158750" indent="0">
              <a:buNone/>
            </a:pPr>
            <a:r>
              <a:rPr lang="it-IT" dirty="0"/>
              <a:t>In questo modo, lavori futuri potrebbero cercare di capire meglio se le difficoltà osservate dipendano principalmente dalla rappresentazione FCGR, dalla complessità biologica delle classi o dalla quantità di informazione disponibile per ciascun campione.</a:t>
            </a:r>
          </a:p>
          <a:p>
            <a:pPr marL="158750" indent="0">
              <a:buNone/>
            </a:pPr>
            <a:r>
              <a:rPr lang="it-IT" dirty="0"/>
              <a:t>Il punto di partenza rimane quindi promettente: le FCGR contengono un segnale </a:t>
            </a:r>
            <a:r>
              <a:rPr lang="it-IT" dirty="0" err="1"/>
              <a:t>disease-aware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799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1105afc42a3_1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913" name="Google Shape;913;g1105afc42a3_1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7000"/>
          </a:blip>
          <a:srcRect l="15569" b="1556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177800" y="1428750"/>
            <a:ext cx="6251100" cy="15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79275" y="3139375"/>
            <a:ext cx="4248300" cy="40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 amt="27000"/>
          </a:blip>
          <a:srcRect l="15569" b="15569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371975" y="2429100"/>
            <a:ext cx="4056900" cy="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371975" y="1793850"/>
            <a:ext cx="12390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0" y="1106688"/>
            <a:ext cx="4000500" cy="2930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grpSp>
        <p:nvGrpSpPr>
          <p:cNvPr id="17" name="Google Shape;17;p3"/>
          <p:cNvGrpSpPr/>
          <p:nvPr/>
        </p:nvGrpSpPr>
        <p:grpSpPr>
          <a:xfrm rot="10338852" flipH="1">
            <a:off x="6847513" y="-1165156"/>
            <a:ext cx="2515093" cy="3644335"/>
            <a:chOff x="3339991" y="2062123"/>
            <a:chExt cx="1886541" cy="2733572"/>
          </a:xfrm>
        </p:grpSpPr>
        <p:sp>
          <p:nvSpPr>
            <p:cNvPr id="18" name="Google Shape;18;p3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"/>
          <p:cNvPicPr preferRelativeResize="0"/>
          <p:nvPr/>
        </p:nvPicPr>
        <p:blipFill rotWithShape="1">
          <a:blip r:embed="rId2">
            <a:alphaModFix amt="25000"/>
          </a:blip>
          <a:srcRect t="15569" r="15569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subTitle" idx="1"/>
          </p:nvPr>
        </p:nvSpPr>
        <p:spPr>
          <a:xfrm>
            <a:off x="5045217" y="2665776"/>
            <a:ext cx="2765100" cy="13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ubTitle" idx="2"/>
          </p:nvPr>
        </p:nvSpPr>
        <p:spPr>
          <a:xfrm>
            <a:off x="1333663" y="2665776"/>
            <a:ext cx="2765100" cy="13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subTitle" idx="3"/>
          </p:nvPr>
        </p:nvSpPr>
        <p:spPr>
          <a:xfrm>
            <a:off x="1333663" y="2183075"/>
            <a:ext cx="2765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subTitle" idx="4"/>
          </p:nvPr>
        </p:nvSpPr>
        <p:spPr>
          <a:xfrm>
            <a:off x="5045225" y="2183075"/>
            <a:ext cx="2765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 rot="20401445">
            <a:off x="7428783" y="-353553"/>
            <a:ext cx="2096744" cy="3038153"/>
            <a:chOff x="3339991" y="2062123"/>
            <a:chExt cx="1886541" cy="2733572"/>
          </a:xfrm>
        </p:grpSpPr>
        <p:sp>
          <p:nvSpPr>
            <p:cNvPr id="71" name="Google Shape;71;p5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" name="Google Shape;70;p5">
            <a:extLst>
              <a:ext uri="{FF2B5EF4-FFF2-40B4-BE49-F238E27FC236}">
                <a16:creationId xmlns:a16="http://schemas.microsoft.com/office/drawing/2014/main" id="{E1B14649-AA3D-586F-C8AA-FEC8F595FDAF}"/>
              </a:ext>
            </a:extLst>
          </p:cNvPr>
          <p:cNvGrpSpPr/>
          <p:nvPr userDrawn="1"/>
        </p:nvGrpSpPr>
        <p:grpSpPr>
          <a:xfrm rot="20401445">
            <a:off x="7433930" y="2421267"/>
            <a:ext cx="2096744" cy="3038153"/>
            <a:chOff x="3339991" y="2062123"/>
            <a:chExt cx="1886541" cy="2733572"/>
          </a:xfrm>
        </p:grpSpPr>
        <p:sp>
          <p:nvSpPr>
            <p:cNvPr id="3" name="Google Shape;71;p5">
              <a:extLst>
                <a:ext uri="{FF2B5EF4-FFF2-40B4-BE49-F238E27FC236}">
                  <a16:creationId xmlns:a16="http://schemas.microsoft.com/office/drawing/2014/main" id="{6CE86DC8-3297-91A1-FB70-C93D13D1B267}"/>
                </a:ext>
              </a:extLst>
            </p:cNvPr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72;p5">
              <a:extLst>
                <a:ext uri="{FF2B5EF4-FFF2-40B4-BE49-F238E27FC236}">
                  <a16:creationId xmlns:a16="http://schemas.microsoft.com/office/drawing/2014/main" id="{AFAC445B-42D4-1FC6-CCC4-993D1A5256B3}"/>
                </a:ext>
              </a:extLst>
            </p:cNvPr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73;p5">
              <a:extLst>
                <a:ext uri="{FF2B5EF4-FFF2-40B4-BE49-F238E27FC236}">
                  <a16:creationId xmlns:a16="http://schemas.microsoft.com/office/drawing/2014/main" id="{5C6DA298-2CAC-E1E1-60EA-9FF01874D9B8}"/>
                </a:ext>
              </a:extLst>
            </p:cNvPr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74;p5">
              <a:extLst>
                <a:ext uri="{FF2B5EF4-FFF2-40B4-BE49-F238E27FC236}">
                  <a16:creationId xmlns:a16="http://schemas.microsoft.com/office/drawing/2014/main" id="{80A24ADA-BD8B-FF67-2F7A-ED3C7A2503F7}"/>
                </a:ext>
              </a:extLst>
            </p:cNvPr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75;p5">
              <a:extLst>
                <a:ext uri="{FF2B5EF4-FFF2-40B4-BE49-F238E27FC236}">
                  <a16:creationId xmlns:a16="http://schemas.microsoft.com/office/drawing/2014/main" id="{7B41BE57-BE88-EF09-C9A3-2713848297FE}"/>
                </a:ext>
              </a:extLst>
            </p:cNvPr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76;p5">
              <a:extLst>
                <a:ext uri="{FF2B5EF4-FFF2-40B4-BE49-F238E27FC236}">
                  <a16:creationId xmlns:a16="http://schemas.microsoft.com/office/drawing/2014/main" id="{B9E1EDC2-4AD0-2BFD-5BD5-3D894883BE13}"/>
                </a:ext>
              </a:extLst>
            </p:cNvPr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77;p5">
              <a:extLst>
                <a:ext uri="{FF2B5EF4-FFF2-40B4-BE49-F238E27FC236}">
                  <a16:creationId xmlns:a16="http://schemas.microsoft.com/office/drawing/2014/main" id="{F845D876-BCA8-1BEF-95DC-48B0C67A90F9}"/>
                </a:ext>
              </a:extLst>
            </p:cNvPr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8;p5">
              <a:extLst>
                <a:ext uri="{FF2B5EF4-FFF2-40B4-BE49-F238E27FC236}">
                  <a16:creationId xmlns:a16="http://schemas.microsoft.com/office/drawing/2014/main" id="{026B1F9A-05A7-637A-9F3A-4F2E9F5F8838}"/>
                </a:ext>
              </a:extLst>
            </p:cNvPr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79;p5">
              <a:extLst>
                <a:ext uri="{FF2B5EF4-FFF2-40B4-BE49-F238E27FC236}">
                  <a16:creationId xmlns:a16="http://schemas.microsoft.com/office/drawing/2014/main" id="{E90A1B9A-4153-779B-B91D-8426B8EEC8F6}"/>
                </a:ext>
              </a:extLst>
            </p:cNvPr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80;p5">
              <a:extLst>
                <a:ext uri="{FF2B5EF4-FFF2-40B4-BE49-F238E27FC236}">
                  <a16:creationId xmlns:a16="http://schemas.microsoft.com/office/drawing/2014/main" id="{7D964ACA-3482-1B75-522E-4E004290C6C6}"/>
                </a:ext>
              </a:extLst>
            </p:cNvPr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81;p5">
              <a:extLst>
                <a:ext uri="{FF2B5EF4-FFF2-40B4-BE49-F238E27FC236}">
                  <a16:creationId xmlns:a16="http://schemas.microsoft.com/office/drawing/2014/main" id="{507C5827-2CF0-F27A-B508-448CEB16CDF1}"/>
                </a:ext>
              </a:extLst>
            </p:cNvPr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82;p5">
              <a:extLst>
                <a:ext uri="{FF2B5EF4-FFF2-40B4-BE49-F238E27FC236}">
                  <a16:creationId xmlns:a16="http://schemas.microsoft.com/office/drawing/2014/main" id="{F0748762-AF77-B7FD-0133-F34E18164E4A}"/>
                </a:ext>
              </a:extLst>
            </p:cNvPr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83;p5">
              <a:extLst>
                <a:ext uri="{FF2B5EF4-FFF2-40B4-BE49-F238E27FC236}">
                  <a16:creationId xmlns:a16="http://schemas.microsoft.com/office/drawing/2014/main" id="{EE39443D-D7C7-0843-B3D8-D4DC695FECC9}"/>
                </a:ext>
              </a:extLst>
            </p:cNvPr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84;p5">
              <a:extLst>
                <a:ext uri="{FF2B5EF4-FFF2-40B4-BE49-F238E27FC236}">
                  <a16:creationId xmlns:a16="http://schemas.microsoft.com/office/drawing/2014/main" id="{E2248036-7351-F090-5A5F-385F0CFEC82F}"/>
                </a:ext>
              </a:extLst>
            </p:cNvPr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85;p5">
              <a:extLst>
                <a:ext uri="{FF2B5EF4-FFF2-40B4-BE49-F238E27FC236}">
                  <a16:creationId xmlns:a16="http://schemas.microsoft.com/office/drawing/2014/main" id="{3E597075-4EED-D72C-EA61-F5239B3E8823}"/>
                </a:ext>
              </a:extLst>
            </p:cNvPr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86;p5">
              <a:extLst>
                <a:ext uri="{FF2B5EF4-FFF2-40B4-BE49-F238E27FC236}">
                  <a16:creationId xmlns:a16="http://schemas.microsoft.com/office/drawing/2014/main" id="{6F1C3915-2B40-FC1F-EB4F-BB96E7B789AE}"/>
                </a:ext>
              </a:extLst>
            </p:cNvPr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87;p5">
              <a:extLst>
                <a:ext uri="{FF2B5EF4-FFF2-40B4-BE49-F238E27FC236}">
                  <a16:creationId xmlns:a16="http://schemas.microsoft.com/office/drawing/2014/main" id="{517A4A9B-F7C5-731B-33F8-FB41511C4B1A}"/>
                </a:ext>
              </a:extLst>
            </p:cNvPr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88;p5">
              <a:extLst>
                <a:ext uri="{FF2B5EF4-FFF2-40B4-BE49-F238E27FC236}">
                  <a16:creationId xmlns:a16="http://schemas.microsoft.com/office/drawing/2014/main" id="{2C86BED5-C670-5510-74DA-940CF54CCBBE}"/>
                </a:ext>
              </a:extLst>
            </p:cNvPr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89;p5">
              <a:extLst>
                <a:ext uri="{FF2B5EF4-FFF2-40B4-BE49-F238E27FC236}">
                  <a16:creationId xmlns:a16="http://schemas.microsoft.com/office/drawing/2014/main" id="{B9BF93C7-E987-C472-379A-E5EFED8FC680}"/>
                </a:ext>
              </a:extLst>
            </p:cNvPr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90;p5">
              <a:extLst>
                <a:ext uri="{FF2B5EF4-FFF2-40B4-BE49-F238E27FC236}">
                  <a16:creationId xmlns:a16="http://schemas.microsoft.com/office/drawing/2014/main" id="{B95FFD5E-F905-DC79-BE4C-08F5B82D690A}"/>
                </a:ext>
              </a:extLst>
            </p:cNvPr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1_Title and two 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"/>
          <p:cNvPicPr preferRelativeResize="0"/>
          <p:nvPr/>
        </p:nvPicPr>
        <p:blipFill rotWithShape="1">
          <a:blip r:embed="rId2">
            <a:alphaModFix amt="25000"/>
          </a:blip>
          <a:srcRect t="15569" r="15569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subTitle" idx="1"/>
          </p:nvPr>
        </p:nvSpPr>
        <p:spPr>
          <a:xfrm>
            <a:off x="5045217" y="2665776"/>
            <a:ext cx="2765100" cy="13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ubTitle" idx="2"/>
          </p:nvPr>
        </p:nvSpPr>
        <p:spPr>
          <a:xfrm>
            <a:off x="1333663" y="2665776"/>
            <a:ext cx="2765100" cy="13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subTitle" idx="3"/>
          </p:nvPr>
        </p:nvSpPr>
        <p:spPr>
          <a:xfrm>
            <a:off x="1333663" y="2183075"/>
            <a:ext cx="2765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subTitle" idx="4"/>
          </p:nvPr>
        </p:nvSpPr>
        <p:spPr>
          <a:xfrm>
            <a:off x="5045225" y="2183075"/>
            <a:ext cx="2765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 rot="20401445">
            <a:off x="-181702" y="-250072"/>
            <a:ext cx="2096744" cy="3038153"/>
            <a:chOff x="3339991" y="2062123"/>
            <a:chExt cx="1886541" cy="2733572"/>
          </a:xfrm>
        </p:grpSpPr>
        <p:sp>
          <p:nvSpPr>
            <p:cNvPr id="71" name="Google Shape;71;p5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" name="Google Shape;70;p5">
            <a:extLst>
              <a:ext uri="{FF2B5EF4-FFF2-40B4-BE49-F238E27FC236}">
                <a16:creationId xmlns:a16="http://schemas.microsoft.com/office/drawing/2014/main" id="{E1B14649-AA3D-586F-C8AA-FEC8F595FDAF}"/>
              </a:ext>
            </a:extLst>
          </p:cNvPr>
          <p:cNvGrpSpPr/>
          <p:nvPr userDrawn="1"/>
        </p:nvGrpSpPr>
        <p:grpSpPr>
          <a:xfrm rot="20401445">
            <a:off x="-176555" y="2407614"/>
            <a:ext cx="2096744" cy="3038153"/>
            <a:chOff x="3339991" y="2062123"/>
            <a:chExt cx="1886541" cy="2733572"/>
          </a:xfrm>
        </p:grpSpPr>
        <p:sp>
          <p:nvSpPr>
            <p:cNvPr id="3" name="Google Shape;71;p5">
              <a:extLst>
                <a:ext uri="{FF2B5EF4-FFF2-40B4-BE49-F238E27FC236}">
                  <a16:creationId xmlns:a16="http://schemas.microsoft.com/office/drawing/2014/main" id="{6CE86DC8-3297-91A1-FB70-C93D13D1B267}"/>
                </a:ext>
              </a:extLst>
            </p:cNvPr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72;p5">
              <a:extLst>
                <a:ext uri="{FF2B5EF4-FFF2-40B4-BE49-F238E27FC236}">
                  <a16:creationId xmlns:a16="http://schemas.microsoft.com/office/drawing/2014/main" id="{AFAC445B-42D4-1FC6-CCC4-993D1A5256B3}"/>
                </a:ext>
              </a:extLst>
            </p:cNvPr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73;p5">
              <a:extLst>
                <a:ext uri="{FF2B5EF4-FFF2-40B4-BE49-F238E27FC236}">
                  <a16:creationId xmlns:a16="http://schemas.microsoft.com/office/drawing/2014/main" id="{5C6DA298-2CAC-E1E1-60EA-9FF01874D9B8}"/>
                </a:ext>
              </a:extLst>
            </p:cNvPr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74;p5">
              <a:extLst>
                <a:ext uri="{FF2B5EF4-FFF2-40B4-BE49-F238E27FC236}">
                  <a16:creationId xmlns:a16="http://schemas.microsoft.com/office/drawing/2014/main" id="{80A24ADA-BD8B-FF67-2F7A-ED3C7A2503F7}"/>
                </a:ext>
              </a:extLst>
            </p:cNvPr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75;p5">
              <a:extLst>
                <a:ext uri="{FF2B5EF4-FFF2-40B4-BE49-F238E27FC236}">
                  <a16:creationId xmlns:a16="http://schemas.microsoft.com/office/drawing/2014/main" id="{7B41BE57-BE88-EF09-C9A3-2713848297FE}"/>
                </a:ext>
              </a:extLst>
            </p:cNvPr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76;p5">
              <a:extLst>
                <a:ext uri="{FF2B5EF4-FFF2-40B4-BE49-F238E27FC236}">
                  <a16:creationId xmlns:a16="http://schemas.microsoft.com/office/drawing/2014/main" id="{B9E1EDC2-4AD0-2BFD-5BD5-3D894883BE13}"/>
                </a:ext>
              </a:extLst>
            </p:cNvPr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77;p5">
              <a:extLst>
                <a:ext uri="{FF2B5EF4-FFF2-40B4-BE49-F238E27FC236}">
                  <a16:creationId xmlns:a16="http://schemas.microsoft.com/office/drawing/2014/main" id="{F845D876-BCA8-1BEF-95DC-48B0C67A90F9}"/>
                </a:ext>
              </a:extLst>
            </p:cNvPr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8;p5">
              <a:extLst>
                <a:ext uri="{FF2B5EF4-FFF2-40B4-BE49-F238E27FC236}">
                  <a16:creationId xmlns:a16="http://schemas.microsoft.com/office/drawing/2014/main" id="{026B1F9A-05A7-637A-9F3A-4F2E9F5F8838}"/>
                </a:ext>
              </a:extLst>
            </p:cNvPr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79;p5">
              <a:extLst>
                <a:ext uri="{FF2B5EF4-FFF2-40B4-BE49-F238E27FC236}">
                  <a16:creationId xmlns:a16="http://schemas.microsoft.com/office/drawing/2014/main" id="{E90A1B9A-4153-779B-B91D-8426B8EEC8F6}"/>
                </a:ext>
              </a:extLst>
            </p:cNvPr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80;p5">
              <a:extLst>
                <a:ext uri="{FF2B5EF4-FFF2-40B4-BE49-F238E27FC236}">
                  <a16:creationId xmlns:a16="http://schemas.microsoft.com/office/drawing/2014/main" id="{7D964ACA-3482-1B75-522E-4E004290C6C6}"/>
                </a:ext>
              </a:extLst>
            </p:cNvPr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81;p5">
              <a:extLst>
                <a:ext uri="{FF2B5EF4-FFF2-40B4-BE49-F238E27FC236}">
                  <a16:creationId xmlns:a16="http://schemas.microsoft.com/office/drawing/2014/main" id="{507C5827-2CF0-F27A-B508-448CEB16CDF1}"/>
                </a:ext>
              </a:extLst>
            </p:cNvPr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82;p5">
              <a:extLst>
                <a:ext uri="{FF2B5EF4-FFF2-40B4-BE49-F238E27FC236}">
                  <a16:creationId xmlns:a16="http://schemas.microsoft.com/office/drawing/2014/main" id="{F0748762-AF77-B7FD-0133-F34E18164E4A}"/>
                </a:ext>
              </a:extLst>
            </p:cNvPr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83;p5">
              <a:extLst>
                <a:ext uri="{FF2B5EF4-FFF2-40B4-BE49-F238E27FC236}">
                  <a16:creationId xmlns:a16="http://schemas.microsoft.com/office/drawing/2014/main" id="{EE39443D-D7C7-0843-B3D8-D4DC695FECC9}"/>
                </a:ext>
              </a:extLst>
            </p:cNvPr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84;p5">
              <a:extLst>
                <a:ext uri="{FF2B5EF4-FFF2-40B4-BE49-F238E27FC236}">
                  <a16:creationId xmlns:a16="http://schemas.microsoft.com/office/drawing/2014/main" id="{E2248036-7351-F090-5A5F-385F0CFEC82F}"/>
                </a:ext>
              </a:extLst>
            </p:cNvPr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85;p5">
              <a:extLst>
                <a:ext uri="{FF2B5EF4-FFF2-40B4-BE49-F238E27FC236}">
                  <a16:creationId xmlns:a16="http://schemas.microsoft.com/office/drawing/2014/main" id="{3E597075-4EED-D72C-EA61-F5239B3E8823}"/>
                </a:ext>
              </a:extLst>
            </p:cNvPr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86;p5">
              <a:extLst>
                <a:ext uri="{FF2B5EF4-FFF2-40B4-BE49-F238E27FC236}">
                  <a16:creationId xmlns:a16="http://schemas.microsoft.com/office/drawing/2014/main" id="{6F1C3915-2B40-FC1F-EB4F-BB96E7B789AE}"/>
                </a:ext>
              </a:extLst>
            </p:cNvPr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87;p5">
              <a:extLst>
                <a:ext uri="{FF2B5EF4-FFF2-40B4-BE49-F238E27FC236}">
                  <a16:creationId xmlns:a16="http://schemas.microsoft.com/office/drawing/2014/main" id="{517A4A9B-F7C5-731B-33F8-FB41511C4B1A}"/>
                </a:ext>
              </a:extLst>
            </p:cNvPr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88;p5">
              <a:extLst>
                <a:ext uri="{FF2B5EF4-FFF2-40B4-BE49-F238E27FC236}">
                  <a16:creationId xmlns:a16="http://schemas.microsoft.com/office/drawing/2014/main" id="{2C86BED5-C670-5510-74DA-940CF54CCBBE}"/>
                </a:ext>
              </a:extLst>
            </p:cNvPr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89;p5">
              <a:extLst>
                <a:ext uri="{FF2B5EF4-FFF2-40B4-BE49-F238E27FC236}">
                  <a16:creationId xmlns:a16="http://schemas.microsoft.com/office/drawing/2014/main" id="{B9BF93C7-E987-C472-379A-E5EFED8FC680}"/>
                </a:ext>
              </a:extLst>
            </p:cNvPr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90;p5">
              <a:extLst>
                <a:ext uri="{FF2B5EF4-FFF2-40B4-BE49-F238E27FC236}">
                  <a16:creationId xmlns:a16="http://schemas.microsoft.com/office/drawing/2014/main" id="{B95FFD5E-F905-DC79-BE4C-08F5B82D690A}"/>
                </a:ext>
              </a:extLst>
            </p:cNvPr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35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7"/>
          <p:cNvPicPr preferRelativeResize="0"/>
          <p:nvPr/>
        </p:nvPicPr>
        <p:blipFill rotWithShape="1">
          <a:blip r:embed="rId2">
            <a:alphaModFix amt="27000"/>
          </a:blip>
          <a:srcRect t="15569" r="1556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720000" y="884475"/>
            <a:ext cx="3852000" cy="10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720000" y="2141325"/>
            <a:ext cx="3852000" cy="21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7"/>
          <p:cNvSpPr>
            <a:spLocks noGrp="1"/>
          </p:cNvSpPr>
          <p:nvPr>
            <p:ph type="pic" idx="2"/>
          </p:nvPr>
        </p:nvSpPr>
        <p:spPr>
          <a:xfrm>
            <a:off x="5143500" y="1106688"/>
            <a:ext cx="4000500" cy="2930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grpSp>
        <p:nvGrpSpPr>
          <p:cNvPr id="120" name="Google Shape;120;p7"/>
          <p:cNvGrpSpPr/>
          <p:nvPr/>
        </p:nvGrpSpPr>
        <p:grpSpPr>
          <a:xfrm rot="-8368418">
            <a:off x="-186340" y="-1298468"/>
            <a:ext cx="2096744" cy="3038153"/>
            <a:chOff x="3339991" y="2062123"/>
            <a:chExt cx="1886541" cy="2733572"/>
          </a:xfrm>
        </p:grpSpPr>
        <p:sp>
          <p:nvSpPr>
            <p:cNvPr id="121" name="Google Shape;121;p7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7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7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7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7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7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7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7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7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7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7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7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 amt="27000"/>
          </a:blip>
          <a:srcRect l="15569" b="15569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8"/>
          <p:cNvPicPr preferRelativeResize="0"/>
          <p:nvPr/>
        </p:nvPicPr>
        <p:blipFill rotWithShape="1">
          <a:blip r:embed="rId2">
            <a:alphaModFix amt="27000"/>
          </a:blip>
          <a:srcRect l="15569" b="15569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9"/>
          <p:cNvPicPr preferRelativeResize="0"/>
          <p:nvPr/>
        </p:nvPicPr>
        <p:blipFill rotWithShape="1">
          <a:blip r:embed="rId2">
            <a:alphaModFix amt="27000"/>
          </a:blip>
          <a:srcRect l="15569" b="15569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8" name="Google Shape;148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1" name="Google Shape;151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1_Big number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1"/>
          <p:cNvPicPr preferRelativeResize="0"/>
          <p:nvPr/>
        </p:nvPicPr>
        <p:blipFill rotWithShape="1">
          <a:blip r:embed="rId2">
            <a:alphaModFix amt="27000"/>
          </a:blip>
          <a:srcRect l="15569" b="15569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 txBox="1">
            <a:spLocks noGrp="1"/>
          </p:cNvSpPr>
          <p:nvPr>
            <p:ph type="title" hasCustomPrompt="1"/>
          </p:nvPr>
        </p:nvSpPr>
        <p:spPr>
          <a:xfrm>
            <a:off x="715100" y="1528650"/>
            <a:ext cx="4209900" cy="127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5" name="Google Shape;155;p11"/>
          <p:cNvSpPr txBox="1">
            <a:spLocks noGrp="1"/>
          </p:cNvSpPr>
          <p:nvPr>
            <p:ph type="subTitle" idx="1"/>
          </p:nvPr>
        </p:nvSpPr>
        <p:spPr>
          <a:xfrm>
            <a:off x="715200" y="2805150"/>
            <a:ext cx="4209900" cy="8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56" name="Google Shape;156;p11"/>
          <p:cNvGrpSpPr/>
          <p:nvPr/>
        </p:nvGrpSpPr>
        <p:grpSpPr>
          <a:xfrm rot="-10339044">
            <a:off x="6986015" y="600310"/>
            <a:ext cx="3832765" cy="5553624"/>
            <a:chOff x="3339991" y="2062123"/>
            <a:chExt cx="1886541" cy="2733572"/>
          </a:xfrm>
        </p:grpSpPr>
        <p:sp>
          <p:nvSpPr>
            <p:cNvPr id="157" name="Google Shape;157;p11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1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1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1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1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1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1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1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1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1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1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1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1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1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045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5"/>
          <p:cNvPicPr preferRelativeResize="0"/>
          <p:nvPr/>
        </p:nvPicPr>
        <p:blipFill rotWithShape="1">
          <a:blip r:embed="rId2">
            <a:alphaModFix amt="25000"/>
          </a:blip>
          <a:srcRect l="24634" t="14468" r="8570" b="18736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50" name="Google Shape;250;p15"/>
          <p:cNvGrpSpPr/>
          <p:nvPr/>
        </p:nvGrpSpPr>
        <p:grpSpPr>
          <a:xfrm rot="5832642">
            <a:off x="6902756" y="-1088432"/>
            <a:ext cx="2096682" cy="3038064"/>
            <a:chOff x="3339991" y="2062123"/>
            <a:chExt cx="1886541" cy="2733572"/>
          </a:xfrm>
        </p:grpSpPr>
        <p:sp>
          <p:nvSpPr>
            <p:cNvPr id="251" name="Google Shape;251;p15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5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5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5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5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5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5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5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5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5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5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6"/>
          <p:cNvPicPr preferRelativeResize="0"/>
          <p:nvPr/>
        </p:nvPicPr>
        <p:blipFill rotWithShape="1">
          <a:blip r:embed="rId2">
            <a:alphaModFix amt="25000"/>
          </a:blip>
          <a:srcRect t="15569" r="15569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_ONLY_8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0"/>
          <p:cNvPicPr preferRelativeResize="0"/>
          <p:nvPr/>
        </p:nvPicPr>
        <p:blipFill rotWithShape="1">
          <a:blip r:embed="rId2">
            <a:alphaModFix amt="27000"/>
          </a:blip>
          <a:srcRect t="15569" r="1556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1"/>
          <p:cNvPicPr preferRelativeResize="0"/>
          <p:nvPr/>
        </p:nvPicPr>
        <p:blipFill rotWithShape="1">
          <a:blip r:embed="rId2">
            <a:alphaModFix amt="27000"/>
          </a:blip>
          <a:srcRect l="15569" b="15569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21"/>
          <p:cNvSpPr txBox="1">
            <a:spLocks noGrp="1"/>
          </p:cNvSpPr>
          <p:nvPr>
            <p:ph type="title" idx="2" hasCustomPrompt="1"/>
          </p:nvPr>
        </p:nvSpPr>
        <p:spPr>
          <a:xfrm>
            <a:off x="1564300" y="1657350"/>
            <a:ext cx="616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3" name="Google Shape;353;p21"/>
          <p:cNvSpPr txBox="1">
            <a:spLocks noGrp="1"/>
          </p:cNvSpPr>
          <p:nvPr>
            <p:ph type="title" idx="3" hasCustomPrompt="1"/>
          </p:nvPr>
        </p:nvSpPr>
        <p:spPr>
          <a:xfrm>
            <a:off x="1564225" y="3473451"/>
            <a:ext cx="616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4" name="Google Shape;354;p21"/>
          <p:cNvSpPr txBox="1">
            <a:spLocks noGrp="1"/>
          </p:cNvSpPr>
          <p:nvPr>
            <p:ph type="title" idx="4" hasCustomPrompt="1"/>
          </p:nvPr>
        </p:nvSpPr>
        <p:spPr>
          <a:xfrm>
            <a:off x="4263663" y="1657350"/>
            <a:ext cx="616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5" name="Google Shape;355;p21"/>
          <p:cNvSpPr txBox="1">
            <a:spLocks noGrp="1"/>
          </p:cNvSpPr>
          <p:nvPr>
            <p:ph type="title" idx="5" hasCustomPrompt="1"/>
          </p:nvPr>
        </p:nvSpPr>
        <p:spPr>
          <a:xfrm>
            <a:off x="4263625" y="3473452"/>
            <a:ext cx="616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6" name="Google Shape;356;p21"/>
          <p:cNvSpPr txBox="1">
            <a:spLocks noGrp="1"/>
          </p:cNvSpPr>
          <p:nvPr>
            <p:ph type="title" idx="6" hasCustomPrompt="1"/>
          </p:nvPr>
        </p:nvSpPr>
        <p:spPr>
          <a:xfrm>
            <a:off x="6962901" y="1657350"/>
            <a:ext cx="616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7" name="Google Shape;357;p21"/>
          <p:cNvSpPr txBox="1">
            <a:spLocks noGrp="1"/>
          </p:cNvSpPr>
          <p:nvPr>
            <p:ph type="title" idx="7" hasCustomPrompt="1"/>
          </p:nvPr>
        </p:nvSpPr>
        <p:spPr>
          <a:xfrm>
            <a:off x="6962900" y="3473452"/>
            <a:ext cx="616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8" name="Google Shape;358;p21"/>
          <p:cNvSpPr txBox="1">
            <a:spLocks noGrp="1"/>
          </p:cNvSpPr>
          <p:nvPr>
            <p:ph type="subTitle" idx="1"/>
          </p:nvPr>
        </p:nvSpPr>
        <p:spPr>
          <a:xfrm>
            <a:off x="720000" y="22495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9" name="Google Shape;359;p21"/>
          <p:cNvSpPr txBox="1">
            <a:spLocks noGrp="1"/>
          </p:cNvSpPr>
          <p:nvPr>
            <p:ph type="subTitle" idx="8"/>
          </p:nvPr>
        </p:nvSpPr>
        <p:spPr>
          <a:xfrm>
            <a:off x="3419275" y="22495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9"/>
          </p:nvPr>
        </p:nvSpPr>
        <p:spPr>
          <a:xfrm>
            <a:off x="6118550" y="22495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1" name="Google Shape;361;p21"/>
          <p:cNvSpPr txBox="1">
            <a:spLocks noGrp="1"/>
          </p:cNvSpPr>
          <p:nvPr>
            <p:ph type="subTitle" idx="13"/>
          </p:nvPr>
        </p:nvSpPr>
        <p:spPr>
          <a:xfrm>
            <a:off x="720000" y="40656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2" name="Google Shape;362;p21"/>
          <p:cNvSpPr txBox="1">
            <a:spLocks noGrp="1"/>
          </p:cNvSpPr>
          <p:nvPr>
            <p:ph type="subTitle" idx="14"/>
          </p:nvPr>
        </p:nvSpPr>
        <p:spPr>
          <a:xfrm>
            <a:off x="3419275" y="40656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3" name="Google Shape;363;p21"/>
          <p:cNvSpPr txBox="1">
            <a:spLocks noGrp="1"/>
          </p:cNvSpPr>
          <p:nvPr>
            <p:ph type="subTitle" idx="15"/>
          </p:nvPr>
        </p:nvSpPr>
        <p:spPr>
          <a:xfrm>
            <a:off x="6118550" y="40656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 preserve="1">
  <p:cSld name="1_Numbers and text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23"/>
          <p:cNvPicPr preferRelativeResize="0"/>
          <p:nvPr/>
        </p:nvPicPr>
        <p:blipFill rotWithShape="1">
          <a:blip r:embed="rId2">
            <a:alphaModFix amt="27000"/>
          </a:blip>
          <a:srcRect l="15569" b="1556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3"/>
          <p:cNvSpPr txBox="1">
            <a:spLocks noGrp="1"/>
          </p:cNvSpPr>
          <p:nvPr>
            <p:ph type="title" hasCustomPrompt="1"/>
          </p:nvPr>
        </p:nvSpPr>
        <p:spPr>
          <a:xfrm>
            <a:off x="715100" y="535000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2" name="Google Shape;392;p23"/>
          <p:cNvSpPr txBox="1">
            <a:spLocks noGrp="1"/>
          </p:cNvSpPr>
          <p:nvPr>
            <p:ph type="subTitle" idx="1"/>
          </p:nvPr>
        </p:nvSpPr>
        <p:spPr>
          <a:xfrm>
            <a:off x="715125" y="1303924"/>
            <a:ext cx="3492600" cy="3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3" name="Google Shape;393;p23"/>
          <p:cNvSpPr txBox="1">
            <a:spLocks noGrp="1"/>
          </p:cNvSpPr>
          <p:nvPr>
            <p:ph type="title" idx="2" hasCustomPrompt="1"/>
          </p:nvPr>
        </p:nvSpPr>
        <p:spPr>
          <a:xfrm>
            <a:off x="2825688" y="1887888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23"/>
          <p:cNvSpPr txBox="1">
            <a:spLocks noGrp="1"/>
          </p:cNvSpPr>
          <p:nvPr>
            <p:ph type="subTitle" idx="3"/>
          </p:nvPr>
        </p:nvSpPr>
        <p:spPr>
          <a:xfrm>
            <a:off x="2825700" y="2656812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5" name="Google Shape;395;p23"/>
          <p:cNvSpPr txBox="1">
            <a:spLocks noGrp="1"/>
          </p:cNvSpPr>
          <p:nvPr>
            <p:ph type="title" idx="4" hasCustomPrompt="1"/>
          </p:nvPr>
        </p:nvSpPr>
        <p:spPr>
          <a:xfrm>
            <a:off x="4936200" y="3491575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6" name="Google Shape;396;p23"/>
          <p:cNvSpPr txBox="1">
            <a:spLocks noGrp="1"/>
          </p:cNvSpPr>
          <p:nvPr>
            <p:ph type="subTitle" idx="5"/>
          </p:nvPr>
        </p:nvSpPr>
        <p:spPr>
          <a:xfrm>
            <a:off x="4936300" y="4260500"/>
            <a:ext cx="3492600" cy="3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397" name="Google Shape;397;p23"/>
          <p:cNvGrpSpPr/>
          <p:nvPr/>
        </p:nvGrpSpPr>
        <p:grpSpPr>
          <a:xfrm rot="-10339044">
            <a:off x="7511277" y="-2502596"/>
            <a:ext cx="2947959" cy="4271552"/>
            <a:chOff x="3339991" y="2062123"/>
            <a:chExt cx="1886541" cy="2733572"/>
          </a:xfrm>
        </p:grpSpPr>
        <p:sp>
          <p:nvSpPr>
            <p:cNvPr id="398" name="Google Shape;398;p23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3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3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3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3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3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3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3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3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3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3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3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3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3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3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3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3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3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" name="Google Shape;418;p23"/>
          <p:cNvGrpSpPr/>
          <p:nvPr/>
        </p:nvGrpSpPr>
        <p:grpSpPr>
          <a:xfrm rot="9308651" flipH="1">
            <a:off x="-617250" y="2124699"/>
            <a:ext cx="2947959" cy="4271552"/>
            <a:chOff x="3339991" y="2062123"/>
            <a:chExt cx="1886541" cy="2733572"/>
          </a:xfrm>
        </p:grpSpPr>
        <p:sp>
          <p:nvSpPr>
            <p:cNvPr id="419" name="Google Shape;419;p23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3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3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3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3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3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3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3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3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3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3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3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3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3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3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3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3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8959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25"/>
          <p:cNvPicPr preferRelativeResize="0"/>
          <p:nvPr/>
        </p:nvPicPr>
        <p:blipFill rotWithShape="1">
          <a:blip r:embed="rId2">
            <a:alphaModFix amt="27000"/>
          </a:blip>
          <a:srcRect t="15569" r="1556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25"/>
          <p:cNvSpPr txBox="1">
            <a:spLocks noGrp="1"/>
          </p:cNvSpPr>
          <p:nvPr>
            <p:ph type="subTitle" idx="1"/>
          </p:nvPr>
        </p:nvSpPr>
        <p:spPr>
          <a:xfrm>
            <a:off x="720000" y="2703788"/>
            <a:ext cx="2175300" cy="16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25"/>
          <p:cNvSpPr txBox="1">
            <a:spLocks noGrp="1"/>
          </p:cNvSpPr>
          <p:nvPr>
            <p:ph type="subTitle" idx="2"/>
          </p:nvPr>
        </p:nvSpPr>
        <p:spPr>
          <a:xfrm>
            <a:off x="3484347" y="2703788"/>
            <a:ext cx="2175300" cy="16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25"/>
          <p:cNvSpPr txBox="1">
            <a:spLocks noGrp="1"/>
          </p:cNvSpPr>
          <p:nvPr>
            <p:ph type="subTitle" idx="3"/>
          </p:nvPr>
        </p:nvSpPr>
        <p:spPr>
          <a:xfrm>
            <a:off x="6248700" y="2703788"/>
            <a:ext cx="2175300" cy="16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25"/>
          <p:cNvSpPr txBox="1">
            <a:spLocks noGrp="1"/>
          </p:cNvSpPr>
          <p:nvPr>
            <p:ph type="subTitle" idx="4"/>
          </p:nvPr>
        </p:nvSpPr>
        <p:spPr>
          <a:xfrm>
            <a:off x="720000" y="2044462"/>
            <a:ext cx="21753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76" name="Google Shape;476;p25"/>
          <p:cNvSpPr txBox="1">
            <a:spLocks noGrp="1"/>
          </p:cNvSpPr>
          <p:nvPr>
            <p:ph type="subTitle" idx="5"/>
          </p:nvPr>
        </p:nvSpPr>
        <p:spPr>
          <a:xfrm>
            <a:off x="3484350" y="2044462"/>
            <a:ext cx="21753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77" name="Google Shape;477;p25"/>
          <p:cNvSpPr txBox="1">
            <a:spLocks noGrp="1"/>
          </p:cNvSpPr>
          <p:nvPr>
            <p:ph type="subTitle" idx="6"/>
          </p:nvPr>
        </p:nvSpPr>
        <p:spPr>
          <a:xfrm>
            <a:off x="6248700" y="2044462"/>
            <a:ext cx="21753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478" name="Google Shape;478;p25"/>
          <p:cNvGrpSpPr/>
          <p:nvPr/>
        </p:nvGrpSpPr>
        <p:grpSpPr>
          <a:xfrm rot="-10338966">
            <a:off x="7507714" y="-928951"/>
            <a:ext cx="2096663" cy="3038035"/>
            <a:chOff x="3339991" y="2062123"/>
            <a:chExt cx="1886541" cy="2733572"/>
          </a:xfrm>
        </p:grpSpPr>
        <p:sp>
          <p:nvSpPr>
            <p:cNvPr id="479" name="Google Shape;479;p25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5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5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5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5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5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5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5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5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5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5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5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5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5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5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5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5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5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5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5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26"/>
          <p:cNvPicPr preferRelativeResize="0"/>
          <p:nvPr/>
        </p:nvPicPr>
        <p:blipFill rotWithShape="1">
          <a:blip r:embed="rId2">
            <a:alphaModFix amt="25000"/>
          </a:blip>
          <a:srcRect t="15569" r="15569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26"/>
          <p:cNvSpPr txBox="1">
            <a:spLocks noGrp="1"/>
          </p:cNvSpPr>
          <p:nvPr>
            <p:ph type="subTitle" idx="1"/>
          </p:nvPr>
        </p:nvSpPr>
        <p:spPr>
          <a:xfrm>
            <a:off x="1066675" y="1457225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3" name="Google Shape;503;p26"/>
          <p:cNvSpPr txBox="1">
            <a:spLocks noGrp="1"/>
          </p:cNvSpPr>
          <p:nvPr>
            <p:ph type="subTitle" idx="2"/>
          </p:nvPr>
        </p:nvSpPr>
        <p:spPr>
          <a:xfrm>
            <a:off x="1066675" y="1897400"/>
            <a:ext cx="2967000" cy="88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26"/>
          <p:cNvSpPr txBox="1">
            <a:spLocks noGrp="1"/>
          </p:cNvSpPr>
          <p:nvPr>
            <p:ph type="subTitle" idx="3"/>
          </p:nvPr>
        </p:nvSpPr>
        <p:spPr>
          <a:xfrm>
            <a:off x="5097175" y="1897400"/>
            <a:ext cx="2967000" cy="88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26"/>
          <p:cNvSpPr txBox="1">
            <a:spLocks noGrp="1"/>
          </p:cNvSpPr>
          <p:nvPr>
            <p:ph type="subTitle" idx="4"/>
          </p:nvPr>
        </p:nvSpPr>
        <p:spPr>
          <a:xfrm>
            <a:off x="1066675" y="3645725"/>
            <a:ext cx="2967000" cy="88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26"/>
          <p:cNvSpPr txBox="1">
            <a:spLocks noGrp="1"/>
          </p:cNvSpPr>
          <p:nvPr>
            <p:ph type="subTitle" idx="5"/>
          </p:nvPr>
        </p:nvSpPr>
        <p:spPr>
          <a:xfrm>
            <a:off x="5097175" y="3645725"/>
            <a:ext cx="2967000" cy="88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26"/>
          <p:cNvSpPr txBox="1">
            <a:spLocks noGrp="1"/>
          </p:cNvSpPr>
          <p:nvPr>
            <p:ph type="subTitle" idx="6"/>
          </p:nvPr>
        </p:nvSpPr>
        <p:spPr>
          <a:xfrm>
            <a:off x="1066675" y="3205550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8" name="Google Shape;508;p26"/>
          <p:cNvSpPr txBox="1">
            <a:spLocks noGrp="1"/>
          </p:cNvSpPr>
          <p:nvPr>
            <p:ph type="subTitle" idx="7"/>
          </p:nvPr>
        </p:nvSpPr>
        <p:spPr>
          <a:xfrm>
            <a:off x="5097175" y="1457225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9" name="Google Shape;509;p26"/>
          <p:cNvSpPr txBox="1">
            <a:spLocks noGrp="1"/>
          </p:cNvSpPr>
          <p:nvPr>
            <p:ph type="subTitle" idx="8"/>
          </p:nvPr>
        </p:nvSpPr>
        <p:spPr>
          <a:xfrm>
            <a:off x="5097175" y="3205550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510" name="Google Shape;510;p26"/>
          <p:cNvGrpSpPr/>
          <p:nvPr/>
        </p:nvGrpSpPr>
        <p:grpSpPr>
          <a:xfrm rot="10338966" flipH="1">
            <a:off x="-629961" y="2377699"/>
            <a:ext cx="2096663" cy="3038035"/>
            <a:chOff x="3339991" y="2062123"/>
            <a:chExt cx="1886541" cy="2733572"/>
          </a:xfrm>
        </p:grpSpPr>
        <p:sp>
          <p:nvSpPr>
            <p:cNvPr id="511" name="Google Shape;511;p26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6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6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6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6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6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6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6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6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6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6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6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6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6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6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6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6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6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6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 preserve="1">
  <p:cSld name="1_Title and four columns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26"/>
          <p:cNvPicPr preferRelativeResize="0"/>
          <p:nvPr/>
        </p:nvPicPr>
        <p:blipFill rotWithShape="1">
          <a:blip r:embed="rId2">
            <a:alphaModFix amt="25000"/>
          </a:blip>
          <a:srcRect t="15569" r="15569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26"/>
          <p:cNvSpPr txBox="1">
            <a:spLocks noGrp="1"/>
          </p:cNvSpPr>
          <p:nvPr>
            <p:ph type="subTitle" idx="1"/>
          </p:nvPr>
        </p:nvSpPr>
        <p:spPr>
          <a:xfrm>
            <a:off x="1066675" y="1457225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3" name="Google Shape;503;p26"/>
          <p:cNvSpPr txBox="1">
            <a:spLocks noGrp="1"/>
          </p:cNvSpPr>
          <p:nvPr>
            <p:ph type="subTitle" idx="2"/>
          </p:nvPr>
        </p:nvSpPr>
        <p:spPr>
          <a:xfrm>
            <a:off x="1066675" y="1897400"/>
            <a:ext cx="2967000" cy="88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26"/>
          <p:cNvSpPr txBox="1">
            <a:spLocks noGrp="1"/>
          </p:cNvSpPr>
          <p:nvPr>
            <p:ph type="subTitle" idx="3"/>
          </p:nvPr>
        </p:nvSpPr>
        <p:spPr>
          <a:xfrm>
            <a:off x="5097175" y="1897400"/>
            <a:ext cx="2967000" cy="88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26"/>
          <p:cNvSpPr txBox="1">
            <a:spLocks noGrp="1"/>
          </p:cNvSpPr>
          <p:nvPr>
            <p:ph type="subTitle" idx="4"/>
          </p:nvPr>
        </p:nvSpPr>
        <p:spPr>
          <a:xfrm>
            <a:off x="1066675" y="3645725"/>
            <a:ext cx="2967000" cy="88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26"/>
          <p:cNvSpPr txBox="1">
            <a:spLocks noGrp="1"/>
          </p:cNvSpPr>
          <p:nvPr>
            <p:ph type="subTitle" idx="5"/>
          </p:nvPr>
        </p:nvSpPr>
        <p:spPr>
          <a:xfrm>
            <a:off x="5097175" y="3645725"/>
            <a:ext cx="2967000" cy="88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26"/>
          <p:cNvSpPr txBox="1">
            <a:spLocks noGrp="1"/>
          </p:cNvSpPr>
          <p:nvPr>
            <p:ph type="subTitle" idx="6"/>
          </p:nvPr>
        </p:nvSpPr>
        <p:spPr>
          <a:xfrm>
            <a:off x="1066675" y="3205550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8" name="Google Shape;508;p26"/>
          <p:cNvSpPr txBox="1">
            <a:spLocks noGrp="1"/>
          </p:cNvSpPr>
          <p:nvPr>
            <p:ph type="subTitle" idx="7"/>
          </p:nvPr>
        </p:nvSpPr>
        <p:spPr>
          <a:xfrm>
            <a:off x="5097175" y="1457225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9" name="Google Shape;509;p26"/>
          <p:cNvSpPr txBox="1">
            <a:spLocks noGrp="1"/>
          </p:cNvSpPr>
          <p:nvPr>
            <p:ph type="subTitle" idx="8"/>
          </p:nvPr>
        </p:nvSpPr>
        <p:spPr>
          <a:xfrm>
            <a:off x="5097175" y="3205550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510" name="Google Shape;510;p26"/>
          <p:cNvGrpSpPr/>
          <p:nvPr/>
        </p:nvGrpSpPr>
        <p:grpSpPr>
          <a:xfrm rot="10338966" flipH="1">
            <a:off x="8001900" y="-581222"/>
            <a:ext cx="2096663" cy="3038035"/>
            <a:chOff x="3339991" y="2062123"/>
            <a:chExt cx="1886541" cy="2733572"/>
          </a:xfrm>
        </p:grpSpPr>
        <p:sp>
          <p:nvSpPr>
            <p:cNvPr id="511" name="Google Shape;511;p26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6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6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6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6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6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6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6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6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6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6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6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6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6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6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6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6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6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6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" name="Google Shape;510;p26">
            <a:extLst>
              <a:ext uri="{FF2B5EF4-FFF2-40B4-BE49-F238E27FC236}">
                <a16:creationId xmlns:a16="http://schemas.microsoft.com/office/drawing/2014/main" id="{AF2CDFD5-1BAD-7F48-6CCE-9CEA8192304E}"/>
              </a:ext>
            </a:extLst>
          </p:cNvPr>
          <p:cNvGrpSpPr/>
          <p:nvPr userDrawn="1"/>
        </p:nvGrpSpPr>
        <p:grpSpPr>
          <a:xfrm rot="13648894" flipH="1">
            <a:off x="7974221" y="2718050"/>
            <a:ext cx="2096663" cy="3038035"/>
            <a:chOff x="3339991" y="2062123"/>
            <a:chExt cx="1886541" cy="2733572"/>
          </a:xfrm>
        </p:grpSpPr>
        <p:sp>
          <p:nvSpPr>
            <p:cNvPr id="3" name="Google Shape;511;p26">
              <a:extLst>
                <a:ext uri="{FF2B5EF4-FFF2-40B4-BE49-F238E27FC236}">
                  <a16:creationId xmlns:a16="http://schemas.microsoft.com/office/drawing/2014/main" id="{A62BC3AE-FAA4-90A0-6151-10D9714FFC60}"/>
                </a:ext>
              </a:extLst>
            </p:cNvPr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512;p26">
              <a:extLst>
                <a:ext uri="{FF2B5EF4-FFF2-40B4-BE49-F238E27FC236}">
                  <a16:creationId xmlns:a16="http://schemas.microsoft.com/office/drawing/2014/main" id="{1484CE0B-95F3-8625-2E46-7BED0E56A2F5}"/>
                </a:ext>
              </a:extLst>
            </p:cNvPr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513;p26">
              <a:extLst>
                <a:ext uri="{FF2B5EF4-FFF2-40B4-BE49-F238E27FC236}">
                  <a16:creationId xmlns:a16="http://schemas.microsoft.com/office/drawing/2014/main" id="{F6294D60-0B66-53ED-C44B-43FDE33C3AD4}"/>
                </a:ext>
              </a:extLst>
            </p:cNvPr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514;p26">
              <a:extLst>
                <a:ext uri="{FF2B5EF4-FFF2-40B4-BE49-F238E27FC236}">
                  <a16:creationId xmlns:a16="http://schemas.microsoft.com/office/drawing/2014/main" id="{7579CF9C-E2F7-F40C-5E86-743613818E58}"/>
                </a:ext>
              </a:extLst>
            </p:cNvPr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515;p26">
              <a:extLst>
                <a:ext uri="{FF2B5EF4-FFF2-40B4-BE49-F238E27FC236}">
                  <a16:creationId xmlns:a16="http://schemas.microsoft.com/office/drawing/2014/main" id="{0570C2DC-4B3B-428D-F271-F31F052842E4}"/>
                </a:ext>
              </a:extLst>
            </p:cNvPr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516;p26">
              <a:extLst>
                <a:ext uri="{FF2B5EF4-FFF2-40B4-BE49-F238E27FC236}">
                  <a16:creationId xmlns:a16="http://schemas.microsoft.com/office/drawing/2014/main" id="{2165E61D-687A-E79F-FB62-886CD75E1A63}"/>
                </a:ext>
              </a:extLst>
            </p:cNvPr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517;p26">
              <a:extLst>
                <a:ext uri="{FF2B5EF4-FFF2-40B4-BE49-F238E27FC236}">
                  <a16:creationId xmlns:a16="http://schemas.microsoft.com/office/drawing/2014/main" id="{3BB7EC98-710A-A0D1-3FE0-4B262B5C6E02}"/>
                </a:ext>
              </a:extLst>
            </p:cNvPr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518;p26">
              <a:extLst>
                <a:ext uri="{FF2B5EF4-FFF2-40B4-BE49-F238E27FC236}">
                  <a16:creationId xmlns:a16="http://schemas.microsoft.com/office/drawing/2014/main" id="{E2C19D07-FF4C-4D1C-95B2-D008B5F78698}"/>
                </a:ext>
              </a:extLst>
            </p:cNvPr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519;p26">
              <a:extLst>
                <a:ext uri="{FF2B5EF4-FFF2-40B4-BE49-F238E27FC236}">
                  <a16:creationId xmlns:a16="http://schemas.microsoft.com/office/drawing/2014/main" id="{DC73EF22-1CE9-C36A-9021-D6D622B6C4E8}"/>
                </a:ext>
              </a:extLst>
            </p:cNvPr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520;p26">
              <a:extLst>
                <a:ext uri="{FF2B5EF4-FFF2-40B4-BE49-F238E27FC236}">
                  <a16:creationId xmlns:a16="http://schemas.microsoft.com/office/drawing/2014/main" id="{B34405C0-8647-9D83-8ADA-4D8093A4F993}"/>
                </a:ext>
              </a:extLst>
            </p:cNvPr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521;p26">
              <a:extLst>
                <a:ext uri="{FF2B5EF4-FFF2-40B4-BE49-F238E27FC236}">
                  <a16:creationId xmlns:a16="http://schemas.microsoft.com/office/drawing/2014/main" id="{EC53D624-8D93-6EFD-4A61-969918AC7478}"/>
                </a:ext>
              </a:extLst>
            </p:cNvPr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522;p26">
              <a:extLst>
                <a:ext uri="{FF2B5EF4-FFF2-40B4-BE49-F238E27FC236}">
                  <a16:creationId xmlns:a16="http://schemas.microsoft.com/office/drawing/2014/main" id="{6B2B8621-281A-AF25-0B55-A4AC12EE3B6E}"/>
                </a:ext>
              </a:extLst>
            </p:cNvPr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523;p26">
              <a:extLst>
                <a:ext uri="{FF2B5EF4-FFF2-40B4-BE49-F238E27FC236}">
                  <a16:creationId xmlns:a16="http://schemas.microsoft.com/office/drawing/2014/main" id="{DA9564F2-E27E-2CE1-D96A-E61A9C95DB87}"/>
                </a:ext>
              </a:extLst>
            </p:cNvPr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524;p26">
              <a:extLst>
                <a:ext uri="{FF2B5EF4-FFF2-40B4-BE49-F238E27FC236}">
                  <a16:creationId xmlns:a16="http://schemas.microsoft.com/office/drawing/2014/main" id="{A4D3F79F-1B14-F69E-DAD3-929965CDB328}"/>
                </a:ext>
              </a:extLst>
            </p:cNvPr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525;p26">
              <a:extLst>
                <a:ext uri="{FF2B5EF4-FFF2-40B4-BE49-F238E27FC236}">
                  <a16:creationId xmlns:a16="http://schemas.microsoft.com/office/drawing/2014/main" id="{2681B814-5CFD-2273-E653-32D2025E74CD}"/>
                </a:ext>
              </a:extLst>
            </p:cNvPr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526;p26">
              <a:extLst>
                <a:ext uri="{FF2B5EF4-FFF2-40B4-BE49-F238E27FC236}">
                  <a16:creationId xmlns:a16="http://schemas.microsoft.com/office/drawing/2014/main" id="{D32A8B7E-90F8-65CB-5BB6-A8027140E5CE}"/>
                </a:ext>
              </a:extLst>
            </p:cNvPr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527;p26">
              <a:extLst>
                <a:ext uri="{FF2B5EF4-FFF2-40B4-BE49-F238E27FC236}">
                  <a16:creationId xmlns:a16="http://schemas.microsoft.com/office/drawing/2014/main" id="{4338EBCA-D2BF-C6D7-BE60-E7B36D345C6A}"/>
                </a:ext>
              </a:extLst>
            </p:cNvPr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528;p26">
              <a:extLst>
                <a:ext uri="{FF2B5EF4-FFF2-40B4-BE49-F238E27FC236}">
                  <a16:creationId xmlns:a16="http://schemas.microsoft.com/office/drawing/2014/main" id="{854EB960-2681-C933-D0C9-BAD93E802A3D}"/>
                </a:ext>
              </a:extLst>
            </p:cNvPr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529;p26">
              <a:extLst>
                <a:ext uri="{FF2B5EF4-FFF2-40B4-BE49-F238E27FC236}">
                  <a16:creationId xmlns:a16="http://schemas.microsoft.com/office/drawing/2014/main" id="{09416891-917A-D384-F6F7-437A68DB4B7F}"/>
                </a:ext>
              </a:extLst>
            </p:cNvPr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530;p26">
              <a:extLst>
                <a:ext uri="{FF2B5EF4-FFF2-40B4-BE49-F238E27FC236}">
                  <a16:creationId xmlns:a16="http://schemas.microsoft.com/office/drawing/2014/main" id="{F7D81D10-273D-F19A-49B0-74B0108517F4}"/>
                </a:ext>
              </a:extLst>
            </p:cNvPr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9209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27"/>
          <p:cNvPicPr preferRelativeResize="0"/>
          <p:nvPr/>
        </p:nvPicPr>
        <p:blipFill rotWithShape="1">
          <a:blip r:embed="rId2">
            <a:alphaModFix amt="27000"/>
          </a:blip>
          <a:srcRect t="15569" r="15569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27"/>
          <p:cNvSpPr txBox="1">
            <a:spLocks noGrp="1"/>
          </p:cNvSpPr>
          <p:nvPr>
            <p:ph type="subTitle" idx="1"/>
          </p:nvPr>
        </p:nvSpPr>
        <p:spPr>
          <a:xfrm>
            <a:off x="719950" y="1819539"/>
            <a:ext cx="2421600" cy="9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27"/>
          <p:cNvSpPr txBox="1">
            <a:spLocks noGrp="1"/>
          </p:cNvSpPr>
          <p:nvPr>
            <p:ph type="subTitle" idx="2"/>
          </p:nvPr>
        </p:nvSpPr>
        <p:spPr>
          <a:xfrm>
            <a:off x="3361150" y="1819539"/>
            <a:ext cx="2421600" cy="9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27"/>
          <p:cNvSpPr txBox="1">
            <a:spLocks noGrp="1"/>
          </p:cNvSpPr>
          <p:nvPr>
            <p:ph type="subTitle" idx="3"/>
          </p:nvPr>
        </p:nvSpPr>
        <p:spPr>
          <a:xfrm>
            <a:off x="719950" y="3542350"/>
            <a:ext cx="2421600" cy="9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7" name="Google Shape;537;p27"/>
          <p:cNvSpPr txBox="1">
            <a:spLocks noGrp="1"/>
          </p:cNvSpPr>
          <p:nvPr>
            <p:ph type="subTitle" idx="4"/>
          </p:nvPr>
        </p:nvSpPr>
        <p:spPr>
          <a:xfrm>
            <a:off x="3361150" y="3542353"/>
            <a:ext cx="2421600" cy="9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27"/>
          <p:cNvSpPr txBox="1">
            <a:spLocks noGrp="1"/>
          </p:cNvSpPr>
          <p:nvPr>
            <p:ph type="subTitle" idx="5"/>
          </p:nvPr>
        </p:nvSpPr>
        <p:spPr>
          <a:xfrm>
            <a:off x="6002350" y="1819539"/>
            <a:ext cx="2421600" cy="9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27"/>
          <p:cNvSpPr txBox="1">
            <a:spLocks noGrp="1"/>
          </p:cNvSpPr>
          <p:nvPr>
            <p:ph type="subTitle" idx="6"/>
          </p:nvPr>
        </p:nvSpPr>
        <p:spPr>
          <a:xfrm>
            <a:off x="6002350" y="3542353"/>
            <a:ext cx="2421600" cy="9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27"/>
          <p:cNvSpPr txBox="1">
            <a:spLocks noGrp="1"/>
          </p:cNvSpPr>
          <p:nvPr>
            <p:ph type="subTitle" idx="7"/>
          </p:nvPr>
        </p:nvSpPr>
        <p:spPr>
          <a:xfrm>
            <a:off x="719950" y="1533425"/>
            <a:ext cx="2419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1" name="Google Shape;541;p27"/>
          <p:cNvSpPr txBox="1">
            <a:spLocks noGrp="1"/>
          </p:cNvSpPr>
          <p:nvPr>
            <p:ph type="subTitle" idx="8"/>
          </p:nvPr>
        </p:nvSpPr>
        <p:spPr>
          <a:xfrm>
            <a:off x="3361150" y="1533425"/>
            <a:ext cx="241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2" name="Google Shape;542;p27"/>
          <p:cNvSpPr txBox="1">
            <a:spLocks noGrp="1"/>
          </p:cNvSpPr>
          <p:nvPr>
            <p:ph type="subTitle" idx="9"/>
          </p:nvPr>
        </p:nvSpPr>
        <p:spPr>
          <a:xfrm>
            <a:off x="6004545" y="1533425"/>
            <a:ext cx="241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3" name="Google Shape;543;p27"/>
          <p:cNvSpPr txBox="1">
            <a:spLocks noGrp="1"/>
          </p:cNvSpPr>
          <p:nvPr>
            <p:ph type="subTitle" idx="13"/>
          </p:nvPr>
        </p:nvSpPr>
        <p:spPr>
          <a:xfrm>
            <a:off x="719950" y="3260502"/>
            <a:ext cx="2419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4" name="Google Shape;544;p27"/>
          <p:cNvSpPr txBox="1">
            <a:spLocks noGrp="1"/>
          </p:cNvSpPr>
          <p:nvPr>
            <p:ph type="subTitle" idx="14"/>
          </p:nvPr>
        </p:nvSpPr>
        <p:spPr>
          <a:xfrm>
            <a:off x="3361150" y="3260506"/>
            <a:ext cx="241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5" name="Google Shape;545;p27"/>
          <p:cNvSpPr txBox="1">
            <a:spLocks noGrp="1"/>
          </p:cNvSpPr>
          <p:nvPr>
            <p:ph type="subTitle" idx="15"/>
          </p:nvPr>
        </p:nvSpPr>
        <p:spPr>
          <a:xfrm>
            <a:off x="6004545" y="3260506"/>
            <a:ext cx="241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28"/>
          <p:cNvPicPr preferRelativeResize="0"/>
          <p:nvPr/>
        </p:nvPicPr>
        <p:blipFill rotWithShape="1">
          <a:blip r:embed="rId2">
            <a:alphaModFix amt="25000"/>
          </a:blip>
          <a:srcRect t="15569" r="15569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8"/>
          <p:cNvSpPr txBox="1">
            <a:spLocks noGrp="1"/>
          </p:cNvSpPr>
          <p:nvPr>
            <p:ph type="ctrTitle"/>
          </p:nvPr>
        </p:nvSpPr>
        <p:spPr>
          <a:xfrm>
            <a:off x="715100" y="910875"/>
            <a:ext cx="3513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49" name="Google Shape;549;p28"/>
          <p:cNvSpPr txBox="1">
            <a:spLocks noGrp="1"/>
          </p:cNvSpPr>
          <p:nvPr>
            <p:ph type="subTitle" idx="1"/>
          </p:nvPr>
        </p:nvSpPr>
        <p:spPr>
          <a:xfrm>
            <a:off x="715100" y="1940425"/>
            <a:ext cx="3513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50" name="Google Shape;550;p28"/>
          <p:cNvGrpSpPr/>
          <p:nvPr/>
        </p:nvGrpSpPr>
        <p:grpSpPr>
          <a:xfrm rot="10338966" flipH="1">
            <a:off x="6739339" y="-299826"/>
            <a:ext cx="2096663" cy="3038035"/>
            <a:chOff x="3339991" y="2062123"/>
            <a:chExt cx="1886541" cy="2733572"/>
          </a:xfrm>
        </p:grpSpPr>
        <p:sp>
          <p:nvSpPr>
            <p:cNvPr id="551" name="Google Shape;551;p28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8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8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8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28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8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8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8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8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8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28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8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8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8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8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8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8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8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8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8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1" name="Google Shape;571;p28"/>
          <p:cNvGrpSpPr/>
          <p:nvPr/>
        </p:nvGrpSpPr>
        <p:grpSpPr>
          <a:xfrm rot="-10339088">
            <a:off x="4117644" y="1392711"/>
            <a:ext cx="3021624" cy="4378292"/>
            <a:chOff x="3339991" y="2062123"/>
            <a:chExt cx="1886541" cy="2733572"/>
          </a:xfrm>
        </p:grpSpPr>
        <p:sp>
          <p:nvSpPr>
            <p:cNvPr id="572" name="Google Shape;572;p28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8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8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8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8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8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8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8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8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8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8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8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8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8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8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8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28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29"/>
          <p:cNvPicPr preferRelativeResize="0"/>
          <p:nvPr/>
        </p:nvPicPr>
        <p:blipFill rotWithShape="1">
          <a:blip r:embed="rId2">
            <a:alphaModFix amt="27000"/>
          </a:blip>
          <a:srcRect l="15569" b="1556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4" name="Google Shape;594;p29"/>
          <p:cNvGrpSpPr/>
          <p:nvPr/>
        </p:nvGrpSpPr>
        <p:grpSpPr>
          <a:xfrm rot="10338966" flipH="1">
            <a:off x="7532889" y="381049"/>
            <a:ext cx="2096663" cy="3038035"/>
            <a:chOff x="3339991" y="2062123"/>
            <a:chExt cx="1886541" cy="2733572"/>
          </a:xfrm>
        </p:grpSpPr>
        <p:sp>
          <p:nvSpPr>
            <p:cNvPr id="595" name="Google Shape;595;p29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9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9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9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9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9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9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9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9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9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9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9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9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9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9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9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9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30"/>
          <p:cNvPicPr preferRelativeResize="0"/>
          <p:nvPr/>
        </p:nvPicPr>
        <p:blipFill rotWithShape="1">
          <a:blip r:embed="rId2">
            <a:alphaModFix amt="27000"/>
          </a:blip>
          <a:srcRect l="15569" b="15569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7" name="Google Shape;617;p30"/>
          <p:cNvGrpSpPr/>
          <p:nvPr/>
        </p:nvGrpSpPr>
        <p:grpSpPr>
          <a:xfrm rot="-8470982" flipH="1">
            <a:off x="8029777" y="3148182"/>
            <a:ext cx="1772372" cy="2568143"/>
            <a:chOff x="3339991" y="2062123"/>
            <a:chExt cx="1886541" cy="2733572"/>
          </a:xfrm>
        </p:grpSpPr>
        <p:sp>
          <p:nvSpPr>
            <p:cNvPr id="618" name="Google Shape;618;p30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0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0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0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0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0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0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0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0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0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0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0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0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0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0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0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0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0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0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0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tu"/>
              <a:buNone/>
              <a:defRPr sz="30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82" r:id="rId4"/>
    <p:sldLayoutId id="2147483653" r:id="rId5"/>
    <p:sldLayoutId id="2147483654" r:id="rId6"/>
    <p:sldLayoutId id="2147483655" r:id="rId7"/>
    <p:sldLayoutId id="2147483656" r:id="rId8"/>
    <p:sldLayoutId id="2147483684" r:id="rId9"/>
    <p:sldLayoutId id="2147483658" r:id="rId10"/>
    <p:sldLayoutId id="2147483661" r:id="rId11"/>
    <p:sldLayoutId id="2147483662" r:id="rId12"/>
    <p:sldLayoutId id="2147483666" r:id="rId13"/>
    <p:sldLayoutId id="2147483667" r:id="rId14"/>
    <p:sldLayoutId id="2147483683" r:id="rId15"/>
    <p:sldLayoutId id="2147483671" r:id="rId16"/>
    <p:sldLayoutId id="2147483672" r:id="rId17"/>
    <p:sldLayoutId id="2147483681" r:id="rId18"/>
    <p:sldLayoutId id="2147483673" r:id="rId19"/>
    <p:sldLayoutId id="2147483674" r:id="rId20"/>
    <p:sldLayoutId id="2147483675" r:id="rId21"/>
    <p:sldLayoutId id="2147483676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4"/>
          <p:cNvSpPr txBox="1">
            <a:spLocks noGrp="1"/>
          </p:cNvSpPr>
          <p:nvPr>
            <p:ph type="ctrTitle"/>
          </p:nvPr>
        </p:nvSpPr>
        <p:spPr>
          <a:xfrm>
            <a:off x="2177800" y="1062955"/>
            <a:ext cx="6798366" cy="19338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it-IT" sz="4000" dirty="0"/>
              <a:t>FCGR e Siamese Networks per l’analisi di similarità di eccDNA</a:t>
            </a:r>
            <a:endParaRPr sz="4000" dirty="0"/>
          </a:p>
        </p:txBody>
      </p:sp>
      <p:sp>
        <p:nvSpPr>
          <p:cNvPr id="649" name="Google Shape;649;p34"/>
          <p:cNvSpPr txBox="1">
            <a:spLocks noGrp="1"/>
          </p:cNvSpPr>
          <p:nvPr>
            <p:ph type="subTitle" idx="1"/>
          </p:nvPr>
        </p:nvSpPr>
        <p:spPr>
          <a:xfrm>
            <a:off x="2936111" y="3156374"/>
            <a:ext cx="4780505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Progetto di Strumenti Formali per la Bioinformatica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650" name="Google Shape;650;p34"/>
          <p:cNvGrpSpPr/>
          <p:nvPr/>
        </p:nvGrpSpPr>
        <p:grpSpPr>
          <a:xfrm rot="10338847" flipH="1">
            <a:off x="-669912" y="69020"/>
            <a:ext cx="3585702" cy="5195633"/>
            <a:chOff x="3339991" y="2062123"/>
            <a:chExt cx="1886541" cy="2733572"/>
          </a:xfrm>
        </p:grpSpPr>
        <p:sp>
          <p:nvSpPr>
            <p:cNvPr id="651" name="Google Shape;651;p34"/>
            <p:cNvSpPr/>
            <p:nvPr/>
          </p:nvSpPr>
          <p:spPr>
            <a:xfrm>
              <a:off x="4169152" y="2062123"/>
              <a:ext cx="665292" cy="1673261"/>
            </a:xfrm>
            <a:custGeom>
              <a:avLst/>
              <a:gdLst/>
              <a:ahLst/>
              <a:cxnLst/>
              <a:rect l="l" t="t" r="r" b="b"/>
              <a:pathLst>
                <a:path w="665292" h="1673261" extrusionOk="0">
                  <a:moveTo>
                    <a:pt x="563558" y="1673261"/>
                  </a:moveTo>
                  <a:lnTo>
                    <a:pt x="549388" y="1662407"/>
                  </a:lnTo>
                  <a:cubicBezTo>
                    <a:pt x="631866" y="1554541"/>
                    <a:pt x="664475" y="1414928"/>
                    <a:pt x="638905" y="1279358"/>
                  </a:cubicBezTo>
                  <a:cubicBezTo>
                    <a:pt x="601936" y="1083473"/>
                    <a:pt x="460643" y="924331"/>
                    <a:pt x="323937" y="770458"/>
                  </a:cubicBezTo>
                  <a:cubicBezTo>
                    <a:pt x="131459" y="553772"/>
                    <a:pt x="-67560" y="329684"/>
                    <a:pt x="22185" y="0"/>
                  </a:cubicBezTo>
                  <a:lnTo>
                    <a:pt x="39443" y="4678"/>
                  </a:lnTo>
                  <a:cubicBezTo>
                    <a:pt x="-47712" y="325006"/>
                    <a:pt x="139316" y="535605"/>
                    <a:pt x="337335" y="758559"/>
                  </a:cubicBezTo>
                  <a:cubicBezTo>
                    <a:pt x="475630" y="914249"/>
                    <a:pt x="618604" y="1075253"/>
                    <a:pt x="656482" y="1276042"/>
                  </a:cubicBezTo>
                  <a:cubicBezTo>
                    <a:pt x="682960" y="1416609"/>
                    <a:pt x="649124" y="1561399"/>
                    <a:pt x="563558" y="1673261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4"/>
            <p:cNvSpPr/>
            <p:nvPr/>
          </p:nvSpPr>
          <p:spPr>
            <a:xfrm>
              <a:off x="3740299" y="2413879"/>
              <a:ext cx="1486233" cy="963935"/>
            </a:xfrm>
            <a:custGeom>
              <a:avLst/>
              <a:gdLst/>
              <a:ahLst/>
              <a:cxnLst/>
              <a:rect l="l" t="t" r="r" b="b"/>
              <a:pathLst>
                <a:path w="1486233" h="963935" extrusionOk="0">
                  <a:moveTo>
                    <a:pt x="17849" y="963935"/>
                  </a:moveTo>
                  <a:lnTo>
                    <a:pt x="0" y="963299"/>
                  </a:lnTo>
                  <a:cubicBezTo>
                    <a:pt x="14216" y="576299"/>
                    <a:pt x="393858" y="468842"/>
                    <a:pt x="678170" y="421699"/>
                  </a:cubicBezTo>
                  <a:lnTo>
                    <a:pt x="711324" y="416249"/>
                  </a:lnTo>
                  <a:cubicBezTo>
                    <a:pt x="992321" y="370105"/>
                    <a:pt x="1342079" y="312652"/>
                    <a:pt x="1469701" y="0"/>
                  </a:cubicBezTo>
                  <a:lnTo>
                    <a:pt x="1486233" y="6767"/>
                  </a:lnTo>
                  <a:cubicBezTo>
                    <a:pt x="1354796" y="328685"/>
                    <a:pt x="999588" y="387046"/>
                    <a:pt x="714186" y="433916"/>
                  </a:cubicBezTo>
                  <a:lnTo>
                    <a:pt x="681031" y="439366"/>
                  </a:lnTo>
                  <a:cubicBezTo>
                    <a:pt x="100372" y="535605"/>
                    <a:pt x="24480" y="784855"/>
                    <a:pt x="17849" y="963935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4"/>
            <p:cNvSpPr/>
            <p:nvPr/>
          </p:nvSpPr>
          <p:spPr>
            <a:xfrm rot="-4206890">
              <a:off x="4652407" y="1863539"/>
              <a:ext cx="17841" cy="1019838"/>
            </a:xfrm>
            <a:custGeom>
              <a:avLst/>
              <a:gdLst/>
              <a:ahLst/>
              <a:cxnLst/>
              <a:rect l="l" t="t" r="r" b="b"/>
              <a:pathLst>
                <a:path w="17848" h="1020246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20246"/>
                  </a:lnTo>
                  <a:lnTo>
                    <a:pt x="0" y="1020246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4"/>
            <p:cNvSpPr/>
            <p:nvPr/>
          </p:nvSpPr>
          <p:spPr>
            <a:xfrm rot="-4206890">
              <a:off x="4616907" y="2010739"/>
              <a:ext cx="17841" cy="923184"/>
            </a:xfrm>
            <a:custGeom>
              <a:avLst/>
              <a:gdLst/>
              <a:ahLst/>
              <a:cxnLst/>
              <a:rect l="l" t="t" r="r" b="b"/>
              <a:pathLst>
                <a:path w="17848" h="92355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23554"/>
                  </a:lnTo>
                  <a:lnTo>
                    <a:pt x="0" y="92355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34"/>
            <p:cNvSpPr/>
            <p:nvPr/>
          </p:nvSpPr>
          <p:spPr>
            <a:xfrm rot="-4206890">
              <a:off x="4581405" y="2190086"/>
              <a:ext cx="17841" cy="762064"/>
            </a:xfrm>
            <a:custGeom>
              <a:avLst/>
              <a:gdLst/>
              <a:ahLst/>
              <a:cxnLst/>
              <a:rect l="l" t="t" r="r" b="b"/>
              <a:pathLst>
                <a:path w="17848" h="762369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762369"/>
                  </a:lnTo>
                  <a:lnTo>
                    <a:pt x="0" y="762369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34"/>
            <p:cNvSpPr/>
            <p:nvPr/>
          </p:nvSpPr>
          <p:spPr>
            <a:xfrm rot="-4206890">
              <a:off x="4550264" y="2404311"/>
              <a:ext cx="17841" cy="534434"/>
            </a:xfrm>
            <a:custGeom>
              <a:avLst/>
              <a:gdLst/>
              <a:ahLst/>
              <a:cxnLst/>
              <a:rect l="l" t="t" r="r" b="b"/>
              <a:pathLst>
                <a:path w="17848" h="534648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534648"/>
                  </a:lnTo>
                  <a:lnTo>
                    <a:pt x="0" y="53464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4"/>
            <p:cNvSpPr/>
            <p:nvPr/>
          </p:nvSpPr>
          <p:spPr>
            <a:xfrm rot="-4206890">
              <a:off x="3984828" y="3915090"/>
              <a:ext cx="17842" cy="601422"/>
            </a:xfrm>
            <a:custGeom>
              <a:avLst/>
              <a:gdLst/>
              <a:ahLst/>
              <a:cxnLst/>
              <a:rect l="l" t="t" r="r" b="b"/>
              <a:pathLst>
                <a:path w="17849" h="601663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01664"/>
                  </a:lnTo>
                  <a:lnTo>
                    <a:pt x="0" y="601664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4"/>
            <p:cNvSpPr/>
            <p:nvPr/>
          </p:nvSpPr>
          <p:spPr>
            <a:xfrm rot="-4206890">
              <a:off x="3952713" y="3898570"/>
              <a:ext cx="17841" cy="834907"/>
            </a:xfrm>
            <a:custGeom>
              <a:avLst/>
              <a:gdLst/>
              <a:ahLst/>
              <a:cxnLst/>
              <a:rect l="l" t="t" r="r" b="b"/>
              <a:pathLst>
                <a:path w="17848" h="835241" extrusionOk="0">
                  <a:moveTo>
                    <a:pt x="0" y="0"/>
                  </a:moveTo>
                  <a:lnTo>
                    <a:pt x="17848" y="0"/>
                  </a:lnTo>
                  <a:lnTo>
                    <a:pt x="17848" y="835241"/>
                  </a:lnTo>
                  <a:lnTo>
                    <a:pt x="0" y="83524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34"/>
            <p:cNvSpPr/>
            <p:nvPr/>
          </p:nvSpPr>
          <p:spPr>
            <a:xfrm rot="-4206890">
              <a:off x="3918558" y="3928517"/>
              <a:ext cx="17841" cy="973622"/>
            </a:xfrm>
            <a:custGeom>
              <a:avLst/>
              <a:gdLst/>
              <a:ahLst/>
              <a:cxnLst/>
              <a:rect l="l" t="t" r="r" b="b"/>
              <a:pathLst>
                <a:path w="17848" h="974012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974012"/>
                  </a:lnTo>
                  <a:lnTo>
                    <a:pt x="0" y="9740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4"/>
            <p:cNvSpPr/>
            <p:nvPr/>
          </p:nvSpPr>
          <p:spPr>
            <a:xfrm rot="-4206890">
              <a:off x="3880366" y="3987943"/>
              <a:ext cx="17841" cy="1050663"/>
            </a:xfrm>
            <a:custGeom>
              <a:avLst/>
              <a:gdLst/>
              <a:ahLst/>
              <a:cxnLst/>
              <a:rect l="l" t="t" r="r" b="b"/>
              <a:pathLst>
                <a:path w="17848" h="105108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51085"/>
                  </a:lnTo>
                  <a:lnTo>
                    <a:pt x="0" y="105108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34"/>
            <p:cNvSpPr/>
            <p:nvPr/>
          </p:nvSpPr>
          <p:spPr>
            <a:xfrm rot="-4206890">
              <a:off x="4427198" y="2700925"/>
              <a:ext cx="17842" cy="642034"/>
            </a:xfrm>
            <a:custGeom>
              <a:avLst/>
              <a:gdLst/>
              <a:ahLst/>
              <a:cxnLst/>
              <a:rect l="l" t="t" r="r" b="b"/>
              <a:pathLst>
                <a:path w="17849" h="64229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642291"/>
                  </a:lnTo>
                  <a:lnTo>
                    <a:pt x="0" y="64229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34"/>
            <p:cNvSpPr/>
            <p:nvPr/>
          </p:nvSpPr>
          <p:spPr>
            <a:xfrm rot="-4206890">
              <a:off x="4383108" y="2704650"/>
              <a:ext cx="17842" cy="867577"/>
            </a:xfrm>
            <a:custGeom>
              <a:avLst/>
              <a:gdLst/>
              <a:ahLst/>
              <a:cxnLst/>
              <a:rect l="l" t="t" r="r" b="b"/>
              <a:pathLst>
                <a:path w="17849" h="867924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67925"/>
                  </a:lnTo>
                  <a:lnTo>
                    <a:pt x="0" y="867925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34"/>
            <p:cNvSpPr/>
            <p:nvPr/>
          </p:nvSpPr>
          <p:spPr>
            <a:xfrm rot="-4206890">
              <a:off x="4335215" y="2733596"/>
              <a:ext cx="17841" cy="1034547"/>
            </a:xfrm>
            <a:custGeom>
              <a:avLst/>
              <a:gdLst/>
              <a:ahLst/>
              <a:cxnLst/>
              <a:rect l="l" t="t" r="r" b="b"/>
              <a:pathLst>
                <a:path w="17848" h="1034961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34961"/>
                  </a:lnTo>
                  <a:lnTo>
                    <a:pt x="0" y="1034961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4"/>
            <p:cNvSpPr/>
            <p:nvPr/>
          </p:nvSpPr>
          <p:spPr>
            <a:xfrm>
              <a:off x="3734955" y="3231208"/>
              <a:ext cx="664347" cy="1564487"/>
            </a:xfrm>
            <a:custGeom>
              <a:avLst/>
              <a:gdLst/>
              <a:ahLst/>
              <a:cxnLst/>
              <a:rect l="l" t="t" r="r" b="b"/>
              <a:pathLst>
                <a:path w="664347" h="1564487" extrusionOk="0">
                  <a:moveTo>
                    <a:pt x="641593" y="1564487"/>
                  </a:moveTo>
                  <a:lnTo>
                    <a:pt x="624562" y="1559037"/>
                  </a:lnTo>
                  <a:cubicBezTo>
                    <a:pt x="660124" y="1447629"/>
                    <a:pt x="652221" y="1322004"/>
                    <a:pt x="602307" y="1205282"/>
                  </a:cubicBezTo>
                  <a:cubicBezTo>
                    <a:pt x="542448" y="1065261"/>
                    <a:pt x="432719" y="937639"/>
                    <a:pt x="326670" y="814240"/>
                  </a:cubicBezTo>
                  <a:cubicBezTo>
                    <a:pt x="125881" y="580659"/>
                    <a:pt x="-81721" y="339085"/>
                    <a:pt x="32594" y="0"/>
                  </a:cubicBezTo>
                  <a:lnTo>
                    <a:pt x="49534" y="5677"/>
                  </a:lnTo>
                  <a:cubicBezTo>
                    <a:pt x="-61556" y="335134"/>
                    <a:pt x="133602" y="562220"/>
                    <a:pt x="340250" y="802568"/>
                  </a:cubicBezTo>
                  <a:cubicBezTo>
                    <a:pt x="447208" y="927011"/>
                    <a:pt x="557844" y="1055678"/>
                    <a:pt x="618794" y="1198242"/>
                  </a:cubicBezTo>
                  <a:cubicBezTo>
                    <a:pt x="670342" y="1318916"/>
                    <a:pt x="678427" y="1448991"/>
                    <a:pt x="641593" y="1564487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3339991" y="3599178"/>
              <a:ext cx="1464614" cy="829045"/>
            </a:xfrm>
            <a:custGeom>
              <a:avLst/>
              <a:gdLst/>
              <a:ahLst/>
              <a:cxnLst/>
              <a:rect l="l" t="t" r="r" b="b"/>
              <a:pathLst>
                <a:path w="1464614" h="829045" extrusionOk="0">
                  <a:moveTo>
                    <a:pt x="16577" y="829046"/>
                  </a:moveTo>
                  <a:lnTo>
                    <a:pt x="0" y="822415"/>
                  </a:lnTo>
                  <a:cubicBezTo>
                    <a:pt x="45099" y="709871"/>
                    <a:pt x="134117" y="614858"/>
                    <a:pt x="250658" y="554908"/>
                  </a:cubicBezTo>
                  <a:cubicBezTo>
                    <a:pt x="388317" y="484011"/>
                    <a:pt x="555407" y="455580"/>
                    <a:pt x="717002" y="428057"/>
                  </a:cubicBezTo>
                  <a:cubicBezTo>
                    <a:pt x="1029109" y="374964"/>
                    <a:pt x="1323867" y="324778"/>
                    <a:pt x="1447946" y="0"/>
                  </a:cubicBezTo>
                  <a:lnTo>
                    <a:pt x="1464615" y="6358"/>
                  </a:lnTo>
                  <a:cubicBezTo>
                    <a:pt x="1336901" y="340629"/>
                    <a:pt x="1023295" y="393994"/>
                    <a:pt x="719999" y="445634"/>
                  </a:cubicBezTo>
                  <a:cubicBezTo>
                    <a:pt x="559767" y="472884"/>
                    <a:pt x="394040" y="501088"/>
                    <a:pt x="258833" y="570713"/>
                  </a:cubicBezTo>
                  <a:cubicBezTo>
                    <a:pt x="146107" y="628756"/>
                    <a:pt x="60087" y="720499"/>
                    <a:pt x="16577" y="829046"/>
                  </a:cubicBez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34"/>
            <p:cNvSpPr/>
            <p:nvPr/>
          </p:nvSpPr>
          <p:spPr>
            <a:xfrm rot="-4206890">
              <a:off x="4295542" y="2824182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4"/>
            <p:cNvSpPr/>
            <p:nvPr/>
          </p:nvSpPr>
          <p:spPr>
            <a:xfrm rot="-4206890">
              <a:off x="4254270" y="2938975"/>
              <a:ext cx="17841" cy="1084259"/>
            </a:xfrm>
            <a:custGeom>
              <a:avLst/>
              <a:gdLst/>
              <a:ahLst/>
              <a:cxnLst/>
              <a:rect l="l" t="t" r="r" b="b"/>
              <a:pathLst>
                <a:path w="17848" h="108469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84693"/>
                  </a:lnTo>
                  <a:lnTo>
                    <a:pt x="0" y="108469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4"/>
            <p:cNvSpPr/>
            <p:nvPr/>
          </p:nvSpPr>
          <p:spPr>
            <a:xfrm rot="-4206890">
              <a:off x="4205447" y="3091331"/>
              <a:ext cx="17841" cy="1003721"/>
            </a:xfrm>
            <a:custGeom>
              <a:avLst/>
              <a:gdLst/>
              <a:ahLst/>
              <a:cxnLst/>
              <a:rect l="l" t="t" r="r" b="b"/>
              <a:pathLst>
                <a:path w="17848" h="1004123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1004123"/>
                  </a:lnTo>
                  <a:lnTo>
                    <a:pt x="0" y="1004123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34"/>
            <p:cNvSpPr/>
            <p:nvPr/>
          </p:nvSpPr>
          <p:spPr>
            <a:xfrm rot="-4206890">
              <a:off x="4171814" y="3265246"/>
              <a:ext cx="17841" cy="890950"/>
            </a:xfrm>
            <a:custGeom>
              <a:avLst/>
              <a:gdLst/>
              <a:ahLst/>
              <a:cxnLst/>
              <a:rect l="l" t="t" r="r" b="b"/>
              <a:pathLst>
                <a:path w="17848" h="891307" extrusionOk="0">
                  <a:moveTo>
                    <a:pt x="0" y="0"/>
                  </a:moveTo>
                  <a:lnTo>
                    <a:pt x="17849" y="0"/>
                  </a:lnTo>
                  <a:lnTo>
                    <a:pt x="17849" y="891308"/>
                  </a:lnTo>
                  <a:lnTo>
                    <a:pt x="0" y="891308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4"/>
            <p:cNvSpPr/>
            <p:nvPr/>
          </p:nvSpPr>
          <p:spPr>
            <a:xfrm rot="-4206890">
              <a:off x="4130749" y="3483947"/>
              <a:ext cx="17842" cy="683637"/>
            </a:xfrm>
            <a:custGeom>
              <a:avLst/>
              <a:gdLst/>
              <a:ahLst/>
              <a:cxnLst/>
              <a:rect l="l" t="t" r="r" b="b"/>
              <a:pathLst>
                <a:path w="17849" h="683911" extrusionOk="0">
                  <a:moveTo>
                    <a:pt x="0" y="0"/>
                  </a:moveTo>
                  <a:lnTo>
                    <a:pt x="17850" y="0"/>
                  </a:lnTo>
                  <a:lnTo>
                    <a:pt x="17850" y="683912"/>
                  </a:lnTo>
                  <a:lnTo>
                    <a:pt x="0" y="683912"/>
                  </a:lnTo>
                  <a:close/>
                </a:path>
              </a:pathLst>
            </a:custGeom>
            <a:solidFill>
              <a:srgbClr val="CFD8DF">
                <a:alpha val="493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71" name="Google Shape;671;p34"/>
          <p:cNvCxnSpPr/>
          <p:nvPr/>
        </p:nvCxnSpPr>
        <p:spPr>
          <a:xfrm>
            <a:off x="2965000" y="3105150"/>
            <a:ext cx="46767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object 6">
            <a:extLst>
              <a:ext uri="{FF2B5EF4-FFF2-40B4-BE49-F238E27FC236}">
                <a16:creationId xmlns:a16="http://schemas.microsoft.com/office/drawing/2014/main" id="{BD0A8948-9407-2B60-E7D7-43338C59B4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701" y="128762"/>
            <a:ext cx="1344587" cy="1276237"/>
          </a:xfrm>
          <a:prstGeom prst="rect">
            <a:avLst/>
          </a:prstGeom>
        </p:spPr>
      </p:pic>
      <p:sp>
        <p:nvSpPr>
          <p:cNvPr id="7" name="Google Shape;649;p34">
            <a:extLst>
              <a:ext uri="{FF2B5EF4-FFF2-40B4-BE49-F238E27FC236}">
                <a16:creationId xmlns:a16="http://schemas.microsoft.com/office/drawing/2014/main" id="{21998231-595E-FF28-D0A2-3C4B54865A71}"/>
              </a:ext>
            </a:extLst>
          </p:cNvPr>
          <p:cNvSpPr txBox="1">
            <a:spLocks/>
          </p:cNvSpPr>
          <p:nvPr/>
        </p:nvSpPr>
        <p:spPr>
          <a:xfrm>
            <a:off x="6740010" y="4307269"/>
            <a:ext cx="2063331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6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it-IT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Daria Simonetti</a:t>
            </a:r>
          </a:p>
          <a:p>
            <a:pPr marL="0" indent="0"/>
            <a:r>
              <a:rPr lang="it-IT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NF22500066</a:t>
            </a:r>
          </a:p>
        </p:txBody>
      </p:sp>
      <p:sp>
        <p:nvSpPr>
          <p:cNvPr id="8" name="Google Shape;648;p34">
            <a:extLst>
              <a:ext uri="{FF2B5EF4-FFF2-40B4-BE49-F238E27FC236}">
                <a16:creationId xmlns:a16="http://schemas.microsoft.com/office/drawing/2014/main" id="{27540AB4-2133-3073-5954-262999618F08}"/>
              </a:ext>
            </a:extLst>
          </p:cNvPr>
          <p:cNvSpPr txBox="1">
            <a:spLocks/>
          </p:cNvSpPr>
          <p:nvPr/>
        </p:nvSpPr>
        <p:spPr>
          <a:xfrm>
            <a:off x="7117048" y="3993438"/>
            <a:ext cx="1299644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4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1600" dirty="0"/>
              <a:t>Studente:</a:t>
            </a:r>
          </a:p>
        </p:txBody>
      </p:sp>
      <p:sp>
        <p:nvSpPr>
          <p:cNvPr id="10" name="Google Shape;648;p34">
            <a:extLst>
              <a:ext uri="{FF2B5EF4-FFF2-40B4-BE49-F238E27FC236}">
                <a16:creationId xmlns:a16="http://schemas.microsoft.com/office/drawing/2014/main" id="{648F013A-B8B2-06EF-D50C-5C672EA0729D}"/>
              </a:ext>
            </a:extLst>
          </p:cNvPr>
          <p:cNvSpPr txBox="1">
            <a:spLocks/>
          </p:cNvSpPr>
          <p:nvPr/>
        </p:nvSpPr>
        <p:spPr>
          <a:xfrm>
            <a:off x="3409792" y="3996079"/>
            <a:ext cx="1299644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4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otu"/>
              <a:buNone/>
              <a:defRPr sz="5200" b="0" i="0" u="none" strike="noStrike" cap="none" spc="0">
                <a:solidFill>
                  <a:srgbClr val="191919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1600" dirty="0"/>
              <a:t>Docenti:</a:t>
            </a:r>
          </a:p>
        </p:txBody>
      </p:sp>
      <p:sp>
        <p:nvSpPr>
          <p:cNvPr id="12" name="Google Shape;649;p34">
            <a:extLst>
              <a:ext uri="{FF2B5EF4-FFF2-40B4-BE49-F238E27FC236}">
                <a16:creationId xmlns:a16="http://schemas.microsoft.com/office/drawing/2014/main" id="{CF74CE30-433C-591D-E8CD-4C9436ABC8E4}"/>
              </a:ext>
            </a:extLst>
          </p:cNvPr>
          <p:cNvSpPr txBox="1">
            <a:spLocks/>
          </p:cNvSpPr>
          <p:nvPr/>
        </p:nvSpPr>
        <p:spPr>
          <a:xfrm>
            <a:off x="2968367" y="4307269"/>
            <a:ext cx="2236156" cy="71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6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None/>
              <a:defRPr sz="18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it-IT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 Felice Clelia</a:t>
            </a:r>
          </a:p>
          <a:p>
            <a:pPr marL="0" indent="0"/>
            <a:r>
              <a:rPr lang="it-IT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Zaccagnino Rocco</a:t>
            </a:r>
          </a:p>
          <a:p>
            <a:pPr marL="0" indent="0"/>
            <a:r>
              <a:rPr lang="it-IT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Zizza Rosalba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Obiettivi del Progetto</a:t>
            </a:r>
            <a:endParaRPr dirty="0"/>
          </a:p>
        </p:txBody>
      </p:sp>
      <p:sp>
        <p:nvSpPr>
          <p:cNvPr id="733" name="Google Shape;733;p40"/>
          <p:cNvSpPr txBox="1">
            <a:spLocks noGrp="1"/>
          </p:cNvSpPr>
          <p:nvPr>
            <p:ph type="subTitle" idx="4"/>
          </p:nvPr>
        </p:nvSpPr>
        <p:spPr>
          <a:xfrm>
            <a:off x="719994" y="2213276"/>
            <a:ext cx="2175300" cy="11869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Trasformare sequenze eccDNA in rappresentazioni FCGR</a:t>
            </a:r>
            <a:endParaRPr sz="1600" dirty="0"/>
          </a:p>
        </p:txBody>
      </p:sp>
      <p:sp>
        <p:nvSpPr>
          <p:cNvPr id="734" name="Google Shape;734;p40"/>
          <p:cNvSpPr txBox="1">
            <a:spLocks noGrp="1"/>
          </p:cNvSpPr>
          <p:nvPr>
            <p:ph type="subTitle" idx="5"/>
          </p:nvPr>
        </p:nvSpPr>
        <p:spPr>
          <a:xfrm>
            <a:off x="3484350" y="2220285"/>
            <a:ext cx="2175300" cy="11621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dirty="0"/>
              <a:t>Apprendere uno spazio di similarità tramite Siamese Network</a:t>
            </a:r>
            <a:endParaRPr sz="1600" dirty="0"/>
          </a:p>
        </p:txBody>
      </p:sp>
      <p:sp>
        <p:nvSpPr>
          <p:cNvPr id="738" name="Google Shape;738;p40"/>
          <p:cNvSpPr txBox="1">
            <a:spLocks noGrp="1"/>
          </p:cNvSpPr>
          <p:nvPr>
            <p:ph type="subTitle" idx="6"/>
          </p:nvPr>
        </p:nvSpPr>
        <p:spPr>
          <a:xfrm>
            <a:off x="6248693" y="2202481"/>
            <a:ext cx="2175300" cy="11799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Confrontare il metric Learning con una CNN multiclass diretta</a:t>
            </a:r>
            <a:endParaRPr sz="1600" dirty="0"/>
          </a:p>
        </p:txBody>
      </p:sp>
      <p:cxnSp>
        <p:nvCxnSpPr>
          <p:cNvPr id="739" name="Google Shape;739;p40"/>
          <p:cNvCxnSpPr>
            <a:cxnSpLocks/>
          </p:cNvCxnSpPr>
          <p:nvPr/>
        </p:nvCxnSpPr>
        <p:spPr>
          <a:xfrm flipV="1">
            <a:off x="3189823" y="1457225"/>
            <a:ext cx="0" cy="2334846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0" name="Google Shape;740;p40"/>
          <p:cNvCxnSpPr>
            <a:cxnSpLocks/>
          </p:cNvCxnSpPr>
          <p:nvPr/>
        </p:nvCxnSpPr>
        <p:spPr>
          <a:xfrm flipV="1">
            <a:off x="5954173" y="1457225"/>
            <a:ext cx="0" cy="2334846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935;p54">
            <a:extLst>
              <a:ext uri="{FF2B5EF4-FFF2-40B4-BE49-F238E27FC236}">
                <a16:creationId xmlns:a16="http://schemas.microsoft.com/office/drawing/2014/main" id="{64266429-6E62-AB8A-652C-8BAFFBC0EF90}"/>
              </a:ext>
            </a:extLst>
          </p:cNvPr>
          <p:cNvGrpSpPr/>
          <p:nvPr/>
        </p:nvGrpSpPr>
        <p:grpSpPr>
          <a:xfrm>
            <a:off x="877903" y="1666429"/>
            <a:ext cx="377440" cy="372535"/>
            <a:chOff x="9820075" y="2478701"/>
            <a:chExt cx="422098" cy="416613"/>
          </a:xfrm>
        </p:grpSpPr>
        <p:sp>
          <p:nvSpPr>
            <p:cNvPr id="3" name="Google Shape;936;p54">
              <a:extLst>
                <a:ext uri="{FF2B5EF4-FFF2-40B4-BE49-F238E27FC236}">
                  <a16:creationId xmlns:a16="http://schemas.microsoft.com/office/drawing/2014/main" id="{DE835CA2-8FD6-4DE2-C74E-F31CA66CD3F5}"/>
                </a:ext>
              </a:extLst>
            </p:cNvPr>
            <p:cNvSpPr/>
            <p:nvPr/>
          </p:nvSpPr>
          <p:spPr>
            <a:xfrm>
              <a:off x="9846456" y="2827936"/>
              <a:ext cx="45356" cy="67256"/>
            </a:xfrm>
            <a:custGeom>
              <a:avLst/>
              <a:gdLst/>
              <a:ahLst/>
              <a:cxnLst/>
              <a:rect l="l" t="t" r="r" b="b"/>
              <a:pathLst>
                <a:path w="45356" h="67256" extrusionOk="0">
                  <a:moveTo>
                    <a:pt x="23321" y="10"/>
                  </a:moveTo>
                  <a:cubicBezTo>
                    <a:pt x="10528" y="-357"/>
                    <a:pt x="0" y="9925"/>
                    <a:pt x="0" y="22656"/>
                  </a:cubicBezTo>
                  <a:lnTo>
                    <a:pt x="0" y="60787"/>
                  </a:lnTo>
                  <a:cubicBezTo>
                    <a:pt x="0" y="63970"/>
                    <a:pt x="2265" y="66786"/>
                    <a:pt x="5387" y="67153"/>
                  </a:cubicBezTo>
                  <a:cubicBezTo>
                    <a:pt x="9120" y="67582"/>
                    <a:pt x="12364" y="64705"/>
                    <a:pt x="12364" y="61033"/>
                  </a:cubicBezTo>
                  <a:lnTo>
                    <a:pt x="12364" y="39855"/>
                  </a:lnTo>
                  <a:lnTo>
                    <a:pt x="32992" y="39855"/>
                  </a:lnTo>
                  <a:lnTo>
                    <a:pt x="32992" y="60849"/>
                  </a:lnTo>
                  <a:cubicBezTo>
                    <a:pt x="32992" y="64032"/>
                    <a:pt x="35257" y="66847"/>
                    <a:pt x="38378" y="67214"/>
                  </a:cubicBezTo>
                  <a:cubicBezTo>
                    <a:pt x="42112" y="67643"/>
                    <a:pt x="45356" y="64766"/>
                    <a:pt x="45356" y="61094"/>
                  </a:cubicBezTo>
                  <a:lnTo>
                    <a:pt x="45356" y="23268"/>
                  </a:lnTo>
                  <a:cubicBezTo>
                    <a:pt x="45295" y="10843"/>
                    <a:pt x="35624" y="377"/>
                    <a:pt x="23321" y="10"/>
                  </a:cubicBezTo>
                  <a:close/>
                  <a:moveTo>
                    <a:pt x="12364" y="27491"/>
                  </a:moveTo>
                  <a:lnTo>
                    <a:pt x="12364" y="23145"/>
                  </a:lnTo>
                  <a:cubicBezTo>
                    <a:pt x="12364" y="17759"/>
                    <a:pt x="16343" y="12985"/>
                    <a:pt x="21729" y="12496"/>
                  </a:cubicBezTo>
                  <a:cubicBezTo>
                    <a:pt x="27850" y="11945"/>
                    <a:pt x="32992" y="16780"/>
                    <a:pt x="32992" y="22839"/>
                  </a:cubicBezTo>
                  <a:lnTo>
                    <a:pt x="32992" y="27430"/>
                  </a:lnTo>
                  <a:lnTo>
                    <a:pt x="12364" y="274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937;p54">
              <a:extLst>
                <a:ext uri="{FF2B5EF4-FFF2-40B4-BE49-F238E27FC236}">
                  <a16:creationId xmlns:a16="http://schemas.microsoft.com/office/drawing/2014/main" id="{C42FCAA4-CA01-5CEA-AFF5-FDB7AF6D0FDE}"/>
                </a:ext>
              </a:extLst>
            </p:cNvPr>
            <p:cNvSpPr/>
            <p:nvPr/>
          </p:nvSpPr>
          <p:spPr>
            <a:xfrm>
              <a:off x="9820075" y="2781245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85693" y="23871"/>
                  </a:moveTo>
                  <a:lnTo>
                    <a:pt x="12303" y="23871"/>
                  </a:lnTo>
                  <a:lnTo>
                    <a:pt x="12303" y="12302"/>
                  </a:lnTo>
                  <a:lnTo>
                    <a:pt x="85693" y="12302"/>
                  </a:lnTo>
                  <a:lnTo>
                    <a:pt x="85693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938;p54">
              <a:extLst>
                <a:ext uri="{FF2B5EF4-FFF2-40B4-BE49-F238E27FC236}">
                  <a16:creationId xmlns:a16="http://schemas.microsoft.com/office/drawing/2014/main" id="{4E338541-2601-3BC0-815D-798A30CE50C3}"/>
                </a:ext>
              </a:extLst>
            </p:cNvPr>
            <p:cNvSpPr/>
            <p:nvPr/>
          </p:nvSpPr>
          <p:spPr>
            <a:xfrm>
              <a:off x="9820075" y="273093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693" y="23932"/>
                  </a:moveTo>
                  <a:lnTo>
                    <a:pt x="41194" y="23932"/>
                  </a:lnTo>
                  <a:lnTo>
                    <a:pt x="41194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939;p54">
              <a:extLst>
                <a:ext uri="{FF2B5EF4-FFF2-40B4-BE49-F238E27FC236}">
                  <a16:creationId xmlns:a16="http://schemas.microsoft.com/office/drawing/2014/main" id="{7044FB92-91D6-4F00-8733-AE989BE39669}"/>
                </a:ext>
              </a:extLst>
            </p:cNvPr>
            <p:cNvSpPr/>
            <p:nvPr/>
          </p:nvSpPr>
          <p:spPr>
            <a:xfrm>
              <a:off x="9820075" y="268068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21"/>
                    <a:pt x="94935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693" y="23871"/>
                  </a:moveTo>
                  <a:lnTo>
                    <a:pt x="41194" y="23871"/>
                  </a:lnTo>
                  <a:lnTo>
                    <a:pt x="41194" y="12302"/>
                  </a:lnTo>
                  <a:lnTo>
                    <a:pt x="85693" y="12302"/>
                  </a:lnTo>
                  <a:lnTo>
                    <a:pt x="85693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940;p54">
              <a:extLst>
                <a:ext uri="{FF2B5EF4-FFF2-40B4-BE49-F238E27FC236}">
                  <a16:creationId xmlns:a16="http://schemas.microsoft.com/office/drawing/2014/main" id="{C2D1B78A-C856-0CFB-91EA-4672038AE8A9}"/>
                </a:ext>
              </a:extLst>
            </p:cNvPr>
            <p:cNvSpPr/>
            <p:nvPr/>
          </p:nvSpPr>
          <p:spPr>
            <a:xfrm>
              <a:off x="9820075" y="263037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693" y="23932"/>
                  </a:moveTo>
                  <a:lnTo>
                    <a:pt x="69227" y="23932"/>
                  </a:lnTo>
                  <a:lnTo>
                    <a:pt x="69227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941;p54">
              <a:extLst>
                <a:ext uri="{FF2B5EF4-FFF2-40B4-BE49-F238E27FC236}">
                  <a16:creationId xmlns:a16="http://schemas.microsoft.com/office/drawing/2014/main" id="{7CAF2EAA-92C3-59AA-192A-993687371DBB}"/>
                </a:ext>
              </a:extLst>
            </p:cNvPr>
            <p:cNvSpPr/>
            <p:nvPr/>
          </p:nvSpPr>
          <p:spPr>
            <a:xfrm>
              <a:off x="9820075" y="2580059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0" y="36296"/>
                  </a:cubicBezTo>
                  <a:lnTo>
                    <a:pt x="91018" y="36296"/>
                  </a:lnTo>
                  <a:cubicBezTo>
                    <a:pt x="94935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935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693" y="23932"/>
                  </a:moveTo>
                  <a:lnTo>
                    <a:pt x="69227" y="23932"/>
                  </a:lnTo>
                  <a:lnTo>
                    <a:pt x="69227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42;p54">
              <a:extLst>
                <a:ext uri="{FF2B5EF4-FFF2-40B4-BE49-F238E27FC236}">
                  <a16:creationId xmlns:a16="http://schemas.microsoft.com/office/drawing/2014/main" id="{F60FA2D1-0E15-C129-57EE-FBB21B158C64}"/>
                </a:ext>
              </a:extLst>
            </p:cNvPr>
            <p:cNvSpPr/>
            <p:nvPr/>
          </p:nvSpPr>
          <p:spPr>
            <a:xfrm>
              <a:off x="9820075" y="252895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0" y="36296"/>
                  </a:cubicBezTo>
                  <a:lnTo>
                    <a:pt x="91018" y="36296"/>
                  </a:lnTo>
                  <a:cubicBezTo>
                    <a:pt x="94935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693" y="23932"/>
                  </a:moveTo>
                  <a:lnTo>
                    <a:pt x="41194" y="23932"/>
                  </a:lnTo>
                  <a:lnTo>
                    <a:pt x="41194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943;p54">
              <a:extLst>
                <a:ext uri="{FF2B5EF4-FFF2-40B4-BE49-F238E27FC236}">
                  <a16:creationId xmlns:a16="http://schemas.microsoft.com/office/drawing/2014/main" id="{F9C36D26-EF71-87E8-5A37-98706C2DC50D}"/>
                </a:ext>
              </a:extLst>
            </p:cNvPr>
            <p:cNvSpPr/>
            <p:nvPr/>
          </p:nvSpPr>
          <p:spPr>
            <a:xfrm>
              <a:off x="9820075" y="247870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5"/>
                  </a:lnTo>
                  <a:cubicBezTo>
                    <a:pt x="0" y="33112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2"/>
                    <a:pt x="98118" y="29195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693" y="23871"/>
                  </a:moveTo>
                  <a:lnTo>
                    <a:pt x="69227" y="23871"/>
                  </a:lnTo>
                  <a:lnTo>
                    <a:pt x="69227" y="12302"/>
                  </a:lnTo>
                  <a:lnTo>
                    <a:pt x="85693" y="12302"/>
                  </a:lnTo>
                  <a:lnTo>
                    <a:pt x="85693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944;p54">
              <a:extLst>
                <a:ext uri="{FF2B5EF4-FFF2-40B4-BE49-F238E27FC236}">
                  <a16:creationId xmlns:a16="http://schemas.microsoft.com/office/drawing/2014/main" id="{0A8D0CB0-4304-EC77-C0A5-37E6282F6FC8}"/>
                </a:ext>
              </a:extLst>
            </p:cNvPr>
            <p:cNvSpPr/>
            <p:nvPr/>
          </p:nvSpPr>
          <p:spPr>
            <a:xfrm>
              <a:off x="9954429" y="2827889"/>
              <a:ext cx="45558" cy="67161"/>
            </a:xfrm>
            <a:custGeom>
              <a:avLst/>
              <a:gdLst/>
              <a:ahLst/>
              <a:cxnLst/>
              <a:rect l="l" t="t" r="r" b="b"/>
              <a:pathLst>
                <a:path w="45558" h="67161" extrusionOk="0">
                  <a:moveTo>
                    <a:pt x="13221" y="16888"/>
                  </a:moveTo>
                  <a:cubicBezTo>
                    <a:pt x="22831" y="7034"/>
                    <a:pt x="34706" y="14869"/>
                    <a:pt x="33053" y="24601"/>
                  </a:cubicBezTo>
                  <a:cubicBezTo>
                    <a:pt x="32930" y="25151"/>
                    <a:pt x="33175" y="25702"/>
                    <a:pt x="33542" y="26131"/>
                  </a:cubicBezTo>
                  <a:cubicBezTo>
                    <a:pt x="38929" y="31761"/>
                    <a:pt x="45540" y="28028"/>
                    <a:pt x="45540" y="22764"/>
                  </a:cubicBezTo>
                  <a:cubicBezTo>
                    <a:pt x="45540" y="3484"/>
                    <a:pt x="21423" y="-10287"/>
                    <a:pt x="1775" y="10033"/>
                  </a:cubicBezTo>
                  <a:cubicBezTo>
                    <a:pt x="612" y="11196"/>
                    <a:pt x="0" y="12849"/>
                    <a:pt x="0" y="14502"/>
                  </a:cubicBezTo>
                  <a:lnTo>
                    <a:pt x="0" y="52694"/>
                  </a:lnTo>
                  <a:cubicBezTo>
                    <a:pt x="0" y="54347"/>
                    <a:pt x="612" y="55938"/>
                    <a:pt x="1775" y="57162"/>
                  </a:cubicBezTo>
                  <a:cubicBezTo>
                    <a:pt x="22341" y="78340"/>
                    <a:pt x="47682" y="62365"/>
                    <a:pt x="45417" y="41799"/>
                  </a:cubicBezTo>
                  <a:cubicBezTo>
                    <a:pt x="45356" y="41432"/>
                    <a:pt x="45172" y="41004"/>
                    <a:pt x="44928" y="40759"/>
                  </a:cubicBezTo>
                  <a:cubicBezTo>
                    <a:pt x="39602" y="35556"/>
                    <a:pt x="33236" y="39229"/>
                    <a:pt x="33236" y="44431"/>
                  </a:cubicBezTo>
                  <a:cubicBezTo>
                    <a:pt x="33236" y="53245"/>
                    <a:pt x="22280" y="59488"/>
                    <a:pt x="13282" y="50307"/>
                  </a:cubicBezTo>
                  <a:cubicBezTo>
                    <a:pt x="12731" y="49756"/>
                    <a:pt x="12425" y="48961"/>
                    <a:pt x="12425" y="48165"/>
                  </a:cubicBezTo>
                  <a:cubicBezTo>
                    <a:pt x="12425" y="43207"/>
                    <a:pt x="12425" y="23989"/>
                    <a:pt x="12425" y="19030"/>
                  </a:cubicBezTo>
                  <a:cubicBezTo>
                    <a:pt x="12364" y="18235"/>
                    <a:pt x="12670" y="17500"/>
                    <a:pt x="13221" y="168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945;p54">
              <a:extLst>
                <a:ext uri="{FF2B5EF4-FFF2-40B4-BE49-F238E27FC236}">
                  <a16:creationId xmlns:a16="http://schemas.microsoft.com/office/drawing/2014/main" id="{38BD1DCE-D053-B576-C489-56A5D0659983}"/>
                </a:ext>
              </a:extLst>
            </p:cNvPr>
            <p:cNvSpPr/>
            <p:nvPr/>
          </p:nvSpPr>
          <p:spPr>
            <a:xfrm>
              <a:off x="9928048" y="2781245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2" y="36295"/>
                    <a:pt x="7100" y="36295"/>
                  </a:cubicBezTo>
                  <a:lnTo>
                    <a:pt x="91017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  <a:moveTo>
                    <a:pt x="85754" y="23871"/>
                  </a:moveTo>
                  <a:lnTo>
                    <a:pt x="12364" y="23871"/>
                  </a:lnTo>
                  <a:lnTo>
                    <a:pt x="12364" y="12302"/>
                  </a:lnTo>
                  <a:lnTo>
                    <a:pt x="85754" y="12302"/>
                  </a:lnTo>
                  <a:lnTo>
                    <a:pt x="85754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946;p54">
              <a:extLst>
                <a:ext uri="{FF2B5EF4-FFF2-40B4-BE49-F238E27FC236}">
                  <a16:creationId xmlns:a16="http://schemas.microsoft.com/office/drawing/2014/main" id="{384423B8-100B-8F1F-C488-3E7DFD746418}"/>
                </a:ext>
              </a:extLst>
            </p:cNvPr>
            <p:cNvSpPr/>
            <p:nvPr/>
          </p:nvSpPr>
          <p:spPr>
            <a:xfrm>
              <a:off x="9928048" y="273093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50191" y="0"/>
                  </a:lnTo>
                  <a:cubicBezTo>
                    <a:pt x="47008" y="0"/>
                    <a:pt x="44192" y="2265"/>
                    <a:pt x="43825" y="5386"/>
                  </a:cubicBezTo>
                  <a:cubicBezTo>
                    <a:pt x="43397" y="9120"/>
                    <a:pt x="46274" y="12364"/>
                    <a:pt x="49946" y="12364"/>
                  </a:cubicBezTo>
                  <a:lnTo>
                    <a:pt x="85754" y="12364"/>
                  </a:lnTo>
                  <a:lnTo>
                    <a:pt x="85754" y="23932"/>
                  </a:lnTo>
                  <a:lnTo>
                    <a:pt x="12364" y="23932"/>
                  </a:lnTo>
                  <a:lnTo>
                    <a:pt x="12364" y="12364"/>
                  </a:lnTo>
                  <a:lnTo>
                    <a:pt x="20811" y="12364"/>
                  </a:lnTo>
                  <a:cubicBezTo>
                    <a:pt x="23993" y="12364"/>
                    <a:pt x="26809" y="10099"/>
                    <a:pt x="27176" y="6978"/>
                  </a:cubicBezTo>
                  <a:cubicBezTo>
                    <a:pt x="27605" y="3244"/>
                    <a:pt x="24728" y="0"/>
                    <a:pt x="21056" y="0"/>
                  </a:cubicBez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2" y="36295"/>
                    <a:pt x="7100" y="36295"/>
                  </a:cubicBezTo>
                  <a:lnTo>
                    <a:pt x="91017" y="36295"/>
                  </a:lnTo>
                  <a:cubicBezTo>
                    <a:pt x="94935" y="36295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947;p54">
              <a:extLst>
                <a:ext uri="{FF2B5EF4-FFF2-40B4-BE49-F238E27FC236}">
                  <a16:creationId xmlns:a16="http://schemas.microsoft.com/office/drawing/2014/main" id="{57833ECB-F43B-44DC-FE71-5D86D0826539}"/>
                </a:ext>
              </a:extLst>
            </p:cNvPr>
            <p:cNvSpPr/>
            <p:nvPr/>
          </p:nvSpPr>
          <p:spPr>
            <a:xfrm>
              <a:off x="9928048" y="268068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2" y="36295"/>
                    <a:pt x="7100" y="36295"/>
                  </a:cubicBezTo>
                  <a:lnTo>
                    <a:pt x="91017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21"/>
                    <a:pt x="94935" y="0"/>
                    <a:pt x="91017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754" y="23871"/>
                  </a:moveTo>
                  <a:lnTo>
                    <a:pt x="69288" y="23871"/>
                  </a:lnTo>
                  <a:lnTo>
                    <a:pt x="69288" y="12302"/>
                  </a:lnTo>
                  <a:lnTo>
                    <a:pt x="85754" y="12302"/>
                  </a:lnTo>
                  <a:lnTo>
                    <a:pt x="85754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948;p54">
              <a:extLst>
                <a:ext uri="{FF2B5EF4-FFF2-40B4-BE49-F238E27FC236}">
                  <a16:creationId xmlns:a16="http://schemas.microsoft.com/office/drawing/2014/main" id="{D8E9AA68-CA8D-8FDD-37F2-E994AC671ED9}"/>
                </a:ext>
              </a:extLst>
            </p:cNvPr>
            <p:cNvSpPr/>
            <p:nvPr/>
          </p:nvSpPr>
          <p:spPr>
            <a:xfrm>
              <a:off x="9928048" y="263037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2" y="36295"/>
                    <a:pt x="7100" y="36295"/>
                  </a:cubicBezTo>
                  <a:lnTo>
                    <a:pt x="91017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754" y="23932"/>
                  </a:moveTo>
                  <a:lnTo>
                    <a:pt x="69288" y="23932"/>
                  </a:lnTo>
                  <a:lnTo>
                    <a:pt x="69288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949;p54">
              <a:extLst>
                <a:ext uri="{FF2B5EF4-FFF2-40B4-BE49-F238E27FC236}">
                  <a16:creationId xmlns:a16="http://schemas.microsoft.com/office/drawing/2014/main" id="{E003D6DE-F86F-4C30-1A24-8F72D926CEA1}"/>
                </a:ext>
              </a:extLst>
            </p:cNvPr>
            <p:cNvSpPr/>
            <p:nvPr/>
          </p:nvSpPr>
          <p:spPr>
            <a:xfrm>
              <a:off x="9928048" y="2580059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2" y="36296"/>
                    <a:pt x="7100" y="36296"/>
                  </a:cubicBezTo>
                  <a:lnTo>
                    <a:pt x="91017" y="36296"/>
                  </a:lnTo>
                  <a:cubicBezTo>
                    <a:pt x="94935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754" y="23932"/>
                  </a:moveTo>
                  <a:lnTo>
                    <a:pt x="69288" y="23932"/>
                  </a:lnTo>
                  <a:lnTo>
                    <a:pt x="69288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950;p54">
              <a:extLst>
                <a:ext uri="{FF2B5EF4-FFF2-40B4-BE49-F238E27FC236}">
                  <a16:creationId xmlns:a16="http://schemas.microsoft.com/office/drawing/2014/main" id="{6B1E9E4D-8DD6-8F1A-E073-65ECE4C7612E}"/>
                </a:ext>
              </a:extLst>
            </p:cNvPr>
            <p:cNvSpPr/>
            <p:nvPr/>
          </p:nvSpPr>
          <p:spPr>
            <a:xfrm>
              <a:off x="9928048" y="252895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2" y="36296"/>
                    <a:pt x="7100" y="36296"/>
                  </a:cubicBezTo>
                  <a:lnTo>
                    <a:pt x="91017" y="36296"/>
                  </a:lnTo>
                  <a:cubicBezTo>
                    <a:pt x="94935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  <a:moveTo>
                    <a:pt x="12364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754" y="23932"/>
                  </a:moveTo>
                  <a:lnTo>
                    <a:pt x="69288" y="23932"/>
                  </a:lnTo>
                  <a:lnTo>
                    <a:pt x="69288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951;p54">
              <a:extLst>
                <a:ext uri="{FF2B5EF4-FFF2-40B4-BE49-F238E27FC236}">
                  <a16:creationId xmlns:a16="http://schemas.microsoft.com/office/drawing/2014/main" id="{E92ADC96-D0AD-82E4-1593-472A6F8C2C3B}"/>
                </a:ext>
              </a:extLst>
            </p:cNvPr>
            <p:cNvSpPr/>
            <p:nvPr/>
          </p:nvSpPr>
          <p:spPr>
            <a:xfrm>
              <a:off x="9928048" y="2478701"/>
              <a:ext cx="98057" cy="36295"/>
            </a:xfrm>
            <a:custGeom>
              <a:avLst/>
              <a:gdLst/>
              <a:ahLst/>
              <a:cxnLst/>
              <a:rect l="l" t="t" r="r" b="b"/>
              <a:pathLst>
                <a:path w="98057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807"/>
                  </a:lnTo>
                  <a:cubicBezTo>
                    <a:pt x="0" y="33358"/>
                    <a:pt x="2876" y="36295"/>
                    <a:pt x="6488" y="36295"/>
                  </a:cubicBezTo>
                  <a:lnTo>
                    <a:pt x="28462" y="36295"/>
                  </a:lnTo>
                  <a:cubicBezTo>
                    <a:pt x="30666" y="36295"/>
                    <a:pt x="32747" y="35132"/>
                    <a:pt x="33665" y="33174"/>
                  </a:cubicBezTo>
                  <a:cubicBezTo>
                    <a:pt x="35929" y="28522"/>
                    <a:pt x="32624" y="23932"/>
                    <a:pt x="28217" y="23932"/>
                  </a:cubicBezTo>
                  <a:lnTo>
                    <a:pt x="12303" y="23932"/>
                  </a:lnTo>
                  <a:lnTo>
                    <a:pt x="12303" y="12364"/>
                  </a:lnTo>
                  <a:lnTo>
                    <a:pt x="85693" y="12364"/>
                  </a:lnTo>
                  <a:lnTo>
                    <a:pt x="85693" y="23932"/>
                  </a:lnTo>
                  <a:lnTo>
                    <a:pt x="57537" y="23932"/>
                  </a:lnTo>
                  <a:cubicBezTo>
                    <a:pt x="54354" y="23932"/>
                    <a:pt x="51538" y="26196"/>
                    <a:pt x="51171" y="29318"/>
                  </a:cubicBezTo>
                  <a:cubicBezTo>
                    <a:pt x="50742" y="33052"/>
                    <a:pt x="53619" y="36295"/>
                    <a:pt x="57291" y="36295"/>
                  </a:cubicBezTo>
                  <a:lnTo>
                    <a:pt x="90956" y="36295"/>
                  </a:lnTo>
                  <a:cubicBezTo>
                    <a:pt x="94874" y="36295"/>
                    <a:pt x="98056" y="33112"/>
                    <a:pt x="98056" y="29195"/>
                  </a:cubicBezTo>
                  <a:lnTo>
                    <a:pt x="98056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952;p54">
              <a:extLst>
                <a:ext uri="{FF2B5EF4-FFF2-40B4-BE49-F238E27FC236}">
                  <a16:creationId xmlns:a16="http://schemas.microsoft.com/office/drawing/2014/main" id="{F44A8955-78DA-36A2-9D3C-C543F2000264}"/>
                </a:ext>
              </a:extLst>
            </p:cNvPr>
            <p:cNvSpPr/>
            <p:nvPr/>
          </p:nvSpPr>
          <p:spPr>
            <a:xfrm>
              <a:off x="10036021" y="2781245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85754" y="23871"/>
                  </a:moveTo>
                  <a:lnTo>
                    <a:pt x="12364" y="23871"/>
                  </a:lnTo>
                  <a:lnTo>
                    <a:pt x="12364" y="12302"/>
                  </a:lnTo>
                  <a:lnTo>
                    <a:pt x="85754" y="12302"/>
                  </a:lnTo>
                  <a:lnTo>
                    <a:pt x="85754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953;p54">
              <a:extLst>
                <a:ext uri="{FF2B5EF4-FFF2-40B4-BE49-F238E27FC236}">
                  <a16:creationId xmlns:a16="http://schemas.microsoft.com/office/drawing/2014/main" id="{F8147B99-0C94-6CEF-7E53-5E0570CE89E9}"/>
                </a:ext>
              </a:extLst>
            </p:cNvPr>
            <p:cNvSpPr/>
            <p:nvPr/>
          </p:nvSpPr>
          <p:spPr>
            <a:xfrm>
              <a:off x="10036021" y="273093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85754" y="23932"/>
                  </a:moveTo>
                  <a:lnTo>
                    <a:pt x="12364" y="23932"/>
                  </a:lnTo>
                  <a:lnTo>
                    <a:pt x="12364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954;p54">
              <a:extLst>
                <a:ext uri="{FF2B5EF4-FFF2-40B4-BE49-F238E27FC236}">
                  <a16:creationId xmlns:a16="http://schemas.microsoft.com/office/drawing/2014/main" id="{66183365-FBD9-18D4-2CED-565F236F3845}"/>
                </a:ext>
              </a:extLst>
            </p:cNvPr>
            <p:cNvSpPr/>
            <p:nvPr/>
          </p:nvSpPr>
          <p:spPr>
            <a:xfrm>
              <a:off x="10036021" y="268068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5899" y="0"/>
                  </a:lnTo>
                  <a:cubicBezTo>
                    <a:pt x="72716" y="0"/>
                    <a:pt x="69901" y="2265"/>
                    <a:pt x="69534" y="5386"/>
                  </a:cubicBezTo>
                  <a:cubicBezTo>
                    <a:pt x="69105" y="9119"/>
                    <a:pt x="71982" y="12364"/>
                    <a:pt x="75655" y="12364"/>
                  </a:cubicBezTo>
                  <a:lnTo>
                    <a:pt x="85754" y="12364"/>
                  </a:lnTo>
                  <a:lnTo>
                    <a:pt x="85754" y="23932"/>
                  </a:lnTo>
                  <a:lnTo>
                    <a:pt x="41255" y="23932"/>
                  </a:lnTo>
                  <a:lnTo>
                    <a:pt x="41255" y="12364"/>
                  </a:lnTo>
                  <a:lnTo>
                    <a:pt x="46825" y="12364"/>
                  </a:lnTo>
                  <a:cubicBezTo>
                    <a:pt x="50008" y="12364"/>
                    <a:pt x="52823" y="10099"/>
                    <a:pt x="53191" y="6977"/>
                  </a:cubicBezTo>
                  <a:cubicBezTo>
                    <a:pt x="53620" y="3244"/>
                    <a:pt x="50743" y="0"/>
                    <a:pt x="47070" y="0"/>
                  </a:cubicBez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lnTo>
                    <a:pt x="91018" y="0"/>
                  </a:ln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955;p54">
              <a:extLst>
                <a:ext uri="{FF2B5EF4-FFF2-40B4-BE49-F238E27FC236}">
                  <a16:creationId xmlns:a16="http://schemas.microsoft.com/office/drawing/2014/main" id="{2D4CD44F-0567-E7F1-3041-2205C59F291A}"/>
                </a:ext>
              </a:extLst>
            </p:cNvPr>
            <p:cNvSpPr/>
            <p:nvPr/>
          </p:nvSpPr>
          <p:spPr>
            <a:xfrm>
              <a:off x="10036021" y="263037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754" y="23932"/>
                  </a:moveTo>
                  <a:lnTo>
                    <a:pt x="69289" y="23932"/>
                  </a:lnTo>
                  <a:lnTo>
                    <a:pt x="69289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956;p54">
              <a:extLst>
                <a:ext uri="{FF2B5EF4-FFF2-40B4-BE49-F238E27FC236}">
                  <a16:creationId xmlns:a16="http://schemas.microsoft.com/office/drawing/2014/main" id="{9E8FD4C0-568F-2B0A-61C2-4CB4CD4B6C61}"/>
                </a:ext>
              </a:extLst>
            </p:cNvPr>
            <p:cNvSpPr/>
            <p:nvPr/>
          </p:nvSpPr>
          <p:spPr>
            <a:xfrm>
              <a:off x="10036021" y="2580059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1" y="36296"/>
                  </a:cubicBezTo>
                  <a:lnTo>
                    <a:pt x="91018" y="36296"/>
                  </a:lnTo>
                  <a:cubicBezTo>
                    <a:pt x="94936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1255" y="12364"/>
                  </a:moveTo>
                  <a:lnTo>
                    <a:pt x="57720" y="12364"/>
                  </a:lnTo>
                  <a:lnTo>
                    <a:pt x="57720" y="23932"/>
                  </a:lnTo>
                  <a:lnTo>
                    <a:pt x="41255" y="23932"/>
                  </a:lnTo>
                  <a:lnTo>
                    <a:pt x="41255" y="12364"/>
                  </a:lnTo>
                  <a:close/>
                  <a:moveTo>
                    <a:pt x="85754" y="23932"/>
                  </a:moveTo>
                  <a:lnTo>
                    <a:pt x="69289" y="23932"/>
                  </a:lnTo>
                  <a:lnTo>
                    <a:pt x="69289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957;p54">
              <a:extLst>
                <a:ext uri="{FF2B5EF4-FFF2-40B4-BE49-F238E27FC236}">
                  <a16:creationId xmlns:a16="http://schemas.microsoft.com/office/drawing/2014/main" id="{08DA966F-4C83-5B47-49A5-FF64393DC25D}"/>
                </a:ext>
              </a:extLst>
            </p:cNvPr>
            <p:cNvSpPr/>
            <p:nvPr/>
          </p:nvSpPr>
          <p:spPr>
            <a:xfrm>
              <a:off x="10036021" y="252895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1" y="36296"/>
                  </a:cubicBezTo>
                  <a:lnTo>
                    <a:pt x="91018" y="36296"/>
                  </a:lnTo>
                  <a:cubicBezTo>
                    <a:pt x="94936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754" y="23932"/>
                  </a:moveTo>
                  <a:lnTo>
                    <a:pt x="41255" y="23932"/>
                  </a:lnTo>
                  <a:lnTo>
                    <a:pt x="41255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958;p54">
              <a:extLst>
                <a:ext uri="{FF2B5EF4-FFF2-40B4-BE49-F238E27FC236}">
                  <a16:creationId xmlns:a16="http://schemas.microsoft.com/office/drawing/2014/main" id="{A2552ACC-0BED-CC8A-4177-09BB6B526550}"/>
                </a:ext>
              </a:extLst>
            </p:cNvPr>
            <p:cNvSpPr/>
            <p:nvPr/>
          </p:nvSpPr>
          <p:spPr>
            <a:xfrm>
              <a:off x="10036021" y="247870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5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5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85754" y="23871"/>
                  </a:moveTo>
                  <a:lnTo>
                    <a:pt x="12364" y="23871"/>
                  </a:lnTo>
                  <a:lnTo>
                    <a:pt x="12364" y="12302"/>
                  </a:lnTo>
                  <a:lnTo>
                    <a:pt x="85754" y="12302"/>
                  </a:lnTo>
                  <a:lnTo>
                    <a:pt x="85754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959;p54">
              <a:extLst>
                <a:ext uri="{FF2B5EF4-FFF2-40B4-BE49-F238E27FC236}">
                  <a16:creationId xmlns:a16="http://schemas.microsoft.com/office/drawing/2014/main" id="{9616F941-5CF1-25F7-9B52-68C259537E5F}"/>
                </a:ext>
              </a:extLst>
            </p:cNvPr>
            <p:cNvSpPr/>
            <p:nvPr/>
          </p:nvSpPr>
          <p:spPr>
            <a:xfrm>
              <a:off x="10170332" y="2828190"/>
              <a:ext cx="45513" cy="67124"/>
            </a:xfrm>
            <a:custGeom>
              <a:avLst/>
              <a:gdLst/>
              <a:ahLst/>
              <a:cxnLst/>
              <a:rect l="l" t="t" r="r" b="b"/>
              <a:pathLst>
                <a:path w="45513" h="67124" extrusionOk="0">
                  <a:moveTo>
                    <a:pt x="39339" y="0"/>
                  </a:moveTo>
                  <a:lnTo>
                    <a:pt x="6408" y="0"/>
                  </a:lnTo>
                  <a:cubicBezTo>
                    <a:pt x="3225" y="0"/>
                    <a:pt x="410" y="2265"/>
                    <a:pt x="42" y="5386"/>
                  </a:cubicBezTo>
                  <a:cubicBezTo>
                    <a:pt x="-386" y="9119"/>
                    <a:pt x="2491" y="12364"/>
                    <a:pt x="6163" y="12364"/>
                  </a:cubicBezTo>
                  <a:lnTo>
                    <a:pt x="16569" y="12364"/>
                  </a:lnTo>
                  <a:lnTo>
                    <a:pt x="16569" y="60717"/>
                  </a:lnTo>
                  <a:cubicBezTo>
                    <a:pt x="16569" y="63899"/>
                    <a:pt x="18834" y="66715"/>
                    <a:pt x="21955" y="67082"/>
                  </a:cubicBezTo>
                  <a:cubicBezTo>
                    <a:pt x="25689" y="67511"/>
                    <a:pt x="28933" y="64634"/>
                    <a:pt x="28933" y="60961"/>
                  </a:cubicBezTo>
                  <a:lnTo>
                    <a:pt x="28933" y="12364"/>
                  </a:lnTo>
                  <a:lnTo>
                    <a:pt x="39094" y="12364"/>
                  </a:lnTo>
                  <a:cubicBezTo>
                    <a:pt x="42277" y="12364"/>
                    <a:pt x="45093" y="10099"/>
                    <a:pt x="45460" y="6977"/>
                  </a:cubicBezTo>
                  <a:cubicBezTo>
                    <a:pt x="45949" y="3244"/>
                    <a:pt x="43011" y="0"/>
                    <a:pt x="39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960;p54">
              <a:extLst>
                <a:ext uri="{FF2B5EF4-FFF2-40B4-BE49-F238E27FC236}">
                  <a16:creationId xmlns:a16="http://schemas.microsoft.com/office/drawing/2014/main" id="{A440EA03-ABA0-0548-6C34-6E1867BC59C7}"/>
                </a:ext>
              </a:extLst>
            </p:cNvPr>
            <p:cNvSpPr/>
            <p:nvPr/>
          </p:nvSpPr>
          <p:spPr>
            <a:xfrm>
              <a:off x="10144055" y="2781245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85693" y="23871"/>
                  </a:moveTo>
                  <a:lnTo>
                    <a:pt x="12303" y="23871"/>
                  </a:lnTo>
                  <a:lnTo>
                    <a:pt x="12303" y="12302"/>
                  </a:lnTo>
                  <a:lnTo>
                    <a:pt x="85693" y="12302"/>
                  </a:lnTo>
                  <a:lnTo>
                    <a:pt x="85693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961;p54">
              <a:extLst>
                <a:ext uri="{FF2B5EF4-FFF2-40B4-BE49-F238E27FC236}">
                  <a16:creationId xmlns:a16="http://schemas.microsoft.com/office/drawing/2014/main" id="{D4F36EBE-E529-F692-6EF8-624340B13022}"/>
                </a:ext>
              </a:extLst>
            </p:cNvPr>
            <p:cNvSpPr/>
            <p:nvPr/>
          </p:nvSpPr>
          <p:spPr>
            <a:xfrm>
              <a:off x="10144055" y="273093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85693" y="23932"/>
                  </a:moveTo>
                  <a:lnTo>
                    <a:pt x="12303" y="23932"/>
                  </a:lnTo>
                  <a:lnTo>
                    <a:pt x="12303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962;p54">
              <a:extLst>
                <a:ext uri="{FF2B5EF4-FFF2-40B4-BE49-F238E27FC236}">
                  <a16:creationId xmlns:a16="http://schemas.microsoft.com/office/drawing/2014/main" id="{E4C1AF40-A5DF-DFAF-830B-6B93F814D3EA}"/>
                </a:ext>
              </a:extLst>
            </p:cNvPr>
            <p:cNvSpPr/>
            <p:nvPr/>
          </p:nvSpPr>
          <p:spPr>
            <a:xfrm>
              <a:off x="10144055" y="268068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21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1194" y="12364"/>
                  </a:moveTo>
                  <a:lnTo>
                    <a:pt x="57659" y="12364"/>
                  </a:lnTo>
                  <a:lnTo>
                    <a:pt x="57659" y="23932"/>
                  </a:lnTo>
                  <a:lnTo>
                    <a:pt x="41194" y="23932"/>
                  </a:lnTo>
                  <a:lnTo>
                    <a:pt x="41194" y="12364"/>
                  </a:lnTo>
                  <a:close/>
                  <a:moveTo>
                    <a:pt x="85693" y="23871"/>
                  </a:moveTo>
                  <a:lnTo>
                    <a:pt x="69228" y="23871"/>
                  </a:lnTo>
                  <a:lnTo>
                    <a:pt x="69228" y="12302"/>
                  </a:lnTo>
                  <a:lnTo>
                    <a:pt x="85693" y="12302"/>
                  </a:lnTo>
                  <a:lnTo>
                    <a:pt x="85693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963;p54">
              <a:extLst>
                <a:ext uri="{FF2B5EF4-FFF2-40B4-BE49-F238E27FC236}">
                  <a16:creationId xmlns:a16="http://schemas.microsoft.com/office/drawing/2014/main" id="{8D0CA695-F1AC-77B7-2CBE-4475FE2D7A19}"/>
                </a:ext>
              </a:extLst>
            </p:cNvPr>
            <p:cNvSpPr/>
            <p:nvPr/>
          </p:nvSpPr>
          <p:spPr>
            <a:xfrm>
              <a:off x="10144055" y="263037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693" y="23932"/>
                  </a:moveTo>
                  <a:lnTo>
                    <a:pt x="69228" y="23932"/>
                  </a:lnTo>
                  <a:lnTo>
                    <a:pt x="69228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964;p54">
              <a:extLst>
                <a:ext uri="{FF2B5EF4-FFF2-40B4-BE49-F238E27FC236}">
                  <a16:creationId xmlns:a16="http://schemas.microsoft.com/office/drawing/2014/main" id="{457B8671-F7D4-B9D6-28D0-658AE00B8CD6}"/>
                </a:ext>
              </a:extLst>
            </p:cNvPr>
            <p:cNvSpPr/>
            <p:nvPr/>
          </p:nvSpPr>
          <p:spPr>
            <a:xfrm>
              <a:off x="10144055" y="2580059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1" y="36296"/>
                  </a:cubicBezTo>
                  <a:lnTo>
                    <a:pt x="91018" y="36296"/>
                  </a:lnTo>
                  <a:cubicBezTo>
                    <a:pt x="94936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1194" y="12364"/>
                  </a:moveTo>
                  <a:lnTo>
                    <a:pt x="57659" y="12364"/>
                  </a:lnTo>
                  <a:lnTo>
                    <a:pt x="57659" y="23932"/>
                  </a:lnTo>
                  <a:lnTo>
                    <a:pt x="41194" y="23932"/>
                  </a:lnTo>
                  <a:lnTo>
                    <a:pt x="41194" y="12364"/>
                  </a:lnTo>
                  <a:close/>
                  <a:moveTo>
                    <a:pt x="85693" y="23932"/>
                  </a:moveTo>
                  <a:lnTo>
                    <a:pt x="69228" y="23932"/>
                  </a:lnTo>
                  <a:lnTo>
                    <a:pt x="69228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965;p54">
              <a:extLst>
                <a:ext uri="{FF2B5EF4-FFF2-40B4-BE49-F238E27FC236}">
                  <a16:creationId xmlns:a16="http://schemas.microsoft.com/office/drawing/2014/main" id="{FF70F64A-8FAF-122F-007B-B1D11B4A0C7F}"/>
                </a:ext>
              </a:extLst>
            </p:cNvPr>
            <p:cNvSpPr/>
            <p:nvPr/>
          </p:nvSpPr>
          <p:spPr>
            <a:xfrm>
              <a:off x="10144055" y="252895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1" y="36296"/>
                  </a:cubicBezTo>
                  <a:lnTo>
                    <a:pt x="91018" y="36296"/>
                  </a:lnTo>
                  <a:cubicBezTo>
                    <a:pt x="94936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1194" y="12364"/>
                  </a:moveTo>
                  <a:lnTo>
                    <a:pt x="57659" y="12364"/>
                  </a:lnTo>
                  <a:lnTo>
                    <a:pt x="57659" y="23932"/>
                  </a:lnTo>
                  <a:lnTo>
                    <a:pt x="41194" y="23932"/>
                  </a:lnTo>
                  <a:lnTo>
                    <a:pt x="41194" y="12364"/>
                  </a:lnTo>
                  <a:close/>
                  <a:moveTo>
                    <a:pt x="85693" y="23932"/>
                  </a:moveTo>
                  <a:lnTo>
                    <a:pt x="69228" y="23932"/>
                  </a:lnTo>
                  <a:lnTo>
                    <a:pt x="69228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966;p54">
              <a:extLst>
                <a:ext uri="{FF2B5EF4-FFF2-40B4-BE49-F238E27FC236}">
                  <a16:creationId xmlns:a16="http://schemas.microsoft.com/office/drawing/2014/main" id="{B842FFD0-FB83-5520-4CE8-5DB6C1DA280F}"/>
                </a:ext>
              </a:extLst>
            </p:cNvPr>
            <p:cNvSpPr/>
            <p:nvPr/>
          </p:nvSpPr>
          <p:spPr>
            <a:xfrm>
              <a:off x="10143994" y="247870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cubicBezTo>
                    <a:pt x="23810" y="0"/>
                    <a:pt x="52028" y="0"/>
                    <a:pt x="7100" y="0"/>
                  </a:cubicBezTo>
                  <a:cubicBezTo>
                    <a:pt x="3183" y="0"/>
                    <a:pt x="0" y="3183"/>
                    <a:pt x="0" y="7100"/>
                  </a:cubicBezTo>
                  <a:lnTo>
                    <a:pt x="0" y="29195"/>
                  </a:lnTo>
                  <a:cubicBezTo>
                    <a:pt x="0" y="33112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2"/>
                    <a:pt x="98118" y="29195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8" y="0"/>
                  </a:cubicBezTo>
                  <a:close/>
                  <a:moveTo>
                    <a:pt x="12425" y="12364"/>
                  </a:moveTo>
                  <a:lnTo>
                    <a:pt x="28891" y="12364"/>
                  </a:lnTo>
                  <a:lnTo>
                    <a:pt x="28891" y="23932"/>
                  </a:lnTo>
                  <a:lnTo>
                    <a:pt x="12425" y="23932"/>
                  </a:lnTo>
                  <a:lnTo>
                    <a:pt x="12425" y="12364"/>
                  </a:lnTo>
                  <a:close/>
                  <a:moveTo>
                    <a:pt x="85754" y="23871"/>
                  </a:moveTo>
                  <a:lnTo>
                    <a:pt x="41255" y="23871"/>
                  </a:lnTo>
                  <a:lnTo>
                    <a:pt x="41255" y="12302"/>
                  </a:lnTo>
                  <a:lnTo>
                    <a:pt x="85754" y="12302"/>
                  </a:lnTo>
                  <a:lnTo>
                    <a:pt x="85754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967;p54">
              <a:extLst>
                <a:ext uri="{FF2B5EF4-FFF2-40B4-BE49-F238E27FC236}">
                  <a16:creationId xmlns:a16="http://schemas.microsoft.com/office/drawing/2014/main" id="{2362014D-00C2-40FA-3299-3C70CB75FF12}"/>
                </a:ext>
              </a:extLst>
            </p:cNvPr>
            <p:cNvSpPr/>
            <p:nvPr/>
          </p:nvSpPr>
          <p:spPr>
            <a:xfrm>
              <a:off x="10062402" y="2827884"/>
              <a:ext cx="45355" cy="67275"/>
            </a:xfrm>
            <a:custGeom>
              <a:avLst/>
              <a:gdLst/>
              <a:ahLst/>
              <a:cxnLst/>
              <a:rect l="l" t="t" r="r" b="b"/>
              <a:pathLst>
                <a:path w="45355" h="67275" extrusionOk="0">
                  <a:moveTo>
                    <a:pt x="39174" y="27543"/>
                  </a:moveTo>
                  <a:lnTo>
                    <a:pt x="21484" y="27543"/>
                  </a:lnTo>
                  <a:cubicBezTo>
                    <a:pt x="20260" y="27543"/>
                    <a:pt x="19097" y="28093"/>
                    <a:pt x="18363" y="29012"/>
                  </a:cubicBezTo>
                  <a:cubicBezTo>
                    <a:pt x="14323" y="34153"/>
                    <a:pt x="17812" y="39907"/>
                    <a:pt x="22708" y="39907"/>
                  </a:cubicBezTo>
                  <a:lnTo>
                    <a:pt x="32991" y="39907"/>
                  </a:lnTo>
                  <a:lnTo>
                    <a:pt x="32991" y="46639"/>
                  </a:lnTo>
                  <a:cubicBezTo>
                    <a:pt x="32991" y="48659"/>
                    <a:pt x="32073" y="50618"/>
                    <a:pt x="30543" y="51842"/>
                  </a:cubicBezTo>
                  <a:cubicBezTo>
                    <a:pt x="22035" y="58819"/>
                    <a:pt x="12425" y="52760"/>
                    <a:pt x="12425" y="44497"/>
                  </a:cubicBezTo>
                  <a:lnTo>
                    <a:pt x="12425" y="20443"/>
                  </a:lnTo>
                  <a:cubicBezTo>
                    <a:pt x="12425" y="18484"/>
                    <a:pt x="13282" y="16648"/>
                    <a:pt x="14812" y="15424"/>
                  </a:cubicBezTo>
                  <a:cubicBezTo>
                    <a:pt x="21056" y="10405"/>
                    <a:pt x="28462" y="11996"/>
                    <a:pt x="31767" y="17505"/>
                  </a:cubicBezTo>
                  <a:cubicBezTo>
                    <a:pt x="32379" y="18545"/>
                    <a:pt x="33481" y="19218"/>
                    <a:pt x="34644" y="19280"/>
                  </a:cubicBezTo>
                  <a:cubicBezTo>
                    <a:pt x="41438" y="19770"/>
                    <a:pt x="44132" y="13343"/>
                    <a:pt x="41132" y="9304"/>
                  </a:cubicBezTo>
                  <a:cubicBezTo>
                    <a:pt x="36847" y="3489"/>
                    <a:pt x="29992" y="0"/>
                    <a:pt x="22769" y="0"/>
                  </a:cubicBezTo>
                  <a:cubicBezTo>
                    <a:pt x="10221" y="0"/>
                    <a:pt x="0" y="10222"/>
                    <a:pt x="0" y="22769"/>
                  </a:cubicBezTo>
                  <a:lnTo>
                    <a:pt x="0" y="44069"/>
                  </a:lnTo>
                  <a:cubicBezTo>
                    <a:pt x="0" y="56433"/>
                    <a:pt x="9671" y="66899"/>
                    <a:pt x="22035" y="67266"/>
                  </a:cubicBezTo>
                  <a:cubicBezTo>
                    <a:pt x="34828" y="67633"/>
                    <a:pt x="45356" y="57289"/>
                    <a:pt x="45356" y="44497"/>
                  </a:cubicBezTo>
                  <a:lnTo>
                    <a:pt x="45356" y="33725"/>
                  </a:lnTo>
                  <a:cubicBezTo>
                    <a:pt x="45356" y="30297"/>
                    <a:pt x="42601" y="27543"/>
                    <a:pt x="39174" y="27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" name="Google Shape;1224;p54">
            <a:extLst>
              <a:ext uri="{FF2B5EF4-FFF2-40B4-BE49-F238E27FC236}">
                <a16:creationId xmlns:a16="http://schemas.microsoft.com/office/drawing/2014/main" id="{5AF18D74-285A-CF83-D7FA-750B5BB008E3}"/>
              </a:ext>
            </a:extLst>
          </p:cNvPr>
          <p:cNvGrpSpPr/>
          <p:nvPr/>
        </p:nvGrpSpPr>
        <p:grpSpPr>
          <a:xfrm>
            <a:off x="3566336" y="1656841"/>
            <a:ext cx="264634" cy="378464"/>
            <a:chOff x="2603220" y="4500107"/>
            <a:chExt cx="295945" cy="423243"/>
          </a:xfrm>
        </p:grpSpPr>
        <p:sp>
          <p:nvSpPr>
            <p:cNvPr id="42" name="Google Shape;1225;p54">
              <a:extLst>
                <a:ext uri="{FF2B5EF4-FFF2-40B4-BE49-F238E27FC236}">
                  <a16:creationId xmlns:a16="http://schemas.microsoft.com/office/drawing/2014/main" id="{B08C84A9-C82C-107B-0045-4CCDDDD355CD}"/>
                </a:ext>
              </a:extLst>
            </p:cNvPr>
            <p:cNvSpPr/>
            <p:nvPr/>
          </p:nvSpPr>
          <p:spPr>
            <a:xfrm>
              <a:off x="2744857" y="4521897"/>
              <a:ext cx="12364" cy="12363"/>
            </a:xfrm>
            <a:custGeom>
              <a:avLst/>
              <a:gdLst/>
              <a:ahLst/>
              <a:cxnLst/>
              <a:rect l="l" t="t" r="r" b="b"/>
              <a:pathLst>
                <a:path w="12364" h="12363" extrusionOk="0">
                  <a:moveTo>
                    <a:pt x="12364" y="6182"/>
                  </a:moveTo>
                  <a:cubicBezTo>
                    <a:pt x="12364" y="9596"/>
                    <a:pt x="9596" y="12363"/>
                    <a:pt x="6182" y="12363"/>
                  </a:cubicBezTo>
                  <a:cubicBezTo>
                    <a:pt x="2768" y="12363"/>
                    <a:pt x="0" y="9596"/>
                    <a:pt x="0" y="6182"/>
                  </a:cubicBezTo>
                  <a:cubicBezTo>
                    <a:pt x="0" y="2768"/>
                    <a:pt x="2768" y="0"/>
                    <a:pt x="6182" y="0"/>
                  </a:cubicBezTo>
                  <a:cubicBezTo>
                    <a:pt x="9596" y="0"/>
                    <a:pt x="12364" y="2768"/>
                    <a:pt x="12364" y="6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1226;p54">
              <a:extLst>
                <a:ext uri="{FF2B5EF4-FFF2-40B4-BE49-F238E27FC236}">
                  <a16:creationId xmlns:a16="http://schemas.microsoft.com/office/drawing/2014/main" id="{5CDB2610-BF7F-D524-1EF6-2C4CDF17CC46}"/>
                </a:ext>
              </a:extLst>
            </p:cNvPr>
            <p:cNvSpPr/>
            <p:nvPr/>
          </p:nvSpPr>
          <p:spPr>
            <a:xfrm>
              <a:off x="2603220" y="4500107"/>
              <a:ext cx="295945" cy="423243"/>
            </a:xfrm>
            <a:custGeom>
              <a:avLst/>
              <a:gdLst/>
              <a:ahLst/>
              <a:cxnLst/>
              <a:rect l="l" t="t" r="r" b="b"/>
              <a:pathLst>
                <a:path w="295945" h="423243" extrusionOk="0">
                  <a:moveTo>
                    <a:pt x="283826" y="26747"/>
                  </a:moveTo>
                  <a:lnTo>
                    <a:pt x="226229" y="26747"/>
                  </a:lnTo>
                  <a:cubicBezTo>
                    <a:pt x="224270" y="23748"/>
                    <a:pt x="220903" y="21790"/>
                    <a:pt x="217170" y="21790"/>
                  </a:cubicBezTo>
                  <a:lnTo>
                    <a:pt x="174385" y="21790"/>
                  </a:lnTo>
                  <a:cubicBezTo>
                    <a:pt x="171569" y="9058"/>
                    <a:pt x="160674" y="0"/>
                    <a:pt x="147820" y="0"/>
                  </a:cubicBezTo>
                  <a:cubicBezTo>
                    <a:pt x="134966" y="0"/>
                    <a:pt x="124071" y="9058"/>
                    <a:pt x="121255" y="21790"/>
                  </a:cubicBezTo>
                  <a:lnTo>
                    <a:pt x="78470" y="21790"/>
                  </a:lnTo>
                  <a:cubicBezTo>
                    <a:pt x="74736" y="21790"/>
                    <a:pt x="71370" y="23748"/>
                    <a:pt x="69411" y="26747"/>
                  </a:cubicBezTo>
                  <a:lnTo>
                    <a:pt x="55455" y="26747"/>
                  </a:lnTo>
                  <a:cubicBezTo>
                    <a:pt x="52272" y="26747"/>
                    <a:pt x="49457" y="29012"/>
                    <a:pt x="49090" y="32133"/>
                  </a:cubicBezTo>
                  <a:cubicBezTo>
                    <a:pt x="48661" y="35867"/>
                    <a:pt x="51538" y="39111"/>
                    <a:pt x="55211" y="39111"/>
                  </a:cubicBezTo>
                  <a:lnTo>
                    <a:pt x="67575" y="39111"/>
                  </a:lnTo>
                  <a:lnTo>
                    <a:pt x="67575" y="47374"/>
                  </a:lnTo>
                  <a:lnTo>
                    <a:pt x="27054" y="47374"/>
                  </a:lnTo>
                  <a:cubicBezTo>
                    <a:pt x="23443" y="47374"/>
                    <a:pt x="20566" y="50251"/>
                    <a:pt x="20566" y="53862"/>
                  </a:cubicBezTo>
                  <a:lnTo>
                    <a:pt x="20566" y="285467"/>
                  </a:lnTo>
                  <a:cubicBezTo>
                    <a:pt x="20566" y="287671"/>
                    <a:pt x="21729" y="289752"/>
                    <a:pt x="23749" y="290731"/>
                  </a:cubicBezTo>
                  <a:cubicBezTo>
                    <a:pt x="28401" y="292996"/>
                    <a:pt x="32931" y="289629"/>
                    <a:pt x="32931" y="285284"/>
                  </a:cubicBezTo>
                  <a:lnTo>
                    <a:pt x="32931" y="59799"/>
                  </a:lnTo>
                  <a:lnTo>
                    <a:pt x="67575" y="59799"/>
                  </a:lnTo>
                  <a:lnTo>
                    <a:pt x="67575" y="73754"/>
                  </a:lnTo>
                  <a:cubicBezTo>
                    <a:pt x="67575" y="82445"/>
                    <a:pt x="74614" y="89484"/>
                    <a:pt x="83306" y="89484"/>
                  </a:cubicBezTo>
                  <a:lnTo>
                    <a:pt x="212579" y="89484"/>
                  </a:lnTo>
                  <a:cubicBezTo>
                    <a:pt x="221271" y="89484"/>
                    <a:pt x="228310" y="82445"/>
                    <a:pt x="228310" y="73754"/>
                  </a:cubicBezTo>
                  <a:lnTo>
                    <a:pt x="228310" y="59799"/>
                  </a:lnTo>
                  <a:lnTo>
                    <a:pt x="262954" y="59799"/>
                  </a:lnTo>
                  <a:lnTo>
                    <a:pt x="262954" y="311174"/>
                  </a:lnTo>
                  <a:cubicBezTo>
                    <a:pt x="262954" y="327149"/>
                    <a:pt x="250039" y="340064"/>
                    <a:pt x="234063" y="340064"/>
                  </a:cubicBezTo>
                  <a:lnTo>
                    <a:pt x="220536" y="340064"/>
                  </a:lnTo>
                  <a:cubicBezTo>
                    <a:pt x="216619" y="340064"/>
                    <a:pt x="213497" y="343246"/>
                    <a:pt x="213497" y="347102"/>
                  </a:cubicBezTo>
                  <a:lnTo>
                    <a:pt x="213497" y="360690"/>
                  </a:lnTo>
                  <a:cubicBezTo>
                    <a:pt x="213497" y="376543"/>
                    <a:pt x="200582" y="389518"/>
                    <a:pt x="184668" y="389518"/>
                  </a:cubicBezTo>
                  <a:lnTo>
                    <a:pt x="32931" y="389518"/>
                  </a:lnTo>
                  <a:lnTo>
                    <a:pt x="32931" y="313806"/>
                  </a:lnTo>
                  <a:cubicBezTo>
                    <a:pt x="32931" y="310623"/>
                    <a:pt x="30666" y="307808"/>
                    <a:pt x="27544" y="307440"/>
                  </a:cubicBezTo>
                  <a:cubicBezTo>
                    <a:pt x="23810" y="307012"/>
                    <a:pt x="20566" y="309888"/>
                    <a:pt x="20566" y="313561"/>
                  </a:cubicBezTo>
                  <a:lnTo>
                    <a:pt x="20566" y="394782"/>
                  </a:lnTo>
                  <a:cubicBezTo>
                    <a:pt x="20566" y="398699"/>
                    <a:pt x="23749" y="401821"/>
                    <a:pt x="27605" y="401821"/>
                  </a:cubicBezTo>
                  <a:lnTo>
                    <a:pt x="184423" y="401821"/>
                  </a:lnTo>
                  <a:cubicBezTo>
                    <a:pt x="208723" y="401821"/>
                    <a:pt x="231493" y="392395"/>
                    <a:pt x="248692" y="375196"/>
                  </a:cubicBezTo>
                  <a:cubicBezTo>
                    <a:pt x="265831" y="358058"/>
                    <a:pt x="275318" y="335228"/>
                    <a:pt x="275318" y="310991"/>
                  </a:cubicBezTo>
                  <a:lnTo>
                    <a:pt x="275318" y="54413"/>
                  </a:lnTo>
                  <a:cubicBezTo>
                    <a:pt x="275318" y="50495"/>
                    <a:pt x="272136" y="47374"/>
                    <a:pt x="268279" y="47374"/>
                  </a:cubicBezTo>
                  <a:lnTo>
                    <a:pt x="228371" y="47374"/>
                  </a:lnTo>
                  <a:lnTo>
                    <a:pt x="228371" y="39111"/>
                  </a:lnTo>
                  <a:lnTo>
                    <a:pt x="283582" y="39111"/>
                  </a:lnTo>
                  <a:lnTo>
                    <a:pt x="283582" y="410879"/>
                  </a:lnTo>
                  <a:lnTo>
                    <a:pt x="12364" y="410879"/>
                  </a:lnTo>
                  <a:lnTo>
                    <a:pt x="12364" y="39111"/>
                  </a:lnTo>
                  <a:lnTo>
                    <a:pt x="26198" y="39111"/>
                  </a:lnTo>
                  <a:cubicBezTo>
                    <a:pt x="29380" y="39111"/>
                    <a:pt x="32196" y="36846"/>
                    <a:pt x="32563" y="33725"/>
                  </a:cubicBezTo>
                  <a:cubicBezTo>
                    <a:pt x="32992" y="29991"/>
                    <a:pt x="30115" y="26747"/>
                    <a:pt x="26442" y="26747"/>
                  </a:cubicBezTo>
                  <a:lnTo>
                    <a:pt x="12119" y="26747"/>
                  </a:lnTo>
                  <a:cubicBezTo>
                    <a:pt x="5448" y="26747"/>
                    <a:pt x="0" y="32195"/>
                    <a:pt x="0" y="38866"/>
                  </a:cubicBezTo>
                  <a:lnTo>
                    <a:pt x="0" y="411124"/>
                  </a:lnTo>
                  <a:cubicBezTo>
                    <a:pt x="0" y="417796"/>
                    <a:pt x="5448" y="423243"/>
                    <a:pt x="12119" y="423243"/>
                  </a:cubicBezTo>
                  <a:lnTo>
                    <a:pt x="283826" y="423243"/>
                  </a:lnTo>
                  <a:cubicBezTo>
                    <a:pt x="290498" y="423243"/>
                    <a:pt x="295946" y="417796"/>
                    <a:pt x="295946" y="411124"/>
                  </a:cubicBezTo>
                  <a:lnTo>
                    <a:pt x="295946" y="41314"/>
                  </a:lnTo>
                  <a:cubicBezTo>
                    <a:pt x="295946" y="34582"/>
                    <a:pt x="290498" y="28032"/>
                    <a:pt x="283826" y="26747"/>
                  </a:cubicBezTo>
                  <a:lnTo>
                    <a:pt x="283826" y="26747"/>
                  </a:lnTo>
                  <a:close/>
                  <a:moveTo>
                    <a:pt x="220597" y="380888"/>
                  </a:moveTo>
                  <a:cubicBezTo>
                    <a:pt x="223964" y="374890"/>
                    <a:pt x="225861" y="368035"/>
                    <a:pt x="225861" y="360690"/>
                  </a:cubicBezTo>
                  <a:lnTo>
                    <a:pt x="225861" y="352366"/>
                  </a:lnTo>
                  <a:lnTo>
                    <a:pt x="234186" y="352366"/>
                  </a:lnTo>
                  <a:cubicBezTo>
                    <a:pt x="241531" y="352366"/>
                    <a:pt x="248386" y="350469"/>
                    <a:pt x="254385" y="347102"/>
                  </a:cubicBezTo>
                  <a:cubicBezTo>
                    <a:pt x="246979" y="361486"/>
                    <a:pt x="234982" y="373482"/>
                    <a:pt x="220597" y="380888"/>
                  </a:cubicBezTo>
                  <a:lnTo>
                    <a:pt x="220597" y="380888"/>
                  </a:lnTo>
                  <a:close/>
                  <a:moveTo>
                    <a:pt x="215946" y="73631"/>
                  </a:moveTo>
                  <a:cubicBezTo>
                    <a:pt x="215946" y="75529"/>
                    <a:pt x="214415" y="76998"/>
                    <a:pt x="212579" y="76998"/>
                  </a:cubicBezTo>
                  <a:lnTo>
                    <a:pt x="83306" y="76998"/>
                  </a:lnTo>
                  <a:cubicBezTo>
                    <a:pt x="81408" y="76998"/>
                    <a:pt x="79939" y="75468"/>
                    <a:pt x="79939" y="73631"/>
                  </a:cubicBezTo>
                  <a:lnTo>
                    <a:pt x="79939" y="64634"/>
                  </a:lnTo>
                  <a:lnTo>
                    <a:pt x="174140" y="64634"/>
                  </a:lnTo>
                  <a:cubicBezTo>
                    <a:pt x="177323" y="64634"/>
                    <a:pt x="180138" y="62370"/>
                    <a:pt x="180505" y="59248"/>
                  </a:cubicBezTo>
                  <a:cubicBezTo>
                    <a:pt x="180934" y="55514"/>
                    <a:pt x="178057" y="52271"/>
                    <a:pt x="174385" y="52271"/>
                  </a:cubicBezTo>
                  <a:lnTo>
                    <a:pt x="80000" y="52271"/>
                  </a:lnTo>
                  <a:lnTo>
                    <a:pt x="80000" y="34153"/>
                  </a:lnTo>
                  <a:lnTo>
                    <a:pt x="123092" y="34153"/>
                  </a:lnTo>
                  <a:cubicBezTo>
                    <a:pt x="128172" y="34153"/>
                    <a:pt x="132456" y="30481"/>
                    <a:pt x="133313" y="25462"/>
                  </a:cubicBezTo>
                  <a:cubicBezTo>
                    <a:pt x="134476" y="18178"/>
                    <a:pt x="140720" y="12853"/>
                    <a:pt x="148065" y="12853"/>
                  </a:cubicBezTo>
                  <a:cubicBezTo>
                    <a:pt x="155410" y="12853"/>
                    <a:pt x="161592" y="18117"/>
                    <a:pt x="162816" y="25462"/>
                  </a:cubicBezTo>
                  <a:cubicBezTo>
                    <a:pt x="163612" y="30481"/>
                    <a:pt x="167958" y="34153"/>
                    <a:pt x="173038" y="34153"/>
                  </a:cubicBezTo>
                  <a:lnTo>
                    <a:pt x="216129" y="34153"/>
                  </a:lnTo>
                  <a:lnTo>
                    <a:pt x="216129" y="52271"/>
                  </a:lnTo>
                  <a:lnTo>
                    <a:pt x="203520" y="52271"/>
                  </a:lnTo>
                  <a:cubicBezTo>
                    <a:pt x="200337" y="52271"/>
                    <a:pt x="197522" y="54535"/>
                    <a:pt x="197154" y="57657"/>
                  </a:cubicBezTo>
                  <a:cubicBezTo>
                    <a:pt x="196726" y="61390"/>
                    <a:pt x="199603" y="64634"/>
                    <a:pt x="203275" y="64634"/>
                  </a:cubicBezTo>
                  <a:lnTo>
                    <a:pt x="215946" y="64634"/>
                  </a:lnTo>
                  <a:lnTo>
                    <a:pt x="215946" y="736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1227;p54">
              <a:extLst>
                <a:ext uri="{FF2B5EF4-FFF2-40B4-BE49-F238E27FC236}">
                  <a16:creationId xmlns:a16="http://schemas.microsoft.com/office/drawing/2014/main" id="{98D6AC14-8C8A-EE8C-FABD-2C26BDB2E8DB}"/>
                </a:ext>
              </a:extLst>
            </p:cNvPr>
            <p:cNvSpPr/>
            <p:nvPr/>
          </p:nvSpPr>
          <p:spPr>
            <a:xfrm>
              <a:off x="2659532" y="4627471"/>
              <a:ext cx="184055" cy="177266"/>
            </a:xfrm>
            <a:custGeom>
              <a:avLst/>
              <a:gdLst/>
              <a:ahLst/>
              <a:cxnLst/>
              <a:rect l="l" t="t" r="r" b="b"/>
              <a:pathLst>
                <a:path w="184055" h="177266" extrusionOk="0">
                  <a:moveTo>
                    <a:pt x="61" y="171017"/>
                  </a:moveTo>
                  <a:cubicBezTo>
                    <a:pt x="61" y="174690"/>
                    <a:pt x="3305" y="177628"/>
                    <a:pt x="7039" y="177138"/>
                  </a:cubicBezTo>
                  <a:cubicBezTo>
                    <a:pt x="10099" y="176771"/>
                    <a:pt x="12364" y="173955"/>
                    <a:pt x="12364" y="170895"/>
                  </a:cubicBezTo>
                  <a:cubicBezTo>
                    <a:pt x="12425" y="155287"/>
                    <a:pt x="20199" y="146718"/>
                    <a:pt x="29992" y="138027"/>
                  </a:cubicBezTo>
                  <a:cubicBezTo>
                    <a:pt x="32318" y="140108"/>
                    <a:pt x="34522" y="142128"/>
                    <a:pt x="36542" y="144270"/>
                  </a:cubicBezTo>
                  <a:lnTo>
                    <a:pt x="32135" y="144270"/>
                  </a:lnTo>
                  <a:cubicBezTo>
                    <a:pt x="28952" y="144270"/>
                    <a:pt x="26136" y="146535"/>
                    <a:pt x="25769" y="149657"/>
                  </a:cubicBezTo>
                  <a:cubicBezTo>
                    <a:pt x="25340" y="153390"/>
                    <a:pt x="28217" y="156634"/>
                    <a:pt x="31890" y="156634"/>
                  </a:cubicBezTo>
                  <a:lnTo>
                    <a:pt x="44989" y="156634"/>
                  </a:lnTo>
                  <a:cubicBezTo>
                    <a:pt x="46703" y="160735"/>
                    <a:pt x="47682" y="165386"/>
                    <a:pt x="47743" y="170956"/>
                  </a:cubicBezTo>
                  <a:cubicBezTo>
                    <a:pt x="47743" y="174078"/>
                    <a:pt x="50008" y="176832"/>
                    <a:pt x="53068" y="177200"/>
                  </a:cubicBezTo>
                  <a:cubicBezTo>
                    <a:pt x="56863" y="177689"/>
                    <a:pt x="60107" y="174751"/>
                    <a:pt x="60107" y="171079"/>
                  </a:cubicBezTo>
                  <a:cubicBezTo>
                    <a:pt x="60107" y="153329"/>
                    <a:pt x="52640" y="141700"/>
                    <a:pt x="39480" y="129765"/>
                  </a:cubicBezTo>
                  <a:cubicBezTo>
                    <a:pt x="45050" y="124684"/>
                    <a:pt x="50559" y="119053"/>
                    <a:pt x="54476" y="111831"/>
                  </a:cubicBezTo>
                  <a:cubicBezTo>
                    <a:pt x="62311" y="124378"/>
                    <a:pt x="76205" y="132702"/>
                    <a:pt x="92058" y="132702"/>
                  </a:cubicBezTo>
                  <a:cubicBezTo>
                    <a:pt x="107912" y="132702"/>
                    <a:pt x="121806" y="124378"/>
                    <a:pt x="129641" y="111831"/>
                  </a:cubicBezTo>
                  <a:cubicBezTo>
                    <a:pt x="133558" y="119053"/>
                    <a:pt x="139006" y="124684"/>
                    <a:pt x="144637" y="129765"/>
                  </a:cubicBezTo>
                  <a:cubicBezTo>
                    <a:pt x="131477" y="141700"/>
                    <a:pt x="124010" y="153268"/>
                    <a:pt x="124010" y="170956"/>
                  </a:cubicBezTo>
                  <a:cubicBezTo>
                    <a:pt x="124010" y="173894"/>
                    <a:pt x="126029" y="176588"/>
                    <a:pt x="128845" y="177138"/>
                  </a:cubicBezTo>
                  <a:cubicBezTo>
                    <a:pt x="132824" y="177934"/>
                    <a:pt x="136374" y="174935"/>
                    <a:pt x="136374" y="171079"/>
                  </a:cubicBezTo>
                  <a:cubicBezTo>
                    <a:pt x="136374" y="165448"/>
                    <a:pt x="137353" y="160735"/>
                    <a:pt x="139128" y="156634"/>
                  </a:cubicBezTo>
                  <a:lnTo>
                    <a:pt x="151982" y="156634"/>
                  </a:lnTo>
                  <a:cubicBezTo>
                    <a:pt x="155165" y="156634"/>
                    <a:pt x="157981" y="154369"/>
                    <a:pt x="158348" y="151248"/>
                  </a:cubicBezTo>
                  <a:cubicBezTo>
                    <a:pt x="158776" y="147514"/>
                    <a:pt x="155899" y="144270"/>
                    <a:pt x="152227" y="144270"/>
                  </a:cubicBezTo>
                  <a:lnTo>
                    <a:pt x="147575" y="144270"/>
                  </a:lnTo>
                  <a:cubicBezTo>
                    <a:pt x="149595" y="142128"/>
                    <a:pt x="151799" y="140108"/>
                    <a:pt x="154124" y="138027"/>
                  </a:cubicBezTo>
                  <a:cubicBezTo>
                    <a:pt x="163918" y="146718"/>
                    <a:pt x="171691" y="155287"/>
                    <a:pt x="171753" y="170895"/>
                  </a:cubicBezTo>
                  <a:cubicBezTo>
                    <a:pt x="171753" y="174017"/>
                    <a:pt x="174017" y="176771"/>
                    <a:pt x="177078" y="177138"/>
                  </a:cubicBezTo>
                  <a:cubicBezTo>
                    <a:pt x="180873" y="177628"/>
                    <a:pt x="184056" y="174690"/>
                    <a:pt x="184056" y="171017"/>
                  </a:cubicBezTo>
                  <a:cubicBezTo>
                    <a:pt x="184056" y="150942"/>
                    <a:pt x="173956" y="139313"/>
                    <a:pt x="163428" y="129826"/>
                  </a:cubicBezTo>
                  <a:cubicBezTo>
                    <a:pt x="176588" y="117890"/>
                    <a:pt x="184056" y="106322"/>
                    <a:pt x="184056" y="88634"/>
                  </a:cubicBezTo>
                  <a:cubicBezTo>
                    <a:pt x="184056" y="70945"/>
                    <a:pt x="176649" y="59377"/>
                    <a:pt x="163428" y="47442"/>
                  </a:cubicBezTo>
                  <a:cubicBezTo>
                    <a:pt x="173895" y="37955"/>
                    <a:pt x="183933" y="26387"/>
                    <a:pt x="184056" y="6555"/>
                  </a:cubicBezTo>
                  <a:cubicBezTo>
                    <a:pt x="184056" y="3557"/>
                    <a:pt x="182097" y="802"/>
                    <a:pt x="179159" y="190"/>
                  </a:cubicBezTo>
                  <a:cubicBezTo>
                    <a:pt x="175180" y="-605"/>
                    <a:pt x="171691" y="2393"/>
                    <a:pt x="171691" y="6249"/>
                  </a:cubicBezTo>
                  <a:cubicBezTo>
                    <a:pt x="171691" y="21919"/>
                    <a:pt x="163918" y="30548"/>
                    <a:pt x="154063" y="39240"/>
                  </a:cubicBezTo>
                  <a:cubicBezTo>
                    <a:pt x="151737" y="37159"/>
                    <a:pt x="149534" y="35139"/>
                    <a:pt x="147514" y="32997"/>
                  </a:cubicBezTo>
                  <a:lnTo>
                    <a:pt x="151921" y="32997"/>
                  </a:lnTo>
                  <a:cubicBezTo>
                    <a:pt x="155104" y="32997"/>
                    <a:pt x="157919" y="30732"/>
                    <a:pt x="158287" y="27611"/>
                  </a:cubicBezTo>
                  <a:cubicBezTo>
                    <a:pt x="158715" y="23877"/>
                    <a:pt x="155838" y="20633"/>
                    <a:pt x="152166" y="20633"/>
                  </a:cubicBezTo>
                  <a:lnTo>
                    <a:pt x="139067" y="20633"/>
                  </a:lnTo>
                  <a:cubicBezTo>
                    <a:pt x="137353" y="16533"/>
                    <a:pt x="136374" y="11880"/>
                    <a:pt x="136313" y="6311"/>
                  </a:cubicBezTo>
                  <a:cubicBezTo>
                    <a:pt x="136313" y="3189"/>
                    <a:pt x="134048" y="435"/>
                    <a:pt x="130987" y="68"/>
                  </a:cubicBezTo>
                  <a:cubicBezTo>
                    <a:pt x="127192" y="-422"/>
                    <a:pt x="123948" y="2516"/>
                    <a:pt x="123948" y="6188"/>
                  </a:cubicBezTo>
                  <a:cubicBezTo>
                    <a:pt x="123948" y="23938"/>
                    <a:pt x="131416" y="35568"/>
                    <a:pt x="144576" y="47503"/>
                  </a:cubicBezTo>
                  <a:cubicBezTo>
                    <a:pt x="139006" y="52583"/>
                    <a:pt x="133497" y="58214"/>
                    <a:pt x="129580" y="65436"/>
                  </a:cubicBezTo>
                  <a:cubicBezTo>
                    <a:pt x="121745" y="52889"/>
                    <a:pt x="107850" y="44565"/>
                    <a:pt x="91997" y="44565"/>
                  </a:cubicBezTo>
                  <a:cubicBezTo>
                    <a:pt x="76144" y="44565"/>
                    <a:pt x="62250" y="52889"/>
                    <a:pt x="54415" y="65436"/>
                  </a:cubicBezTo>
                  <a:cubicBezTo>
                    <a:pt x="50497" y="58214"/>
                    <a:pt x="45050" y="52583"/>
                    <a:pt x="39419" y="47503"/>
                  </a:cubicBezTo>
                  <a:cubicBezTo>
                    <a:pt x="52579" y="35568"/>
                    <a:pt x="60046" y="23999"/>
                    <a:pt x="60046" y="6311"/>
                  </a:cubicBezTo>
                  <a:cubicBezTo>
                    <a:pt x="60046" y="3373"/>
                    <a:pt x="58026" y="680"/>
                    <a:pt x="55211" y="129"/>
                  </a:cubicBezTo>
                  <a:cubicBezTo>
                    <a:pt x="51232" y="-667"/>
                    <a:pt x="47682" y="2332"/>
                    <a:pt x="47682" y="6188"/>
                  </a:cubicBezTo>
                  <a:cubicBezTo>
                    <a:pt x="47682" y="11819"/>
                    <a:pt x="46703" y="16533"/>
                    <a:pt x="44927" y="20633"/>
                  </a:cubicBezTo>
                  <a:lnTo>
                    <a:pt x="32073" y="20633"/>
                  </a:lnTo>
                  <a:cubicBezTo>
                    <a:pt x="28891" y="20633"/>
                    <a:pt x="26075" y="22898"/>
                    <a:pt x="25708" y="26020"/>
                  </a:cubicBezTo>
                  <a:cubicBezTo>
                    <a:pt x="25279" y="29753"/>
                    <a:pt x="28156" y="32997"/>
                    <a:pt x="31829" y="32997"/>
                  </a:cubicBezTo>
                  <a:lnTo>
                    <a:pt x="36481" y="32997"/>
                  </a:lnTo>
                  <a:cubicBezTo>
                    <a:pt x="34461" y="35139"/>
                    <a:pt x="32257" y="37159"/>
                    <a:pt x="29931" y="39240"/>
                  </a:cubicBezTo>
                  <a:cubicBezTo>
                    <a:pt x="20138" y="30548"/>
                    <a:pt x="12364" y="21980"/>
                    <a:pt x="12303" y="6372"/>
                  </a:cubicBezTo>
                  <a:cubicBezTo>
                    <a:pt x="12303" y="3251"/>
                    <a:pt x="10038" y="496"/>
                    <a:pt x="6978" y="129"/>
                  </a:cubicBezTo>
                  <a:cubicBezTo>
                    <a:pt x="3183" y="-361"/>
                    <a:pt x="0" y="2577"/>
                    <a:pt x="0" y="6249"/>
                  </a:cubicBezTo>
                  <a:cubicBezTo>
                    <a:pt x="0" y="26326"/>
                    <a:pt x="10099" y="37955"/>
                    <a:pt x="20627" y="47442"/>
                  </a:cubicBezTo>
                  <a:cubicBezTo>
                    <a:pt x="7467" y="59377"/>
                    <a:pt x="0" y="70945"/>
                    <a:pt x="0" y="88634"/>
                  </a:cubicBezTo>
                  <a:cubicBezTo>
                    <a:pt x="0" y="106322"/>
                    <a:pt x="7406" y="117890"/>
                    <a:pt x="20627" y="129826"/>
                  </a:cubicBezTo>
                  <a:cubicBezTo>
                    <a:pt x="10161" y="139313"/>
                    <a:pt x="61" y="150942"/>
                    <a:pt x="61" y="171017"/>
                  </a:cubicBezTo>
                  <a:lnTo>
                    <a:pt x="61" y="171017"/>
                  </a:lnTo>
                  <a:close/>
                  <a:moveTo>
                    <a:pt x="153818" y="55521"/>
                  </a:moveTo>
                  <a:cubicBezTo>
                    <a:pt x="156144" y="57602"/>
                    <a:pt x="158348" y="59622"/>
                    <a:pt x="160368" y="61764"/>
                  </a:cubicBezTo>
                  <a:lnTo>
                    <a:pt x="155899" y="61764"/>
                  </a:lnTo>
                  <a:cubicBezTo>
                    <a:pt x="152717" y="61764"/>
                    <a:pt x="149901" y="64029"/>
                    <a:pt x="149534" y="67150"/>
                  </a:cubicBezTo>
                  <a:cubicBezTo>
                    <a:pt x="149105" y="70884"/>
                    <a:pt x="151982" y="74128"/>
                    <a:pt x="155655" y="74128"/>
                  </a:cubicBezTo>
                  <a:lnTo>
                    <a:pt x="168753" y="74128"/>
                  </a:lnTo>
                  <a:cubicBezTo>
                    <a:pt x="169794" y="76637"/>
                    <a:pt x="170590" y="79330"/>
                    <a:pt x="171018" y="82390"/>
                  </a:cubicBezTo>
                  <a:lnTo>
                    <a:pt x="150819" y="82390"/>
                  </a:lnTo>
                  <a:cubicBezTo>
                    <a:pt x="147636" y="82390"/>
                    <a:pt x="144821" y="84655"/>
                    <a:pt x="144453" y="87777"/>
                  </a:cubicBezTo>
                  <a:cubicBezTo>
                    <a:pt x="144025" y="91510"/>
                    <a:pt x="146902" y="94754"/>
                    <a:pt x="150574" y="94754"/>
                  </a:cubicBezTo>
                  <a:lnTo>
                    <a:pt x="171018" y="94754"/>
                  </a:lnTo>
                  <a:cubicBezTo>
                    <a:pt x="170590" y="97753"/>
                    <a:pt x="169794" y="100507"/>
                    <a:pt x="168753" y="103017"/>
                  </a:cubicBezTo>
                  <a:lnTo>
                    <a:pt x="155899" y="103017"/>
                  </a:lnTo>
                  <a:cubicBezTo>
                    <a:pt x="152717" y="103017"/>
                    <a:pt x="149901" y="105282"/>
                    <a:pt x="149534" y="108403"/>
                  </a:cubicBezTo>
                  <a:cubicBezTo>
                    <a:pt x="149105" y="112137"/>
                    <a:pt x="151982" y="115381"/>
                    <a:pt x="155655" y="115381"/>
                  </a:cubicBezTo>
                  <a:lnTo>
                    <a:pt x="160368" y="115381"/>
                  </a:lnTo>
                  <a:cubicBezTo>
                    <a:pt x="158348" y="117523"/>
                    <a:pt x="156144" y="119604"/>
                    <a:pt x="153818" y="121624"/>
                  </a:cubicBezTo>
                  <a:cubicBezTo>
                    <a:pt x="144025" y="112871"/>
                    <a:pt x="136190" y="104302"/>
                    <a:pt x="136190" y="88572"/>
                  </a:cubicBezTo>
                  <a:cubicBezTo>
                    <a:pt x="136190" y="72903"/>
                    <a:pt x="144025" y="64274"/>
                    <a:pt x="153818" y="55521"/>
                  </a:cubicBezTo>
                  <a:lnTo>
                    <a:pt x="153818" y="55521"/>
                  </a:lnTo>
                  <a:close/>
                  <a:moveTo>
                    <a:pt x="91936" y="56623"/>
                  </a:moveTo>
                  <a:cubicBezTo>
                    <a:pt x="109503" y="56623"/>
                    <a:pt x="123826" y="70945"/>
                    <a:pt x="123826" y="88511"/>
                  </a:cubicBezTo>
                  <a:cubicBezTo>
                    <a:pt x="123826" y="106078"/>
                    <a:pt x="109503" y="120399"/>
                    <a:pt x="91936" y="120399"/>
                  </a:cubicBezTo>
                  <a:cubicBezTo>
                    <a:pt x="74369" y="120399"/>
                    <a:pt x="60046" y="106078"/>
                    <a:pt x="60046" y="88511"/>
                  </a:cubicBezTo>
                  <a:cubicBezTo>
                    <a:pt x="60046" y="70884"/>
                    <a:pt x="74369" y="56623"/>
                    <a:pt x="91936" y="56623"/>
                  </a:cubicBezTo>
                  <a:lnTo>
                    <a:pt x="91936" y="56623"/>
                  </a:lnTo>
                  <a:close/>
                  <a:moveTo>
                    <a:pt x="47682" y="88572"/>
                  </a:moveTo>
                  <a:cubicBezTo>
                    <a:pt x="47682" y="104241"/>
                    <a:pt x="39908" y="112871"/>
                    <a:pt x="30054" y="121624"/>
                  </a:cubicBezTo>
                  <a:cubicBezTo>
                    <a:pt x="27728" y="119543"/>
                    <a:pt x="25524" y="117523"/>
                    <a:pt x="23504" y="115381"/>
                  </a:cubicBezTo>
                  <a:lnTo>
                    <a:pt x="27973" y="115381"/>
                  </a:lnTo>
                  <a:cubicBezTo>
                    <a:pt x="31155" y="115381"/>
                    <a:pt x="33971" y="113116"/>
                    <a:pt x="34338" y="109994"/>
                  </a:cubicBezTo>
                  <a:cubicBezTo>
                    <a:pt x="34767" y="106261"/>
                    <a:pt x="31890" y="103017"/>
                    <a:pt x="28217" y="103017"/>
                  </a:cubicBezTo>
                  <a:lnTo>
                    <a:pt x="15119" y="103017"/>
                  </a:lnTo>
                  <a:cubicBezTo>
                    <a:pt x="14078" y="100507"/>
                    <a:pt x="13282" y="97815"/>
                    <a:pt x="12854" y="94754"/>
                  </a:cubicBezTo>
                  <a:lnTo>
                    <a:pt x="33053" y="94754"/>
                  </a:lnTo>
                  <a:cubicBezTo>
                    <a:pt x="36236" y="94754"/>
                    <a:pt x="39051" y="92490"/>
                    <a:pt x="39419" y="89368"/>
                  </a:cubicBezTo>
                  <a:cubicBezTo>
                    <a:pt x="39847" y="85634"/>
                    <a:pt x="36970" y="82390"/>
                    <a:pt x="33298" y="82390"/>
                  </a:cubicBezTo>
                  <a:lnTo>
                    <a:pt x="12854" y="82390"/>
                  </a:lnTo>
                  <a:cubicBezTo>
                    <a:pt x="13282" y="79391"/>
                    <a:pt x="14078" y="76637"/>
                    <a:pt x="15119" y="74128"/>
                  </a:cubicBezTo>
                  <a:lnTo>
                    <a:pt x="27973" y="74128"/>
                  </a:lnTo>
                  <a:cubicBezTo>
                    <a:pt x="31155" y="74128"/>
                    <a:pt x="33971" y="71863"/>
                    <a:pt x="34338" y="68742"/>
                  </a:cubicBezTo>
                  <a:cubicBezTo>
                    <a:pt x="34767" y="65008"/>
                    <a:pt x="31890" y="61764"/>
                    <a:pt x="28217" y="61764"/>
                  </a:cubicBezTo>
                  <a:lnTo>
                    <a:pt x="23504" y="61764"/>
                  </a:lnTo>
                  <a:cubicBezTo>
                    <a:pt x="25524" y="59622"/>
                    <a:pt x="27728" y="57541"/>
                    <a:pt x="30054" y="55521"/>
                  </a:cubicBezTo>
                  <a:cubicBezTo>
                    <a:pt x="39847" y="64274"/>
                    <a:pt x="47682" y="72903"/>
                    <a:pt x="47682" y="88572"/>
                  </a:cubicBezTo>
                  <a:lnTo>
                    <a:pt x="47682" y="885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1228;p54">
              <a:extLst>
                <a:ext uri="{FF2B5EF4-FFF2-40B4-BE49-F238E27FC236}">
                  <a16:creationId xmlns:a16="http://schemas.microsoft.com/office/drawing/2014/main" id="{36D47475-E0E1-4669-4560-2242023926FA}"/>
                </a:ext>
              </a:extLst>
            </p:cNvPr>
            <p:cNvSpPr/>
            <p:nvPr/>
          </p:nvSpPr>
          <p:spPr>
            <a:xfrm>
              <a:off x="2727948" y="4701217"/>
              <a:ext cx="44896" cy="32041"/>
            </a:xfrm>
            <a:custGeom>
              <a:avLst/>
              <a:gdLst/>
              <a:ahLst/>
              <a:cxnLst/>
              <a:rect l="l" t="t" r="r" b="b"/>
              <a:pathLst>
                <a:path w="44896" h="32041" extrusionOk="0">
                  <a:moveTo>
                    <a:pt x="14644" y="30251"/>
                  </a:moveTo>
                  <a:cubicBezTo>
                    <a:pt x="17031" y="32638"/>
                    <a:pt x="20949" y="32638"/>
                    <a:pt x="23397" y="30251"/>
                  </a:cubicBezTo>
                  <a:lnTo>
                    <a:pt x="43106" y="10542"/>
                  </a:lnTo>
                  <a:cubicBezTo>
                    <a:pt x="45494" y="8156"/>
                    <a:pt x="45494" y="4238"/>
                    <a:pt x="43106" y="1790"/>
                  </a:cubicBezTo>
                  <a:cubicBezTo>
                    <a:pt x="40719" y="-597"/>
                    <a:pt x="36802" y="-597"/>
                    <a:pt x="34354" y="1790"/>
                  </a:cubicBezTo>
                  <a:lnTo>
                    <a:pt x="18990" y="17153"/>
                  </a:lnTo>
                  <a:lnTo>
                    <a:pt x="10543" y="8706"/>
                  </a:lnTo>
                  <a:cubicBezTo>
                    <a:pt x="8156" y="6320"/>
                    <a:pt x="4239" y="6320"/>
                    <a:pt x="1790" y="8706"/>
                  </a:cubicBezTo>
                  <a:cubicBezTo>
                    <a:pt x="-597" y="11094"/>
                    <a:pt x="-597" y="15011"/>
                    <a:pt x="1790" y="17459"/>
                  </a:cubicBezTo>
                  <a:lnTo>
                    <a:pt x="14644" y="3025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1074;p54">
            <a:extLst>
              <a:ext uri="{FF2B5EF4-FFF2-40B4-BE49-F238E27FC236}">
                <a16:creationId xmlns:a16="http://schemas.microsoft.com/office/drawing/2014/main" id="{F1F31474-6D27-8887-738C-1724638C8108}"/>
              </a:ext>
            </a:extLst>
          </p:cNvPr>
          <p:cNvGrpSpPr/>
          <p:nvPr/>
        </p:nvGrpSpPr>
        <p:grpSpPr>
          <a:xfrm>
            <a:off x="6356925" y="1684572"/>
            <a:ext cx="377385" cy="299870"/>
            <a:chOff x="6180217" y="4543931"/>
            <a:chExt cx="422036" cy="335350"/>
          </a:xfrm>
        </p:grpSpPr>
        <p:sp>
          <p:nvSpPr>
            <p:cNvPr id="49" name="Google Shape;1075;p54">
              <a:extLst>
                <a:ext uri="{FF2B5EF4-FFF2-40B4-BE49-F238E27FC236}">
                  <a16:creationId xmlns:a16="http://schemas.microsoft.com/office/drawing/2014/main" id="{7C4FEC08-A6AB-2493-3326-B5639A0D05BE}"/>
                </a:ext>
              </a:extLst>
            </p:cNvPr>
            <p:cNvSpPr/>
            <p:nvPr/>
          </p:nvSpPr>
          <p:spPr>
            <a:xfrm>
              <a:off x="6180217" y="4543931"/>
              <a:ext cx="422036" cy="335350"/>
            </a:xfrm>
            <a:custGeom>
              <a:avLst/>
              <a:gdLst/>
              <a:ahLst/>
              <a:cxnLst/>
              <a:rect l="l" t="t" r="r" b="b"/>
              <a:pathLst>
                <a:path w="422036" h="335350" extrusionOk="0">
                  <a:moveTo>
                    <a:pt x="421975" y="127922"/>
                  </a:moveTo>
                  <a:lnTo>
                    <a:pt x="421975" y="109437"/>
                  </a:lnTo>
                  <a:cubicBezTo>
                    <a:pt x="421975" y="106499"/>
                    <a:pt x="420322" y="103929"/>
                    <a:pt x="417874" y="102643"/>
                  </a:cubicBezTo>
                  <a:lnTo>
                    <a:pt x="417874" y="45109"/>
                  </a:lnTo>
                  <a:cubicBezTo>
                    <a:pt x="417874" y="41130"/>
                    <a:pt x="414691" y="37948"/>
                    <a:pt x="410713" y="37948"/>
                  </a:cubicBezTo>
                  <a:lnTo>
                    <a:pt x="392044" y="37948"/>
                  </a:lnTo>
                  <a:cubicBezTo>
                    <a:pt x="388066" y="37948"/>
                    <a:pt x="384883" y="41130"/>
                    <a:pt x="384883" y="45109"/>
                  </a:cubicBezTo>
                  <a:lnTo>
                    <a:pt x="384883" y="102215"/>
                  </a:lnTo>
                  <a:lnTo>
                    <a:pt x="368417" y="102215"/>
                  </a:lnTo>
                  <a:lnTo>
                    <a:pt x="368417" y="36907"/>
                  </a:lnTo>
                  <a:cubicBezTo>
                    <a:pt x="368417" y="36724"/>
                    <a:pt x="368540" y="36540"/>
                    <a:pt x="368723" y="36479"/>
                  </a:cubicBezTo>
                  <a:cubicBezTo>
                    <a:pt x="376803" y="33541"/>
                    <a:pt x="381883" y="26074"/>
                    <a:pt x="381394" y="17811"/>
                  </a:cubicBezTo>
                  <a:cubicBezTo>
                    <a:pt x="380842" y="7834"/>
                    <a:pt x="372029" y="0"/>
                    <a:pt x="361317" y="0"/>
                  </a:cubicBezTo>
                  <a:lnTo>
                    <a:pt x="291845" y="0"/>
                  </a:lnTo>
                  <a:cubicBezTo>
                    <a:pt x="281684" y="0"/>
                    <a:pt x="273299" y="7834"/>
                    <a:pt x="272747" y="17811"/>
                  </a:cubicBezTo>
                  <a:cubicBezTo>
                    <a:pt x="272319" y="26074"/>
                    <a:pt x="277155" y="33541"/>
                    <a:pt x="284806" y="36479"/>
                  </a:cubicBezTo>
                  <a:cubicBezTo>
                    <a:pt x="284989" y="36540"/>
                    <a:pt x="285112" y="36724"/>
                    <a:pt x="285112" y="36907"/>
                  </a:cubicBezTo>
                  <a:lnTo>
                    <a:pt x="285112" y="102215"/>
                  </a:lnTo>
                  <a:lnTo>
                    <a:pt x="252120" y="102215"/>
                  </a:lnTo>
                  <a:lnTo>
                    <a:pt x="252120" y="36907"/>
                  </a:lnTo>
                  <a:cubicBezTo>
                    <a:pt x="252120" y="36724"/>
                    <a:pt x="252242" y="36540"/>
                    <a:pt x="252426" y="36479"/>
                  </a:cubicBezTo>
                  <a:cubicBezTo>
                    <a:pt x="260077" y="33541"/>
                    <a:pt x="264913" y="26074"/>
                    <a:pt x="264484" y="17811"/>
                  </a:cubicBezTo>
                  <a:cubicBezTo>
                    <a:pt x="263933" y="7834"/>
                    <a:pt x="255548" y="0"/>
                    <a:pt x="245387" y="0"/>
                  </a:cubicBezTo>
                  <a:lnTo>
                    <a:pt x="175608" y="0"/>
                  </a:lnTo>
                  <a:cubicBezTo>
                    <a:pt x="165448" y="0"/>
                    <a:pt x="157062" y="7834"/>
                    <a:pt x="156511" y="17811"/>
                  </a:cubicBezTo>
                  <a:cubicBezTo>
                    <a:pt x="156083" y="26074"/>
                    <a:pt x="160918" y="33541"/>
                    <a:pt x="168569" y="36479"/>
                  </a:cubicBezTo>
                  <a:cubicBezTo>
                    <a:pt x="168753" y="36540"/>
                    <a:pt x="168875" y="36724"/>
                    <a:pt x="168875" y="36907"/>
                  </a:cubicBezTo>
                  <a:lnTo>
                    <a:pt x="168875" y="102215"/>
                  </a:lnTo>
                  <a:lnTo>
                    <a:pt x="135884" y="102215"/>
                  </a:lnTo>
                  <a:lnTo>
                    <a:pt x="135884" y="36907"/>
                  </a:lnTo>
                  <a:cubicBezTo>
                    <a:pt x="135884" y="36724"/>
                    <a:pt x="136006" y="36540"/>
                    <a:pt x="136190" y="36479"/>
                  </a:cubicBezTo>
                  <a:cubicBezTo>
                    <a:pt x="143841" y="33541"/>
                    <a:pt x="148676" y="26074"/>
                    <a:pt x="148248" y="17811"/>
                  </a:cubicBezTo>
                  <a:cubicBezTo>
                    <a:pt x="147697" y="7834"/>
                    <a:pt x="139312" y="0"/>
                    <a:pt x="129151" y="0"/>
                  </a:cubicBezTo>
                  <a:lnTo>
                    <a:pt x="59801" y="0"/>
                  </a:lnTo>
                  <a:cubicBezTo>
                    <a:pt x="50252" y="0"/>
                    <a:pt x="42356" y="7834"/>
                    <a:pt x="41867" y="17872"/>
                  </a:cubicBezTo>
                  <a:cubicBezTo>
                    <a:pt x="41438" y="26135"/>
                    <a:pt x="46029" y="33664"/>
                    <a:pt x="53252" y="36601"/>
                  </a:cubicBezTo>
                  <a:cubicBezTo>
                    <a:pt x="53435" y="36662"/>
                    <a:pt x="53496" y="36846"/>
                    <a:pt x="53496" y="36968"/>
                  </a:cubicBezTo>
                  <a:lnTo>
                    <a:pt x="53496" y="57534"/>
                  </a:lnTo>
                  <a:cubicBezTo>
                    <a:pt x="53496" y="60288"/>
                    <a:pt x="55333" y="62859"/>
                    <a:pt x="58026" y="63471"/>
                  </a:cubicBezTo>
                  <a:cubicBezTo>
                    <a:pt x="61760" y="64328"/>
                    <a:pt x="65065" y="61267"/>
                    <a:pt x="65065" y="57412"/>
                  </a:cubicBezTo>
                  <a:lnTo>
                    <a:pt x="65065" y="36785"/>
                  </a:lnTo>
                  <a:cubicBezTo>
                    <a:pt x="65065" y="31460"/>
                    <a:pt x="61637" y="26869"/>
                    <a:pt x="56618" y="24911"/>
                  </a:cubicBezTo>
                  <a:cubicBezTo>
                    <a:pt x="53986" y="23871"/>
                    <a:pt x="52334" y="21300"/>
                    <a:pt x="52517" y="18484"/>
                  </a:cubicBezTo>
                  <a:cubicBezTo>
                    <a:pt x="52701" y="15118"/>
                    <a:pt x="55822" y="12363"/>
                    <a:pt x="59434" y="12363"/>
                  </a:cubicBezTo>
                  <a:lnTo>
                    <a:pt x="129212" y="12363"/>
                  </a:lnTo>
                  <a:cubicBezTo>
                    <a:pt x="132824" y="12363"/>
                    <a:pt x="135945" y="15118"/>
                    <a:pt x="136129" y="18484"/>
                  </a:cubicBezTo>
                  <a:cubicBezTo>
                    <a:pt x="136251" y="21300"/>
                    <a:pt x="134660" y="23871"/>
                    <a:pt x="132027" y="24911"/>
                  </a:cubicBezTo>
                  <a:cubicBezTo>
                    <a:pt x="127070" y="26869"/>
                    <a:pt x="123642" y="31460"/>
                    <a:pt x="123642" y="36785"/>
                  </a:cubicBezTo>
                  <a:lnTo>
                    <a:pt x="123642" y="102153"/>
                  </a:lnTo>
                  <a:lnTo>
                    <a:pt x="65922" y="102153"/>
                  </a:lnTo>
                  <a:lnTo>
                    <a:pt x="65922" y="86179"/>
                  </a:lnTo>
                  <a:cubicBezTo>
                    <a:pt x="65922" y="82996"/>
                    <a:pt x="63657" y="80181"/>
                    <a:pt x="60535" y="79813"/>
                  </a:cubicBezTo>
                  <a:cubicBezTo>
                    <a:pt x="56802" y="79384"/>
                    <a:pt x="53558" y="82261"/>
                    <a:pt x="53558" y="85934"/>
                  </a:cubicBezTo>
                  <a:lnTo>
                    <a:pt x="53558" y="102153"/>
                  </a:lnTo>
                  <a:lnTo>
                    <a:pt x="37888" y="102153"/>
                  </a:lnTo>
                  <a:lnTo>
                    <a:pt x="37888" y="45843"/>
                  </a:lnTo>
                  <a:cubicBezTo>
                    <a:pt x="37888" y="41865"/>
                    <a:pt x="34705" y="38682"/>
                    <a:pt x="30726" y="38682"/>
                  </a:cubicBezTo>
                  <a:lnTo>
                    <a:pt x="11262" y="38682"/>
                  </a:lnTo>
                  <a:cubicBezTo>
                    <a:pt x="7284" y="38682"/>
                    <a:pt x="4101" y="41865"/>
                    <a:pt x="4101" y="45843"/>
                  </a:cubicBezTo>
                  <a:lnTo>
                    <a:pt x="4101" y="103133"/>
                  </a:lnTo>
                  <a:cubicBezTo>
                    <a:pt x="1652" y="104418"/>
                    <a:pt x="0" y="106927"/>
                    <a:pt x="0" y="109866"/>
                  </a:cubicBezTo>
                  <a:lnTo>
                    <a:pt x="0" y="128289"/>
                  </a:lnTo>
                  <a:cubicBezTo>
                    <a:pt x="0" y="131226"/>
                    <a:pt x="1652" y="133797"/>
                    <a:pt x="4101" y="135021"/>
                  </a:cubicBezTo>
                  <a:lnTo>
                    <a:pt x="4101" y="185272"/>
                  </a:lnTo>
                  <a:cubicBezTo>
                    <a:pt x="1652" y="186557"/>
                    <a:pt x="0" y="189067"/>
                    <a:pt x="0" y="192004"/>
                  </a:cubicBezTo>
                  <a:lnTo>
                    <a:pt x="0" y="210428"/>
                  </a:lnTo>
                  <a:cubicBezTo>
                    <a:pt x="0" y="213366"/>
                    <a:pt x="1652" y="215936"/>
                    <a:pt x="4101" y="217161"/>
                  </a:cubicBezTo>
                  <a:lnTo>
                    <a:pt x="4101" y="267411"/>
                  </a:lnTo>
                  <a:cubicBezTo>
                    <a:pt x="1652" y="268697"/>
                    <a:pt x="0" y="271206"/>
                    <a:pt x="0" y="274144"/>
                  </a:cubicBezTo>
                  <a:lnTo>
                    <a:pt x="0" y="292567"/>
                  </a:lnTo>
                  <a:cubicBezTo>
                    <a:pt x="0" y="295505"/>
                    <a:pt x="1652" y="298076"/>
                    <a:pt x="4101" y="299300"/>
                  </a:cubicBezTo>
                  <a:lnTo>
                    <a:pt x="4101" y="328189"/>
                  </a:lnTo>
                  <a:cubicBezTo>
                    <a:pt x="4101" y="332167"/>
                    <a:pt x="7284" y="335350"/>
                    <a:pt x="11262" y="335350"/>
                  </a:cubicBezTo>
                  <a:lnTo>
                    <a:pt x="29931" y="335350"/>
                  </a:lnTo>
                  <a:cubicBezTo>
                    <a:pt x="33909" y="335350"/>
                    <a:pt x="37092" y="332167"/>
                    <a:pt x="37092" y="328189"/>
                  </a:cubicBezTo>
                  <a:lnTo>
                    <a:pt x="37092" y="299912"/>
                  </a:lnTo>
                  <a:lnTo>
                    <a:pt x="384148" y="299912"/>
                  </a:lnTo>
                  <a:lnTo>
                    <a:pt x="384148" y="328189"/>
                  </a:lnTo>
                  <a:cubicBezTo>
                    <a:pt x="384148" y="332167"/>
                    <a:pt x="387331" y="335350"/>
                    <a:pt x="391309" y="335350"/>
                  </a:cubicBezTo>
                  <a:lnTo>
                    <a:pt x="410774" y="335350"/>
                  </a:lnTo>
                  <a:cubicBezTo>
                    <a:pt x="414752" y="335350"/>
                    <a:pt x="417935" y="332167"/>
                    <a:pt x="417935" y="328189"/>
                  </a:cubicBezTo>
                  <a:lnTo>
                    <a:pt x="417935" y="299238"/>
                  </a:lnTo>
                  <a:cubicBezTo>
                    <a:pt x="420384" y="297953"/>
                    <a:pt x="422037" y="295443"/>
                    <a:pt x="422037" y="292445"/>
                  </a:cubicBezTo>
                  <a:lnTo>
                    <a:pt x="422037" y="273960"/>
                  </a:lnTo>
                  <a:cubicBezTo>
                    <a:pt x="422037" y="271022"/>
                    <a:pt x="420384" y="268452"/>
                    <a:pt x="417935" y="267166"/>
                  </a:cubicBezTo>
                  <a:lnTo>
                    <a:pt x="417935" y="216793"/>
                  </a:lnTo>
                  <a:cubicBezTo>
                    <a:pt x="420384" y="215508"/>
                    <a:pt x="422037" y="212999"/>
                    <a:pt x="422037" y="209999"/>
                  </a:cubicBezTo>
                  <a:lnTo>
                    <a:pt x="422037" y="191515"/>
                  </a:lnTo>
                  <a:cubicBezTo>
                    <a:pt x="422037" y="188577"/>
                    <a:pt x="420384" y="186006"/>
                    <a:pt x="417935" y="184721"/>
                  </a:cubicBezTo>
                  <a:lnTo>
                    <a:pt x="417935" y="134348"/>
                  </a:lnTo>
                  <a:cubicBezTo>
                    <a:pt x="420261" y="133430"/>
                    <a:pt x="421975" y="130859"/>
                    <a:pt x="421975" y="127922"/>
                  </a:cubicBezTo>
                  <a:lnTo>
                    <a:pt x="421975" y="127922"/>
                  </a:lnTo>
                  <a:close/>
                  <a:moveTo>
                    <a:pt x="12242" y="288589"/>
                  </a:moveTo>
                  <a:lnTo>
                    <a:pt x="12242" y="279530"/>
                  </a:lnTo>
                  <a:lnTo>
                    <a:pt x="147881" y="279530"/>
                  </a:lnTo>
                  <a:cubicBezTo>
                    <a:pt x="151064" y="279530"/>
                    <a:pt x="153879" y="277266"/>
                    <a:pt x="154247" y="274144"/>
                  </a:cubicBezTo>
                  <a:cubicBezTo>
                    <a:pt x="154675" y="270410"/>
                    <a:pt x="151799" y="267166"/>
                    <a:pt x="148126" y="267166"/>
                  </a:cubicBezTo>
                  <a:lnTo>
                    <a:pt x="122846" y="267166"/>
                  </a:lnTo>
                  <a:cubicBezTo>
                    <a:pt x="131109" y="258781"/>
                    <a:pt x="135884" y="247335"/>
                    <a:pt x="135884" y="235277"/>
                  </a:cubicBezTo>
                  <a:lnTo>
                    <a:pt x="135884" y="218507"/>
                  </a:lnTo>
                  <a:lnTo>
                    <a:pt x="168875" y="218507"/>
                  </a:lnTo>
                  <a:lnTo>
                    <a:pt x="168875" y="235277"/>
                  </a:lnTo>
                  <a:cubicBezTo>
                    <a:pt x="168875" y="247335"/>
                    <a:pt x="173711" y="258781"/>
                    <a:pt x="182035" y="267166"/>
                  </a:cubicBezTo>
                  <a:lnTo>
                    <a:pt x="176649" y="267166"/>
                  </a:lnTo>
                  <a:cubicBezTo>
                    <a:pt x="173466" y="267166"/>
                    <a:pt x="170651" y="269431"/>
                    <a:pt x="170283" y="272552"/>
                  </a:cubicBezTo>
                  <a:cubicBezTo>
                    <a:pt x="169855" y="276286"/>
                    <a:pt x="172732" y="279530"/>
                    <a:pt x="176404" y="279530"/>
                  </a:cubicBezTo>
                  <a:lnTo>
                    <a:pt x="409550" y="279530"/>
                  </a:lnTo>
                  <a:lnTo>
                    <a:pt x="409550" y="288589"/>
                  </a:lnTo>
                  <a:lnTo>
                    <a:pt x="12242" y="288589"/>
                  </a:lnTo>
                  <a:close/>
                  <a:moveTo>
                    <a:pt x="409611" y="114640"/>
                  </a:moveTo>
                  <a:lnTo>
                    <a:pt x="409611" y="123698"/>
                  </a:lnTo>
                  <a:lnTo>
                    <a:pt x="12242" y="123698"/>
                  </a:lnTo>
                  <a:lnTo>
                    <a:pt x="12242" y="114640"/>
                  </a:lnTo>
                  <a:lnTo>
                    <a:pt x="409611" y="114640"/>
                  </a:lnTo>
                  <a:close/>
                  <a:moveTo>
                    <a:pt x="219189" y="102276"/>
                  </a:moveTo>
                  <a:lnTo>
                    <a:pt x="201867" y="102276"/>
                  </a:lnTo>
                  <a:lnTo>
                    <a:pt x="201867" y="94013"/>
                  </a:lnTo>
                  <a:lnTo>
                    <a:pt x="219189" y="94013"/>
                  </a:lnTo>
                  <a:lnTo>
                    <a:pt x="219189" y="102276"/>
                  </a:lnTo>
                  <a:close/>
                  <a:moveTo>
                    <a:pt x="409611" y="197085"/>
                  </a:moveTo>
                  <a:lnTo>
                    <a:pt x="409611" y="206143"/>
                  </a:lnTo>
                  <a:lnTo>
                    <a:pt x="12242" y="206143"/>
                  </a:lnTo>
                  <a:lnTo>
                    <a:pt x="12242" y="197085"/>
                  </a:lnTo>
                  <a:lnTo>
                    <a:pt x="409611" y="197085"/>
                  </a:lnTo>
                  <a:close/>
                  <a:moveTo>
                    <a:pt x="355319" y="267166"/>
                  </a:moveTo>
                  <a:cubicBezTo>
                    <a:pt x="363520" y="258781"/>
                    <a:pt x="368356" y="247335"/>
                    <a:pt x="368356" y="235277"/>
                  </a:cubicBezTo>
                  <a:lnTo>
                    <a:pt x="368356" y="218507"/>
                  </a:lnTo>
                  <a:lnTo>
                    <a:pt x="384025" y="218507"/>
                  </a:lnTo>
                  <a:lnTo>
                    <a:pt x="384025" y="267166"/>
                  </a:lnTo>
                  <a:lnTo>
                    <a:pt x="355319" y="267166"/>
                  </a:lnTo>
                  <a:close/>
                  <a:moveTo>
                    <a:pt x="181240" y="218507"/>
                  </a:moveTo>
                  <a:lnTo>
                    <a:pt x="189503" y="218507"/>
                  </a:lnTo>
                  <a:lnTo>
                    <a:pt x="189503" y="235277"/>
                  </a:lnTo>
                  <a:cubicBezTo>
                    <a:pt x="189503" y="244030"/>
                    <a:pt x="194277" y="252232"/>
                    <a:pt x="201928" y="256639"/>
                  </a:cubicBezTo>
                  <a:cubicBezTo>
                    <a:pt x="207254" y="259699"/>
                    <a:pt x="213803" y="259699"/>
                    <a:pt x="219189" y="256639"/>
                  </a:cubicBezTo>
                  <a:cubicBezTo>
                    <a:pt x="226841" y="252232"/>
                    <a:pt x="231615" y="244091"/>
                    <a:pt x="231615" y="235277"/>
                  </a:cubicBezTo>
                  <a:lnTo>
                    <a:pt x="231615" y="218507"/>
                  </a:lnTo>
                  <a:lnTo>
                    <a:pt x="239878" y="218507"/>
                  </a:lnTo>
                  <a:lnTo>
                    <a:pt x="239878" y="235277"/>
                  </a:lnTo>
                  <a:cubicBezTo>
                    <a:pt x="239878" y="247335"/>
                    <a:pt x="233145" y="258598"/>
                    <a:pt x="222372" y="264290"/>
                  </a:cubicBezTo>
                  <a:cubicBezTo>
                    <a:pt x="215027" y="268206"/>
                    <a:pt x="206152" y="268206"/>
                    <a:pt x="198868" y="264290"/>
                  </a:cubicBezTo>
                  <a:cubicBezTo>
                    <a:pt x="188095" y="258598"/>
                    <a:pt x="181362" y="247335"/>
                    <a:pt x="181362" y="235277"/>
                  </a:cubicBezTo>
                  <a:lnTo>
                    <a:pt x="181362" y="218507"/>
                  </a:lnTo>
                  <a:close/>
                  <a:moveTo>
                    <a:pt x="219189" y="218507"/>
                  </a:moveTo>
                  <a:lnTo>
                    <a:pt x="219189" y="235277"/>
                  </a:lnTo>
                  <a:cubicBezTo>
                    <a:pt x="219189" y="239807"/>
                    <a:pt x="216680" y="243969"/>
                    <a:pt x="212640" y="246111"/>
                  </a:cubicBezTo>
                  <a:cubicBezTo>
                    <a:pt x="211355" y="246784"/>
                    <a:pt x="209763" y="246784"/>
                    <a:pt x="208478" y="246111"/>
                  </a:cubicBezTo>
                  <a:cubicBezTo>
                    <a:pt x="204438" y="243969"/>
                    <a:pt x="201928" y="239807"/>
                    <a:pt x="201928" y="235277"/>
                  </a:cubicBezTo>
                  <a:lnTo>
                    <a:pt x="201928" y="218507"/>
                  </a:lnTo>
                  <a:lnTo>
                    <a:pt x="219189" y="218507"/>
                  </a:lnTo>
                  <a:close/>
                  <a:moveTo>
                    <a:pt x="252120" y="235277"/>
                  </a:moveTo>
                  <a:lnTo>
                    <a:pt x="252120" y="218507"/>
                  </a:lnTo>
                  <a:lnTo>
                    <a:pt x="285112" y="218507"/>
                  </a:lnTo>
                  <a:lnTo>
                    <a:pt x="285112" y="235277"/>
                  </a:lnTo>
                  <a:cubicBezTo>
                    <a:pt x="285112" y="247335"/>
                    <a:pt x="289947" y="258781"/>
                    <a:pt x="298149" y="267166"/>
                  </a:cubicBezTo>
                  <a:lnTo>
                    <a:pt x="239082" y="267166"/>
                  </a:lnTo>
                  <a:cubicBezTo>
                    <a:pt x="247285" y="258781"/>
                    <a:pt x="252120" y="247335"/>
                    <a:pt x="252120" y="235277"/>
                  </a:cubicBezTo>
                  <a:close/>
                  <a:moveTo>
                    <a:pt x="305739" y="218507"/>
                  </a:moveTo>
                  <a:lnTo>
                    <a:pt x="305739" y="235277"/>
                  </a:lnTo>
                  <a:cubicBezTo>
                    <a:pt x="305739" y="244030"/>
                    <a:pt x="310514" y="252232"/>
                    <a:pt x="318165" y="256639"/>
                  </a:cubicBezTo>
                  <a:cubicBezTo>
                    <a:pt x="323490" y="259699"/>
                    <a:pt x="330039" y="259699"/>
                    <a:pt x="335426" y="256639"/>
                  </a:cubicBezTo>
                  <a:cubicBezTo>
                    <a:pt x="343077" y="252232"/>
                    <a:pt x="347851" y="244091"/>
                    <a:pt x="347851" y="235277"/>
                  </a:cubicBezTo>
                  <a:lnTo>
                    <a:pt x="347851" y="218507"/>
                  </a:lnTo>
                  <a:lnTo>
                    <a:pt x="356114" y="218507"/>
                  </a:lnTo>
                  <a:lnTo>
                    <a:pt x="356114" y="235277"/>
                  </a:lnTo>
                  <a:cubicBezTo>
                    <a:pt x="356114" y="247335"/>
                    <a:pt x="349381" y="258598"/>
                    <a:pt x="338608" y="264290"/>
                  </a:cubicBezTo>
                  <a:cubicBezTo>
                    <a:pt x="331263" y="268206"/>
                    <a:pt x="322388" y="268206"/>
                    <a:pt x="315104" y="264290"/>
                  </a:cubicBezTo>
                  <a:cubicBezTo>
                    <a:pt x="304331" y="258598"/>
                    <a:pt x="297598" y="247335"/>
                    <a:pt x="297598" y="235277"/>
                  </a:cubicBezTo>
                  <a:lnTo>
                    <a:pt x="297598" y="218507"/>
                  </a:lnTo>
                  <a:lnTo>
                    <a:pt x="305739" y="218507"/>
                  </a:lnTo>
                  <a:close/>
                  <a:moveTo>
                    <a:pt x="335426" y="218507"/>
                  </a:moveTo>
                  <a:lnTo>
                    <a:pt x="335426" y="235277"/>
                  </a:lnTo>
                  <a:cubicBezTo>
                    <a:pt x="335426" y="239807"/>
                    <a:pt x="332916" y="243969"/>
                    <a:pt x="328876" y="246111"/>
                  </a:cubicBezTo>
                  <a:cubicBezTo>
                    <a:pt x="327590" y="246784"/>
                    <a:pt x="325999" y="246784"/>
                    <a:pt x="324653" y="246111"/>
                  </a:cubicBezTo>
                  <a:cubicBezTo>
                    <a:pt x="320613" y="243969"/>
                    <a:pt x="318103" y="239807"/>
                    <a:pt x="318103" y="235277"/>
                  </a:cubicBezTo>
                  <a:lnTo>
                    <a:pt x="318103" y="218507"/>
                  </a:lnTo>
                  <a:lnTo>
                    <a:pt x="335426" y="218507"/>
                  </a:lnTo>
                  <a:close/>
                  <a:moveTo>
                    <a:pt x="53435" y="218507"/>
                  </a:moveTo>
                  <a:lnTo>
                    <a:pt x="53435" y="235277"/>
                  </a:lnTo>
                  <a:cubicBezTo>
                    <a:pt x="53435" y="247335"/>
                    <a:pt x="58271" y="258781"/>
                    <a:pt x="66473" y="267166"/>
                  </a:cubicBezTo>
                  <a:lnTo>
                    <a:pt x="37766" y="267166"/>
                  </a:lnTo>
                  <a:lnTo>
                    <a:pt x="37766" y="218507"/>
                  </a:lnTo>
                  <a:lnTo>
                    <a:pt x="53435" y="218507"/>
                  </a:lnTo>
                  <a:close/>
                  <a:moveTo>
                    <a:pt x="106014" y="264351"/>
                  </a:moveTo>
                  <a:cubicBezTo>
                    <a:pt x="98669" y="268268"/>
                    <a:pt x="89793" y="268268"/>
                    <a:pt x="82448" y="264351"/>
                  </a:cubicBezTo>
                  <a:cubicBezTo>
                    <a:pt x="71676" y="258658"/>
                    <a:pt x="64943" y="247396"/>
                    <a:pt x="64943" y="235339"/>
                  </a:cubicBezTo>
                  <a:lnTo>
                    <a:pt x="64943" y="218568"/>
                  </a:lnTo>
                  <a:lnTo>
                    <a:pt x="73206" y="218568"/>
                  </a:lnTo>
                  <a:lnTo>
                    <a:pt x="73206" y="235339"/>
                  </a:lnTo>
                  <a:cubicBezTo>
                    <a:pt x="73206" y="244091"/>
                    <a:pt x="77980" y="252293"/>
                    <a:pt x="85631" y="256700"/>
                  </a:cubicBezTo>
                  <a:cubicBezTo>
                    <a:pt x="90895" y="259760"/>
                    <a:pt x="97506" y="259760"/>
                    <a:pt x="102892" y="256700"/>
                  </a:cubicBezTo>
                  <a:cubicBezTo>
                    <a:pt x="110543" y="252293"/>
                    <a:pt x="115318" y="244152"/>
                    <a:pt x="115318" y="235339"/>
                  </a:cubicBezTo>
                  <a:lnTo>
                    <a:pt x="115318" y="218568"/>
                  </a:lnTo>
                  <a:lnTo>
                    <a:pt x="123581" y="218568"/>
                  </a:lnTo>
                  <a:lnTo>
                    <a:pt x="123581" y="235339"/>
                  </a:lnTo>
                  <a:cubicBezTo>
                    <a:pt x="123520" y="247396"/>
                    <a:pt x="116787" y="258598"/>
                    <a:pt x="106014" y="264351"/>
                  </a:cubicBezTo>
                  <a:close/>
                  <a:moveTo>
                    <a:pt x="102953" y="218507"/>
                  </a:moveTo>
                  <a:lnTo>
                    <a:pt x="102953" y="235277"/>
                  </a:lnTo>
                  <a:cubicBezTo>
                    <a:pt x="102953" y="239807"/>
                    <a:pt x="100444" y="243969"/>
                    <a:pt x="96404" y="246111"/>
                  </a:cubicBezTo>
                  <a:cubicBezTo>
                    <a:pt x="95119" y="246784"/>
                    <a:pt x="93527" y="246784"/>
                    <a:pt x="92242" y="246111"/>
                  </a:cubicBezTo>
                  <a:cubicBezTo>
                    <a:pt x="88202" y="243969"/>
                    <a:pt x="85693" y="239807"/>
                    <a:pt x="85693" y="235277"/>
                  </a:cubicBezTo>
                  <a:lnTo>
                    <a:pt x="85693" y="218507"/>
                  </a:lnTo>
                  <a:lnTo>
                    <a:pt x="102953" y="218507"/>
                  </a:lnTo>
                  <a:close/>
                  <a:moveTo>
                    <a:pt x="53435" y="136062"/>
                  </a:moveTo>
                  <a:lnTo>
                    <a:pt x="53435" y="184721"/>
                  </a:lnTo>
                  <a:lnTo>
                    <a:pt x="37766" y="184721"/>
                  </a:lnTo>
                  <a:lnTo>
                    <a:pt x="37766" y="136062"/>
                  </a:lnTo>
                  <a:lnTo>
                    <a:pt x="53435" y="136062"/>
                  </a:lnTo>
                  <a:close/>
                  <a:moveTo>
                    <a:pt x="123520" y="136062"/>
                  </a:moveTo>
                  <a:lnTo>
                    <a:pt x="123520" y="184721"/>
                  </a:lnTo>
                  <a:lnTo>
                    <a:pt x="115257" y="184721"/>
                  </a:lnTo>
                  <a:lnTo>
                    <a:pt x="115257" y="151425"/>
                  </a:lnTo>
                  <a:cubicBezTo>
                    <a:pt x="115257" y="147508"/>
                    <a:pt x="112074" y="144325"/>
                    <a:pt x="108156" y="144325"/>
                  </a:cubicBezTo>
                  <a:lnTo>
                    <a:pt x="80306" y="144325"/>
                  </a:lnTo>
                  <a:cubicBezTo>
                    <a:pt x="76389" y="144325"/>
                    <a:pt x="73206" y="147508"/>
                    <a:pt x="73206" y="151425"/>
                  </a:cubicBezTo>
                  <a:lnTo>
                    <a:pt x="73206" y="184721"/>
                  </a:lnTo>
                  <a:lnTo>
                    <a:pt x="64943" y="184721"/>
                  </a:lnTo>
                  <a:lnTo>
                    <a:pt x="64943" y="136062"/>
                  </a:lnTo>
                  <a:lnTo>
                    <a:pt x="123520" y="136062"/>
                  </a:lnTo>
                  <a:close/>
                  <a:moveTo>
                    <a:pt x="168875" y="136062"/>
                  </a:moveTo>
                  <a:lnTo>
                    <a:pt x="168875" y="184721"/>
                  </a:lnTo>
                  <a:lnTo>
                    <a:pt x="135884" y="184721"/>
                  </a:lnTo>
                  <a:lnTo>
                    <a:pt x="135884" y="136062"/>
                  </a:lnTo>
                  <a:lnTo>
                    <a:pt x="168875" y="136062"/>
                  </a:lnTo>
                  <a:close/>
                  <a:moveTo>
                    <a:pt x="190299" y="136062"/>
                  </a:moveTo>
                  <a:lnTo>
                    <a:pt x="190299" y="184721"/>
                  </a:lnTo>
                  <a:lnTo>
                    <a:pt x="182035" y="184721"/>
                  </a:lnTo>
                  <a:lnTo>
                    <a:pt x="182035" y="136062"/>
                  </a:lnTo>
                  <a:lnTo>
                    <a:pt x="190299" y="136062"/>
                  </a:lnTo>
                  <a:close/>
                  <a:moveTo>
                    <a:pt x="219189" y="136062"/>
                  </a:moveTo>
                  <a:lnTo>
                    <a:pt x="219189" y="184721"/>
                  </a:lnTo>
                  <a:lnTo>
                    <a:pt x="201867" y="184721"/>
                  </a:lnTo>
                  <a:lnTo>
                    <a:pt x="201867" y="136062"/>
                  </a:lnTo>
                  <a:lnTo>
                    <a:pt x="219189" y="136062"/>
                  </a:lnTo>
                  <a:close/>
                  <a:moveTo>
                    <a:pt x="239755" y="136062"/>
                  </a:moveTo>
                  <a:lnTo>
                    <a:pt x="239755" y="184721"/>
                  </a:lnTo>
                  <a:lnTo>
                    <a:pt x="231492" y="184721"/>
                  </a:lnTo>
                  <a:lnTo>
                    <a:pt x="231492" y="136062"/>
                  </a:lnTo>
                  <a:lnTo>
                    <a:pt x="239755" y="136062"/>
                  </a:lnTo>
                  <a:close/>
                  <a:moveTo>
                    <a:pt x="285112" y="136062"/>
                  </a:moveTo>
                  <a:lnTo>
                    <a:pt x="285112" y="184721"/>
                  </a:lnTo>
                  <a:lnTo>
                    <a:pt x="252120" y="184721"/>
                  </a:lnTo>
                  <a:lnTo>
                    <a:pt x="252120" y="136062"/>
                  </a:lnTo>
                  <a:lnTo>
                    <a:pt x="285112" y="136062"/>
                  </a:lnTo>
                  <a:close/>
                  <a:moveTo>
                    <a:pt x="85631" y="184721"/>
                  </a:moveTo>
                  <a:lnTo>
                    <a:pt x="85631" y="156689"/>
                  </a:lnTo>
                  <a:lnTo>
                    <a:pt x="102953" y="156689"/>
                  </a:lnTo>
                  <a:lnTo>
                    <a:pt x="102953" y="184721"/>
                  </a:lnTo>
                  <a:lnTo>
                    <a:pt x="85631" y="184721"/>
                  </a:lnTo>
                  <a:close/>
                  <a:moveTo>
                    <a:pt x="335426" y="184721"/>
                  </a:moveTo>
                  <a:lnTo>
                    <a:pt x="318103" y="184721"/>
                  </a:lnTo>
                  <a:lnTo>
                    <a:pt x="318103" y="178111"/>
                  </a:lnTo>
                  <a:lnTo>
                    <a:pt x="335426" y="178111"/>
                  </a:lnTo>
                  <a:lnTo>
                    <a:pt x="335426" y="184721"/>
                  </a:lnTo>
                  <a:close/>
                  <a:moveTo>
                    <a:pt x="368356" y="184721"/>
                  </a:moveTo>
                  <a:lnTo>
                    <a:pt x="368356" y="181110"/>
                  </a:lnTo>
                  <a:cubicBezTo>
                    <a:pt x="368356" y="177927"/>
                    <a:pt x="366091" y="175112"/>
                    <a:pt x="362970" y="174745"/>
                  </a:cubicBezTo>
                  <a:cubicBezTo>
                    <a:pt x="359236" y="174316"/>
                    <a:pt x="355992" y="177193"/>
                    <a:pt x="355992" y="180865"/>
                  </a:cubicBezTo>
                  <a:lnTo>
                    <a:pt x="355992" y="184660"/>
                  </a:lnTo>
                  <a:lnTo>
                    <a:pt x="347729" y="184660"/>
                  </a:lnTo>
                  <a:lnTo>
                    <a:pt x="347729" y="172786"/>
                  </a:lnTo>
                  <a:cubicBezTo>
                    <a:pt x="347729" y="168868"/>
                    <a:pt x="344546" y="165686"/>
                    <a:pt x="340628" y="165686"/>
                  </a:cubicBezTo>
                  <a:lnTo>
                    <a:pt x="312778" y="165686"/>
                  </a:lnTo>
                  <a:cubicBezTo>
                    <a:pt x="308861" y="165686"/>
                    <a:pt x="305678" y="168868"/>
                    <a:pt x="305678" y="172786"/>
                  </a:cubicBezTo>
                  <a:lnTo>
                    <a:pt x="305678" y="184660"/>
                  </a:lnTo>
                  <a:lnTo>
                    <a:pt x="298272" y="184660"/>
                  </a:lnTo>
                  <a:lnTo>
                    <a:pt x="298272" y="136000"/>
                  </a:lnTo>
                  <a:lnTo>
                    <a:pt x="355992" y="136000"/>
                  </a:lnTo>
                  <a:lnTo>
                    <a:pt x="355992" y="151792"/>
                  </a:lnTo>
                  <a:cubicBezTo>
                    <a:pt x="355992" y="154974"/>
                    <a:pt x="358257" y="157790"/>
                    <a:pt x="361378" y="158157"/>
                  </a:cubicBezTo>
                  <a:cubicBezTo>
                    <a:pt x="365112" y="158586"/>
                    <a:pt x="368356" y="155709"/>
                    <a:pt x="368356" y="152037"/>
                  </a:cubicBezTo>
                  <a:lnTo>
                    <a:pt x="368356" y="136000"/>
                  </a:lnTo>
                  <a:lnTo>
                    <a:pt x="384025" y="136000"/>
                  </a:lnTo>
                  <a:lnTo>
                    <a:pt x="384025" y="184660"/>
                  </a:lnTo>
                  <a:lnTo>
                    <a:pt x="368356" y="184660"/>
                  </a:lnTo>
                  <a:close/>
                  <a:moveTo>
                    <a:pt x="24606" y="136062"/>
                  </a:moveTo>
                  <a:lnTo>
                    <a:pt x="24606" y="184721"/>
                  </a:lnTo>
                  <a:lnTo>
                    <a:pt x="16342" y="184721"/>
                  </a:lnTo>
                  <a:lnTo>
                    <a:pt x="16342" y="136062"/>
                  </a:lnTo>
                  <a:lnTo>
                    <a:pt x="24606" y="136062"/>
                  </a:lnTo>
                  <a:close/>
                  <a:moveTo>
                    <a:pt x="24606" y="218507"/>
                  </a:moveTo>
                  <a:lnTo>
                    <a:pt x="24606" y="267166"/>
                  </a:lnTo>
                  <a:lnTo>
                    <a:pt x="16342" y="267166"/>
                  </a:lnTo>
                  <a:lnTo>
                    <a:pt x="16342" y="218507"/>
                  </a:lnTo>
                  <a:lnTo>
                    <a:pt x="24606" y="218507"/>
                  </a:lnTo>
                  <a:close/>
                  <a:moveTo>
                    <a:pt x="397247" y="267166"/>
                  </a:moveTo>
                  <a:lnTo>
                    <a:pt x="397247" y="218507"/>
                  </a:lnTo>
                  <a:lnTo>
                    <a:pt x="405510" y="218507"/>
                  </a:lnTo>
                  <a:lnTo>
                    <a:pt x="405510" y="267166"/>
                  </a:lnTo>
                  <a:lnTo>
                    <a:pt x="397247" y="267166"/>
                  </a:lnTo>
                  <a:close/>
                  <a:moveTo>
                    <a:pt x="397247" y="184721"/>
                  </a:moveTo>
                  <a:lnTo>
                    <a:pt x="397247" y="136062"/>
                  </a:lnTo>
                  <a:lnTo>
                    <a:pt x="405510" y="136062"/>
                  </a:lnTo>
                  <a:lnTo>
                    <a:pt x="405510" y="184721"/>
                  </a:lnTo>
                  <a:lnTo>
                    <a:pt x="397247" y="184721"/>
                  </a:lnTo>
                  <a:close/>
                  <a:moveTo>
                    <a:pt x="397247" y="51168"/>
                  </a:moveTo>
                  <a:lnTo>
                    <a:pt x="405510" y="51168"/>
                  </a:lnTo>
                  <a:lnTo>
                    <a:pt x="405510" y="102276"/>
                  </a:lnTo>
                  <a:lnTo>
                    <a:pt x="397247" y="102276"/>
                  </a:lnTo>
                  <a:lnTo>
                    <a:pt x="397247" y="51168"/>
                  </a:lnTo>
                  <a:close/>
                  <a:moveTo>
                    <a:pt x="289151" y="25033"/>
                  </a:moveTo>
                  <a:cubicBezTo>
                    <a:pt x="286458" y="23992"/>
                    <a:pt x="284744" y="21422"/>
                    <a:pt x="284928" y="18545"/>
                  </a:cubicBezTo>
                  <a:cubicBezTo>
                    <a:pt x="285112" y="15179"/>
                    <a:pt x="288233" y="12425"/>
                    <a:pt x="291845" y="12425"/>
                  </a:cubicBezTo>
                  <a:lnTo>
                    <a:pt x="361623" y="12425"/>
                  </a:lnTo>
                  <a:cubicBezTo>
                    <a:pt x="365234" y="12425"/>
                    <a:pt x="368356" y="15179"/>
                    <a:pt x="368540" y="18545"/>
                  </a:cubicBezTo>
                  <a:cubicBezTo>
                    <a:pt x="368662" y="21361"/>
                    <a:pt x="367070" y="23932"/>
                    <a:pt x="364438" y="24972"/>
                  </a:cubicBezTo>
                  <a:cubicBezTo>
                    <a:pt x="359481" y="26931"/>
                    <a:pt x="355992" y="31521"/>
                    <a:pt x="355992" y="36846"/>
                  </a:cubicBezTo>
                  <a:lnTo>
                    <a:pt x="355992" y="102215"/>
                  </a:lnTo>
                  <a:lnTo>
                    <a:pt x="297476" y="102215"/>
                  </a:lnTo>
                  <a:lnTo>
                    <a:pt x="297476" y="36907"/>
                  </a:lnTo>
                  <a:cubicBezTo>
                    <a:pt x="297476" y="31705"/>
                    <a:pt x="294171" y="26931"/>
                    <a:pt x="289151" y="25033"/>
                  </a:cubicBezTo>
                  <a:lnTo>
                    <a:pt x="289151" y="25033"/>
                  </a:lnTo>
                  <a:close/>
                  <a:moveTo>
                    <a:pt x="172916" y="25033"/>
                  </a:moveTo>
                  <a:cubicBezTo>
                    <a:pt x="170222" y="23992"/>
                    <a:pt x="168508" y="21422"/>
                    <a:pt x="168692" y="18545"/>
                  </a:cubicBezTo>
                  <a:cubicBezTo>
                    <a:pt x="168875" y="15179"/>
                    <a:pt x="171997" y="12425"/>
                    <a:pt x="175608" y="12425"/>
                  </a:cubicBezTo>
                  <a:lnTo>
                    <a:pt x="245387" y="12425"/>
                  </a:lnTo>
                  <a:cubicBezTo>
                    <a:pt x="248998" y="12425"/>
                    <a:pt x="252120" y="15179"/>
                    <a:pt x="252303" y="18545"/>
                  </a:cubicBezTo>
                  <a:cubicBezTo>
                    <a:pt x="252426" y="21361"/>
                    <a:pt x="250835" y="23932"/>
                    <a:pt x="248203" y="24972"/>
                  </a:cubicBezTo>
                  <a:cubicBezTo>
                    <a:pt x="243244" y="26931"/>
                    <a:pt x="239817" y="31521"/>
                    <a:pt x="239817" y="36846"/>
                  </a:cubicBezTo>
                  <a:lnTo>
                    <a:pt x="239817" y="102215"/>
                  </a:lnTo>
                  <a:lnTo>
                    <a:pt x="231554" y="102215"/>
                  </a:lnTo>
                  <a:lnTo>
                    <a:pt x="231554" y="88688"/>
                  </a:lnTo>
                  <a:cubicBezTo>
                    <a:pt x="231554" y="84771"/>
                    <a:pt x="228371" y="81588"/>
                    <a:pt x="224453" y="81588"/>
                  </a:cubicBezTo>
                  <a:lnTo>
                    <a:pt x="196603" y="81588"/>
                  </a:lnTo>
                  <a:cubicBezTo>
                    <a:pt x="192686" y="81588"/>
                    <a:pt x="189503" y="84771"/>
                    <a:pt x="189503" y="88688"/>
                  </a:cubicBezTo>
                  <a:lnTo>
                    <a:pt x="189503" y="102215"/>
                  </a:lnTo>
                  <a:lnTo>
                    <a:pt x="181240" y="102215"/>
                  </a:lnTo>
                  <a:lnTo>
                    <a:pt x="181240" y="36907"/>
                  </a:lnTo>
                  <a:cubicBezTo>
                    <a:pt x="181240" y="31705"/>
                    <a:pt x="177934" y="26931"/>
                    <a:pt x="172916" y="25033"/>
                  </a:cubicBezTo>
                  <a:lnTo>
                    <a:pt x="172916" y="25033"/>
                  </a:lnTo>
                  <a:close/>
                  <a:moveTo>
                    <a:pt x="24606" y="51168"/>
                  </a:moveTo>
                  <a:lnTo>
                    <a:pt x="24606" y="102276"/>
                  </a:lnTo>
                  <a:lnTo>
                    <a:pt x="16342" y="102276"/>
                  </a:lnTo>
                  <a:lnTo>
                    <a:pt x="16342" y="51168"/>
                  </a:lnTo>
                  <a:lnTo>
                    <a:pt x="24606" y="51168"/>
                  </a:lnTo>
                  <a:close/>
                  <a:moveTo>
                    <a:pt x="24606" y="323170"/>
                  </a:moveTo>
                  <a:lnTo>
                    <a:pt x="16342" y="323170"/>
                  </a:lnTo>
                  <a:lnTo>
                    <a:pt x="16342" y="300095"/>
                  </a:lnTo>
                  <a:lnTo>
                    <a:pt x="24606" y="300095"/>
                  </a:lnTo>
                  <a:lnTo>
                    <a:pt x="24606" y="323170"/>
                  </a:lnTo>
                  <a:close/>
                  <a:moveTo>
                    <a:pt x="397247" y="323170"/>
                  </a:moveTo>
                  <a:lnTo>
                    <a:pt x="397247" y="300095"/>
                  </a:lnTo>
                  <a:lnTo>
                    <a:pt x="405510" y="300095"/>
                  </a:lnTo>
                  <a:lnTo>
                    <a:pt x="405510" y="323170"/>
                  </a:lnTo>
                  <a:lnTo>
                    <a:pt x="397247" y="3231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1076;p54">
              <a:extLst>
                <a:ext uri="{FF2B5EF4-FFF2-40B4-BE49-F238E27FC236}">
                  <a16:creationId xmlns:a16="http://schemas.microsoft.com/office/drawing/2014/main" id="{A4DBA6B1-A2CB-D07D-9DD7-8B418287E726}"/>
                </a:ext>
              </a:extLst>
            </p:cNvPr>
            <p:cNvSpPr/>
            <p:nvPr/>
          </p:nvSpPr>
          <p:spPr>
            <a:xfrm>
              <a:off x="6254604" y="4568720"/>
              <a:ext cx="40493" cy="12363"/>
            </a:xfrm>
            <a:custGeom>
              <a:avLst/>
              <a:gdLst/>
              <a:ahLst/>
              <a:cxnLst/>
              <a:rect l="l" t="t" r="r" b="b"/>
              <a:pathLst>
                <a:path w="40493" h="12363" extrusionOk="0">
                  <a:moveTo>
                    <a:pt x="34074" y="0"/>
                  </a:moveTo>
                  <a:lnTo>
                    <a:pt x="6408" y="0"/>
                  </a:lnTo>
                  <a:cubicBezTo>
                    <a:pt x="3225" y="0"/>
                    <a:pt x="409" y="2264"/>
                    <a:pt x="42" y="5386"/>
                  </a:cubicBezTo>
                  <a:cubicBezTo>
                    <a:pt x="-386" y="9119"/>
                    <a:pt x="2491" y="12363"/>
                    <a:pt x="6163" y="12363"/>
                  </a:cubicBezTo>
                  <a:lnTo>
                    <a:pt x="34319" y="12363"/>
                  </a:lnTo>
                  <a:cubicBezTo>
                    <a:pt x="37992" y="12363"/>
                    <a:pt x="40930" y="9181"/>
                    <a:pt x="40440" y="5386"/>
                  </a:cubicBezTo>
                  <a:cubicBezTo>
                    <a:pt x="40073" y="2264"/>
                    <a:pt x="37257" y="0"/>
                    <a:pt x="340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1077;p54">
              <a:extLst>
                <a:ext uri="{FF2B5EF4-FFF2-40B4-BE49-F238E27FC236}">
                  <a16:creationId xmlns:a16="http://schemas.microsoft.com/office/drawing/2014/main" id="{A2BFFBC2-7CEB-D96A-3607-C0AD91E1057B}"/>
                </a:ext>
              </a:extLst>
            </p:cNvPr>
            <p:cNvSpPr/>
            <p:nvPr/>
          </p:nvSpPr>
          <p:spPr>
            <a:xfrm>
              <a:off x="6370841" y="4568720"/>
              <a:ext cx="40482" cy="12363"/>
            </a:xfrm>
            <a:custGeom>
              <a:avLst/>
              <a:gdLst/>
              <a:ahLst/>
              <a:cxnLst/>
              <a:rect l="l" t="t" r="r" b="b"/>
              <a:pathLst>
                <a:path w="40482" h="12363" extrusionOk="0">
                  <a:moveTo>
                    <a:pt x="6163" y="12363"/>
                  </a:moveTo>
                  <a:lnTo>
                    <a:pt x="34074" y="12363"/>
                  </a:lnTo>
                  <a:cubicBezTo>
                    <a:pt x="37257" y="12363"/>
                    <a:pt x="40073" y="10099"/>
                    <a:pt x="40440" y="6977"/>
                  </a:cubicBezTo>
                  <a:cubicBezTo>
                    <a:pt x="40868" y="3244"/>
                    <a:pt x="37992" y="0"/>
                    <a:pt x="34319" y="0"/>
                  </a:cubicBezTo>
                  <a:lnTo>
                    <a:pt x="6408" y="0"/>
                  </a:lnTo>
                  <a:cubicBezTo>
                    <a:pt x="3225" y="0"/>
                    <a:pt x="409" y="2264"/>
                    <a:pt x="42" y="5386"/>
                  </a:cubicBezTo>
                  <a:cubicBezTo>
                    <a:pt x="-386" y="9181"/>
                    <a:pt x="2491" y="12363"/>
                    <a:pt x="6163" y="12363"/>
                  </a:cubicBezTo>
                  <a:lnTo>
                    <a:pt x="6163" y="123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1078;p54">
              <a:extLst>
                <a:ext uri="{FF2B5EF4-FFF2-40B4-BE49-F238E27FC236}">
                  <a16:creationId xmlns:a16="http://schemas.microsoft.com/office/drawing/2014/main" id="{3195EBEA-090D-937F-F063-7E57659E5422}"/>
                </a:ext>
              </a:extLst>
            </p:cNvPr>
            <p:cNvSpPr/>
            <p:nvPr/>
          </p:nvSpPr>
          <p:spPr>
            <a:xfrm>
              <a:off x="6487076" y="4568720"/>
              <a:ext cx="40482" cy="12363"/>
            </a:xfrm>
            <a:custGeom>
              <a:avLst/>
              <a:gdLst/>
              <a:ahLst/>
              <a:cxnLst/>
              <a:rect l="l" t="t" r="r" b="b"/>
              <a:pathLst>
                <a:path w="40482" h="12363" extrusionOk="0">
                  <a:moveTo>
                    <a:pt x="6163" y="12363"/>
                  </a:moveTo>
                  <a:lnTo>
                    <a:pt x="34075" y="12363"/>
                  </a:lnTo>
                  <a:cubicBezTo>
                    <a:pt x="37257" y="12363"/>
                    <a:pt x="40073" y="10099"/>
                    <a:pt x="40440" y="6977"/>
                  </a:cubicBezTo>
                  <a:cubicBezTo>
                    <a:pt x="40869" y="3244"/>
                    <a:pt x="37992" y="0"/>
                    <a:pt x="34319" y="0"/>
                  </a:cubicBezTo>
                  <a:lnTo>
                    <a:pt x="6408" y="0"/>
                  </a:lnTo>
                  <a:cubicBezTo>
                    <a:pt x="3225" y="0"/>
                    <a:pt x="410" y="2264"/>
                    <a:pt x="42" y="5386"/>
                  </a:cubicBezTo>
                  <a:cubicBezTo>
                    <a:pt x="-386" y="9181"/>
                    <a:pt x="2491" y="12363"/>
                    <a:pt x="6163" y="123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1079;p54">
              <a:extLst>
                <a:ext uri="{FF2B5EF4-FFF2-40B4-BE49-F238E27FC236}">
                  <a16:creationId xmlns:a16="http://schemas.microsoft.com/office/drawing/2014/main" id="{AC539547-60B3-CA84-C671-FD2DB9BC7F0D}"/>
                </a:ext>
              </a:extLst>
            </p:cNvPr>
            <p:cNvSpPr/>
            <p:nvPr/>
          </p:nvSpPr>
          <p:spPr>
            <a:xfrm>
              <a:off x="6496729" y="4689174"/>
              <a:ext cx="12364" cy="12363"/>
            </a:xfrm>
            <a:custGeom>
              <a:avLst/>
              <a:gdLst/>
              <a:ahLst/>
              <a:cxnLst/>
              <a:rect l="l" t="t" r="r" b="b"/>
              <a:pathLst>
                <a:path w="12364" h="12363" extrusionOk="0">
                  <a:moveTo>
                    <a:pt x="12364" y="6182"/>
                  </a:moveTo>
                  <a:cubicBezTo>
                    <a:pt x="12364" y="9596"/>
                    <a:pt x="9597" y="12363"/>
                    <a:pt x="6182" y="12363"/>
                  </a:cubicBezTo>
                  <a:cubicBezTo>
                    <a:pt x="2768" y="12363"/>
                    <a:pt x="1" y="9596"/>
                    <a:pt x="1" y="6182"/>
                  </a:cubicBezTo>
                  <a:cubicBezTo>
                    <a:pt x="1" y="2768"/>
                    <a:pt x="2768" y="0"/>
                    <a:pt x="6182" y="0"/>
                  </a:cubicBezTo>
                  <a:cubicBezTo>
                    <a:pt x="9597" y="0"/>
                    <a:pt x="12364" y="2768"/>
                    <a:pt x="12364" y="6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080;p54">
              <a:extLst>
                <a:ext uri="{FF2B5EF4-FFF2-40B4-BE49-F238E27FC236}">
                  <a16:creationId xmlns:a16="http://schemas.microsoft.com/office/drawing/2014/main" id="{6C52686F-38EF-E36D-D7EB-1EA2CF48D293}"/>
                </a:ext>
              </a:extLst>
            </p:cNvPr>
            <p:cNvSpPr/>
            <p:nvPr/>
          </p:nvSpPr>
          <p:spPr>
            <a:xfrm>
              <a:off x="6393469" y="4593631"/>
              <a:ext cx="12364" cy="12363"/>
            </a:xfrm>
            <a:custGeom>
              <a:avLst/>
              <a:gdLst/>
              <a:ahLst/>
              <a:cxnLst/>
              <a:rect l="l" t="t" r="r" b="b"/>
              <a:pathLst>
                <a:path w="12364" h="12363" extrusionOk="0">
                  <a:moveTo>
                    <a:pt x="12364" y="6182"/>
                  </a:moveTo>
                  <a:cubicBezTo>
                    <a:pt x="12364" y="9596"/>
                    <a:pt x="9597" y="12364"/>
                    <a:pt x="6182" y="12364"/>
                  </a:cubicBezTo>
                  <a:cubicBezTo>
                    <a:pt x="2768" y="12364"/>
                    <a:pt x="0" y="9596"/>
                    <a:pt x="0" y="6182"/>
                  </a:cubicBezTo>
                  <a:cubicBezTo>
                    <a:pt x="0" y="2768"/>
                    <a:pt x="2768" y="0"/>
                    <a:pt x="6182" y="0"/>
                  </a:cubicBezTo>
                  <a:cubicBezTo>
                    <a:pt x="9597" y="0"/>
                    <a:pt x="12364" y="2768"/>
                    <a:pt x="12364" y="6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1081;p54">
              <a:extLst>
                <a:ext uri="{FF2B5EF4-FFF2-40B4-BE49-F238E27FC236}">
                  <a16:creationId xmlns:a16="http://schemas.microsoft.com/office/drawing/2014/main" id="{2920450E-9A9D-D33C-A94D-6C21DB43D2E2}"/>
                </a:ext>
              </a:extLst>
            </p:cNvPr>
            <p:cNvSpPr/>
            <p:nvPr/>
          </p:nvSpPr>
          <p:spPr>
            <a:xfrm>
              <a:off x="6374310" y="4606362"/>
              <a:ext cx="12364" cy="12363"/>
            </a:xfrm>
            <a:custGeom>
              <a:avLst/>
              <a:gdLst/>
              <a:ahLst/>
              <a:cxnLst/>
              <a:rect l="l" t="t" r="r" b="b"/>
              <a:pathLst>
                <a:path w="12364" h="12363" extrusionOk="0">
                  <a:moveTo>
                    <a:pt x="12364" y="6182"/>
                  </a:moveTo>
                  <a:cubicBezTo>
                    <a:pt x="12364" y="9596"/>
                    <a:pt x="9597" y="12363"/>
                    <a:pt x="6182" y="12363"/>
                  </a:cubicBezTo>
                  <a:cubicBezTo>
                    <a:pt x="2768" y="12363"/>
                    <a:pt x="1" y="9596"/>
                    <a:pt x="1" y="6182"/>
                  </a:cubicBezTo>
                  <a:cubicBezTo>
                    <a:pt x="1" y="2768"/>
                    <a:pt x="2768" y="0"/>
                    <a:pt x="6182" y="0"/>
                  </a:cubicBezTo>
                  <a:cubicBezTo>
                    <a:pt x="9597" y="0"/>
                    <a:pt x="12364" y="2768"/>
                    <a:pt x="12364" y="6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1082;p54">
              <a:extLst>
                <a:ext uri="{FF2B5EF4-FFF2-40B4-BE49-F238E27FC236}">
                  <a16:creationId xmlns:a16="http://schemas.microsoft.com/office/drawing/2014/main" id="{88CF8179-3968-C913-4C41-9198DE34B95C}"/>
                </a:ext>
              </a:extLst>
            </p:cNvPr>
            <p:cNvSpPr/>
            <p:nvPr/>
          </p:nvSpPr>
          <p:spPr>
            <a:xfrm rot="-569151">
              <a:off x="6278239" y="4624949"/>
              <a:ext cx="12379" cy="12378"/>
            </a:xfrm>
            <a:custGeom>
              <a:avLst/>
              <a:gdLst/>
              <a:ahLst/>
              <a:cxnLst/>
              <a:rect l="l" t="t" r="r" b="b"/>
              <a:pathLst>
                <a:path w="12364" h="12363" extrusionOk="0">
                  <a:moveTo>
                    <a:pt x="12364" y="6182"/>
                  </a:moveTo>
                  <a:cubicBezTo>
                    <a:pt x="12364" y="9596"/>
                    <a:pt x="9597" y="12364"/>
                    <a:pt x="6182" y="12364"/>
                  </a:cubicBezTo>
                  <a:cubicBezTo>
                    <a:pt x="2768" y="12364"/>
                    <a:pt x="0" y="9596"/>
                    <a:pt x="0" y="6182"/>
                  </a:cubicBezTo>
                  <a:cubicBezTo>
                    <a:pt x="0" y="2768"/>
                    <a:pt x="2768" y="1"/>
                    <a:pt x="6182" y="1"/>
                  </a:cubicBezTo>
                  <a:cubicBezTo>
                    <a:pt x="9597" y="1"/>
                    <a:pt x="12364" y="2768"/>
                    <a:pt x="12364" y="6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1083;p54">
              <a:extLst>
                <a:ext uri="{FF2B5EF4-FFF2-40B4-BE49-F238E27FC236}">
                  <a16:creationId xmlns:a16="http://schemas.microsoft.com/office/drawing/2014/main" id="{2E14F8A5-8D6B-FDF9-5688-CEBFD59B9C55}"/>
                </a:ext>
              </a:extLst>
            </p:cNvPr>
            <p:cNvSpPr/>
            <p:nvPr/>
          </p:nvSpPr>
          <p:spPr>
            <a:xfrm rot="-569151">
              <a:off x="6278250" y="4593365"/>
              <a:ext cx="12379" cy="12378"/>
            </a:xfrm>
            <a:custGeom>
              <a:avLst/>
              <a:gdLst/>
              <a:ahLst/>
              <a:cxnLst/>
              <a:rect l="l" t="t" r="r" b="b"/>
              <a:pathLst>
                <a:path w="12364" h="12363" extrusionOk="0">
                  <a:moveTo>
                    <a:pt x="12364" y="6182"/>
                  </a:moveTo>
                  <a:cubicBezTo>
                    <a:pt x="12364" y="9596"/>
                    <a:pt x="9597" y="12363"/>
                    <a:pt x="6182" y="12363"/>
                  </a:cubicBezTo>
                  <a:cubicBezTo>
                    <a:pt x="2768" y="12363"/>
                    <a:pt x="0" y="9596"/>
                    <a:pt x="0" y="6182"/>
                  </a:cubicBezTo>
                  <a:cubicBezTo>
                    <a:pt x="0" y="2768"/>
                    <a:pt x="2768" y="0"/>
                    <a:pt x="6182" y="0"/>
                  </a:cubicBezTo>
                  <a:cubicBezTo>
                    <a:pt x="9597" y="0"/>
                    <a:pt x="12364" y="2768"/>
                    <a:pt x="12364" y="6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1084;p54">
              <a:extLst>
                <a:ext uri="{FF2B5EF4-FFF2-40B4-BE49-F238E27FC236}">
                  <a16:creationId xmlns:a16="http://schemas.microsoft.com/office/drawing/2014/main" id="{D92A8E0F-7BD5-1FB6-B1E4-E5008631219F}"/>
                </a:ext>
              </a:extLst>
            </p:cNvPr>
            <p:cNvSpPr/>
            <p:nvPr/>
          </p:nvSpPr>
          <p:spPr>
            <a:xfrm>
              <a:off x="6259115" y="4614625"/>
              <a:ext cx="12364" cy="12363"/>
            </a:xfrm>
            <a:custGeom>
              <a:avLst/>
              <a:gdLst/>
              <a:ahLst/>
              <a:cxnLst/>
              <a:rect l="l" t="t" r="r" b="b"/>
              <a:pathLst>
                <a:path w="12364" h="12363" extrusionOk="0">
                  <a:moveTo>
                    <a:pt x="12364" y="6182"/>
                  </a:moveTo>
                  <a:cubicBezTo>
                    <a:pt x="12364" y="9596"/>
                    <a:pt x="9597" y="12363"/>
                    <a:pt x="6182" y="12363"/>
                  </a:cubicBezTo>
                  <a:cubicBezTo>
                    <a:pt x="2768" y="12363"/>
                    <a:pt x="0" y="9596"/>
                    <a:pt x="0" y="6182"/>
                  </a:cubicBezTo>
                  <a:cubicBezTo>
                    <a:pt x="0" y="2768"/>
                    <a:pt x="2768" y="0"/>
                    <a:pt x="6182" y="0"/>
                  </a:cubicBezTo>
                  <a:cubicBezTo>
                    <a:pt x="9597" y="0"/>
                    <a:pt x="12364" y="2768"/>
                    <a:pt x="12364" y="6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1085;p54">
              <a:extLst>
                <a:ext uri="{FF2B5EF4-FFF2-40B4-BE49-F238E27FC236}">
                  <a16:creationId xmlns:a16="http://schemas.microsoft.com/office/drawing/2014/main" id="{594652EA-DE44-3EC0-6357-7B994FBF6E0E}"/>
                </a:ext>
              </a:extLst>
            </p:cNvPr>
            <p:cNvSpPr/>
            <p:nvPr/>
          </p:nvSpPr>
          <p:spPr>
            <a:xfrm>
              <a:off x="6509644" y="4623806"/>
              <a:ext cx="12364" cy="12363"/>
            </a:xfrm>
            <a:custGeom>
              <a:avLst/>
              <a:gdLst/>
              <a:ahLst/>
              <a:cxnLst/>
              <a:rect l="l" t="t" r="r" b="b"/>
              <a:pathLst>
                <a:path w="12364" h="12363" extrusionOk="0">
                  <a:moveTo>
                    <a:pt x="12364" y="6182"/>
                  </a:moveTo>
                  <a:cubicBezTo>
                    <a:pt x="12364" y="9596"/>
                    <a:pt x="9597" y="12363"/>
                    <a:pt x="6182" y="12363"/>
                  </a:cubicBezTo>
                  <a:cubicBezTo>
                    <a:pt x="2768" y="12363"/>
                    <a:pt x="0" y="9596"/>
                    <a:pt x="0" y="6182"/>
                  </a:cubicBezTo>
                  <a:cubicBezTo>
                    <a:pt x="0" y="2768"/>
                    <a:pt x="2768" y="0"/>
                    <a:pt x="6182" y="0"/>
                  </a:cubicBezTo>
                  <a:cubicBezTo>
                    <a:pt x="9597" y="0"/>
                    <a:pt x="12364" y="2768"/>
                    <a:pt x="12364" y="6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1086;p54">
              <a:extLst>
                <a:ext uri="{FF2B5EF4-FFF2-40B4-BE49-F238E27FC236}">
                  <a16:creationId xmlns:a16="http://schemas.microsoft.com/office/drawing/2014/main" id="{5BF0E380-B881-3B73-67A4-A19220CB9886}"/>
                </a:ext>
              </a:extLst>
            </p:cNvPr>
            <p:cNvSpPr/>
            <p:nvPr/>
          </p:nvSpPr>
          <p:spPr>
            <a:xfrm>
              <a:off x="6495076" y="4609789"/>
              <a:ext cx="12364" cy="12363"/>
            </a:xfrm>
            <a:custGeom>
              <a:avLst/>
              <a:gdLst/>
              <a:ahLst/>
              <a:cxnLst/>
              <a:rect l="l" t="t" r="r" b="b"/>
              <a:pathLst>
                <a:path w="12364" h="12363" extrusionOk="0">
                  <a:moveTo>
                    <a:pt x="12364" y="6182"/>
                  </a:moveTo>
                  <a:cubicBezTo>
                    <a:pt x="12364" y="9596"/>
                    <a:pt x="9597" y="12363"/>
                    <a:pt x="6182" y="12363"/>
                  </a:cubicBezTo>
                  <a:cubicBezTo>
                    <a:pt x="2768" y="12363"/>
                    <a:pt x="0" y="9596"/>
                    <a:pt x="0" y="6182"/>
                  </a:cubicBezTo>
                  <a:cubicBezTo>
                    <a:pt x="0" y="2767"/>
                    <a:pt x="2768" y="0"/>
                    <a:pt x="6182" y="0"/>
                  </a:cubicBezTo>
                  <a:cubicBezTo>
                    <a:pt x="9597" y="0"/>
                    <a:pt x="12364" y="2767"/>
                    <a:pt x="12364" y="6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" name="Google Shape;733;p40">
            <a:extLst>
              <a:ext uri="{FF2B5EF4-FFF2-40B4-BE49-F238E27FC236}">
                <a16:creationId xmlns:a16="http://schemas.microsoft.com/office/drawing/2014/main" id="{9705780E-A039-1737-2048-E9B68B420FF6}"/>
              </a:ext>
            </a:extLst>
          </p:cNvPr>
          <p:cNvSpPr txBox="1">
            <a:spLocks/>
          </p:cNvSpPr>
          <p:nvPr/>
        </p:nvSpPr>
        <p:spPr>
          <a:xfrm>
            <a:off x="336461" y="4163132"/>
            <a:ext cx="1404637" cy="432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600" dirty="0"/>
              <a:t>Task finale:</a:t>
            </a:r>
          </a:p>
        </p:txBody>
      </p:sp>
      <p:sp>
        <p:nvSpPr>
          <p:cNvPr id="705" name="Google Shape;649;p34">
            <a:extLst>
              <a:ext uri="{FF2B5EF4-FFF2-40B4-BE49-F238E27FC236}">
                <a16:creationId xmlns:a16="http://schemas.microsoft.com/office/drawing/2014/main" id="{1A9402EB-E178-A328-2445-D5EA00244B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06629" y="4157676"/>
            <a:ext cx="2777107" cy="397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12 classi = 11 tumorali + Healthy</a:t>
            </a:r>
            <a:endParaRPr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86" name="Google Shape;686;p36"/>
          <p:cNvSpPr txBox="1">
            <a:spLocks noGrp="1"/>
          </p:cNvSpPr>
          <p:nvPr>
            <p:ph type="title" idx="2"/>
          </p:nvPr>
        </p:nvSpPr>
        <p:spPr>
          <a:xfrm>
            <a:off x="1564300" y="1657350"/>
            <a:ext cx="616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687" name="Google Shape;687;p36"/>
          <p:cNvSpPr txBox="1">
            <a:spLocks noGrp="1"/>
          </p:cNvSpPr>
          <p:nvPr>
            <p:ph type="title" idx="3"/>
          </p:nvPr>
        </p:nvSpPr>
        <p:spPr>
          <a:xfrm>
            <a:off x="1564225" y="3473451"/>
            <a:ext cx="616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688" name="Google Shape;688;p36"/>
          <p:cNvSpPr txBox="1">
            <a:spLocks noGrp="1"/>
          </p:cNvSpPr>
          <p:nvPr>
            <p:ph type="title" idx="4"/>
          </p:nvPr>
        </p:nvSpPr>
        <p:spPr>
          <a:xfrm>
            <a:off x="4263663" y="1657350"/>
            <a:ext cx="616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89" name="Google Shape;689;p36"/>
          <p:cNvSpPr txBox="1">
            <a:spLocks noGrp="1"/>
          </p:cNvSpPr>
          <p:nvPr>
            <p:ph type="title" idx="5"/>
          </p:nvPr>
        </p:nvSpPr>
        <p:spPr>
          <a:xfrm>
            <a:off x="4263625" y="3473452"/>
            <a:ext cx="616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90" name="Google Shape;690;p36"/>
          <p:cNvSpPr txBox="1">
            <a:spLocks noGrp="1"/>
          </p:cNvSpPr>
          <p:nvPr>
            <p:ph type="title" idx="6"/>
          </p:nvPr>
        </p:nvSpPr>
        <p:spPr>
          <a:xfrm>
            <a:off x="6962901" y="1657350"/>
            <a:ext cx="616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92" name="Google Shape;692;p36"/>
          <p:cNvSpPr txBox="1">
            <a:spLocks noGrp="1"/>
          </p:cNvSpPr>
          <p:nvPr>
            <p:ph type="subTitle" idx="1"/>
          </p:nvPr>
        </p:nvSpPr>
        <p:spPr>
          <a:xfrm>
            <a:off x="720000" y="22495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693" name="Google Shape;693;p36"/>
          <p:cNvSpPr txBox="1">
            <a:spLocks noGrp="1"/>
          </p:cNvSpPr>
          <p:nvPr>
            <p:ph type="subTitle" idx="8"/>
          </p:nvPr>
        </p:nvSpPr>
        <p:spPr>
          <a:xfrm>
            <a:off x="3419275" y="22495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</a:t>
            </a:r>
            <a:endParaRPr dirty="0"/>
          </a:p>
        </p:txBody>
      </p:sp>
      <p:sp>
        <p:nvSpPr>
          <p:cNvPr id="694" name="Google Shape;694;p36"/>
          <p:cNvSpPr txBox="1">
            <a:spLocks noGrp="1"/>
          </p:cNvSpPr>
          <p:nvPr>
            <p:ph type="subTitle" idx="9"/>
          </p:nvPr>
        </p:nvSpPr>
        <p:spPr>
          <a:xfrm>
            <a:off x="6118550" y="22495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Metodologia</a:t>
            </a:r>
            <a:endParaRPr dirty="0"/>
          </a:p>
        </p:txBody>
      </p:sp>
      <p:sp>
        <p:nvSpPr>
          <p:cNvPr id="695" name="Google Shape;695;p36"/>
          <p:cNvSpPr txBox="1">
            <a:spLocks noGrp="1"/>
          </p:cNvSpPr>
          <p:nvPr>
            <p:ph type="subTitle" idx="13"/>
          </p:nvPr>
        </p:nvSpPr>
        <p:spPr>
          <a:xfrm>
            <a:off x="720000" y="40656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Risultati</a:t>
            </a:r>
            <a:endParaRPr dirty="0"/>
          </a:p>
        </p:txBody>
      </p:sp>
      <p:sp>
        <p:nvSpPr>
          <p:cNvPr id="696" name="Google Shape;696;p36"/>
          <p:cNvSpPr txBox="1">
            <a:spLocks noGrp="1"/>
          </p:cNvSpPr>
          <p:nvPr>
            <p:ph type="subTitle" idx="14"/>
          </p:nvPr>
        </p:nvSpPr>
        <p:spPr>
          <a:xfrm>
            <a:off x="3419275" y="40656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Conclusioni</a:t>
            </a:r>
            <a:endParaRPr dirty="0"/>
          </a:p>
        </p:txBody>
      </p:sp>
      <p:cxnSp>
        <p:nvCxnSpPr>
          <p:cNvPr id="698" name="Google Shape;698;p36"/>
          <p:cNvCxnSpPr/>
          <p:nvPr/>
        </p:nvCxnSpPr>
        <p:spPr>
          <a:xfrm rot="10800000">
            <a:off x="3222388" y="1457225"/>
            <a:ext cx="0" cy="3686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9" name="Google Shape;699;p36"/>
          <p:cNvCxnSpPr/>
          <p:nvPr/>
        </p:nvCxnSpPr>
        <p:spPr>
          <a:xfrm rot="10800000">
            <a:off x="5921663" y="1457225"/>
            <a:ext cx="0" cy="3686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7"/>
          <p:cNvSpPr txBox="1">
            <a:spLocks noGrp="1"/>
          </p:cNvSpPr>
          <p:nvPr>
            <p:ph type="title"/>
          </p:nvPr>
        </p:nvSpPr>
        <p:spPr>
          <a:xfrm>
            <a:off x="4371975" y="2429100"/>
            <a:ext cx="4056900" cy="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705" name="Google Shape;705;p37"/>
          <p:cNvSpPr txBox="1">
            <a:spLocks noGrp="1"/>
          </p:cNvSpPr>
          <p:nvPr>
            <p:ph type="title" idx="2"/>
          </p:nvPr>
        </p:nvSpPr>
        <p:spPr>
          <a:xfrm>
            <a:off x="4371975" y="1793850"/>
            <a:ext cx="1239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706" name="Google Shape;706;p37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6301" r="6301"/>
          <a:stretch/>
        </p:blipFill>
        <p:spPr>
          <a:xfrm>
            <a:off x="0" y="1106688"/>
            <a:ext cx="4000502" cy="2930101"/>
          </a:xfrm>
          <a:prstGeom prst="rect">
            <a:avLst/>
          </a:prstGeom>
        </p:spPr>
      </p:pic>
      <p:cxnSp>
        <p:nvCxnSpPr>
          <p:cNvPr id="707" name="Google Shape;707;p37"/>
          <p:cNvCxnSpPr/>
          <p:nvPr/>
        </p:nvCxnSpPr>
        <p:spPr>
          <a:xfrm>
            <a:off x="4000500" y="3349638"/>
            <a:ext cx="51435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9"/>
          <p:cNvSpPr txBox="1">
            <a:spLocks noGrp="1"/>
          </p:cNvSpPr>
          <p:nvPr>
            <p:ph type="subTitle" idx="4"/>
          </p:nvPr>
        </p:nvSpPr>
        <p:spPr>
          <a:xfrm>
            <a:off x="1178013" y="2571750"/>
            <a:ext cx="2765100" cy="6958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sz="1600" dirty="0"/>
              <a:t>È presente sia in tessuti sani sia patologici</a:t>
            </a:r>
            <a:endParaRPr sz="1600" dirty="0"/>
          </a:p>
        </p:txBody>
      </p:sp>
      <p:sp>
        <p:nvSpPr>
          <p:cNvPr id="721" name="Google Shape;721;p39"/>
          <p:cNvSpPr txBox="1">
            <a:spLocks noGrp="1"/>
          </p:cNvSpPr>
          <p:nvPr>
            <p:ph type="title"/>
          </p:nvPr>
        </p:nvSpPr>
        <p:spPr>
          <a:xfrm>
            <a:off x="671174" y="332604"/>
            <a:ext cx="6855177" cy="9803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DNA extracromosomico circolare (eccDNA) </a:t>
            </a:r>
            <a:endParaRPr dirty="0"/>
          </a:p>
        </p:txBody>
      </p:sp>
      <p:sp>
        <p:nvSpPr>
          <p:cNvPr id="724" name="Google Shape;724;p39"/>
          <p:cNvSpPr txBox="1">
            <a:spLocks noGrp="1"/>
          </p:cNvSpPr>
          <p:nvPr>
            <p:ph type="subTitle" idx="3"/>
          </p:nvPr>
        </p:nvSpPr>
        <p:spPr>
          <a:xfrm>
            <a:off x="1178026" y="1556057"/>
            <a:ext cx="2894500" cy="6958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Origina da regioni del genoma cromosomico</a:t>
            </a:r>
            <a:endParaRPr sz="1600" dirty="0"/>
          </a:p>
        </p:txBody>
      </p:sp>
      <p:sp>
        <p:nvSpPr>
          <p:cNvPr id="725" name="Google Shape;725;p39"/>
          <p:cNvSpPr/>
          <p:nvPr/>
        </p:nvSpPr>
        <p:spPr>
          <a:xfrm>
            <a:off x="676365" y="2724929"/>
            <a:ext cx="377680" cy="377866"/>
          </a:xfrm>
          <a:custGeom>
            <a:avLst/>
            <a:gdLst/>
            <a:ahLst/>
            <a:cxnLst/>
            <a:rect l="l" t="t" r="r" b="b"/>
            <a:pathLst>
              <a:path w="421989" h="422197" extrusionOk="0">
                <a:moveTo>
                  <a:pt x="419772" y="85888"/>
                </a:moveTo>
                <a:lnTo>
                  <a:pt x="399757" y="65874"/>
                </a:lnTo>
                <a:cubicBezTo>
                  <a:pt x="398471" y="64588"/>
                  <a:pt x="396696" y="63793"/>
                  <a:pt x="394860" y="63670"/>
                </a:cubicBezTo>
                <a:cubicBezTo>
                  <a:pt x="376008" y="62446"/>
                  <a:pt x="355625" y="57672"/>
                  <a:pt x="334875" y="55591"/>
                </a:cubicBezTo>
                <a:cubicBezTo>
                  <a:pt x="337140" y="45431"/>
                  <a:pt x="341914" y="36066"/>
                  <a:pt x="350484" y="27191"/>
                </a:cubicBezTo>
                <a:cubicBezTo>
                  <a:pt x="353360" y="24192"/>
                  <a:pt x="353299" y="19418"/>
                  <a:pt x="350422" y="16541"/>
                </a:cubicBezTo>
                <a:lnTo>
                  <a:pt x="336099" y="2219"/>
                </a:lnTo>
                <a:cubicBezTo>
                  <a:pt x="333161" y="-719"/>
                  <a:pt x="328265" y="-780"/>
                  <a:pt x="325265" y="2280"/>
                </a:cubicBezTo>
                <a:cubicBezTo>
                  <a:pt x="310575" y="17398"/>
                  <a:pt x="301945" y="34964"/>
                  <a:pt x="299006" y="55836"/>
                </a:cubicBezTo>
                <a:cubicBezTo>
                  <a:pt x="287255" y="57488"/>
                  <a:pt x="276727" y="60916"/>
                  <a:pt x="266933" y="66241"/>
                </a:cubicBezTo>
                <a:cubicBezTo>
                  <a:pt x="263934" y="67893"/>
                  <a:pt x="262832" y="71627"/>
                  <a:pt x="264423" y="74626"/>
                </a:cubicBezTo>
                <a:cubicBezTo>
                  <a:pt x="266076" y="77625"/>
                  <a:pt x="269810" y="78727"/>
                  <a:pt x="272809" y="77135"/>
                </a:cubicBezTo>
                <a:cubicBezTo>
                  <a:pt x="280522" y="72974"/>
                  <a:pt x="288785" y="70158"/>
                  <a:pt x="297905" y="68567"/>
                </a:cubicBezTo>
                <a:cubicBezTo>
                  <a:pt x="297782" y="72178"/>
                  <a:pt x="297782" y="75789"/>
                  <a:pt x="297905" y="79400"/>
                </a:cubicBezTo>
                <a:cubicBezTo>
                  <a:pt x="283398" y="82277"/>
                  <a:pt x="271218" y="89071"/>
                  <a:pt x="260690" y="99598"/>
                </a:cubicBezTo>
                <a:cubicBezTo>
                  <a:pt x="202419" y="157867"/>
                  <a:pt x="286643" y="241964"/>
                  <a:pt x="223291" y="305313"/>
                </a:cubicBezTo>
                <a:cubicBezTo>
                  <a:pt x="183505" y="345097"/>
                  <a:pt x="134905" y="326613"/>
                  <a:pt x="90161" y="321839"/>
                </a:cubicBezTo>
                <a:cubicBezTo>
                  <a:pt x="89977" y="318167"/>
                  <a:pt x="89977" y="314555"/>
                  <a:pt x="90161" y="311067"/>
                </a:cubicBezTo>
                <a:cubicBezTo>
                  <a:pt x="135395" y="315535"/>
                  <a:pt x="179894" y="333530"/>
                  <a:pt x="215701" y="297724"/>
                </a:cubicBezTo>
                <a:cubicBezTo>
                  <a:pt x="273360" y="240067"/>
                  <a:pt x="191769" y="157683"/>
                  <a:pt x="250774" y="94396"/>
                </a:cubicBezTo>
                <a:cubicBezTo>
                  <a:pt x="253100" y="91886"/>
                  <a:pt x="252978" y="87969"/>
                  <a:pt x="250468" y="85643"/>
                </a:cubicBezTo>
                <a:cubicBezTo>
                  <a:pt x="247958" y="83317"/>
                  <a:pt x="244041" y="83440"/>
                  <a:pt x="241715" y="85949"/>
                </a:cubicBezTo>
                <a:cubicBezTo>
                  <a:pt x="226535" y="102169"/>
                  <a:pt x="218210" y="121204"/>
                  <a:pt x="216252" y="144157"/>
                </a:cubicBezTo>
                <a:cubicBezTo>
                  <a:pt x="213865" y="171700"/>
                  <a:pt x="220965" y="198447"/>
                  <a:pt x="224025" y="224031"/>
                </a:cubicBezTo>
                <a:cubicBezTo>
                  <a:pt x="216803" y="223174"/>
                  <a:pt x="209274" y="221950"/>
                  <a:pt x="201439" y="220726"/>
                </a:cubicBezTo>
                <a:cubicBezTo>
                  <a:pt x="169917" y="215646"/>
                  <a:pt x="134170" y="209892"/>
                  <a:pt x="101607" y="229784"/>
                </a:cubicBezTo>
                <a:cubicBezTo>
                  <a:pt x="98669" y="231559"/>
                  <a:pt x="97751" y="235354"/>
                  <a:pt x="99526" y="238292"/>
                </a:cubicBezTo>
                <a:cubicBezTo>
                  <a:pt x="101301" y="241230"/>
                  <a:pt x="105096" y="242148"/>
                  <a:pt x="108034" y="240373"/>
                </a:cubicBezTo>
                <a:cubicBezTo>
                  <a:pt x="144576" y="218033"/>
                  <a:pt x="186260" y="232539"/>
                  <a:pt x="225066" y="236640"/>
                </a:cubicBezTo>
                <a:cubicBezTo>
                  <a:pt x="225249" y="240312"/>
                  <a:pt x="225249" y="243923"/>
                  <a:pt x="225066" y="247412"/>
                </a:cubicBezTo>
                <a:cubicBezTo>
                  <a:pt x="180261" y="243005"/>
                  <a:pt x="135395" y="224949"/>
                  <a:pt x="99526" y="260755"/>
                </a:cubicBezTo>
                <a:cubicBezTo>
                  <a:pt x="59067" y="301213"/>
                  <a:pt x="87223" y="353116"/>
                  <a:pt x="87101" y="403550"/>
                </a:cubicBezTo>
                <a:lnTo>
                  <a:pt x="75899" y="392349"/>
                </a:lnTo>
                <a:cubicBezTo>
                  <a:pt x="72594" y="347913"/>
                  <a:pt x="51906" y="298764"/>
                  <a:pt x="87407" y="257939"/>
                </a:cubicBezTo>
                <a:cubicBezTo>
                  <a:pt x="89671" y="255369"/>
                  <a:pt x="89365" y="251452"/>
                  <a:pt x="86795" y="249248"/>
                </a:cubicBezTo>
                <a:cubicBezTo>
                  <a:pt x="84224" y="246984"/>
                  <a:pt x="80306" y="247290"/>
                  <a:pt x="78103" y="249860"/>
                </a:cubicBezTo>
                <a:cubicBezTo>
                  <a:pt x="64515" y="265529"/>
                  <a:pt x="58149" y="282177"/>
                  <a:pt x="55762" y="299070"/>
                </a:cubicBezTo>
                <a:cubicBezTo>
                  <a:pt x="34951" y="302008"/>
                  <a:pt x="17384" y="310638"/>
                  <a:pt x="2326" y="325328"/>
                </a:cubicBezTo>
                <a:cubicBezTo>
                  <a:pt x="857" y="326736"/>
                  <a:pt x="62" y="328694"/>
                  <a:pt x="0" y="330714"/>
                </a:cubicBezTo>
                <a:cubicBezTo>
                  <a:pt x="0" y="332734"/>
                  <a:pt x="796" y="334692"/>
                  <a:pt x="2204" y="336162"/>
                </a:cubicBezTo>
                <a:lnTo>
                  <a:pt x="16526" y="350484"/>
                </a:lnTo>
                <a:cubicBezTo>
                  <a:pt x="19465" y="353422"/>
                  <a:pt x="24239" y="353422"/>
                  <a:pt x="27177" y="350545"/>
                </a:cubicBezTo>
                <a:cubicBezTo>
                  <a:pt x="35563" y="342466"/>
                  <a:pt x="44683" y="337447"/>
                  <a:pt x="55578" y="334998"/>
                </a:cubicBezTo>
                <a:cubicBezTo>
                  <a:pt x="57721" y="355809"/>
                  <a:pt x="62495" y="376191"/>
                  <a:pt x="63657" y="394981"/>
                </a:cubicBezTo>
                <a:cubicBezTo>
                  <a:pt x="63780" y="396817"/>
                  <a:pt x="64576" y="398592"/>
                  <a:pt x="65861" y="399877"/>
                </a:cubicBezTo>
                <a:lnTo>
                  <a:pt x="85938" y="419953"/>
                </a:lnTo>
                <a:cubicBezTo>
                  <a:pt x="88019" y="422034"/>
                  <a:pt x="91080" y="422769"/>
                  <a:pt x="93895" y="421728"/>
                </a:cubicBezTo>
                <a:cubicBezTo>
                  <a:pt x="96649" y="420749"/>
                  <a:pt x="98608" y="418178"/>
                  <a:pt x="98914" y="415301"/>
                </a:cubicBezTo>
                <a:cubicBezTo>
                  <a:pt x="101485" y="387820"/>
                  <a:pt x="94262" y="360277"/>
                  <a:pt x="91202" y="334509"/>
                </a:cubicBezTo>
                <a:cubicBezTo>
                  <a:pt x="117277" y="337569"/>
                  <a:pt x="144515" y="344853"/>
                  <a:pt x="172610" y="342098"/>
                </a:cubicBezTo>
                <a:cubicBezTo>
                  <a:pt x="196114" y="339773"/>
                  <a:pt x="215518" y="330653"/>
                  <a:pt x="232044" y="314188"/>
                </a:cubicBezTo>
                <a:cubicBezTo>
                  <a:pt x="247407" y="298826"/>
                  <a:pt x="256344" y="280953"/>
                  <a:pt x="259405" y="259592"/>
                </a:cubicBezTo>
                <a:cubicBezTo>
                  <a:pt x="280766" y="256532"/>
                  <a:pt x="298700" y="247596"/>
                  <a:pt x="314003" y="232233"/>
                </a:cubicBezTo>
                <a:cubicBezTo>
                  <a:pt x="330468" y="215768"/>
                  <a:pt x="339649" y="196305"/>
                  <a:pt x="341914" y="172801"/>
                </a:cubicBezTo>
                <a:cubicBezTo>
                  <a:pt x="344669" y="144769"/>
                  <a:pt x="337385" y="117471"/>
                  <a:pt x="334324" y="91396"/>
                </a:cubicBezTo>
                <a:cubicBezTo>
                  <a:pt x="359971" y="94396"/>
                  <a:pt x="387576" y="101679"/>
                  <a:pt x="415120" y="99109"/>
                </a:cubicBezTo>
                <a:cubicBezTo>
                  <a:pt x="418058" y="98864"/>
                  <a:pt x="420568" y="96844"/>
                  <a:pt x="421547" y="94090"/>
                </a:cubicBezTo>
                <a:cubicBezTo>
                  <a:pt x="422527" y="91090"/>
                  <a:pt x="421853" y="88030"/>
                  <a:pt x="419772" y="85888"/>
                </a:cubicBezTo>
                <a:lnTo>
                  <a:pt x="419772" y="85888"/>
                </a:lnTo>
                <a:close/>
                <a:moveTo>
                  <a:pt x="22035" y="338365"/>
                </a:moveTo>
                <a:lnTo>
                  <a:pt x="14384" y="330714"/>
                </a:lnTo>
                <a:cubicBezTo>
                  <a:pt x="26014" y="320554"/>
                  <a:pt x="39235" y="314249"/>
                  <a:pt x="54599" y="311556"/>
                </a:cubicBezTo>
                <a:cubicBezTo>
                  <a:pt x="54476" y="315168"/>
                  <a:pt x="54476" y="318779"/>
                  <a:pt x="54660" y="322390"/>
                </a:cubicBezTo>
                <a:cubicBezTo>
                  <a:pt x="42357" y="324899"/>
                  <a:pt x="31584" y="330163"/>
                  <a:pt x="22035" y="338365"/>
                </a:cubicBezTo>
                <a:close/>
                <a:moveTo>
                  <a:pt x="91692" y="298642"/>
                </a:moveTo>
                <a:cubicBezTo>
                  <a:pt x="93222" y="291909"/>
                  <a:pt x="95854" y="285482"/>
                  <a:pt x="99893" y="279300"/>
                </a:cubicBezTo>
                <a:lnTo>
                  <a:pt x="123826" y="303232"/>
                </a:lnTo>
                <a:cubicBezTo>
                  <a:pt x="113176" y="301580"/>
                  <a:pt x="102587" y="299744"/>
                  <a:pt x="91692" y="298642"/>
                </a:cubicBezTo>
                <a:close/>
                <a:moveTo>
                  <a:pt x="223352" y="259531"/>
                </a:moveTo>
                <a:cubicBezTo>
                  <a:pt x="221822" y="266264"/>
                  <a:pt x="219190" y="272690"/>
                  <a:pt x="215150" y="278872"/>
                </a:cubicBezTo>
                <a:lnTo>
                  <a:pt x="191217" y="254940"/>
                </a:lnTo>
                <a:cubicBezTo>
                  <a:pt x="201929" y="256593"/>
                  <a:pt x="212457" y="258429"/>
                  <a:pt x="223352" y="259531"/>
                </a:cubicBezTo>
                <a:close/>
                <a:moveTo>
                  <a:pt x="170835" y="252003"/>
                </a:moveTo>
                <a:lnTo>
                  <a:pt x="207254" y="288420"/>
                </a:lnTo>
                <a:cubicBezTo>
                  <a:pt x="201868" y="293868"/>
                  <a:pt x="195808" y="298397"/>
                  <a:pt x="188769" y="301580"/>
                </a:cubicBezTo>
                <a:lnTo>
                  <a:pt x="139618" y="252431"/>
                </a:lnTo>
                <a:cubicBezTo>
                  <a:pt x="149289" y="250533"/>
                  <a:pt x="159634" y="250778"/>
                  <a:pt x="170835" y="252003"/>
                </a:cubicBezTo>
                <a:lnTo>
                  <a:pt x="170835" y="252003"/>
                </a:lnTo>
                <a:close/>
                <a:moveTo>
                  <a:pt x="126275" y="256593"/>
                </a:moveTo>
                <a:lnTo>
                  <a:pt x="175426" y="305742"/>
                </a:lnTo>
                <a:cubicBezTo>
                  <a:pt x="165755" y="307578"/>
                  <a:pt x="155349" y="307333"/>
                  <a:pt x="144209" y="306109"/>
                </a:cubicBezTo>
                <a:lnTo>
                  <a:pt x="107790" y="269691"/>
                </a:lnTo>
                <a:cubicBezTo>
                  <a:pt x="113237" y="264244"/>
                  <a:pt x="119297" y="259776"/>
                  <a:pt x="126275" y="256593"/>
                </a:cubicBezTo>
                <a:close/>
                <a:moveTo>
                  <a:pt x="303291" y="123897"/>
                </a:moveTo>
                <a:lnTo>
                  <a:pt x="279358" y="99965"/>
                </a:lnTo>
                <a:cubicBezTo>
                  <a:pt x="285234" y="96048"/>
                  <a:pt x="291600" y="93355"/>
                  <a:pt x="298700" y="91764"/>
                </a:cubicBezTo>
                <a:cubicBezTo>
                  <a:pt x="299741" y="102536"/>
                  <a:pt x="301577" y="113186"/>
                  <a:pt x="303291" y="123897"/>
                </a:cubicBezTo>
                <a:lnTo>
                  <a:pt x="303291" y="123897"/>
                </a:lnTo>
                <a:close/>
                <a:moveTo>
                  <a:pt x="269749" y="107800"/>
                </a:moveTo>
                <a:lnTo>
                  <a:pt x="306168" y="144218"/>
                </a:lnTo>
                <a:cubicBezTo>
                  <a:pt x="307392" y="155357"/>
                  <a:pt x="307637" y="165762"/>
                  <a:pt x="305801" y="175433"/>
                </a:cubicBezTo>
                <a:lnTo>
                  <a:pt x="299618" y="169251"/>
                </a:lnTo>
                <a:cubicBezTo>
                  <a:pt x="297232" y="166864"/>
                  <a:pt x="293314" y="166864"/>
                  <a:pt x="290866" y="169251"/>
                </a:cubicBezTo>
                <a:cubicBezTo>
                  <a:pt x="288479" y="171638"/>
                  <a:pt x="288479" y="175555"/>
                  <a:pt x="290866" y="178004"/>
                </a:cubicBezTo>
                <a:lnTo>
                  <a:pt x="301577" y="188715"/>
                </a:lnTo>
                <a:cubicBezTo>
                  <a:pt x="298456" y="195631"/>
                  <a:pt x="293988" y="201691"/>
                  <a:pt x="288417" y="207199"/>
                </a:cubicBezTo>
                <a:lnTo>
                  <a:pt x="251998" y="170781"/>
                </a:lnTo>
                <a:cubicBezTo>
                  <a:pt x="250774" y="159642"/>
                  <a:pt x="250529" y="149237"/>
                  <a:pt x="252365" y="139566"/>
                </a:cubicBezTo>
                <a:lnTo>
                  <a:pt x="270177" y="157377"/>
                </a:lnTo>
                <a:cubicBezTo>
                  <a:pt x="272564" y="159764"/>
                  <a:pt x="276482" y="159764"/>
                  <a:pt x="278930" y="157377"/>
                </a:cubicBezTo>
                <a:cubicBezTo>
                  <a:pt x="281317" y="154990"/>
                  <a:pt x="281317" y="151073"/>
                  <a:pt x="278930" y="148625"/>
                </a:cubicBezTo>
                <a:lnTo>
                  <a:pt x="256528" y="126223"/>
                </a:lnTo>
                <a:cubicBezTo>
                  <a:pt x="259772" y="119307"/>
                  <a:pt x="264240" y="113247"/>
                  <a:pt x="269749" y="107800"/>
                </a:cubicBezTo>
                <a:close/>
                <a:moveTo>
                  <a:pt x="254875" y="191163"/>
                </a:moveTo>
                <a:lnTo>
                  <a:pt x="278807" y="215095"/>
                </a:lnTo>
                <a:cubicBezTo>
                  <a:pt x="272932" y="219012"/>
                  <a:pt x="266566" y="221705"/>
                  <a:pt x="259466" y="223297"/>
                </a:cubicBezTo>
                <a:cubicBezTo>
                  <a:pt x="258425" y="212524"/>
                  <a:pt x="256589" y="201874"/>
                  <a:pt x="254875" y="191163"/>
                </a:cubicBezTo>
                <a:close/>
                <a:moveTo>
                  <a:pt x="305189" y="223236"/>
                </a:moveTo>
                <a:cubicBezTo>
                  <a:pt x="292518" y="235905"/>
                  <a:pt x="277828" y="243617"/>
                  <a:pt x="260384" y="246616"/>
                </a:cubicBezTo>
                <a:cubicBezTo>
                  <a:pt x="260506" y="243005"/>
                  <a:pt x="260506" y="239394"/>
                  <a:pt x="260384" y="235783"/>
                </a:cubicBezTo>
                <a:cubicBezTo>
                  <a:pt x="274645" y="232906"/>
                  <a:pt x="286887" y="226296"/>
                  <a:pt x="297599" y="215585"/>
                </a:cubicBezTo>
                <a:cubicBezTo>
                  <a:pt x="354340" y="158785"/>
                  <a:pt x="275686" y="77074"/>
                  <a:pt x="330774" y="14399"/>
                </a:cubicBezTo>
                <a:lnTo>
                  <a:pt x="338425" y="22050"/>
                </a:lnTo>
                <a:cubicBezTo>
                  <a:pt x="288540" y="79951"/>
                  <a:pt x="366948" y="161478"/>
                  <a:pt x="305189" y="223236"/>
                </a:cubicBezTo>
                <a:lnTo>
                  <a:pt x="305189" y="223236"/>
                </a:lnTo>
                <a:close/>
                <a:moveTo>
                  <a:pt x="333161" y="78604"/>
                </a:moveTo>
                <a:cubicBezTo>
                  <a:pt x="332977" y="74932"/>
                  <a:pt x="332977" y="71321"/>
                  <a:pt x="333161" y="67832"/>
                </a:cubicBezTo>
                <a:cubicBezTo>
                  <a:pt x="352932" y="69791"/>
                  <a:pt x="373069" y="74442"/>
                  <a:pt x="392228" y="75911"/>
                </a:cubicBezTo>
                <a:lnTo>
                  <a:pt x="403368" y="87051"/>
                </a:lnTo>
                <a:cubicBezTo>
                  <a:pt x="380047" y="87112"/>
                  <a:pt x="356176" y="81053"/>
                  <a:pt x="333161" y="7860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968;p54">
            <a:extLst>
              <a:ext uri="{FF2B5EF4-FFF2-40B4-BE49-F238E27FC236}">
                <a16:creationId xmlns:a16="http://schemas.microsoft.com/office/drawing/2014/main" id="{0797C21A-3F2D-98F2-A9D9-37B3E222512B}"/>
              </a:ext>
            </a:extLst>
          </p:cNvPr>
          <p:cNvGrpSpPr/>
          <p:nvPr/>
        </p:nvGrpSpPr>
        <p:grpSpPr>
          <a:xfrm>
            <a:off x="732239" y="1715302"/>
            <a:ext cx="316374" cy="377402"/>
            <a:chOff x="9854211" y="3154830"/>
            <a:chExt cx="353807" cy="422056"/>
          </a:xfrm>
        </p:grpSpPr>
        <p:sp>
          <p:nvSpPr>
            <p:cNvPr id="5" name="Google Shape;969;p54">
              <a:extLst>
                <a:ext uri="{FF2B5EF4-FFF2-40B4-BE49-F238E27FC236}">
                  <a16:creationId xmlns:a16="http://schemas.microsoft.com/office/drawing/2014/main" id="{358848FA-8840-C021-3080-71C793BDAF44}"/>
                </a:ext>
              </a:extLst>
            </p:cNvPr>
            <p:cNvSpPr/>
            <p:nvPr/>
          </p:nvSpPr>
          <p:spPr>
            <a:xfrm>
              <a:off x="9881169" y="3178842"/>
              <a:ext cx="179083" cy="374542"/>
            </a:xfrm>
            <a:custGeom>
              <a:avLst/>
              <a:gdLst/>
              <a:ahLst/>
              <a:cxnLst/>
              <a:rect l="l" t="t" r="r" b="b"/>
              <a:pathLst>
                <a:path w="179083" h="374542" extrusionOk="0">
                  <a:moveTo>
                    <a:pt x="134163" y="77426"/>
                  </a:moveTo>
                  <a:cubicBezTo>
                    <a:pt x="130919" y="80059"/>
                    <a:pt x="127247" y="82996"/>
                    <a:pt x="124859" y="87036"/>
                  </a:cubicBezTo>
                  <a:cubicBezTo>
                    <a:pt x="122473" y="91014"/>
                    <a:pt x="121615" y="95666"/>
                    <a:pt x="120820" y="99767"/>
                  </a:cubicBezTo>
                  <a:cubicBezTo>
                    <a:pt x="120146" y="103501"/>
                    <a:pt x="119473" y="107050"/>
                    <a:pt x="117882" y="109193"/>
                  </a:cubicBezTo>
                  <a:cubicBezTo>
                    <a:pt x="116290" y="111274"/>
                    <a:pt x="113107" y="112804"/>
                    <a:pt x="109680" y="114518"/>
                  </a:cubicBezTo>
                  <a:cubicBezTo>
                    <a:pt x="105946" y="116354"/>
                    <a:pt x="101661" y="118435"/>
                    <a:pt x="98417" y="121863"/>
                  </a:cubicBezTo>
                  <a:cubicBezTo>
                    <a:pt x="93704" y="126759"/>
                    <a:pt x="91929" y="133614"/>
                    <a:pt x="89297" y="138388"/>
                  </a:cubicBezTo>
                  <a:cubicBezTo>
                    <a:pt x="86665" y="133614"/>
                    <a:pt x="84890" y="126759"/>
                    <a:pt x="80177" y="121863"/>
                  </a:cubicBezTo>
                  <a:cubicBezTo>
                    <a:pt x="76933" y="118435"/>
                    <a:pt x="72648" y="116354"/>
                    <a:pt x="68915" y="114518"/>
                  </a:cubicBezTo>
                  <a:cubicBezTo>
                    <a:pt x="65487" y="112865"/>
                    <a:pt x="62304" y="111274"/>
                    <a:pt x="60712" y="109193"/>
                  </a:cubicBezTo>
                  <a:cubicBezTo>
                    <a:pt x="59121" y="107111"/>
                    <a:pt x="58447" y="103562"/>
                    <a:pt x="57774" y="99767"/>
                  </a:cubicBezTo>
                  <a:cubicBezTo>
                    <a:pt x="57040" y="95666"/>
                    <a:pt x="56122" y="91076"/>
                    <a:pt x="53734" y="87036"/>
                  </a:cubicBezTo>
                  <a:cubicBezTo>
                    <a:pt x="51347" y="82996"/>
                    <a:pt x="47675" y="80059"/>
                    <a:pt x="44431" y="77426"/>
                  </a:cubicBezTo>
                  <a:cubicBezTo>
                    <a:pt x="41492" y="75040"/>
                    <a:pt x="38677" y="72775"/>
                    <a:pt x="37575" y="70387"/>
                  </a:cubicBezTo>
                  <a:cubicBezTo>
                    <a:pt x="36535" y="68001"/>
                    <a:pt x="36657" y="64451"/>
                    <a:pt x="36841" y="60594"/>
                  </a:cubicBezTo>
                  <a:cubicBezTo>
                    <a:pt x="37024" y="56433"/>
                    <a:pt x="37208" y="51720"/>
                    <a:pt x="35800" y="47252"/>
                  </a:cubicBezTo>
                  <a:cubicBezTo>
                    <a:pt x="34392" y="42845"/>
                    <a:pt x="31515" y="39111"/>
                    <a:pt x="28945" y="35806"/>
                  </a:cubicBezTo>
                  <a:cubicBezTo>
                    <a:pt x="26619" y="32807"/>
                    <a:pt x="24354" y="29930"/>
                    <a:pt x="23864" y="27359"/>
                  </a:cubicBezTo>
                  <a:cubicBezTo>
                    <a:pt x="23375" y="24850"/>
                    <a:pt x="24293" y="21361"/>
                    <a:pt x="25272" y="17750"/>
                  </a:cubicBezTo>
                  <a:cubicBezTo>
                    <a:pt x="26252" y="14077"/>
                    <a:pt x="27292" y="10283"/>
                    <a:pt x="27292" y="6243"/>
                  </a:cubicBezTo>
                  <a:cubicBezTo>
                    <a:pt x="27292" y="2816"/>
                    <a:pt x="24538" y="62"/>
                    <a:pt x="21110" y="62"/>
                  </a:cubicBezTo>
                  <a:cubicBezTo>
                    <a:pt x="17682" y="62"/>
                    <a:pt x="14928" y="2816"/>
                    <a:pt x="14928" y="6243"/>
                  </a:cubicBezTo>
                  <a:cubicBezTo>
                    <a:pt x="14928" y="12364"/>
                    <a:pt x="9970" y="20933"/>
                    <a:pt x="11745" y="29747"/>
                  </a:cubicBezTo>
                  <a:cubicBezTo>
                    <a:pt x="12847" y="35194"/>
                    <a:pt x="16213" y="39540"/>
                    <a:pt x="19213" y="43396"/>
                  </a:cubicBezTo>
                  <a:cubicBezTo>
                    <a:pt x="21293" y="46089"/>
                    <a:pt x="23314" y="48659"/>
                    <a:pt x="24048" y="50986"/>
                  </a:cubicBezTo>
                  <a:cubicBezTo>
                    <a:pt x="24782" y="53372"/>
                    <a:pt x="24660" y="56616"/>
                    <a:pt x="24538" y="60044"/>
                  </a:cubicBezTo>
                  <a:cubicBezTo>
                    <a:pt x="24354" y="64879"/>
                    <a:pt x="24109" y="70387"/>
                    <a:pt x="26374" y="75407"/>
                  </a:cubicBezTo>
                  <a:cubicBezTo>
                    <a:pt x="28639" y="80487"/>
                    <a:pt x="32923" y="83914"/>
                    <a:pt x="36657" y="86975"/>
                  </a:cubicBezTo>
                  <a:cubicBezTo>
                    <a:pt x="39350" y="89117"/>
                    <a:pt x="41860" y="91198"/>
                    <a:pt x="43084" y="93340"/>
                  </a:cubicBezTo>
                  <a:cubicBezTo>
                    <a:pt x="44369" y="95482"/>
                    <a:pt x="44920" y="98665"/>
                    <a:pt x="45594" y="102031"/>
                  </a:cubicBezTo>
                  <a:cubicBezTo>
                    <a:pt x="46512" y="106805"/>
                    <a:pt x="47491" y="112192"/>
                    <a:pt x="50858" y="116660"/>
                  </a:cubicBezTo>
                  <a:cubicBezTo>
                    <a:pt x="54163" y="121067"/>
                    <a:pt x="59121" y="123454"/>
                    <a:pt x="63467" y="125596"/>
                  </a:cubicBezTo>
                  <a:cubicBezTo>
                    <a:pt x="66588" y="127126"/>
                    <a:pt x="69527" y="128534"/>
                    <a:pt x="71240" y="130370"/>
                  </a:cubicBezTo>
                  <a:cubicBezTo>
                    <a:pt x="72954" y="132145"/>
                    <a:pt x="74239" y="135083"/>
                    <a:pt x="75586" y="138205"/>
                  </a:cubicBezTo>
                  <a:cubicBezTo>
                    <a:pt x="76627" y="140531"/>
                    <a:pt x="77728" y="143101"/>
                    <a:pt x="79136" y="145427"/>
                  </a:cubicBezTo>
                  <a:cubicBezTo>
                    <a:pt x="78892" y="145488"/>
                    <a:pt x="78646" y="145611"/>
                    <a:pt x="78402" y="145671"/>
                  </a:cubicBezTo>
                  <a:cubicBezTo>
                    <a:pt x="73872" y="147324"/>
                    <a:pt x="68730" y="149160"/>
                    <a:pt x="64936" y="153139"/>
                  </a:cubicBezTo>
                  <a:cubicBezTo>
                    <a:pt x="61079" y="157179"/>
                    <a:pt x="59488" y="162442"/>
                    <a:pt x="58019" y="167094"/>
                  </a:cubicBezTo>
                  <a:cubicBezTo>
                    <a:pt x="57040" y="170338"/>
                    <a:pt x="56061" y="173459"/>
                    <a:pt x="54591" y="175418"/>
                  </a:cubicBezTo>
                  <a:cubicBezTo>
                    <a:pt x="53061" y="177377"/>
                    <a:pt x="50368" y="179152"/>
                    <a:pt x="47430" y="180988"/>
                  </a:cubicBezTo>
                  <a:cubicBezTo>
                    <a:pt x="43329" y="183620"/>
                    <a:pt x="38738" y="186558"/>
                    <a:pt x="35923" y="191332"/>
                  </a:cubicBezTo>
                  <a:cubicBezTo>
                    <a:pt x="33107" y="196106"/>
                    <a:pt x="32679" y="201554"/>
                    <a:pt x="32373" y="206388"/>
                  </a:cubicBezTo>
                  <a:cubicBezTo>
                    <a:pt x="32128" y="209816"/>
                    <a:pt x="31883" y="213060"/>
                    <a:pt x="30903" y="215325"/>
                  </a:cubicBezTo>
                  <a:cubicBezTo>
                    <a:pt x="29863" y="217589"/>
                    <a:pt x="27598" y="219915"/>
                    <a:pt x="25211" y="222364"/>
                  </a:cubicBezTo>
                  <a:cubicBezTo>
                    <a:pt x="21784" y="225852"/>
                    <a:pt x="17989" y="229769"/>
                    <a:pt x="16275" y="235033"/>
                  </a:cubicBezTo>
                  <a:cubicBezTo>
                    <a:pt x="14622" y="240297"/>
                    <a:pt x="15418" y="245683"/>
                    <a:pt x="16213" y="250457"/>
                  </a:cubicBezTo>
                  <a:cubicBezTo>
                    <a:pt x="16764" y="253885"/>
                    <a:pt x="17254" y="257129"/>
                    <a:pt x="16764" y="259577"/>
                  </a:cubicBezTo>
                  <a:cubicBezTo>
                    <a:pt x="16275" y="261964"/>
                    <a:pt x="14622" y="264718"/>
                    <a:pt x="12786" y="267657"/>
                  </a:cubicBezTo>
                  <a:cubicBezTo>
                    <a:pt x="10215" y="271818"/>
                    <a:pt x="7338" y="276470"/>
                    <a:pt x="6848" y="282040"/>
                  </a:cubicBezTo>
                  <a:cubicBezTo>
                    <a:pt x="6359" y="287855"/>
                    <a:pt x="9297" y="291221"/>
                    <a:pt x="11072" y="293241"/>
                  </a:cubicBezTo>
                  <a:cubicBezTo>
                    <a:pt x="12357" y="294709"/>
                    <a:pt x="12357" y="294771"/>
                    <a:pt x="12296" y="295260"/>
                  </a:cubicBezTo>
                  <a:cubicBezTo>
                    <a:pt x="12235" y="295750"/>
                    <a:pt x="12235" y="295812"/>
                    <a:pt x="10704" y="297036"/>
                  </a:cubicBezTo>
                  <a:cubicBezTo>
                    <a:pt x="8624" y="298749"/>
                    <a:pt x="5073" y="301565"/>
                    <a:pt x="4583" y="307379"/>
                  </a:cubicBezTo>
                  <a:cubicBezTo>
                    <a:pt x="4094" y="313194"/>
                    <a:pt x="7032" y="316560"/>
                    <a:pt x="8807" y="318580"/>
                  </a:cubicBezTo>
                  <a:cubicBezTo>
                    <a:pt x="10092" y="320049"/>
                    <a:pt x="10092" y="320110"/>
                    <a:pt x="10031" y="320600"/>
                  </a:cubicBezTo>
                  <a:cubicBezTo>
                    <a:pt x="9970" y="321090"/>
                    <a:pt x="9970" y="321151"/>
                    <a:pt x="8440" y="322375"/>
                  </a:cubicBezTo>
                  <a:cubicBezTo>
                    <a:pt x="6359" y="324088"/>
                    <a:pt x="2809" y="326904"/>
                    <a:pt x="2319" y="332719"/>
                  </a:cubicBezTo>
                  <a:cubicBezTo>
                    <a:pt x="1829" y="338472"/>
                    <a:pt x="4767" y="341900"/>
                    <a:pt x="6542" y="343920"/>
                  </a:cubicBezTo>
                  <a:cubicBezTo>
                    <a:pt x="7827" y="345389"/>
                    <a:pt x="7827" y="345450"/>
                    <a:pt x="7766" y="345939"/>
                  </a:cubicBezTo>
                  <a:cubicBezTo>
                    <a:pt x="7705" y="346429"/>
                    <a:pt x="7705" y="346490"/>
                    <a:pt x="6175" y="347715"/>
                  </a:cubicBezTo>
                  <a:cubicBezTo>
                    <a:pt x="4094" y="349428"/>
                    <a:pt x="544" y="352243"/>
                    <a:pt x="54" y="358058"/>
                  </a:cubicBezTo>
                  <a:cubicBezTo>
                    <a:pt x="-436" y="363873"/>
                    <a:pt x="2503" y="367239"/>
                    <a:pt x="4277" y="369259"/>
                  </a:cubicBezTo>
                  <a:cubicBezTo>
                    <a:pt x="4767" y="369810"/>
                    <a:pt x="5318" y="370483"/>
                    <a:pt x="5502" y="370790"/>
                  </a:cubicBezTo>
                  <a:cubicBezTo>
                    <a:pt x="6848" y="373972"/>
                    <a:pt x="10521" y="375380"/>
                    <a:pt x="13642" y="374033"/>
                  </a:cubicBezTo>
                  <a:cubicBezTo>
                    <a:pt x="16764" y="372687"/>
                    <a:pt x="18233" y="369075"/>
                    <a:pt x="16887" y="365893"/>
                  </a:cubicBezTo>
                  <a:cubicBezTo>
                    <a:pt x="15969" y="363751"/>
                    <a:pt x="14683" y="362282"/>
                    <a:pt x="13642" y="361057"/>
                  </a:cubicBezTo>
                  <a:cubicBezTo>
                    <a:pt x="12357" y="359588"/>
                    <a:pt x="12357" y="359527"/>
                    <a:pt x="12418" y="359038"/>
                  </a:cubicBezTo>
                  <a:cubicBezTo>
                    <a:pt x="12480" y="358548"/>
                    <a:pt x="12480" y="358487"/>
                    <a:pt x="14010" y="357263"/>
                  </a:cubicBezTo>
                  <a:cubicBezTo>
                    <a:pt x="16091" y="355549"/>
                    <a:pt x="19641" y="352734"/>
                    <a:pt x="20131" y="346980"/>
                  </a:cubicBezTo>
                  <a:cubicBezTo>
                    <a:pt x="20620" y="341165"/>
                    <a:pt x="17682" y="337799"/>
                    <a:pt x="15907" y="335779"/>
                  </a:cubicBezTo>
                  <a:cubicBezTo>
                    <a:pt x="14622" y="334310"/>
                    <a:pt x="14622" y="334249"/>
                    <a:pt x="14683" y="333760"/>
                  </a:cubicBezTo>
                  <a:cubicBezTo>
                    <a:pt x="14745" y="333269"/>
                    <a:pt x="14745" y="333208"/>
                    <a:pt x="16275" y="331984"/>
                  </a:cubicBezTo>
                  <a:cubicBezTo>
                    <a:pt x="18356" y="330271"/>
                    <a:pt x="21906" y="327455"/>
                    <a:pt x="22396" y="321640"/>
                  </a:cubicBezTo>
                  <a:cubicBezTo>
                    <a:pt x="22885" y="315826"/>
                    <a:pt x="19947" y="312459"/>
                    <a:pt x="18172" y="310440"/>
                  </a:cubicBezTo>
                  <a:cubicBezTo>
                    <a:pt x="16887" y="308971"/>
                    <a:pt x="16887" y="308909"/>
                    <a:pt x="16948" y="308420"/>
                  </a:cubicBezTo>
                  <a:cubicBezTo>
                    <a:pt x="17009" y="307930"/>
                    <a:pt x="17009" y="307869"/>
                    <a:pt x="18539" y="306645"/>
                  </a:cubicBezTo>
                  <a:cubicBezTo>
                    <a:pt x="20620" y="304931"/>
                    <a:pt x="24170" y="302116"/>
                    <a:pt x="24660" y="296301"/>
                  </a:cubicBezTo>
                  <a:cubicBezTo>
                    <a:pt x="25150" y="290486"/>
                    <a:pt x="22212" y="287120"/>
                    <a:pt x="20437" y="285100"/>
                  </a:cubicBezTo>
                  <a:cubicBezTo>
                    <a:pt x="19151" y="283631"/>
                    <a:pt x="19151" y="283570"/>
                    <a:pt x="19213" y="283080"/>
                  </a:cubicBezTo>
                  <a:cubicBezTo>
                    <a:pt x="19457" y="280448"/>
                    <a:pt x="21355" y="277327"/>
                    <a:pt x="23375" y="274083"/>
                  </a:cubicBezTo>
                  <a:cubicBezTo>
                    <a:pt x="25517" y="270533"/>
                    <a:pt x="28026" y="266554"/>
                    <a:pt x="28945" y="261964"/>
                  </a:cubicBezTo>
                  <a:cubicBezTo>
                    <a:pt x="29863" y="257373"/>
                    <a:pt x="29129" y="252661"/>
                    <a:pt x="28517" y="248560"/>
                  </a:cubicBezTo>
                  <a:cubicBezTo>
                    <a:pt x="27904" y="244826"/>
                    <a:pt x="27353" y="241276"/>
                    <a:pt x="28149" y="238828"/>
                  </a:cubicBezTo>
                  <a:cubicBezTo>
                    <a:pt x="28945" y="236319"/>
                    <a:pt x="31454" y="233748"/>
                    <a:pt x="34147" y="230994"/>
                  </a:cubicBezTo>
                  <a:cubicBezTo>
                    <a:pt x="37024" y="227994"/>
                    <a:pt x="40330" y="224628"/>
                    <a:pt x="42289" y="220405"/>
                  </a:cubicBezTo>
                  <a:cubicBezTo>
                    <a:pt x="44186" y="216121"/>
                    <a:pt x="44553" y="211468"/>
                    <a:pt x="44859" y="207307"/>
                  </a:cubicBezTo>
                  <a:cubicBezTo>
                    <a:pt x="45104" y="203512"/>
                    <a:pt x="45410" y="199901"/>
                    <a:pt x="46757" y="197636"/>
                  </a:cubicBezTo>
                  <a:cubicBezTo>
                    <a:pt x="48103" y="195371"/>
                    <a:pt x="51102" y="193474"/>
                    <a:pt x="54346" y="191393"/>
                  </a:cubicBezTo>
                  <a:cubicBezTo>
                    <a:pt x="57835" y="189128"/>
                    <a:pt x="61814" y="186619"/>
                    <a:pt x="64691" y="182886"/>
                  </a:cubicBezTo>
                  <a:cubicBezTo>
                    <a:pt x="67506" y="179213"/>
                    <a:pt x="68915" y="174684"/>
                    <a:pt x="70077" y="170705"/>
                  </a:cubicBezTo>
                  <a:cubicBezTo>
                    <a:pt x="71179" y="167033"/>
                    <a:pt x="72281" y="163605"/>
                    <a:pt x="74117" y="161708"/>
                  </a:cubicBezTo>
                  <a:cubicBezTo>
                    <a:pt x="75892" y="159872"/>
                    <a:pt x="79259" y="158647"/>
                    <a:pt x="82809" y="157362"/>
                  </a:cubicBezTo>
                  <a:cubicBezTo>
                    <a:pt x="84951" y="156567"/>
                    <a:pt x="87277" y="155771"/>
                    <a:pt x="89542" y="154669"/>
                  </a:cubicBezTo>
                  <a:cubicBezTo>
                    <a:pt x="91806" y="155771"/>
                    <a:pt x="94132" y="156628"/>
                    <a:pt x="96275" y="157362"/>
                  </a:cubicBezTo>
                  <a:cubicBezTo>
                    <a:pt x="99825" y="158647"/>
                    <a:pt x="103192" y="159872"/>
                    <a:pt x="104966" y="161708"/>
                  </a:cubicBezTo>
                  <a:cubicBezTo>
                    <a:pt x="106803" y="163605"/>
                    <a:pt x="107843" y="167094"/>
                    <a:pt x="109007" y="170705"/>
                  </a:cubicBezTo>
                  <a:cubicBezTo>
                    <a:pt x="110231" y="174684"/>
                    <a:pt x="111577" y="179152"/>
                    <a:pt x="114393" y="182886"/>
                  </a:cubicBezTo>
                  <a:cubicBezTo>
                    <a:pt x="117208" y="186619"/>
                    <a:pt x="121187" y="189190"/>
                    <a:pt x="124737" y="191393"/>
                  </a:cubicBezTo>
                  <a:cubicBezTo>
                    <a:pt x="127920" y="193474"/>
                    <a:pt x="130980" y="195371"/>
                    <a:pt x="132327" y="197636"/>
                  </a:cubicBezTo>
                  <a:cubicBezTo>
                    <a:pt x="133674" y="199901"/>
                    <a:pt x="133918" y="203451"/>
                    <a:pt x="134224" y="207307"/>
                  </a:cubicBezTo>
                  <a:cubicBezTo>
                    <a:pt x="134530" y="211468"/>
                    <a:pt x="134836" y="216182"/>
                    <a:pt x="136795" y="220405"/>
                  </a:cubicBezTo>
                  <a:cubicBezTo>
                    <a:pt x="138693" y="224628"/>
                    <a:pt x="141998" y="227994"/>
                    <a:pt x="144936" y="230994"/>
                  </a:cubicBezTo>
                  <a:cubicBezTo>
                    <a:pt x="147629" y="233748"/>
                    <a:pt x="150139" y="236319"/>
                    <a:pt x="150935" y="238828"/>
                  </a:cubicBezTo>
                  <a:cubicBezTo>
                    <a:pt x="151730" y="241276"/>
                    <a:pt x="151179" y="244826"/>
                    <a:pt x="150567" y="248560"/>
                  </a:cubicBezTo>
                  <a:cubicBezTo>
                    <a:pt x="149894" y="252722"/>
                    <a:pt x="149220" y="257373"/>
                    <a:pt x="150139" y="261964"/>
                  </a:cubicBezTo>
                  <a:cubicBezTo>
                    <a:pt x="151057" y="266493"/>
                    <a:pt x="153505" y="270533"/>
                    <a:pt x="155709" y="274083"/>
                  </a:cubicBezTo>
                  <a:cubicBezTo>
                    <a:pt x="157729" y="277327"/>
                    <a:pt x="159626" y="280448"/>
                    <a:pt x="159871" y="283080"/>
                  </a:cubicBezTo>
                  <a:cubicBezTo>
                    <a:pt x="159932" y="283570"/>
                    <a:pt x="159932" y="283631"/>
                    <a:pt x="158647" y="285100"/>
                  </a:cubicBezTo>
                  <a:cubicBezTo>
                    <a:pt x="156872" y="287120"/>
                    <a:pt x="153934" y="290547"/>
                    <a:pt x="154423" y="296301"/>
                  </a:cubicBezTo>
                  <a:cubicBezTo>
                    <a:pt x="154913" y="302116"/>
                    <a:pt x="158463" y="304931"/>
                    <a:pt x="160544" y="306645"/>
                  </a:cubicBezTo>
                  <a:cubicBezTo>
                    <a:pt x="162074" y="307869"/>
                    <a:pt x="162074" y="307930"/>
                    <a:pt x="162136" y="308420"/>
                  </a:cubicBezTo>
                  <a:cubicBezTo>
                    <a:pt x="162197" y="308909"/>
                    <a:pt x="162197" y="308971"/>
                    <a:pt x="160912" y="310440"/>
                  </a:cubicBezTo>
                  <a:cubicBezTo>
                    <a:pt x="159136" y="312459"/>
                    <a:pt x="156198" y="315887"/>
                    <a:pt x="156688" y="321640"/>
                  </a:cubicBezTo>
                  <a:cubicBezTo>
                    <a:pt x="157178" y="327455"/>
                    <a:pt x="160728" y="330271"/>
                    <a:pt x="162809" y="331984"/>
                  </a:cubicBezTo>
                  <a:cubicBezTo>
                    <a:pt x="164339" y="333208"/>
                    <a:pt x="164339" y="333269"/>
                    <a:pt x="164401" y="333760"/>
                  </a:cubicBezTo>
                  <a:cubicBezTo>
                    <a:pt x="164462" y="334249"/>
                    <a:pt x="164462" y="334310"/>
                    <a:pt x="163177" y="335779"/>
                  </a:cubicBezTo>
                  <a:cubicBezTo>
                    <a:pt x="161401" y="337799"/>
                    <a:pt x="158463" y="341226"/>
                    <a:pt x="158953" y="346980"/>
                  </a:cubicBezTo>
                  <a:cubicBezTo>
                    <a:pt x="159442" y="352734"/>
                    <a:pt x="162992" y="355610"/>
                    <a:pt x="165074" y="357263"/>
                  </a:cubicBezTo>
                  <a:cubicBezTo>
                    <a:pt x="166604" y="358487"/>
                    <a:pt x="166604" y="358548"/>
                    <a:pt x="166665" y="359038"/>
                  </a:cubicBezTo>
                  <a:cubicBezTo>
                    <a:pt x="166727" y="359527"/>
                    <a:pt x="166727" y="359588"/>
                    <a:pt x="165441" y="361057"/>
                  </a:cubicBezTo>
                  <a:cubicBezTo>
                    <a:pt x="164401" y="362282"/>
                    <a:pt x="163115" y="363751"/>
                    <a:pt x="162197" y="365893"/>
                  </a:cubicBezTo>
                  <a:cubicBezTo>
                    <a:pt x="160850" y="369014"/>
                    <a:pt x="162319" y="372687"/>
                    <a:pt x="165441" y="374033"/>
                  </a:cubicBezTo>
                  <a:cubicBezTo>
                    <a:pt x="168563" y="375380"/>
                    <a:pt x="172235" y="373911"/>
                    <a:pt x="173582" y="370790"/>
                  </a:cubicBezTo>
                  <a:cubicBezTo>
                    <a:pt x="173704" y="370422"/>
                    <a:pt x="174316" y="369810"/>
                    <a:pt x="174806" y="369259"/>
                  </a:cubicBezTo>
                  <a:cubicBezTo>
                    <a:pt x="176581" y="367239"/>
                    <a:pt x="179519" y="363812"/>
                    <a:pt x="179029" y="358058"/>
                  </a:cubicBezTo>
                  <a:cubicBezTo>
                    <a:pt x="178540" y="352243"/>
                    <a:pt x="174990" y="349428"/>
                    <a:pt x="172908" y="347715"/>
                  </a:cubicBezTo>
                  <a:cubicBezTo>
                    <a:pt x="171378" y="346490"/>
                    <a:pt x="171378" y="346429"/>
                    <a:pt x="171317" y="345939"/>
                  </a:cubicBezTo>
                  <a:cubicBezTo>
                    <a:pt x="171256" y="345450"/>
                    <a:pt x="171256" y="345389"/>
                    <a:pt x="172541" y="343920"/>
                  </a:cubicBezTo>
                  <a:cubicBezTo>
                    <a:pt x="174316" y="341900"/>
                    <a:pt x="177255" y="338472"/>
                    <a:pt x="176764" y="332719"/>
                  </a:cubicBezTo>
                  <a:cubicBezTo>
                    <a:pt x="176275" y="326904"/>
                    <a:pt x="172725" y="324088"/>
                    <a:pt x="170644" y="322375"/>
                  </a:cubicBezTo>
                  <a:cubicBezTo>
                    <a:pt x="169113" y="321151"/>
                    <a:pt x="169113" y="321090"/>
                    <a:pt x="169052" y="320600"/>
                  </a:cubicBezTo>
                  <a:cubicBezTo>
                    <a:pt x="168991" y="320110"/>
                    <a:pt x="168991" y="320049"/>
                    <a:pt x="170277" y="318580"/>
                  </a:cubicBezTo>
                  <a:cubicBezTo>
                    <a:pt x="172052" y="316560"/>
                    <a:pt x="174990" y="313133"/>
                    <a:pt x="174500" y="307379"/>
                  </a:cubicBezTo>
                  <a:cubicBezTo>
                    <a:pt x="174010" y="301565"/>
                    <a:pt x="170460" y="298749"/>
                    <a:pt x="168379" y="297036"/>
                  </a:cubicBezTo>
                  <a:cubicBezTo>
                    <a:pt x="166849" y="295812"/>
                    <a:pt x="166849" y="295750"/>
                    <a:pt x="166788" y="295260"/>
                  </a:cubicBezTo>
                  <a:cubicBezTo>
                    <a:pt x="166727" y="294771"/>
                    <a:pt x="166727" y="294709"/>
                    <a:pt x="168012" y="293241"/>
                  </a:cubicBezTo>
                  <a:cubicBezTo>
                    <a:pt x="169787" y="291221"/>
                    <a:pt x="172725" y="287793"/>
                    <a:pt x="172235" y="282040"/>
                  </a:cubicBezTo>
                  <a:cubicBezTo>
                    <a:pt x="171746" y="276470"/>
                    <a:pt x="168869" y="271818"/>
                    <a:pt x="166298" y="267657"/>
                  </a:cubicBezTo>
                  <a:cubicBezTo>
                    <a:pt x="164523" y="264718"/>
                    <a:pt x="162809" y="261964"/>
                    <a:pt x="162319" y="259577"/>
                  </a:cubicBezTo>
                  <a:cubicBezTo>
                    <a:pt x="161830" y="257129"/>
                    <a:pt x="162319" y="253885"/>
                    <a:pt x="162871" y="250457"/>
                  </a:cubicBezTo>
                  <a:cubicBezTo>
                    <a:pt x="163605" y="245683"/>
                    <a:pt x="164462" y="240297"/>
                    <a:pt x="162809" y="235033"/>
                  </a:cubicBezTo>
                  <a:cubicBezTo>
                    <a:pt x="161095" y="229769"/>
                    <a:pt x="157239" y="225791"/>
                    <a:pt x="153873" y="222364"/>
                  </a:cubicBezTo>
                  <a:cubicBezTo>
                    <a:pt x="151485" y="219915"/>
                    <a:pt x="149220" y="217589"/>
                    <a:pt x="148180" y="215325"/>
                  </a:cubicBezTo>
                  <a:cubicBezTo>
                    <a:pt x="147140" y="213060"/>
                    <a:pt x="146956" y="209816"/>
                    <a:pt x="146711" y="206388"/>
                  </a:cubicBezTo>
                  <a:cubicBezTo>
                    <a:pt x="146344" y="201554"/>
                    <a:pt x="145976" y="196045"/>
                    <a:pt x="143161" y="191332"/>
                  </a:cubicBezTo>
                  <a:cubicBezTo>
                    <a:pt x="140345" y="186558"/>
                    <a:pt x="135693" y="183620"/>
                    <a:pt x="131654" y="180988"/>
                  </a:cubicBezTo>
                  <a:cubicBezTo>
                    <a:pt x="128777" y="179152"/>
                    <a:pt x="126023" y="177377"/>
                    <a:pt x="124492" y="175418"/>
                  </a:cubicBezTo>
                  <a:cubicBezTo>
                    <a:pt x="123023" y="173459"/>
                    <a:pt x="122044" y="170399"/>
                    <a:pt x="121064" y="167094"/>
                  </a:cubicBezTo>
                  <a:cubicBezTo>
                    <a:pt x="119657" y="162442"/>
                    <a:pt x="118004" y="157179"/>
                    <a:pt x="114148" y="153139"/>
                  </a:cubicBezTo>
                  <a:cubicBezTo>
                    <a:pt x="110353" y="149160"/>
                    <a:pt x="105211" y="147324"/>
                    <a:pt x="100682" y="145671"/>
                  </a:cubicBezTo>
                  <a:cubicBezTo>
                    <a:pt x="100437" y="145611"/>
                    <a:pt x="100192" y="145488"/>
                    <a:pt x="99947" y="145427"/>
                  </a:cubicBezTo>
                  <a:cubicBezTo>
                    <a:pt x="103253" y="139918"/>
                    <a:pt x="104905" y="133369"/>
                    <a:pt x="107843" y="130309"/>
                  </a:cubicBezTo>
                  <a:cubicBezTo>
                    <a:pt x="109557" y="128473"/>
                    <a:pt x="112495" y="127065"/>
                    <a:pt x="115617" y="125535"/>
                  </a:cubicBezTo>
                  <a:cubicBezTo>
                    <a:pt x="119963" y="123393"/>
                    <a:pt x="124859" y="121005"/>
                    <a:pt x="128226" y="116598"/>
                  </a:cubicBezTo>
                  <a:cubicBezTo>
                    <a:pt x="131592" y="112192"/>
                    <a:pt x="132633" y="106744"/>
                    <a:pt x="133490" y="101970"/>
                  </a:cubicBezTo>
                  <a:cubicBezTo>
                    <a:pt x="134102" y="98604"/>
                    <a:pt x="134714" y="95421"/>
                    <a:pt x="135999" y="93279"/>
                  </a:cubicBezTo>
                  <a:cubicBezTo>
                    <a:pt x="137285" y="91137"/>
                    <a:pt x="139795" y="89117"/>
                    <a:pt x="142426" y="86913"/>
                  </a:cubicBezTo>
                  <a:cubicBezTo>
                    <a:pt x="146160" y="83853"/>
                    <a:pt x="150445" y="80365"/>
                    <a:pt x="152709" y="75346"/>
                  </a:cubicBezTo>
                  <a:cubicBezTo>
                    <a:pt x="154974" y="70327"/>
                    <a:pt x="154729" y="64818"/>
                    <a:pt x="154546" y="59982"/>
                  </a:cubicBezTo>
                  <a:cubicBezTo>
                    <a:pt x="154423" y="56555"/>
                    <a:pt x="154240" y="53311"/>
                    <a:pt x="155035" y="50924"/>
                  </a:cubicBezTo>
                  <a:cubicBezTo>
                    <a:pt x="155770" y="48598"/>
                    <a:pt x="157790" y="46027"/>
                    <a:pt x="159871" y="43335"/>
                  </a:cubicBezTo>
                  <a:cubicBezTo>
                    <a:pt x="162871" y="39478"/>
                    <a:pt x="166237" y="35133"/>
                    <a:pt x="167339" y="29685"/>
                  </a:cubicBezTo>
                  <a:cubicBezTo>
                    <a:pt x="168440" y="24299"/>
                    <a:pt x="166971" y="19036"/>
                    <a:pt x="165686" y="14384"/>
                  </a:cubicBezTo>
                  <a:cubicBezTo>
                    <a:pt x="164890" y="11385"/>
                    <a:pt x="164095" y="8508"/>
                    <a:pt x="164095" y="6182"/>
                  </a:cubicBezTo>
                  <a:cubicBezTo>
                    <a:pt x="164095" y="2754"/>
                    <a:pt x="161340" y="0"/>
                    <a:pt x="157912" y="0"/>
                  </a:cubicBezTo>
                  <a:cubicBezTo>
                    <a:pt x="154485" y="0"/>
                    <a:pt x="151730" y="2754"/>
                    <a:pt x="151730" y="6182"/>
                  </a:cubicBezTo>
                  <a:cubicBezTo>
                    <a:pt x="151730" y="10222"/>
                    <a:pt x="152771" y="14017"/>
                    <a:pt x="153750" y="17689"/>
                  </a:cubicBezTo>
                  <a:cubicBezTo>
                    <a:pt x="154729" y="21361"/>
                    <a:pt x="155709" y="24789"/>
                    <a:pt x="155158" y="27298"/>
                  </a:cubicBezTo>
                  <a:cubicBezTo>
                    <a:pt x="154668" y="29869"/>
                    <a:pt x="152403" y="32745"/>
                    <a:pt x="150078" y="35745"/>
                  </a:cubicBezTo>
                  <a:cubicBezTo>
                    <a:pt x="147507" y="39050"/>
                    <a:pt x="144630" y="42723"/>
                    <a:pt x="143222" y="47191"/>
                  </a:cubicBezTo>
                  <a:cubicBezTo>
                    <a:pt x="141814" y="51659"/>
                    <a:pt x="141998" y="56372"/>
                    <a:pt x="142181" y="60533"/>
                  </a:cubicBezTo>
                  <a:cubicBezTo>
                    <a:pt x="142365" y="64328"/>
                    <a:pt x="142487" y="67939"/>
                    <a:pt x="141447" y="70327"/>
                  </a:cubicBezTo>
                  <a:cubicBezTo>
                    <a:pt x="139917" y="72775"/>
                    <a:pt x="137101" y="75040"/>
                    <a:pt x="134163" y="77426"/>
                  </a:cubicBezTo>
                  <a:lnTo>
                    <a:pt x="134163" y="774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970;p54">
              <a:extLst>
                <a:ext uri="{FF2B5EF4-FFF2-40B4-BE49-F238E27FC236}">
                  <a16:creationId xmlns:a16="http://schemas.microsoft.com/office/drawing/2014/main" id="{E0291FDB-F6FB-E190-78FD-192DD3BE83CE}"/>
                </a:ext>
              </a:extLst>
            </p:cNvPr>
            <p:cNvSpPr/>
            <p:nvPr/>
          </p:nvSpPr>
          <p:spPr>
            <a:xfrm>
              <a:off x="9854211" y="3154830"/>
              <a:ext cx="232509" cy="422056"/>
            </a:xfrm>
            <a:custGeom>
              <a:avLst/>
              <a:gdLst/>
              <a:ahLst/>
              <a:cxnLst/>
              <a:rect l="l" t="t" r="r" b="b"/>
              <a:pathLst>
                <a:path w="232509" h="422056" extrusionOk="0">
                  <a:moveTo>
                    <a:pt x="224656" y="292892"/>
                  </a:moveTo>
                  <a:cubicBezTo>
                    <a:pt x="222514" y="268104"/>
                    <a:pt x="215597" y="244355"/>
                    <a:pt x="204090" y="222321"/>
                  </a:cubicBezTo>
                  <a:cubicBezTo>
                    <a:pt x="193011" y="201021"/>
                    <a:pt x="178199" y="182353"/>
                    <a:pt x="160081" y="166684"/>
                  </a:cubicBezTo>
                  <a:cubicBezTo>
                    <a:pt x="178199" y="151015"/>
                    <a:pt x="193011" y="132347"/>
                    <a:pt x="204090" y="111047"/>
                  </a:cubicBezTo>
                  <a:cubicBezTo>
                    <a:pt x="215597" y="89013"/>
                    <a:pt x="222514" y="65265"/>
                    <a:pt x="224656" y="40476"/>
                  </a:cubicBezTo>
                  <a:cubicBezTo>
                    <a:pt x="226432" y="20033"/>
                    <a:pt x="211252" y="1916"/>
                    <a:pt x="190808" y="141"/>
                  </a:cubicBezTo>
                  <a:cubicBezTo>
                    <a:pt x="170364" y="-1634"/>
                    <a:pt x="152246" y="13546"/>
                    <a:pt x="150471" y="33989"/>
                  </a:cubicBezTo>
                  <a:cubicBezTo>
                    <a:pt x="147594" y="66550"/>
                    <a:pt x="135842" y="97521"/>
                    <a:pt x="116316" y="123778"/>
                  </a:cubicBezTo>
                  <a:cubicBezTo>
                    <a:pt x="114480" y="121269"/>
                    <a:pt x="112644" y="118760"/>
                    <a:pt x="110930" y="116189"/>
                  </a:cubicBezTo>
                  <a:cubicBezTo>
                    <a:pt x="109033" y="113373"/>
                    <a:pt x="105176" y="112578"/>
                    <a:pt x="102361" y="114475"/>
                  </a:cubicBezTo>
                  <a:cubicBezTo>
                    <a:pt x="99545" y="116372"/>
                    <a:pt x="98749" y="120228"/>
                    <a:pt x="100647" y="123044"/>
                  </a:cubicBezTo>
                  <a:cubicBezTo>
                    <a:pt x="103034" y="126655"/>
                    <a:pt x="105605" y="130205"/>
                    <a:pt x="108236" y="133633"/>
                  </a:cubicBezTo>
                  <a:cubicBezTo>
                    <a:pt x="112277" y="138896"/>
                    <a:pt x="120295" y="138896"/>
                    <a:pt x="124335" y="133633"/>
                  </a:cubicBezTo>
                  <a:cubicBezTo>
                    <a:pt x="146309" y="105049"/>
                    <a:pt x="159591" y="71019"/>
                    <a:pt x="162774" y="35090"/>
                  </a:cubicBezTo>
                  <a:cubicBezTo>
                    <a:pt x="163998" y="21441"/>
                    <a:pt x="176057" y="11281"/>
                    <a:pt x="189706" y="12444"/>
                  </a:cubicBezTo>
                  <a:cubicBezTo>
                    <a:pt x="203356" y="13668"/>
                    <a:pt x="213516" y="25726"/>
                    <a:pt x="212353" y="39436"/>
                  </a:cubicBezTo>
                  <a:cubicBezTo>
                    <a:pt x="208252" y="86259"/>
                    <a:pt x="186156" y="128736"/>
                    <a:pt x="150165" y="158911"/>
                  </a:cubicBezTo>
                  <a:cubicBezTo>
                    <a:pt x="147839" y="160870"/>
                    <a:pt x="146554" y="163685"/>
                    <a:pt x="146554" y="166684"/>
                  </a:cubicBezTo>
                  <a:cubicBezTo>
                    <a:pt x="146554" y="169683"/>
                    <a:pt x="147900" y="172560"/>
                    <a:pt x="150165" y="174458"/>
                  </a:cubicBezTo>
                  <a:cubicBezTo>
                    <a:pt x="186156" y="204693"/>
                    <a:pt x="208252" y="247109"/>
                    <a:pt x="212353" y="293932"/>
                  </a:cubicBezTo>
                  <a:lnTo>
                    <a:pt x="220127" y="382560"/>
                  </a:lnTo>
                  <a:cubicBezTo>
                    <a:pt x="221351" y="396209"/>
                    <a:pt x="211190" y="408328"/>
                    <a:pt x="197480" y="409552"/>
                  </a:cubicBezTo>
                  <a:cubicBezTo>
                    <a:pt x="183830" y="410776"/>
                    <a:pt x="171710" y="400616"/>
                    <a:pt x="170548" y="386905"/>
                  </a:cubicBezTo>
                  <a:lnTo>
                    <a:pt x="162774" y="298278"/>
                  </a:lnTo>
                  <a:cubicBezTo>
                    <a:pt x="159652" y="262350"/>
                    <a:pt x="146370" y="228319"/>
                    <a:pt x="124335" y="199736"/>
                  </a:cubicBezTo>
                  <a:cubicBezTo>
                    <a:pt x="120295" y="194472"/>
                    <a:pt x="112277" y="194472"/>
                    <a:pt x="108236" y="199736"/>
                  </a:cubicBezTo>
                  <a:cubicBezTo>
                    <a:pt x="86263" y="228258"/>
                    <a:pt x="72980" y="262350"/>
                    <a:pt x="69797" y="298278"/>
                  </a:cubicBezTo>
                  <a:lnTo>
                    <a:pt x="62024" y="386905"/>
                  </a:lnTo>
                  <a:cubicBezTo>
                    <a:pt x="61473" y="393515"/>
                    <a:pt x="58351" y="399514"/>
                    <a:pt x="53210" y="403798"/>
                  </a:cubicBezTo>
                  <a:cubicBezTo>
                    <a:pt x="48130" y="408082"/>
                    <a:pt x="41641" y="410103"/>
                    <a:pt x="35031" y="409552"/>
                  </a:cubicBezTo>
                  <a:cubicBezTo>
                    <a:pt x="28420" y="409001"/>
                    <a:pt x="22422" y="405879"/>
                    <a:pt x="18137" y="400738"/>
                  </a:cubicBezTo>
                  <a:cubicBezTo>
                    <a:pt x="13853" y="395658"/>
                    <a:pt x="11832" y="389170"/>
                    <a:pt x="12383" y="382560"/>
                  </a:cubicBezTo>
                  <a:lnTo>
                    <a:pt x="20157" y="293932"/>
                  </a:lnTo>
                  <a:cubicBezTo>
                    <a:pt x="24258" y="247109"/>
                    <a:pt x="46354" y="204632"/>
                    <a:pt x="82345" y="174458"/>
                  </a:cubicBezTo>
                  <a:cubicBezTo>
                    <a:pt x="84671" y="172499"/>
                    <a:pt x="85957" y="169683"/>
                    <a:pt x="85957" y="166684"/>
                  </a:cubicBezTo>
                  <a:cubicBezTo>
                    <a:pt x="85957" y="163685"/>
                    <a:pt x="84610" y="160808"/>
                    <a:pt x="82345" y="158911"/>
                  </a:cubicBezTo>
                  <a:cubicBezTo>
                    <a:pt x="46354" y="128675"/>
                    <a:pt x="24258" y="86259"/>
                    <a:pt x="20157" y="39436"/>
                  </a:cubicBezTo>
                  <a:cubicBezTo>
                    <a:pt x="18933" y="25787"/>
                    <a:pt x="29093" y="13668"/>
                    <a:pt x="42804" y="12505"/>
                  </a:cubicBezTo>
                  <a:cubicBezTo>
                    <a:pt x="56454" y="11281"/>
                    <a:pt x="68573" y="21441"/>
                    <a:pt x="69736" y="35151"/>
                  </a:cubicBezTo>
                  <a:cubicBezTo>
                    <a:pt x="71634" y="56696"/>
                    <a:pt x="77142" y="77629"/>
                    <a:pt x="86201" y="97276"/>
                  </a:cubicBezTo>
                  <a:cubicBezTo>
                    <a:pt x="87609" y="100398"/>
                    <a:pt x="91282" y="101744"/>
                    <a:pt x="94403" y="100336"/>
                  </a:cubicBezTo>
                  <a:cubicBezTo>
                    <a:pt x="97525" y="98929"/>
                    <a:pt x="98872" y="95256"/>
                    <a:pt x="97464" y="92135"/>
                  </a:cubicBezTo>
                  <a:cubicBezTo>
                    <a:pt x="89017" y="73773"/>
                    <a:pt x="83875" y="54187"/>
                    <a:pt x="82101" y="34050"/>
                  </a:cubicBezTo>
                  <a:cubicBezTo>
                    <a:pt x="80325" y="13606"/>
                    <a:pt x="62208" y="-1573"/>
                    <a:pt x="41764" y="203"/>
                  </a:cubicBezTo>
                  <a:cubicBezTo>
                    <a:pt x="21320" y="1977"/>
                    <a:pt x="6140" y="20095"/>
                    <a:pt x="7915" y="40537"/>
                  </a:cubicBezTo>
                  <a:cubicBezTo>
                    <a:pt x="10057" y="65326"/>
                    <a:pt x="16974" y="89075"/>
                    <a:pt x="28481" y="111109"/>
                  </a:cubicBezTo>
                  <a:cubicBezTo>
                    <a:pt x="39560" y="132409"/>
                    <a:pt x="54372" y="151077"/>
                    <a:pt x="72491" y="166745"/>
                  </a:cubicBezTo>
                  <a:cubicBezTo>
                    <a:pt x="54372" y="182415"/>
                    <a:pt x="39560" y="201082"/>
                    <a:pt x="28481" y="222382"/>
                  </a:cubicBezTo>
                  <a:cubicBezTo>
                    <a:pt x="16974" y="244417"/>
                    <a:pt x="10057" y="268165"/>
                    <a:pt x="7915" y="292953"/>
                  </a:cubicBezTo>
                  <a:lnTo>
                    <a:pt x="141" y="381580"/>
                  </a:lnTo>
                  <a:cubicBezTo>
                    <a:pt x="-716" y="391496"/>
                    <a:pt x="2345" y="401166"/>
                    <a:pt x="8711" y="408756"/>
                  </a:cubicBezTo>
                  <a:cubicBezTo>
                    <a:pt x="15995" y="417448"/>
                    <a:pt x="26461" y="422038"/>
                    <a:pt x="37295" y="422038"/>
                  </a:cubicBezTo>
                  <a:cubicBezTo>
                    <a:pt x="46048" y="422038"/>
                    <a:pt x="54434" y="418978"/>
                    <a:pt x="61167" y="413347"/>
                  </a:cubicBezTo>
                  <a:cubicBezTo>
                    <a:pt x="68818" y="406981"/>
                    <a:pt x="73470" y="397983"/>
                    <a:pt x="74327" y="388068"/>
                  </a:cubicBezTo>
                  <a:lnTo>
                    <a:pt x="82101" y="299441"/>
                  </a:lnTo>
                  <a:cubicBezTo>
                    <a:pt x="84977" y="266880"/>
                    <a:pt x="96729" y="235848"/>
                    <a:pt x="116255" y="209651"/>
                  </a:cubicBezTo>
                  <a:cubicBezTo>
                    <a:pt x="135781" y="235848"/>
                    <a:pt x="147533" y="266818"/>
                    <a:pt x="150410" y="299441"/>
                  </a:cubicBezTo>
                  <a:lnTo>
                    <a:pt x="158183" y="388068"/>
                  </a:lnTo>
                  <a:cubicBezTo>
                    <a:pt x="159958" y="408450"/>
                    <a:pt x="178015" y="423690"/>
                    <a:pt x="198520" y="421915"/>
                  </a:cubicBezTo>
                  <a:cubicBezTo>
                    <a:pt x="218964" y="420140"/>
                    <a:pt x="234144" y="402023"/>
                    <a:pt x="232369" y="381580"/>
                  </a:cubicBezTo>
                  <a:lnTo>
                    <a:pt x="224656" y="2928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971;p54">
              <a:extLst>
                <a:ext uri="{FF2B5EF4-FFF2-40B4-BE49-F238E27FC236}">
                  <a16:creationId xmlns:a16="http://schemas.microsoft.com/office/drawing/2014/main" id="{CC384188-2DCC-3073-9F4F-E555E25F3034}"/>
                </a:ext>
              </a:extLst>
            </p:cNvPr>
            <p:cNvSpPr/>
            <p:nvPr/>
          </p:nvSpPr>
          <p:spPr>
            <a:xfrm>
              <a:off x="10092352" y="3399817"/>
              <a:ext cx="91671" cy="156914"/>
            </a:xfrm>
            <a:custGeom>
              <a:avLst/>
              <a:gdLst/>
              <a:ahLst/>
              <a:cxnLst/>
              <a:rect l="l" t="t" r="r" b="b"/>
              <a:pathLst>
                <a:path w="91671" h="156914" extrusionOk="0">
                  <a:moveTo>
                    <a:pt x="86286" y="42"/>
                  </a:moveTo>
                  <a:cubicBezTo>
                    <a:pt x="82552" y="-386"/>
                    <a:pt x="79308" y="2491"/>
                    <a:pt x="79308" y="6163"/>
                  </a:cubicBezTo>
                  <a:lnTo>
                    <a:pt x="79308" y="93443"/>
                  </a:lnTo>
                  <a:lnTo>
                    <a:pt x="36462" y="93443"/>
                  </a:lnTo>
                  <a:lnTo>
                    <a:pt x="36462" y="48518"/>
                  </a:lnTo>
                  <a:cubicBezTo>
                    <a:pt x="36462" y="45090"/>
                    <a:pt x="33707" y="42336"/>
                    <a:pt x="30279" y="42336"/>
                  </a:cubicBezTo>
                  <a:lnTo>
                    <a:pt x="8122" y="42336"/>
                  </a:lnTo>
                  <a:cubicBezTo>
                    <a:pt x="4511" y="42336"/>
                    <a:pt x="1450" y="45335"/>
                    <a:pt x="1695" y="48885"/>
                  </a:cubicBezTo>
                  <a:cubicBezTo>
                    <a:pt x="1879" y="52129"/>
                    <a:pt x="4388" y="54700"/>
                    <a:pt x="7448" y="54700"/>
                  </a:cubicBezTo>
                  <a:lnTo>
                    <a:pt x="24893" y="54700"/>
                  </a:lnTo>
                  <a:lnTo>
                    <a:pt x="24893" y="144551"/>
                  </a:lnTo>
                  <a:lnTo>
                    <a:pt x="6408" y="144551"/>
                  </a:lnTo>
                  <a:cubicBezTo>
                    <a:pt x="3225" y="144551"/>
                    <a:pt x="409" y="146815"/>
                    <a:pt x="42" y="149937"/>
                  </a:cubicBezTo>
                  <a:cubicBezTo>
                    <a:pt x="-386" y="153671"/>
                    <a:pt x="2491" y="156915"/>
                    <a:pt x="6163" y="156915"/>
                  </a:cubicBezTo>
                  <a:lnTo>
                    <a:pt x="31075" y="156915"/>
                  </a:lnTo>
                  <a:cubicBezTo>
                    <a:pt x="34503" y="156915"/>
                    <a:pt x="37257" y="154160"/>
                    <a:pt x="37257" y="150733"/>
                  </a:cubicBezTo>
                  <a:lnTo>
                    <a:pt x="37257" y="105807"/>
                  </a:lnTo>
                  <a:lnTo>
                    <a:pt x="85490" y="105807"/>
                  </a:lnTo>
                  <a:cubicBezTo>
                    <a:pt x="88917" y="105807"/>
                    <a:pt x="91672" y="103053"/>
                    <a:pt x="91672" y="99625"/>
                  </a:cubicBezTo>
                  <a:lnTo>
                    <a:pt x="91672" y="6408"/>
                  </a:lnTo>
                  <a:cubicBezTo>
                    <a:pt x="91672" y="3225"/>
                    <a:pt x="89408" y="409"/>
                    <a:pt x="86286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972;p54">
              <a:extLst>
                <a:ext uri="{FF2B5EF4-FFF2-40B4-BE49-F238E27FC236}">
                  <a16:creationId xmlns:a16="http://schemas.microsoft.com/office/drawing/2014/main" id="{B2BE7F04-0526-C980-28E5-2F8735AD6156}"/>
                </a:ext>
              </a:extLst>
            </p:cNvPr>
            <p:cNvSpPr/>
            <p:nvPr/>
          </p:nvSpPr>
          <p:spPr>
            <a:xfrm>
              <a:off x="10148095" y="3218022"/>
              <a:ext cx="59923" cy="177313"/>
            </a:xfrm>
            <a:custGeom>
              <a:avLst/>
              <a:gdLst/>
              <a:ahLst/>
              <a:cxnLst/>
              <a:rect l="l" t="t" r="r" b="b"/>
              <a:pathLst>
                <a:path w="59923" h="177313" extrusionOk="0">
                  <a:moveTo>
                    <a:pt x="59862" y="88558"/>
                  </a:moveTo>
                  <a:cubicBezTo>
                    <a:pt x="59862" y="70808"/>
                    <a:pt x="52334" y="59179"/>
                    <a:pt x="39235" y="47366"/>
                  </a:cubicBezTo>
                  <a:cubicBezTo>
                    <a:pt x="49701" y="37879"/>
                    <a:pt x="59740" y="26311"/>
                    <a:pt x="59862" y="6480"/>
                  </a:cubicBezTo>
                  <a:cubicBezTo>
                    <a:pt x="59862" y="3481"/>
                    <a:pt x="57904" y="726"/>
                    <a:pt x="55027" y="176"/>
                  </a:cubicBezTo>
                  <a:cubicBezTo>
                    <a:pt x="51048" y="-620"/>
                    <a:pt x="47559" y="2379"/>
                    <a:pt x="47559" y="6235"/>
                  </a:cubicBezTo>
                  <a:cubicBezTo>
                    <a:pt x="47559" y="21904"/>
                    <a:pt x="39786" y="30534"/>
                    <a:pt x="29931" y="39226"/>
                  </a:cubicBezTo>
                  <a:cubicBezTo>
                    <a:pt x="27054" y="36655"/>
                    <a:pt x="24300" y="34084"/>
                    <a:pt x="21913" y="31330"/>
                  </a:cubicBezTo>
                  <a:lnTo>
                    <a:pt x="27850" y="31330"/>
                  </a:lnTo>
                  <a:cubicBezTo>
                    <a:pt x="31033" y="31330"/>
                    <a:pt x="33848" y="29065"/>
                    <a:pt x="34216" y="25944"/>
                  </a:cubicBezTo>
                  <a:cubicBezTo>
                    <a:pt x="34644" y="22210"/>
                    <a:pt x="31767" y="18966"/>
                    <a:pt x="28095" y="18966"/>
                  </a:cubicBezTo>
                  <a:lnTo>
                    <a:pt x="14384" y="18966"/>
                  </a:lnTo>
                  <a:cubicBezTo>
                    <a:pt x="13037" y="15294"/>
                    <a:pt x="12303" y="11132"/>
                    <a:pt x="12303" y="6297"/>
                  </a:cubicBezTo>
                  <a:cubicBezTo>
                    <a:pt x="12303" y="3175"/>
                    <a:pt x="10038" y="420"/>
                    <a:pt x="6977" y="53"/>
                  </a:cubicBezTo>
                  <a:cubicBezTo>
                    <a:pt x="3182" y="-436"/>
                    <a:pt x="0" y="2502"/>
                    <a:pt x="0" y="6174"/>
                  </a:cubicBezTo>
                  <a:cubicBezTo>
                    <a:pt x="0" y="26250"/>
                    <a:pt x="10099" y="37879"/>
                    <a:pt x="20627" y="47427"/>
                  </a:cubicBezTo>
                  <a:cubicBezTo>
                    <a:pt x="10099" y="56976"/>
                    <a:pt x="0" y="68605"/>
                    <a:pt x="0" y="88680"/>
                  </a:cubicBezTo>
                  <a:cubicBezTo>
                    <a:pt x="0" y="108756"/>
                    <a:pt x="10099" y="120385"/>
                    <a:pt x="20627" y="129934"/>
                  </a:cubicBezTo>
                  <a:cubicBezTo>
                    <a:pt x="10160" y="139421"/>
                    <a:pt x="122" y="150988"/>
                    <a:pt x="0" y="170881"/>
                  </a:cubicBezTo>
                  <a:cubicBezTo>
                    <a:pt x="0" y="173880"/>
                    <a:pt x="1958" y="176634"/>
                    <a:pt x="4835" y="177185"/>
                  </a:cubicBezTo>
                  <a:cubicBezTo>
                    <a:pt x="8814" y="177981"/>
                    <a:pt x="12303" y="174982"/>
                    <a:pt x="12303" y="171126"/>
                  </a:cubicBezTo>
                  <a:cubicBezTo>
                    <a:pt x="12303" y="166229"/>
                    <a:pt x="13037" y="162067"/>
                    <a:pt x="14384" y="158333"/>
                  </a:cubicBezTo>
                  <a:lnTo>
                    <a:pt x="27911" y="158333"/>
                  </a:lnTo>
                  <a:cubicBezTo>
                    <a:pt x="31094" y="158333"/>
                    <a:pt x="33909" y="156069"/>
                    <a:pt x="34277" y="152947"/>
                  </a:cubicBezTo>
                  <a:cubicBezTo>
                    <a:pt x="34705" y="149214"/>
                    <a:pt x="31829" y="145969"/>
                    <a:pt x="28156" y="145969"/>
                  </a:cubicBezTo>
                  <a:lnTo>
                    <a:pt x="21974" y="145969"/>
                  </a:lnTo>
                  <a:cubicBezTo>
                    <a:pt x="24361" y="143215"/>
                    <a:pt x="27116" y="140645"/>
                    <a:pt x="29992" y="138074"/>
                  </a:cubicBezTo>
                  <a:cubicBezTo>
                    <a:pt x="39786" y="146766"/>
                    <a:pt x="47559" y="155335"/>
                    <a:pt x="47621" y="170942"/>
                  </a:cubicBezTo>
                  <a:cubicBezTo>
                    <a:pt x="47621" y="174063"/>
                    <a:pt x="49885" y="176818"/>
                    <a:pt x="52946" y="177185"/>
                  </a:cubicBezTo>
                  <a:cubicBezTo>
                    <a:pt x="56740" y="177675"/>
                    <a:pt x="59923" y="174736"/>
                    <a:pt x="59923" y="171064"/>
                  </a:cubicBezTo>
                  <a:cubicBezTo>
                    <a:pt x="59923" y="150988"/>
                    <a:pt x="49824" y="139359"/>
                    <a:pt x="39296" y="129872"/>
                  </a:cubicBezTo>
                  <a:cubicBezTo>
                    <a:pt x="52395" y="117814"/>
                    <a:pt x="59862" y="106247"/>
                    <a:pt x="59862" y="88558"/>
                  </a:cubicBezTo>
                  <a:lnTo>
                    <a:pt x="59862" y="88558"/>
                  </a:lnTo>
                  <a:close/>
                  <a:moveTo>
                    <a:pt x="12242" y="88558"/>
                  </a:moveTo>
                  <a:cubicBezTo>
                    <a:pt x="12242" y="72889"/>
                    <a:pt x="20015" y="64259"/>
                    <a:pt x="29870" y="55506"/>
                  </a:cubicBezTo>
                  <a:cubicBezTo>
                    <a:pt x="32196" y="57588"/>
                    <a:pt x="34399" y="59607"/>
                    <a:pt x="36419" y="61750"/>
                  </a:cubicBezTo>
                  <a:lnTo>
                    <a:pt x="31951" y="61750"/>
                  </a:lnTo>
                  <a:cubicBezTo>
                    <a:pt x="28768" y="61750"/>
                    <a:pt x="25952" y="64014"/>
                    <a:pt x="25585" y="67136"/>
                  </a:cubicBezTo>
                  <a:cubicBezTo>
                    <a:pt x="25157" y="70870"/>
                    <a:pt x="28034" y="74113"/>
                    <a:pt x="31706" y="74113"/>
                  </a:cubicBezTo>
                  <a:lnTo>
                    <a:pt x="44805" y="74113"/>
                  </a:lnTo>
                  <a:cubicBezTo>
                    <a:pt x="45845" y="76623"/>
                    <a:pt x="46641" y="79316"/>
                    <a:pt x="47069" y="82376"/>
                  </a:cubicBezTo>
                  <a:lnTo>
                    <a:pt x="26870" y="82376"/>
                  </a:lnTo>
                  <a:cubicBezTo>
                    <a:pt x="23687" y="82376"/>
                    <a:pt x="20872" y="84641"/>
                    <a:pt x="20505" y="87762"/>
                  </a:cubicBezTo>
                  <a:cubicBezTo>
                    <a:pt x="20076" y="91496"/>
                    <a:pt x="22953" y="94740"/>
                    <a:pt x="26626" y="94740"/>
                  </a:cubicBezTo>
                  <a:lnTo>
                    <a:pt x="47008" y="94740"/>
                  </a:lnTo>
                  <a:cubicBezTo>
                    <a:pt x="46580" y="97739"/>
                    <a:pt x="45784" y="100493"/>
                    <a:pt x="44744" y="103003"/>
                  </a:cubicBezTo>
                  <a:lnTo>
                    <a:pt x="31890" y="103003"/>
                  </a:lnTo>
                  <a:cubicBezTo>
                    <a:pt x="28707" y="103003"/>
                    <a:pt x="25891" y="105267"/>
                    <a:pt x="25524" y="108389"/>
                  </a:cubicBezTo>
                  <a:cubicBezTo>
                    <a:pt x="25096" y="112122"/>
                    <a:pt x="27972" y="115366"/>
                    <a:pt x="31645" y="115366"/>
                  </a:cubicBezTo>
                  <a:lnTo>
                    <a:pt x="36358" y="115366"/>
                  </a:lnTo>
                  <a:cubicBezTo>
                    <a:pt x="34338" y="117508"/>
                    <a:pt x="32135" y="119529"/>
                    <a:pt x="29808" y="121609"/>
                  </a:cubicBezTo>
                  <a:cubicBezTo>
                    <a:pt x="20076" y="112857"/>
                    <a:pt x="12242" y="104227"/>
                    <a:pt x="12242" y="885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720;p39">
            <a:extLst>
              <a:ext uri="{FF2B5EF4-FFF2-40B4-BE49-F238E27FC236}">
                <a16:creationId xmlns:a16="http://schemas.microsoft.com/office/drawing/2014/main" id="{0019C0EA-DB3C-9563-1A70-0C23DCE64D58}"/>
              </a:ext>
            </a:extLst>
          </p:cNvPr>
          <p:cNvSpPr txBox="1">
            <a:spLocks/>
          </p:cNvSpPr>
          <p:nvPr/>
        </p:nvSpPr>
        <p:spPr>
          <a:xfrm>
            <a:off x="1102197" y="3466451"/>
            <a:ext cx="4165067" cy="98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600" dirty="0"/>
              <a:t>In ambito tumorale può essere associato ad amplificazione genica, eterogeneità e resistenza ai trattamenti</a:t>
            </a:r>
          </a:p>
        </p:txBody>
      </p:sp>
      <p:grpSp>
        <p:nvGrpSpPr>
          <p:cNvPr id="12" name="Google Shape;1145;p54">
            <a:extLst>
              <a:ext uri="{FF2B5EF4-FFF2-40B4-BE49-F238E27FC236}">
                <a16:creationId xmlns:a16="http://schemas.microsoft.com/office/drawing/2014/main" id="{F45FEE9F-1208-4398-CE94-E86824221E30}"/>
              </a:ext>
            </a:extLst>
          </p:cNvPr>
          <p:cNvGrpSpPr/>
          <p:nvPr/>
        </p:nvGrpSpPr>
        <p:grpSpPr>
          <a:xfrm>
            <a:off x="671174" y="3814277"/>
            <a:ext cx="377439" cy="284710"/>
            <a:chOff x="4354289" y="2539540"/>
            <a:chExt cx="422097" cy="318396"/>
          </a:xfrm>
        </p:grpSpPr>
        <p:sp>
          <p:nvSpPr>
            <p:cNvPr id="13" name="Google Shape;1146;p54">
              <a:extLst>
                <a:ext uri="{FF2B5EF4-FFF2-40B4-BE49-F238E27FC236}">
                  <a16:creationId xmlns:a16="http://schemas.microsoft.com/office/drawing/2014/main" id="{8FA06B83-2408-386E-A234-52469D806C0A}"/>
                </a:ext>
              </a:extLst>
            </p:cNvPr>
            <p:cNvSpPr/>
            <p:nvPr/>
          </p:nvSpPr>
          <p:spPr>
            <a:xfrm>
              <a:off x="4354289" y="2539540"/>
              <a:ext cx="422097" cy="318396"/>
            </a:xfrm>
            <a:custGeom>
              <a:avLst/>
              <a:gdLst/>
              <a:ahLst/>
              <a:cxnLst/>
              <a:rect l="l" t="t" r="r" b="b"/>
              <a:pathLst>
                <a:path w="422097" h="318396" extrusionOk="0">
                  <a:moveTo>
                    <a:pt x="392779" y="133246"/>
                  </a:moveTo>
                  <a:cubicBezTo>
                    <a:pt x="376375" y="122780"/>
                    <a:pt x="353238" y="113905"/>
                    <a:pt x="325755" y="107295"/>
                  </a:cubicBezTo>
                  <a:cubicBezTo>
                    <a:pt x="321654" y="47435"/>
                    <a:pt x="271646" y="0"/>
                    <a:pt x="210804" y="0"/>
                  </a:cubicBezTo>
                  <a:cubicBezTo>
                    <a:pt x="180016" y="0"/>
                    <a:pt x="151064" y="11997"/>
                    <a:pt x="129335" y="33725"/>
                  </a:cubicBezTo>
                  <a:cubicBezTo>
                    <a:pt x="126764" y="36357"/>
                    <a:pt x="126948" y="40641"/>
                    <a:pt x="129947" y="43028"/>
                  </a:cubicBezTo>
                  <a:cubicBezTo>
                    <a:pt x="132395" y="44926"/>
                    <a:pt x="136007" y="44558"/>
                    <a:pt x="138210" y="42355"/>
                  </a:cubicBezTo>
                  <a:cubicBezTo>
                    <a:pt x="157613" y="23014"/>
                    <a:pt x="183382" y="12364"/>
                    <a:pt x="210804" y="12364"/>
                  </a:cubicBezTo>
                  <a:cubicBezTo>
                    <a:pt x="267790" y="12364"/>
                    <a:pt x="314186" y="59003"/>
                    <a:pt x="313697" y="116170"/>
                  </a:cubicBezTo>
                  <a:cubicBezTo>
                    <a:pt x="313207" y="172541"/>
                    <a:pt x="266811" y="218262"/>
                    <a:pt x="210498" y="218079"/>
                  </a:cubicBezTo>
                  <a:cubicBezTo>
                    <a:pt x="152900" y="217895"/>
                    <a:pt x="106504" y="170154"/>
                    <a:pt x="108034" y="112559"/>
                  </a:cubicBezTo>
                  <a:cubicBezTo>
                    <a:pt x="108034" y="112559"/>
                    <a:pt x="108034" y="112498"/>
                    <a:pt x="108034" y="112498"/>
                  </a:cubicBezTo>
                  <a:cubicBezTo>
                    <a:pt x="108463" y="95972"/>
                    <a:pt x="112870" y="79752"/>
                    <a:pt x="120888" y="65368"/>
                  </a:cubicBezTo>
                  <a:cubicBezTo>
                    <a:pt x="122418" y="62614"/>
                    <a:pt x="121806" y="59064"/>
                    <a:pt x="119297" y="57228"/>
                  </a:cubicBezTo>
                  <a:cubicBezTo>
                    <a:pt x="116236" y="54963"/>
                    <a:pt x="112013" y="55943"/>
                    <a:pt x="110176" y="59187"/>
                  </a:cubicBezTo>
                  <a:cubicBezTo>
                    <a:pt x="101913" y="73999"/>
                    <a:pt x="97016" y="90524"/>
                    <a:pt x="95853" y="107479"/>
                  </a:cubicBezTo>
                  <a:cubicBezTo>
                    <a:pt x="68493" y="114089"/>
                    <a:pt x="45479" y="122964"/>
                    <a:pt x="29136" y="133430"/>
                  </a:cubicBezTo>
                  <a:cubicBezTo>
                    <a:pt x="10099" y="145549"/>
                    <a:pt x="0" y="159871"/>
                    <a:pt x="0" y="174683"/>
                  </a:cubicBezTo>
                  <a:lnTo>
                    <a:pt x="0" y="238644"/>
                  </a:lnTo>
                  <a:cubicBezTo>
                    <a:pt x="0" y="261107"/>
                    <a:pt x="22770" y="281611"/>
                    <a:pt x="64086" y="296484"/>
                  </a:cubicBezTo>
                  <a:cubicBezTo>
                    <a:pt x="103443" y="310623"/>
                    <a:pt x="155594" y="318396"/>
                    <a:pt x="211049" y="318396"/>
                  </a:cubicBezTo>
                  <a:cubicBezTo>
                    <a:pt x="266505" y="318396"/>
                    <a:pt x="318655" y="310623"/>
                    <a:pt x="358012" y="296484"/>
                  </a:cubicBezTo>
                  <a:cubicBezTo>
                    <a:pt x="399328" y="281672"/>
                    <a:pt x="422098" y="261107"/>
                    <a:pt x="422098" y="238644"/>
                  </a:cubicBezTo>
                  <a:lnTo>
                    <a:pt x="422098" y="174683"/>
                  </a:lnTo>
                  <a:cubicBezTo>
                    <a:pt x="422037" y="159749"/>
                    <a:pt x="411937" y="145427"/>
                    <a:pt x="392779" y="133246"/>
                  </a:cubicBezTo>
                  <a:lnTo>
                    <a:pt x="392779" y="133246"/>
                  </a:lnTo>
                  <a:close/>
                  <a:moveTo>
                    <a:pt x="305862" y="180314"/>
                  </a:moveTo>
                  <a:cubicBezTo>
                    <a:pt x="327469" y="184293"/>
                    <a:pt x="345648" y="189618"/>
                    <a:pt x="358685" y="195677"/>
                  </a:cubicBezTo>
                  <a:cubicBezTo>
                    <a:pt x="352319" y="198431"/>
                    <a:pt x="344607" y="201186"/>
                    <a:pt x="335181" y="203817"/>
                  </a:cubicBezTo>
                  <a:cubicBezTo>
                    <a:pt x="315839" y="209204"/>
                    <a:pt x="292702" y="213182"/>
                    <a:pt x="267423" y="215569"/>
                  </a:cubicBezTo>
                  <a:cubicBezTo>
                    <a:pt x="282786" y="206878"/>
                    <a:pt x="295885" y="194759"/>
                    <a:pt x="305862" y="180314"/>
                  </a:cubicBezTo>
                  <a:lnTo>
                    <a:pt x="305862" y="180314"/>
                  </a:lnTo>
                  <a:close/>
                  <a:moveTo>
                    <a:pt x="154002" y="215508"/>
                  </a:moveTo>
                  <a:cubicBezTo>
                    <a:pt x="128906" y="213121"/>
                    <a:pt x="105953" y="209142"/>
                    <a:pt x="86733" y="203756"/>
                  </a:cubicBezTo>
                  <a:cubicBezTo>
                    <a:pt x="77369" y="201125"/>
                    <a:pt x="69656" y="198431"/>
                    <a:pt x="63351" y="195616"/>
                  </a:cubicBezTo>
                  <a:cubicBezTo>
                    <a:pt x="76328" y="189556"/>
                    <a:pt x="94385" y="184293"/>
                    <a:pt x="115808" y="180314"/>
                  </a:cubicBezTo>
                  <a:cubicBezTo>
                    <a:pt x="125662" y="194759"/>
                    <a:pt x="138761" y="206817"/>
                    <a:pt x="154002" y="215508"/>
                  </a:cubicBezTo>
                  <a:close/>
                  <a:moveTo>
                    <a:pt x="39174" y="174622"/>
                  </a:moveTo>
                  <a:cubicBezTo>
                    <a:pt x="39174" y="165931"/>
                    <a:pt x="54905" y="152526"/>
                    <a:pt x="98792" y="142366"/>
                  </a:cubicBezTo>
                  <a:cubicBezTo>
                    <a:pt x="101056" y="151792"/>
                    <a:pt x="104484" y="160728"/>
                    <a:pt x="108952" y="169052"/>
                  </a:cubicBezTo>
                  <a:cubicBezTo>
                    <a:pt x="83795" y="174010"/>
                    <a:pt x="63719" y="180681"/>
                    <a:pt x="50130" y="188577"/>
                  </a:cubicBezTo>
                  <a:cubicBezTo>
                    <a:pt x="42357" y="183436"/>
                    <a:pt x="39174" y="178478"/>
                    <a:pt x="39174" y="174622"/>
                  </a:cubicBezTo>
                  <a:lnTo>
                    <a:pt x="39174" y="174622"/>
                  </a:lnTo>
                  <a:close/>
                  <a:moveTo>
                    <a:pt x="409673" y="238583"/>
                  </a:moveTo>
                  <a:cubicBezTo>
                    <a:pt x="409673" y="255170"/>
                    <a:pt x="389290" y="272002"/>
                    <a:pt x="353788" y="284794"/>
                  </a:cubicBezTo>
                  <a:cubicBezTo>
                    <a:pt x="315778" y="298443"/>
                    <a:pt x="265035" y="305971"/>
                    <a:pt x="211049" y="305971"/>
                  </a:cubicBezTo>
                  <a:cubicBezTo>
                    <a:pt x="157001" y="305971"/>
                    <a:pt x="106320" y="298443"/>
                    <a:pt x="68309" y="284794"/>
                  </a:cubicBezTo>
                  <a:cubicBezTo>
                    <a:pt x="32808" y="272063"/>
                    <a:pt x="12426" y="255170"/>
                    <a:pt x="12426" y="238583"/>
                  </a:cubicBezTo>
                  <a:lnTo>
                    <a:pt x="12426" y="202287"/>
                  </a:lnTo>
                  <a:cubicBezTo>
                    <a:pt x="26504" y="217283"/>
                    <a:pt x="52150" y="230259"/>
                    <a:pt x="87345" y="239685"/>
                  </a:cubicBezTo>
                  <a:cubicBezTo>
                    <a:pt x="90651" y="240541"/>
                    <a:pt x="94017" y="238583"/>
                    <a:pt x="94935" y="235278"/>
                  </a:cubicBezTo>
                  <a:cubicBezTo>
                    <a:pt x="95792" y="231972"/>
                    <a:pt x="93834" y="228606"/>
                    <a:pt x="90528" y="227688"/>
                  </a:cubicBezTo>
                  <a:cubicBezTo>
                    <a:pt x="42357" y="214835"/>
                    <a:pt x="12364" y="194453"/>
                    <a:pt x="12364" y="174622"/>
                  </a:cubicBezTo>
                  <a:cubicBezTo>
                    <a:pt x="12364" y="161463"/>
                    <a:pt x="25096" y="150568"/>
                    <a:pt x="35746" y="143774"/>
                  </a:cubicBezTo>
                  <a:cubicBezTo>
                    <a:pt x="50375" y="134471"/>
                    <a:pt x="70942" y="126391"/>
                    <a:pt x="95670" y="120210"/>
                  </a:cubicBezTo>
                  <a:cubicBezTo>
                    <a:pt x="95792" y="123576"/>
                    <a:pt x="96098" y="126942"/>
                    <a:pt x="96527" y="130248"/>
                  </a:cubicBezTo>
                  <a:cubicBezTo>
                    <a:pt x="68126" y="136796"/>
                    <a:pt x="26810" y="150507"/>
                    <a:pt x="26810" y="174622"/>
                  </a:cubicBezTo>
                  <a:cubicBezTo>
                    <a:pt x="26810" y="196901"/>
                    <a:pt x="61821" y="209694"/>
                    <a:pt x="83367" y="215692"/>
                  </a:cubicBezTo>
                  <a:cubicBezTo>
                    <a:pt x="122296" y="226586"/>
                    <a:pt x="170161" y="230504"/>
                    <a:pt x="210743" y="230504"/>
                  </a:cubicBezTo>
                  <a:cubicBezTo>
                    <a:pt x="210865" y="230504"/>
                    <a:pt x="210865" y="230504"/>
                    <a:pt x="210927" y="230504"/>
                  </a:cubicBezTo>
                  <a:cubicBezTo>
                    <a:pt x="210927" y="230504"/>
                    <a:pt x="210927" y="230504"/>
                    <a:pt x="210988" y="230504"/>
                  </a:cubicBezTo>
                  <a:cubicBezTo>
                    <a:pt x="259098" y="230504"/>
                    <a:pt x="304393" y="225240"/>
                    <a:pt x="338486" y="215692"/>
                  </a:cubicBezTo>
                  <a:cubicBezTo>
                    <a:pt x="359971" y="209694"/>
                    <a:pt x="395166" y="196901"/>
                    <a:pt x="395166" y="174622"/>
                  </a:cubicBezTo>
                  <a:cubicBezTo>
                    <a:pt x="395166" y="163850"/>
                    <a:pt x="387025" y="154179"/>
                    <a:pt x="370927" y="145733"/>
                  </a:cubicBezTo>
                  <a:cubicBezTo>
                    <a:pt x="367683" y="144019"/>
                    <a:pt x="363582" y="145488"/>
                    <a:pt x="362235" y="149099"/>
                  </a:cubicBezTo>
                  <a:cubicBezTo>
                    <a:pt x="361134" y="152037"/>
                    <a:pt x="362603" y="155342"/>
                    <a:pt x="365418" y="156811"/>
                  </a:cubicBezTo>
                  <a:cubicBezTo>
                    <a:pt x="376620" y="162687"/>
                    <a:pt x="382802" y="168991"/>
                    <a:pt x="382802" y="174622"/>
                  </a:cubicBezTo>
                  <a:cubicBezTo>
                    <a:pt x="382802" y="178539"/>
                    <a:pt x="379619" y="183436"/>
                    <a:pt x="371906" y="188577"/>
                  </a:cubicBezTo>
                  <a:cubicBezTo>
                    <a:pt x="358257" y="180681"/>
                    <a:pt x="337997" y="173949"/>
                    <a:pt x="312717" y="168991"/>
                  </a:cubicBezTo>
                  <a:cubicBezTo>
                    <a:pt x="317124" y="160606"/>
                    <a:pt x="320552" y="151670"/>
                    <a:pt x="322817" y="142244"/>
                  </a:cubicBezTo>
                  <a:cubicBezTo>
                    <a:pt x="328142" y="143468"/>
                    <a:pt x="333222" y="144815"/>
                    <a:pt x="337997" y="146161"/>
                  </a:cubicBezTo>
                  <a:cubicBezTo>
                    <a:pt x="341730" y="147263"/>
                    <a:pt x="345648" y="144631"/>
                    <a:pt x="345893" y="140530"/>
                  </a:cubicBezTo>
                  <a:cubicBezTo>
                    <a:pt x="346076" y="137592"/>
                    <a:pt x="344056" y="135022"/>
                    <a:pt x="341241" y="134226"/>
                  </a:cubicBezTo>
                  <a:cubicBezTo>
                    <a:pt x="336160" y="132757"/>
                    <a:pt x="330713" y="131349"/>
                    <a:pt x="325081" y="130064"/>
                  </a:cubicBezTo>
                  <a:cubicBezTo>
                    <a:pt x="325510" y="126759"/>
                    <a:pt x="325816" y="123392"/>
                    <a:pt x="325938" y="120026"/>
                  </a:cubicBezTo>
                  <a:cubicBezTo>
                    <a:pt x="350789" y="126208"/>
                    <a:pt x="371478" y="134287"/>
                    <a:pt x="386168" y="143652"/>
                  </a:cubicBezTo>
                  <a:cubicBezTo>
                    <a:pt x="396880" y="150446"/>
                    <a:pt x="409673" y="161340"/>
                    <a:pt x="409673" y="174561"/>
                  </a:cubicBezTo>
                  <a:cubicBezTo>
                    <a:pt x="409673" y="191148"/>
                    <a:pt x="389290" y="207980"/>
                    <a:pt x="353788" y="220772"/>
                  </a:cubicBezTo>
                  <a:cubicBezTo>
                    <a:pt x="315778" y="234421"/>
                    <a:pt x="265035" y="241950"/>
                    <a:pt x="211049" y="241950"/>
                  </a:cubicBezTo>
                  <a:cubicBezTo>
                    <a:pt x="178424" y="241950"/>
                    <a:pt x="146045" y="239134"/>
                    <a:pt x="117399" y="233748"/>
                  </a:cubicBezTo>
                  <a:cubicBezTo>
                    <a:pt x="113788" y="233075"/>
                    <a:pt x="110360" y="235645"/>
                    <a:pt x="110115" y="239440"/>
                  </a:cubicBezTo>
                  <a:cubicBezTo>
                    <a:pt x="109932" y="242562"/>
                    <a:pt x="112258" y="245377"/>
                    <a:pt x="115379" y="245928"/>
                  </a:cubicBezTo>
                  <a:cubicBezTo>
                    <a:pt x="144698" y="251437"/>
                    <a:pt x="177812" y="254313"/>
                    <a:pt x="211110" y="254313"/>
                  </a:cubicBezTo>
                  <a:cubicBezTo>
                    <a:pt x="266505" y="254313"/>
                    <a:pt x="318716" y="246540"/>
                    <a:pt x="358073" y="232401"/>
                  </a:cubicBezTo>
                  <a:cubicBezTo>
                    <a:pt x="381578" y="223955"/>
                    <a:pt x="399083" y="213672"/>
                    <a:pt x="409795" y="202226"/>
                  </a:cubicBezTo>
                  <a:lnTo>
                    <a:pt x="409795" y="2385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147;p54">
              <a:extLst>
                <a:ext uri="{FF2B5EF4-FFF2-40B4-BE49-F238E27FC236}">
                  <a16:creationId xmlns:a16="http://schemas.microsoft.com/office/drawing/2014/main" id="{119FFA03-375D-4E41-923C-C8CFA4CC9323}"/>
                </a:ext>
              </a:extLst>
            </p:cNvPr>
            <p:cNvSpPr/>
            <p:nvPr/>
          </p:nvSpPr>
          <p:spPr>
            <a:xfrm>
              <a:off x="4535100" y="2566418"/>
              <a:ext cx="59984" cy="177374"/>
            </a:xfrm>
            <a:custGeom>
              <a:avLst/>
              <a:gdLst/>
              <a:ahLst/>
              <a:cxnLst/>
              <a:rect l="l" t="t" r="r" b="b"/>
              <a:pathLst>
                <a:path w="59984" h="177374" extrusionOk="0">
                  <a:moveTo>
                    <a:pt x="47559" y="6235"/>
                  </a:moveTo>
                  <a:cubicBezTo>
                    <a:pt x="47559" y="21904"/>
                    <a:pt x="39786" y="30534"/>
                    <a:pt x="29931" y="39226"/>
                  </a:cubicBezTo>
                  <a:cubicBezTo>
                    <a:pt x="27054" y="36655"/>
                    <a:pt x="24300" y="34084"/>
                    <a:pt x="21913" y="31330"/>
                  </a:cubicBezTo>
                  <a:lnTo>
                    <a:pt x="27422" y="31330"/>
                  </a:lnTo>
                  <a:cubicBezTo>
                    <a:pt x="30605" y="31330"/>
                    <a:pt x="33420" y="29065"/>
                    <a:pt x="33787" y="25944"/>
                  </a:cubicBezTo>
                  <a:cubicBezTo>
                    <a:pt x="34216" y="22210"/>
                    <a:pt x="31339" y="18966"/>
                    <a:pt x="27666" y="18966"/>
                  </a:cubicBezTo>
                  <a:lnTo>
                    <a:pt x="14384" y="18966"/>
                  </a:lnTo>
                  <a:cubicBezTo>
                    <a:pt x="13037" y="15294"/>
                    <a:pt x="12303" y="11132"/>
                    <a:pt x="12303" y="6296"/>
                  </a:cubicBezTo>
                  <a:cubicBezTo>
                    <a:pt x="12303" y="3175"/>
                    <a:pt x="10038" y="421"/>
                    <a:pt x="6978" y="54"/>
                  </a:cubicBezTo>
                  <a:cubicBezTo>
                    <a:pt x="3183" y="-436"/>
                    <a:pt x="0" y="2502"/>
                    <a:pt x="0" y="6174"/>
                  </a:cubicBezTo>
                  <a:cubicBezTo>
                    <a:pt x="0" y="26250"/>
                    <a:pt x="10099" y="37879"/>
                    <a:pt x="20627" y="47427"/>
                  </a:cubicBezTo>
                  <a:cubicBezTo>
                    <a:pt x="10099" y="56976"/>
                    <a:pt x="0" y="68605"/>
                    <a:pt x="0" y="88681"/>
                  </a:cubicBezTo>
                  <a:cubicBezTo>
                    <a:pt x="0" y="108756"/>
                    <a:pt x="10099" y="120386"/>
                    <a:pt x="20627" y="129934"/>
                  </a:cubicBezTo>
                  <a:cubicBezTo>
                    <a:pt x="10160" y="139421"/>
                    <a:pt x="122" y="150989"/>
                    <a:pt x="0" y="170881"/>
                  </a:cubicBezTo>
                  <a:cubicBezTo>
                    <a:pt x="0" y="173880"/>
                    <a:pt x="1959" y="176634"/>
                    <a:pt x="4897" y="177246"/>
                  </a:cubicBezTo>
                  <a:cubicBezTo>
                    <a:pt x="8875" y="178042"/>
                    <a:pt x="12364" y="175043"/>
                    <a:pt x="12364" y="171187"/>
                  </a:cubicBezTo>
                  <a:cubicBezTo>
                    <a:pt x="12364" y="166290"/>
                    <a:pt x="13099" y="162129"/>
                    <a:pt x="14445" y="158395"/>
                  </a:cubicBezTo>
                  <a:lnTo>
                    <a:pt x="27972" y="158395"/>
                  </a:lnTo>
                  <a:cubicBezTo>
                    <a:pt x="31155" y="158395"/>
                    <a:pt x="33971" y="156130"/>
                    <a:pt x="34338" y="153009"/>
                  </a:cubicBezTo>
                  <a:cubicBezTo>
                    <a:pt x="34767" y="149275"/>
                    <a:pt x="31890" y="146031"/>
                    <a:pt x="28217" y="146031"/>
                  </a:cubicBezTo>
                  <a:lnTo>
                    <a:pt x="22035" y="146031"/>
                  </a:lnTo>
                  <a:cubicBezTo>
                    <a:pt x="24422" y="143276"/>
                    <a:pt x="27177" y="140706"/>
                    <a:pt x="30053" y="138135"/>
                  </a:cubicBezTo>
                  <a:cubicBezTo>
                    <a:pt x="39847" y="146827"/>
                    <a:pt x="47621" y="155396"/>
                    <a:pt x="47682" y="171003"/>
                  </a:cubicBezTo>
                  <a:cubicBezTo>
                    <a:pt x="47682" y="174125"/>
                    <a:pt x="49946" y="176879"/>
                    <a:pt x="53007" y="177246"/>
                  </a:cubicBezTo>
                  <a:cubicBezTo>
                    <a:pt x="56802" y="177736"/>
                    <a:pt x="59985" y="174798"/>
                    <a:pt x="59985" y="171125"/>
                  </a:cubicBezTo>
                  <a:cubicBezTo>
                    <a:pt x="59985" y="151050"/>
                    <a:pt x="49885" y="139421"/>
                    <a:pt x="39357" y="129934"/>
                  </a:cubicBezTo>
                  <a:cubicBezTo>
                    <a:pt x="52517" y="118060"/>
                    <a:pt x="59985" y="106431"/>
                    <a:pt x="59985" y="88742"/>
                  </a:cubicBezTo>
                  <a:cubicBezTo>
                    <a:pt x="59985" y="70992"/>
                    <a:pt x="52517" y="59424"/>
                    <a:pt x="39357" y="47550"/>
                  </a:cubicBezTo>
                  <a:cubicBezTo>
                    <a:pt x="49824" y="38063"/>
                    <a:pt x="59862" y="26495"/>
                    <a:pt x="59985" y="6664"/>
                  </a:cubicBezTo>
                  <a:cubicBezTo>
                    <a:pt x="59985" y="3665"/>
                    <a:pt x="58026" y="910"/>
                    <a:pt x="55088" y="298"/>
                  </a:cubicBezTo>
                  <a:cubicBezTo>
                    <a:pt x="51048" y="-620"/>
                    <a:pt x="47559" y="2379"/>
                    <a:pt x="47559" y="6235"/>
                  </a:cubicBezTo>
                  <a:lnTo>
                    <a:pt x="47559" y="6235"/>
                  </a:lnTo>
                  <a:close/>
                  <a:moveTo>
                    <a:pt x="12303" y="88619"/>
                  </a:moveTo>
                  <a:cubicBezTo>
                    <a:pt x="12303" y="72951"/>
                    <a:pt x="20076" y="64320"/>
                    <a:pt x="29931" y="55568"/>
                  </a:cubicBezTo>
                  <a:cubicBezTo>
                    <a:pt x="32257" y="57649"/>
                    <a:pt x="34461" y="59669"/>
                    <a:pt x="36480" y="61811"/>
                  </a:cubicBezTo>
                  <a:lnTo>
                    <a:pt x="32012" y="61811"/>
                  </a:lnTo>
                  <a:cubicBezTo>
                    <a:pt x="28829" y="61811"/>
                    <a:pt x="26014" y="64076"/>
                    <a:pt x="25647" y="67197"/>
                  </a:cubicBezTo>
                  <a:cubicBezTo>
                    <a:pt x="25218" y="70931"/>
                    <a:pt x="28095" y="74175"/>
                    <a:pt x="31767" y="74175"/>
                  </a:cubicBezTo>
                  <a:lnTo>
                    <a:pt x="44866" y="74175"/>
                  </a:lnTo>
                  <a:cubicBezTo>
                    <a:pt x="45907" y="76684"/>
                    <a:pt x="46702" y="79377"/>
                    <a:pt x="47131" y="82438"/>
                  </a:cubicBezTo>
                  <a:lnTo>
                    <a:pt x="26932" y="82438"/>
                  </a:lnTo>
                  <a:cubicBezTo>
                    <a:pt x="23749" y="82438"/>
                    <a:pt x="20933" y="84702"/>
                    <a:pt x="20566" y="87824"/>
                  </a:cubicBezTo>
                  <a:cubicBezTo>
                    <a:pt x="20138" y="91557"/>
                    <a:pt x="23014" y="94801"/>
                    <a:pt x="26687" y="94801"/>
                  </a:cubicBezTo>
                  <a:lnTo>
                    <a:pt x="47131" y="94801"/>
                  </a:lnTo>
                  <a:cubicBezTo>
                    <a:pt x="46702" y="97800"/>
                    <a:pt x="45907" y="100554"/>
                    <a:pt x="44866" y="103064"/>
                  </a:cubicBezTo>
                  <a:lnTo>
                    <a:pt x="32012" y="103064"/>
                  </a:lnTo>
                  <a:cubicBezTo>
                    <a:pt x="28829" y="103064"/>
                    <a:pt x="26014" y="105328"/>
                    <a:pt x="25647" y="108450"/>
                  </a:cubicBezTo>
                  <a:cubicBezTo>
                    <a:pt x="25218" y="112184"/>
                    <a:pt x="28095" y="115427"/>
                    <a:pt x="31767" y="115427"/>
                  </a:cubicBezTo>
                  <a:lnTo>
                    <a:pt x="36480" y="115427"/>
                  </a:lnTo>
                  <a:cubicBezTo>
                    <a:pt x="34461" y="117570"/>
                    <a:pt x="32257" y="119651"/>
                    <a:pt x="29931" y="121671"/>
                  </a:cubicBezTo>
                  <a:cubicBezTo>
                    <a:pt x="20138" y="112979"/>
                    <a:pt x="12303" y="104349"/>
                    <a:pt x="12303" y="88619"/>
                  </a:cubicBezTo>
                  <a:lnTo>
                    <a:pt x="12303" y="886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Immagine 17">
            <a:extLst>
              <a:ext uri="{FF2B5EF4-FFF2-40B4-BE49-F238E27FC236}">
                <a16:creationId xmlns:a16="http://schemas.microsoft.com/office/drawing/2014/main" id="{6E291F13-4BF9-72C3-F38A-62CBC187F5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59" t="12375" r="159" b="19416"/>
          <a:stretch>
            <a:fillRect/>
          </a:stretch>
        </p:blipFill>
        <p:spPr>
          <a:xfrm>
            <a:off x="4678999" y="1247629"/>
            <a:ext cx="4465001" cy="2284160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9EE5B62-5B6C-DA83-C133-2CFDF6848AE6}"/>
              </a:ext>
            </a:extLst>
          </p:cNvPr>
          <p:cNvSpPr txBox="1"/>
          <p:nvPr/>
        </p:nvSpPr>
        <p:spPr>
          <a:xfrm>
            <a:off x="2796963" y="4636683"/>
            <a:ext cx="2603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Presenza eccDNA ≠ patologia</a:t>
            </a:r>
          </a:p>
        </p:txBody>
      </p:sp>
      <p:cxnSp>
        <p:nvCxnSpPr>
          <p:cNvPr id="20" name="Google Shape;789;p42">
            <a:extLst>
              <a:ext uri="{FF2B5EF4-FFF2-40B4-BE49-F238E27FC236}">
                <a16:creationId xmlns:a16="http://schemas.microsoft.com/office/drawing/2014/main" id="{4A48DB29-ED58-5380-7031-5B728B5ABC94}"/>
              </a:ext>
            </a:extLst>
          </p:cNvPr>
          <p:cNvCxnSpPr>
            <a:cxnSpLocks/>
          </p:cNvCxnSpPr>
          <p:nvPr/>
        </p:nvCxnSpPr>
        <p:spPr>
          <a:xfrm>
            <a:off x="2425147" y="4540194"/>
            <a:ext cx="3419061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>
          <a:extLst>
            <a:ext uri="{FF2B5EF4-FFF2-40B4-BE49-F238E27FC236}">
              <a16:creationId xmlns:a16="http://schemas.microsoft.com/office/drawing/2014/main" id="{E22D9C23-F0FC-848A-8235-024C5C6D4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2">
            <a:extLst>
              <a:ext uri="{FF2B5EF4-FFF2-40B4-BE49-F238E27FC236}">
                <a16:creationId xmlns:a16="http://schemas.microsoft.com/office/drawing/2014/main" id="{9631601A-4F41-582A-4A13-FDC062518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Dalle sequenze alle FCGR</a:t>
            </a:r>
            <a:endParaRPr dirty="0"/>
          </a:p>
        </p:txBody>
      </p:sp>
      <p:sp>
        <p:nvSpPr>
          <p:cNvPr id="781" name="Google Shape;781;p42">
            <a:extLst>
              <a:ext uri="{FF2B5EF4-FFF2-40B4-BE49-F238E27FC236}">
                <a16:creationId xmlns:a16="http://schemas.microsoft.com/office/drawing/2014/main" id="{A0898499-FA57-11A4-93E9-3CE582292EF5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496387" y="2431069"/>
            <a:ext cx="2035883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dirty="0"/>
              <a:t>S</a:t>
            </a:r>
            <a:r>
              <a:rPr lang="en" sz="1600" dirty="0"/>
              <a:t>equenza eccDNA</a:t>
            </a:r>
            <a:endParaRPr sz="1600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8619227A-64B2-3E52-546A-25DCA4E97EC3}"/>
              </a:ext>
            </a:extLst>
          </p:cNvPr>
          <p:cNvSpPr/>
          <p:nvPr/>
        </p:nvSpPr>
        <p:spPr>
          <a:xfrm>
            <a:off x="268293" y="1622066"/>
            <a:ext cx="2529250" cy="1431235"/>
          </a:xfrm>
          <a:prstGeom prst="round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EC60C907-3311-80DE-20AD-3CD5E7FC891A}"/>
              </a:ext>
            </a:extLst>
          </p:cNvPr>
          <p:cNvGrpSpPr/>
          <p:nvPr/>
        </p:nvGrpSpPr>
        <p:grpSpPr>
          <a:xfrm>
            <a:off x="758965" y="1936527"/>
            <a:ext cx="1547906" cy="224724"/>
            <a:chOff x="1013323" y="1902916"/>
            <a:chExt cx="1547906" cy="224724"/>
          </a:xfrm>
        </p:grpSpPr>
        <p:grpSp>
          <p:nvGrpSpPr>
            <p:cNvPr id="25" name="Google Shape;991;p54">
              <a:extLst>
                <a:ext uri="{FF2B5EF4-FFF2-40B4-BE49-F238E27FC236}">
                  <a16:creationId xmlns:a16="http://schemas.microsoft.com/office/drawing/2014/main" id="{1101344B-32C5-0D2D-00A5-66EC2B7B5DE3}"/>
                </a:ext>
              </a:extLst>
            </p:cNvPr>
            <p:cNvGrpSpPr/>
            <p:nvPr/>
          </p:nvGrpSpPr>
          <p:grpSpPr>
            <a:xfrm>
              <a:off x="1013323" y="1906528"/>
              <a:ext cx="377698" cy="221112"/>
              <a:chOff x="8907012" y="3242130"/>
              <a:chExt cx="422387" cy="247274"/>
            </a:xfrm>
          </p:grpSpPr>
          <p:sp>
            <p:nvSpPr>
              <p:cNvPr id="26" name="Google Shape;992;p54">
                <a:extLst>
                  <a:ext uri="{FF2B5EF4-FFF2-40B4-BE49-F238E27FC236}">
                    <a16:creationId xmlns:a16="http://schemas.microsoft.com/office/drawing/2014/main" id="{07326A2E-CB7B-7EED-1BD2-A385FC6DEA58}"/>
                  </a:ext>
                </a:extLst>
              </p:cNvPr>
              <p:cNvSpPr/>
              <p:nvPr/>
            </p:nvSpPr>
            <p:spPr>
              <a:xfrm>
                <a:off x="8907012" y="3242130"/>
                <a:ext cx="422387" cy="247274"/>
              </a:xfrm>
              <a:custGeom>
                <a:avLst/>
                <a:gdLst/>
                <a:ahLst/>
                <a:cxnLst/>
                <a:rect l="l" t="t" r="r" b="b"/>
                <a:pathLst>
                  <a:path w="422387" h="247274" extrusionOk="0">
                    <a:moveTo>
                      <a:pt x="416474" y="232830"/>
                    </a:moveTo>
                    <a:cubicBezTo>
                      <a:pt x="364630" y="222547"/>
                      <a:pt x="326986" y="176642"/>
                      <a:pt x="326986" y="123698"/>
                    </a:cubicBezTo>
                    <a:cubicBezTo>
                      <a:pt x="326986" y="70754"/>
                      <a:pt x="364630" y="24850"/>
                      <a:pt x="416474" y="14567"/>
                    </a:cubicBezTo>
                    <a:cubicBezTo>
                      <a:pt x="420452" y="13771"/>
                      <a:pt x="423207" y="9793"/>
                      <a:pt x="422166" y="5570"/>
                    </a:cubicBezTo>
                    <a:cubicBezTo>
                      <a:pt x="421371" y="2265"/>
                      <a:pt x="418248" y="61"/>
                      <a:pt x="414821" y="61"/>
                    </a:cubicBezTo>
                    <a:lnTo>
                      <a:pt x="181186" y="61"/>
                    </a:lnTo>
                    <a:cubicBezTo>
                      <a:pt x="178003" y="61"/>
                      <a:pt x="175188" y="2326"/>
                      <a:pt x="174820" y="5448"/>
                    </a:cubicBezTo>
                    <a:cubicBezTo>
                      <a:pt x="174392" y="9181"/>
                      <a:pt x="177269" y="12425"/>
                      <a:pt x="180941" y="12425"/>
                    </a:cubicBezTo>
                    <a:lnTo>
                      <a:pt x="384277" y="12425"/>
                    </a:lnTo>
                    <a:cubicBezTo>
                      <a:pt x="342594" y="32685"/>
                      <a:pt x="314622" y="75590"/>
                      <a:pt x="314622" y="123698"/>
                    </a:cubicBezTo>
                    <a:cubicBezTo>
                      <a:pt x="314622" y="171807"/>
                      <a:pt x="342594" y="214712"/>
                      <a:pt x="384277" y="234972"/>
                    </a:cubicBezTo>
                    <a:lnTo>
                      <a:pt x="124690" y="234972"/>
                    </a:lnTo>
                    <a:cubicBezTo>
                      <a:pt x="66296" y="234972"/>
                      <a:pt x="17023" y="190352"/>
                      <a:pt x="12677" y="132145"/>
                    </a:cubicBezTo>
                    <a:cubicBezTo>
                      <a:pt x="7842" y="66960"/>
                      <a:pt x="59502" y="12364"/>
                      <a:pt x="123649" y="12364"/>
                    </a:cubicBezTo>
                    <a:lnTo>
                      <a:pt x="151867" y="12364"/>
                    </a:lnTo>
                    <a:cubicBezTo>
                      <a:pt x="155049" y="12364"/>
                      <a:pt x="157865" y="10099"/>
                      <a:pt x="158232" y="6978"/>
                    </a:cubicBezTo>
                    <a:cubicBezTo>
                      <a:pt x="158661" y="3244"/>
                      <a:pt x="155784" y="0"/>
                      <a:pt x="152112" y="0"/>
                    </a:cubicBezTo>
                    <a:lnTo>
                      <a:pt x="124690" y="0"/>
                    </a:lnTo>
                    <a:cubicBezTo>
                      <a:pt x="59319" y="0"/>
                      <a:pt x="4353" y="50434"/>
                      <a:pt x="252" y="115680"/>
                    </a:cubicBezTo>
                    <a:cubicBezTo>
                      <a:pt x="-4278" y="187475"/>
                      <a:pt x="52830" y="247274"/>
                      <a:pt x="123649" y="247274"/>
                    </a:cubicBezTo>
                    <a:lnTo>
                      <a:pt x="414821" y="247274"/>
                    </a:lnTo>
                    <a:cubicBezTo>
                      <a:pt x="418248" y="247274"/>
                      <a:pt x="421309" y="245071"/>
                      <a:pt x="422166" y="241766"/>
                    </a:cubicBezTo>
                    <a:cubicBezTo>
                      <a:pt x="423207" y="237665"/>
                      <a:pt x="420452" y="233625"/>
                      <a:pt x="416474" y="232830"/>
                    </a:cubicBezTo>
                    <a:lnTo>
                      <a:pt x="416474" y="23283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993;p54">
                <a:extLst>
                  <a:ext uri="{FF2B5EF4-FFF2-40B4-BE49-F238E27FC236}">
                    <a16:creationId xmlns:a16="http://schemas.microsoft.com/office/drawing/2014/main" id="{A2A626EB-9F3B-EED1-D844-159BEB8D5689}"/>
                  </a:ext>
                </a:extLst>
              </p:cNvPr>
              <p:cNvSpPr/>
              <p:nvPr/>
            </p:nvSpPr>
            <p:spPr>
              <a:xfrm>
                <a:off x="9020930" y="3284846"/>
                <a:ext cx="112134" cy="162154"/>
              </a:xfrm>
              <a:custGeom>
                <a:avLst/>
                <a:gdLst/>
                <a:ahLst/>
                <a:cxnLst/>
                <a:rect l="l" t="t" r="r" b="b"/>
                <a:pathLst>
                  <a:path w="112134" h="162154" extrusionOk="0">
                    <a:moveTo>
                      <a:pt x="105096" y="89979"/>
                    </a:moveTo>
                    <a:cubicBezTo>
                      <a:pt x="108524" y="89979"/>
                      <a:pt x="111278" y="87225"/>
                      <a:pt x="111278" y="83797"/>
                    </a:cubicBezTo>
                    <a:lnTo>
                      <a:pt x="111278" y="56560"/>
                    </a:lnTo>
                    <a:cubicBezTo>
                      <a:pt x="111278" y="26018"/>
                      <a:pt x="87039" y="495"/>
                      <a:pt x="56434" y="5"/>
                    </a:cubicBezTo>
                    <a:cubicBezTo>
                      <a:pt x="25402" y="-423"/>
                      <a:pt x="0" y="24672"/>
                      <a:pt x="0" y="55642"/>
                    </a:cubicBezTo>
                    <a:lnTo>
                      <a:pt x="0" y="145310"/>
                    </a:lnTo>
                    <a:cubicBezTo>
                      <a:pt x="0" y="153879"/>
                      <a:pt x="6427" y="161346"/>
                      <a:pt x="14935" y="162080"/>
                    </a:cubicBezTo>
                    <a:cubicBezTo>
                      <a:pt x="24728" y="162998"/>
                      <a:pt x="32991" y="155286"/>
                      <a:pt x="32991" y="145677"/>
                    </a:cubicBezTo>
                    <a:lnTo>
                      <a:pt x="32991" y="97446"/>
                    </a:lnTo>
                    <a:lnTo>
                      <a:pt x="79143" y="97446"/>
                    </a:lnTo>
                    <a:lnTo>
                      <a:pt x="79143" y="145310"/>
                    </a:lnTo>
                    <a:cubicBezTo>
                      <a:pt x="79143" y="153879"/>
                      <a:pt x="85570" y="161346"/>
                      <a:pt x="94078" y="162080"/>
                    </a:cubicBezTo>
                    <a:cubicBezTo>
                      <a:pt x="103871" y="162998"/>
                      <a:pt x="112135" y="155286"/>
                      <a:pt x="112135" y="145677"/>
                    </a:cubicBezTo>
                    <a:lnTo>
                      <a:pt x="112135" y="112809"/>
                    </a:lnTo>
                    <a:cubicBezTo>
                      <a:pt x="112135" y="109627"/>
                      <a:pt x="109870" y="106811"/>
                      <a:pt x="106748" y="106444"/>
                    </a:cubicBezTo>
                    <a:cubicBezTo>
                      <a:pt x="103015" y="106015"/>
                      <a:pt x="99771" y="108892"/>
                      <a:pt x="99771" y="112564"/>
                    </a:cubicBezTo>
                    <a:lnTo>
                      <a:pt x="99771" y="145493"/>
                    </a:lnTo>
                    <a:cubicBezTo>
                      <a:pt x="99771" y="147452"/>
                      <a:pt x="98424" y="149288"/>
                      <a:pt x="96526" y="149717"/>
                    </a:cubicBezTo>
                    <a:cubicBezTo>
                      <a:pt x="93894" y="150267"/>
                      <a:pt x="91569" y="148248"/>
                      <a:pt x="91569" y="145677"/>
                    </a:cubicBezTo>
                    <a:lnTo>
                      <a:pt x="91569" y="91203"/>
                    </a:lnTo>
                    <a:cubicBezTo>
                      <a:pt x="91569" y="87776"/>
                      <a:pt x="88814" y="85021"/>
                      <a:pt x="85387" y="85021"/>
                    </a:cubicBezTo>
                    <a:lnTo>
                      <a:pt x="25034" y="85021"/>
                    </a:lnTo>
                    <a:cubicBezTo>
                      <a:pt x="22647" y="85021"/>
                      <a:pt x="20689" y="86980"/>
                      <a:pt x="20689" y="89367"/>
                    </a:cubicBezTo>
                    <a:lnTo>
                      <a:pt x="20689" y="146289"/>
                    </a:lnTo>
                    <a:cubicBezTo>
                      <a:pt x="20689" y="147207"/>
                      <a:pt x="20260" y="148125"/>
                      <a:pt x="19525" y="148676"/>
                    </a:cubicBezTo>
                    <a:cubicBezTo>
                      <a:pt x="16159" y="151247"/>
                      <a:pt x="12425" y="148860"/>
                      <a:pt x="12425" y="145616"/>
                    </a:cubicBezTo>
                    <a:lnTo>
                      <a:pt x="12425" y="56438"/>
                    </a:lnTo>
                    <a:cubicBezTo>
                      <a:pt x="12425" y="32690"/>
                      <a:pt x="31217" y="12798"/>
                      <a:pt x="54904" y="12430"/>
                    </a:cubicBezTo>
                    <a:cubicBezTo>
                      <a:pt x="79143" y="12002"/>
                      <a:pt x="98975" y="31588"/>
                      <a:pt x="98975" y="55703"/>
                    </a:cubicBezTo>
                    <a:lnTo>
                      <a:pt x="98975" y="83797"/>
                    </a:lnTo>
                    <a:cubicBezTo>
                      <a:pt x="98914" y="87164"/>
                      <a:pt x="101729" y="89979"/>
                      <a:pt x="105096" y="89979"/>
                    </a:cubicBezTo>
                    <a:lnTo>
                      <a:pt x="105096" y="8997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994;p54">
                <a:extLst>
                  <a:ext uri="{FF2B5EF4-FFF2-40B4-BE49-F238E27FC236}">
                    <a16:creationId xmlns:a16="http://schemas.microsoft.com/office/drawing/2014/main" id="{101A20AE-3866-D29C-0514-6C2C38F9E966}"/>
                  </a:ext>
                </a:extLst>
              </p:cNvPr>
              <p:cNvSpPr/>
              <p:nvPr/>
            </p:nvSpPr>
            <p:spPr>
              <a:xfrm>
                <a:off x="9041557" y="3305173"/>
                <a:ext cx="70084" cy="56555"/>
              </a:xfrm>
              <a:custGeom>
                <a:avLst/>
                <a:gdLst/>
                <a:ahLst/>
                <a:cxnLst/>
                <a:rect l="l" t="t" r="r" b="b"/>
                <a:pathLst>
                  <a:path w="70084" h="56555" extrusionOk="0">
                    <a:moveTo>
                      <a:pt x="35012" y="0"/>
                    </a:moveTo>
                    <a:cubicBezTo>
                      <a:pt x="15670" y="0"/>
                      <a:pt x="0" y="15730"/>
                      <a:pt x="0" y="35133"/>
                    </a:cubicBezTo>
                    <a:lnTo>
                      <a:pt x="0" y="50373"/>
                    </a:lnTo>
                    <a:cubicBezTo>
                      <a:pt x="0" y="53801"/>
                      <a:pt x="2754" y="56555"/>
                      <a:pt x="6182" y="56555"/>
                    </a:cubicBezTo>
                    <a:lnTo>
                      <a:pt x="63903" y="56555"/>
                    </a:lnTo>
                    <a:cubicBezTo>
                      <a:pt x="67330" y="56555"/>
                      <a:pt x="70084" y="53801"/>
                      <a:pt x="70084" y="50373"/>
                    </a:cubicBezTo>
                    <a:lnTo>
                      <a:pt x="70084" y="35133"/>
                    </a:lnTo>
                    <a:cubicBezTo>
                      <a:pt x="70084" y="15791"/>
                      <a:pt x="54354" y="0"/>
                      <a:pt x="35012" y="0"/>
                    </a:cubicBezTo>
                    <a:lnTo>
                      <a:pt x="35012" y="0"/>
                    </a:lnTo>
                    <a:close/>
                    <a:moveTo>
                      <a:pt x="57721" y="44191"/>
                    </a:moveTo>
                    <a:lnTo>
                      <a:pt x="12364" y="44191"/>
                    </a:lnTo>
                    <a:lnTo>
                      <a:pt x="12364" y="35622"/>
                    </a:lnTo>
                    <a:cubicBezTo>
                      <a:pt x="12364" y="23258"/>
                      <a:pt x="22035" y="12792"/>
                      <a:pt x="34400" y="12425"/>
                    </a:cubicBezTo>
                    <a:cubicBezTo>
                      <a:pt x="47193" y="12058"/>
                      <a:pt x="57721" y="22401"/>
                      <a:pt x="57721" y="35194"/>
                    </a:cubicBezTo>
                    <a:lnTo>
                      <a:pt x="57721" y="4419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" name="Google Shape;1128;p54">
              <a:extLst>
                <a:ext uri="{FF2B5EF4-FFF2-40B4-BE49-F238E27FC236}">
                  <a16:creationId xmlns:a16="http://schemas.microsoft.com/office/drawing/2014/main" id="{96443652-758B-FDD1-C21A-B71D4D4B03BF}"/>
                </a:ext>
              </a:extLst>
            </p:cNvPr>
            <p:cNvGrpSpPr/>
            <p:nvPr/>
          </p:nvGrpSpPr>
          <p:grpSpPr>
            <a:xfrm>
              <a:off x="1391021" y="1906528"/>
              <a:ext cx="377666" cy="221112"/>
              <a:chOff x="6179903" y="2563288"/>
              <a:chExt cx="422351" cy="247274"/>
            </a:xfrm>
          </p:grpSpPr>
          <p:sp>
            <p:nvSpPr>
              <p:cNvPr id="30" name="Google Shape;1129;p54">
                <a:extLst>
                  <a:ext uri="{FF2B5EF4-FFF2-40B4-BE49-F238E27FC236}">
                    <a16:creationId xmlns:a16="http://schemas.microsoft.com/office/drawing/2014/main" id="{2158B91D-A061-2CFE-2BE0-A3FF1FD9726F}"/>
                  </a:ext>
                </a:extLst>
              </p:cNvPr>
              <p:cNvSpPr/>
              <p:nvPr/>
            </p:nvSpPr>
            <p:spPr>
              <a:xfrm>
                <a:off x="6179903" y="2563288"/>
                <a:ext cx="422351" cy="247274"/>
              </a:xfrm>
              <a:custGeom>
                <a:avLst/>
                <a:gdLst/>
                <a:ahLst/>
                <a:cxnLst/>
                <a:rect l="l" t="t" r="r" b="b"/>
                <a:pathLst>
                  <a:path w="422351" h="247274" extrusionOk="0">
                    <a:moveTo>
                      <a:pt x="415372" y="61"/>
                    </a:moveTo>
                    <a:lnTo>
                      <a:pt x="268042" y="61"/>
                    </a:lnTo>
                    <a:cubicBezTo>
                      <a:pt x="264859" y="61"/>
                      <a:pt x="262043" y="2326"/>
                      <a:pt x="261676" y="5447"/>
                    </a:cubicBezTo>
                    <a:cubicBezTo>
                      <a:pt x="261248" y="9181"/>
                      <a:pt x="264125" y="12425"/>
                      <a:pt x="267797" y="12425"/>
                    </a:cubicBezTo>
                    <a:lnTo>
                      <a:pt x="410047" y="12425"/>
                    </a:lnTo>
                    <a:lnTo>
                      <a:pt x="410047" y="234972"/>
                    </a:lnTo>
                    <a:lnTo>
                      <a:pt x="123650" y="234972"/>
                    </a:lnTo>
                    <a:cubicBezTo>
                      <a:pt x="59502" y="234972"/>
                      <a:pt x="7842" y="180375"/>
                      <a:pt x="12677" y="115190"/>
                    </a:cubicBezTo>
                    <a:cubicBezTo>
                      <a:pt x="17024" y="56983"/>
                      <a:pt x="66358" y="12364"/>
                      <a:pt x="124690" y="12364"/>
                    </a:cubicBezTo>
                    <a:lnTo>
                      <a:pt x="238661" y="12364"/>
                    </a:lnTo>
                    <a:cubicBezTo>
                      <a:pt x="241844" y="12364"/>
                      <a:pt x="244660" y="10099"/>
                      <a:pt x="245027" y="6977"/>
                    </a:cubicBezTo>
                    <a:cubicBezTo>
                      <a:pt x="245456" y="3244"/>
                      <a:pt x="242579" y="0"/>
                      <a:pt x="238906" y="0"/>
                    </a:cubicBezTo>
                    <a:lnTo>
                      <a:pt x="124690" y="0"/>
                    </a:lnTo>
                    <a:cubicBezTo>
                      <a:pt x="59319" y="0"/>
                      <a:pt x="4353" y="50434"/>
                      <a:pt x="252" y="115681"/>
                    </a:cubicBezTo>
                    <a:cubicBezTo>
                      <a:pt x="-4277" y="187476"/>
                      <a:pt x="52831" y="247275"/>
                      <a:pt x="123650" y="247275"/>
                    </a:cubicBezTo>
                    <a:lnTo>
                      <a:pt x="415311" y="247275"/>
                    </a:lnTo>
                    <a:cubicBezTo>
                      <a:pt x="419228" y="247275"/>
                      <a:pt x="422350" y="244092"/>
                      <a:pt x="422350" y="240236"/>
                    </a:cubicBezTo>
                    <a:lnTo>
                      <a:pt x="422350" y="7039"/>
                    </a:lnTo>
                    <a:cubicBezTo>
                      <a:pt x="422411" y="3244"/>
                      <a:pt x="419290" y="61"/>
                      <a:pt x="415372" y="61"/>
                    </a:cubicBezTo>
                    <a:lnTo>
                      <a:pt x="415372" y="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1130;p54">
                <a:extLst>
                  <a:ext uri="{FF2B5EF4-FFF2-40B4-BE49-F238E27FC236}">
                    <a16:creationId xmlns:a16="http://schemas.microsoft.com/office/drawing/2014/main" id="{4468894A-2438-65BB-DEEC-E2263B656A8E}"/>
                  </a:ext>
                </a:extLst>
              </p:cNvPr>
              <p:cNvSpPr/>
              <p:nvPr/>
            </p:nvSpPr>
            <p:spPr>
              <a:xfrm>
                <a:off x="6294358" y="2606194"/>
                <a:ext cx="111426" cy="162516"/>
              </a:xfrm>
              <a:custGeom>
                <a:avLst/>
                <a:gdLst/>
                <a:ahLst/>
                <a:cxnLst/>
                <a:rect l="l" t="t" r="r" b="b"/>
                <a:pathLst>
                  <a:path w="111426" h="162516" extrusionOk="0">
                    <a:moveTo>
                      <a:pt x="45430" y="95482"/>
                    </a:moveTo>
                    <a:cubicBezTo>
                      <a:pt x="42003" y="95482"/>
                      <a:pt x="39248" y="98236"/>
                      <a:pt x="39248" y="101664"/>
                    </a:cubicBezTo>
                    <a:lnTo>
                      <a:pt x="39248" y="145671"/>
                    </a:lnTo>
                    <a:cubicBezTo>
                      <a:pt x="39248" y="154240"/>
                      <a:pt x="45675" y="161708"/>
                      <a:pt x="54183" y="162442"/>
                    </a:cubicBezTo>
                    <a:cubicBezTo>
                      <a:pt x="63977" y="163360"/>
                      <a:pt x="72240" y="155648"/>
                      <a:pt x="72240" y="146038"/>
                    </a:cubicBezTo>
                    <a:lnTo>
                      <a:pt x="72240" y="32991"/>
                    </a:lnTo>
                    <a:lnTo>
                      <a:pt x="94581" y="32991"/>
                    </a:lnTo>
                    <a:cubicBezTo>
                      <a:pt x="103151" y="32991"/>
                      <a:pt x="110618" y="26564"/>
                      <a:pt x="111352" y="18056"/>
                    </a:cubicBezTo>
                    <a:cubicBezTo>
                      <a:pt x="112270" y="8263"/>
                      <a:pt x="104558" y="0"/>
                      <a:pt x="94948" y="0"/>
                    </a:cubicBezTo>
                    <a:lnTo>
                      <a:pt x="16846" y="0"/>
                    </a:lnTo>
                    <a:cubicBezTo>
                      <a:pt x="8277" y="0"/>
                      <a:pt x="809" y="6427"/>
                      <a:pt x="74" y="14934"/>
                    </a:cubicBezTo>
                    <a:cubicBezTo>
                      <a:pt x="-844" y="24728"/>
                      <a:pt x="6868" y="32991"/>
                      <a:pt x="16478" y="32991"/>
                    </a:cubicBezTo>
                    <a:lnTo>
                      <a:pt x="39248" y="32991"/>
                    </a:lnTo>
                    <a:lnTo>
                      <a:pt x="39248" y="72775"/>
                    </a:lnTo>
                    <a:cubicBezTo>
                      <a:pt x="39248" y="75957"/>
                      <a:pt x="41513" y="78773"/>
                      <a:pt x="44634" y="79140"/>
                    </a:cubicBezTo>
                    <a:cubicBezTo>
                      <a:pt x="48369" y="79568"/>
                      <a:pt x="51612" y="76692"/>
                      <a:pt x="51612" y="73019"/>
                    </a:cubicBezTo>
                    <a:lnTo>
                      <a:pt x="51612" y="25034"/>
                    </a:lnTo>
                    <a:cubicBezTo>
                      <a:pt x="51612" y="22646"/>
                      <a:pt x="49654" y="20688"/>
                      <a:pt x="47266" y="20688"/>
                    </a:cubicBezTo>
                    <a:lnTo>
                      <a:pt x="15866" y="20688"/>
                    </a:lnTo>
                    <a:cubicBezTo>
                      <a:pt x="14948" y="20688"/>
                      <a:pt x="14030" y="20259"/>
                      <a:pt x="13479" y="19525"/>
                    </a:cubicBezTo>
                    <a:cubicBezTo>
                      <a:pt x="10908" y="16158"/>
                      <a:pt x="13295" y="12425"/>
                      <a:pt x="16540" y="12425"/>
                    </a:cubicBezTo>
                    <a:lnTo>
                      <a:pt x="95683" y="12425"/>
                    </a:lnTo>
                    <a:cubicBezTo>
                      <a:pt x="96601" y="12425"/>
                      <a:pt x="97519" y="12853"/>
                      <a:pt x="98070" y="13588"/>
                    </a:cubicBezTo>
                    <a:cubicBezTo>
                      <a:pt x="100641" y="16954"/>
                      <a:pt x="98254" y="20688"/>
                      <a:pt x="95009" y="20688"/>
                    </a:cubicBezTo>
                    <a:lnTo>
                      <a:pt x="64283" y="20688"/>
                    </a:lnTo>
                    <a:cubicBezTo>
                      <a:pt x="61895" y="20688"/>
                      <a:pt x="59937" y="22646"/>
                      <a:pt x="59937" y="25034"/>
                    </a:cubicBezTo>
                    <a:lnTo>
                      <a:pt x="59937" y="146712"/>
                    </a:lnTo>
                    <a:cubicBezTo>
                      <a:pt x="59937" y="147630"/>
                      <a:pt x="59508" y="148548"/>
                      <a:pt x="58774" y="149099"/>
                    </a:cubicBezTo>
                    <a:cubicBezTo>
                      <a:pt x="55408" y="151670"/>
                      <a:pt x="51673" y="149283"/>
                      <a:pt x="51673" y="146038"/>
                    </a:cubicBezTo>
                    <a:lnTo>
                      <a:pt x="51673" y="101664"/>
                    </a:lnTo>
                    <a:cubicBezTo>
                      <a:pt x="51612" y="98236"/>
                      <a:pt x="48858" y="95482"/>
                      <a:pt x="45430" y="95482"/>
                    </a:cubicBezTo>
                    <a:lnTo>
                      <a:pt x="45430" y="954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Google Shape;1159;p54">
              <a:extLst>
                <a:ext uri="{FF2B5EF4-FFF2-40B4-BE49-F238E27FC236}">
                  <a16:creationId xmlns:a16="http://schemas.microsoft.com/office/drawing/2014/main" id="{C5DEEF89-7270-2BDF-2F99-EBA97C09DE0F}"/>
                </a:ext>
              </a:extLst>
            </p:cNvPr>
            <p:cNvGrpSpPr/>
            <p:nvPr/>
          </p:nvGrpSpPr>
          <p:grpSpPr>
            <a:xfrm>
              <a:off x="1805831" y="1902916"/>
              <a:ext cx="377665" cy="221112"/>
              <a:chOff x="3441233" y="4588061"/>
              <a:chExt cx="422350" cy="247274"/>
            </a:xfrm>
          </p:grpSpPr>
          <p:sp>
            <p:nvSpPr>
              <p:cNvPr id="33" name="Google Shape;1160;p54">
                <a:extLst>
                  <a:ext uri="{FF2B5EF4-FFF2-40B4-BE49-F238E27FC236}">
                    <a16:creationId xmlns:a16="http://schemas.microsoft.com/office/drawing/2014/main" id="{62982775-0302-6F92-2ED5-8607B45949FA}"/>
                  </a:ext>
                </a:extLst>
              </p:cNvPr>
              <p:cNvSpPr/>
              <p:nvPr/>
            </p:nvSpPr>
            <p:spPr>
              <a:xfrm>
                <a:off x="3441233" y="4588061"/>
                <a:ext cx="422350" cy="247274"/>
              </a:xfrm>
              <a:custGeom>
                <a:avLst/>
                <a:gdLst/>
                <a:ahLst/>
                <a:cxnLst/>
                <a:rect l="l" t="t" r="r" b="b"/>
                <a:pathLst>
                  <a:path w="422350" h="247274" extrusionOk="0">
                    <a:moveTo>
                      <a:pt x="421424" y="120148"/>
                    </a:moveTo>
                    <a:lnTo>
                      <a:pt x="354094" y="3550"/>
                    </a:lnTo>
                    <a:cubicBezTo>
                      <a:pt x="352870" y="1408"/>
                      <a:pt x="350483" y="0"/>
                      <a:pt x="347974" y="0"/>
                    </a:cubicBezTo>
                    <a:lnTo>
                      <a:pt x="265219" y="0"/>
                    </a:lnTo>
                    <a:cubicBezTo>
                      <a:pt x="262036" y="0"/>
                      <a:pt x="259220" y="2265"/>
                      <a:pt x="258853" y="5386"/>
                    </a:cubicBezTo>
                    <a:cubicBezTo>
                      <a:pt x="258425" y="9120"/>
                      <a:pt x="261301" y="12364"/>
                      <a:pt x="264974" y="12364"/>
                    </a:cubicBezTo>
                    <a:lnTo>
                      <a:pt x="344913" y="12364"/>
                    </a:lnTo>
                    <a:lnTo>
                      <a:pt x="409183" y="123637"/>
                    </a:lnTo>
                    <a:lnTo>
                      <a:pt x="344913" y="234910"/>
                    </a:lnTo>
                    <a:lnTo>
                      <a:pt x="12303" y="234910"/>
                    </a:lnTo>
                    <a:lnTo>
                      <a:pt x="12303" y="12364"/>
                    </a:lnTo>
                    <a:lnTo>
                      <a:pt x="235961" y="12364"/>
                    </a:lnTo>
                    <a:cubicBezTo>
                      <a:pt x="239144" y="12364"/>
                      <a:pt x="241959" y="10099"/>
                      <a:pt x="242327" y="6978"/>
                    </a:cubicBezTo>
                    <a:cubicBezTo>
                      <a:pt x="242755" y="3244"/>
                      <a:pt x="239878" y="0"/>
                      <a:pt x="236206" y="0"/>
                    </a:cubicBezTo>
                    <a:lnTo>
                      <a:pt x="7039" y="0"/>
                    </a:lnTo>
                    <a:cubicBezTo>
                      <a:pt x="3122" y="0"/>
                      <a:pt x="0" y="3183"/>
                      <a:pt x="0" y="7039"/>
                    </a:cubicBezTo>
                    <a:lnTo>
                      <a:pt x="0" y="240236"/>
                    </a:lnTo>
                    <a:cubicBezTo>
                      <a:pt x="0" y="244153"/>
                      <a:pt x="3183" y="247274"/>
                      <a:pt x="7039" y="247274"/>
                    </a:cubicBezTo>
                    <a:lnTo>
                      <a:pt x="348035" y="247274"/>
                    </a:lnTo>
                    <a:cubicBezTo>
                      <a:pt x="350544" y="247274"/>
                      <a:pt x="352870" y="245928"/>
                      <a:pt x="354156" y="243724"/>
                    </a:cubicBezTo>
                    <a:lnTo>
                      <a:pt x="421486" y="127126"/>
                    </a:lnTo>
                    <a:cubicBezTo>
                      <a:pt x="422649" y="125045"/>
                      <a:pt x="422649" y="122352"/>
                      <a:pt x="421424" y="120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1161;p54">
                <a:extLst>
                  <a:ext uri="{FF2B5EF4-FFF2-40B4-BE49-F238E27FC236}">
                    <a16:creationId xmlns:a16="http://schemas.microsoft.com/office/drawing/2014/main" id="{72D68DA1-A6AE-40C8-460C-7050ED371CB5}"/>
                  </a:ext>
                </a:extLst>
              </p:cNvPr>
              <p:cNvSpPr/>
              <p:nvPr/>
            </p:nvSpPr>
            <p:spPr>
              <a:xfrm>
                <a:off x="3554959" y="4630780"/>
                <a:ext cx="111430" cy="162509"/>
              </a:xfrm>
              <a:custGeom>
                <a:avLst/>
                <a:gdLst/>
                <a:ahLst/>
                <a:cxnLst/>
                <a:rect l="l" t="t" r="r" b="b"/>
                <a:pathLst>
                  <a:path w="111430" h="162509" extrusionOk="0">
                    <a:moveTo>
                      <a:pt x="55700" y="32932"/>
                    </a:moveTo>
                    <a:cubicBezTo>
                      <a:pt x="68248" y="32932"/>
                      <a:pt x="78470" y="43154"/>
                      <a:pt x="78470" y="55701"/>
                    </a:cubicBezTo>
                    <a:cubicBezTo>
                      <a:pt x="78470" y="69473"/>
                      <a:pt x="95425" y="79327"/>
                      <a:pt x="109564" y="65556"/>
                    </a:cubicBezTo>
                    <a:cubicBezTo>
                      <a:pt x="110421" y="64760"/>
                      <a:pt x="110911" y="63658"/>
                      <a:pt x="111033" y="62495"/>
                    </a:cubicBezTo>
                    <a:cubicBezTo>
                      <a:pt x="116971" y="12061"/>
                      <a:pt x="55149" y="-27234"/>
                      <a:pt x="4835" y="23996"/>
                    </a:cubicBezTo>
                    <a:cubicBezTo>
                      <a:pt x="1714" y="27179"/>
                      <a:pt x="0" y="31402"/>
                      <a:pt x="0" y="35871"/>
                    </a:cubicBezTo>
                    <a:lnTo>
                      <a:pt x="0" y="72655"/>
                    </a:lnTo>
                    <a:cubicBezTo>
                      <a:pt x="0" y="75838"/>
                      <a:pt x="2265" y="78654"/>
                      <a:pt x="5387" y="79021"/>
                    </a:cubicBezTo>
                    <a:cubicBezTo>
                      <a:pt x="9120" y="79449"/>
                      <a:pt x="12364" y="76573"/>
                      <a:pt x="12364" y="72901"/>
                    </a:cubicBezTo>
                    <a:lnTo>
                      <a:pt x="12364" y="36789"/>
                    </a:lnTo>
                    <a:cubicBezTo>
                      <a:pt x="12364" y="35748"/>
                      <a:pt x="12732" y="34707"/>
                      <a:pt x="13466" y="33912"/>
                    </a:cubicBezTo>
                    <a:cubicBezTo>
                      <a:pt x="51905" y="-8933"/>
                      <a:pt x="100689" y="19161"/>
                      <a:pt x="99036" y="57599"/>
                    </a:cubicBezTo>
                    <a:cubicBezTo>
                      <a:pt x="99036" y="57721"/>
                      <a:pt x="98975" y="57782"/>
                      <a:pt x="98914" y="57905"/>
                    </a:cubicBezTo>
                    <a:cubicBezTo>
                      <a:pt x="95303" y="61822"/>
                      <a:pt x="90834" y="59313"/>
                      <a:pt x="90834" y="55763"/>
                    </a:cubicBezTo>
                    <a:cubicBezTo>
                      <a:pt x="90834" y="25404"/>
                      <a:pt x="52150" y="3921"/>
                      <a:pt x="21484" y="38074"/>
                    </a:cubicBezTo>
                    <a:cubicBezTo>
                      <a:pt x="20995" y="38625"/>
                      <a:pt x="20566" y="39665"/>
                      <a:pt x="20566" y="40400"/>
                    </a:cubicBezTo>
                    <a:lnTo>
                      <a:pt x="20566" y="122110"/>
                    </a:lnTo>
                    <a:cubicBezTo>
                      <a:pt x="20566" y="122845"/>
                      <a:pt x="20934" y="123885"/>
                      <a:pt x="21484" y="124436"/>
                    </a:cubicBezTo>
                    <a:cubicBezTo>
                      <a:pt x="52701" y="159202"/>
                      <a:pt x="92303" y="136249"/>
                      <a:pt x="90773" y="105034"/>
                    </a:cubicBezTo>
                    <a:cubicBezTo>
                      <a:pt x="90773" y="104911"/>
                      <a:pt x="90834" y="104789"/>
                      <a:pt x="90895" y="104728"/>
                    </a:cubicBezTo>
                    <a:cubicBezTo>
                      <a:pt x="94507" y="100688"/>
                      <a:pt x="99097" y="103198"/>
                      <a:pt x="99097" y="106748"/>
                    </a:cubicBezTo>
                    <a:cubicBezTo>
                      <a:pt x="99097" y="144206"/>
                      <a:pt x="51293" y="170769"/>
                      <a:pt x="13466" y="128598"/>
                    </a:cubicBezTo>
                    <a:cubicBezTo>
                      <a:pt x="12732" y="127802"/>
                      <a:pt x="12364" y="126762"/>
                      <a:pt x="12364" y="125722"/>
                    </a:cubicBezTo>
                    <a:lnTo>
                      <a:pt x="12364" y="102035"/>
                    </a:lnTo>
                    <a:cubicBezTo>
                      <a:pt x="12364" y="98852"/>
                      <a:pt x="10099" y="96036"/>
                      <a:pt x="6978" y="95669"/>
                    </a:cubicBezTo>
                    <a:cubicBezTo>
                      <a:pt x="3244" y="95241"/>
                      <a:pt x="0" y="98117"/>
                      <a:pt x="0" y="101790"/>
                    </a:cubicBezTo>
                    <a:lnTo>
                      <a:pt x="0" y="126640"/>
                    </a:lnTo>
                    <a:cubicBezTo>
                      <a:pt x="0" y="131108"/>
                      <a:pt x="1775" y="135331"/>
                      <a:pt x="4835" y="138513"/>
                    </a:cubicBezTo>
                    <a:cubicBezTo>
                      <a:pt x="55149" y="189743"/>
                      <a:pt x="116971" y="150449"/>
                      <a:pt x="111033" y="100015"/>
                    </a:cubicBezTo>
                    <a:cubicBezTo>
                      <a:pt x="110911" y="98852"/>
                      <a:pt x="110360" y="97750"/>
                      <a:pt x="109564" y="96955"/>
                    </a:cubicBezTo>
                    <a:cubicBezTo>
                      <a:pt x="95425" y="83122"/>
                      <a:pt x="78470" y="93037"/>
                      <a:pt x="78470" y="106809"/>
                    </a:cubicBezTo>
                    <a:cubicBezTo>
                      <a:pt x="78470" y="125966"/>
                      <a:pt x="54599" y="139677"/>
                      <a:pt x="35012" y="119845"/>
                    </a:cubicBezTo>
                    <a:cubicBezTo>
                      <a:pt x="33726" y="118499"/>
                      <a:pt x="32931" y="116724"/>
                      <a:pt x="32931" y="114888"/>
                    </a:cubicBezTo>
                    <a:lnTo>
                      <a:pt x="32931" y="55763"/>
                    </a:lnTo>
                    <a:cubicBezTo>
                      <a:pt x="32992" y="43154"/>
                      <a:pt x="43152" y="32932"/>
                      <a:pt x="55700" y="32932"/>
                    </a:cubicBezTo>
                    <a:lnTo>
                      <a:pt x="55700" y="329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" name="Google Shape;1183;p54">
              <a:extLst>
                <a:ext uri="{FF2B5EF4-FFF2-40B4-BE49-F238E27FC236}">
                  <a16:creationId xmlns:a16="http://schemas.microsoft.com/office/drawing/2014/main" id="{7091EEEE-204E-DB5D-66CA-B28392175421}"/>
                </a:ext>
              </a:extLst>
            </p:cNvPr>
            <p:cNvGrpSpPr/>
            <p:nvPr/>
          </p:nvGrpSpPr>
          <p:grpSpPr>
            <a:xfrm>
              <a:off x="2183496" y="1902916"/>
              <a:ext cx="377733" cy="221276"/>
              <a:chOff x="3441149" y="2574979"/>
              <a:chExt cx="422426" cy="247457"/>
            </a:xfrm>
          </p:grpSpPr>
          <p:sp>
            <p:nvSpPr>
              <p:cNvPr id="36" name="Google Shape;1184;p54">
                <a:extLst>
                  <a:ext uri="{FF2B5EF4-FFF2-40B4-BE49-F238E27FC236}">
                    <a16:creationId xmlns:a16="http://schemas.microsoft.com/office/drawing/2014/main" id="{4F8EFC2F-A282-310F-80D1-8E87EE0561F4}"/>
                  </a:ext>
                </a:extLst>
              </p:cNvPr>
              <p:cNvSpPr/>
              <p:nvPr/>
            </p:nvSpPr>
            <p:spPr>
              <a:xfrm>
                <a:off x="3555143" y="2617733"/>
                <a:ext cx="111277" cy="162292"/>
              </a:xfrm>
              <a:custGeom>
                <a:avLst/>
                <a:gdLst/>
                <a:ahLst/>
                <a:cxnLst/>
                <a:rect l="l" t="t" r="r" b="b"/>
                <a:pathLst>
                  <a:path w="111277" h="162292" extrusionOk="0">
                    <a:moveTo>
                      <a:pt x="94384" y="47770"/>
                    </a:moveTo>
                    <a:cubicBezTo>
                      <a:pt x="92242" y="48443"/>
                      <a:pt x="89916" y="47280"/>
                      <a:pt x="89181" y="45077"/>
                    </a:cubicBezTo>
                    <a:cubicBezTo>
                      <a:pt x="84346" y="29959"/>
                      <a:pt x="70145" y="19921"/>
                      <a:pt x="54109" y="20655"/>
                    </a:cubicBezTo>
                    <a:cubicBezTo>
                      <a:pt x="35256" y="21512"/>
                      <a:pt x="20566" y="37487"/>
                      <a:pt x="20566" y="56400"/>
                    </a:cubicBezTo>
                    <a:lnTo>
                      <a:pt x="20566" y="76047"/>
                    </a:lnTo>
                    <a:cubicBezTo>
                      <a:pt x="20566" y="79230"/>
                      <a:pt x="22831" y="82046"/>
                      <a:pt x="25953" y="82413"/>
                    </a:cubicBezTo>
                    <a:cubicBezTo>
                      <a:pt x="29686" y="82841"/>
                      <a:pt x="32930" y="79965"/>
                      <a:pt x="32930" y="76292"/>
                    </a:cubicBezTo>
                    <a:lnTo>
                      <a:pt x="32930" y="56216"/>
                    </a:lnTo>
                    <a:cubicBezTo>
                      <a:pt x="32930" y="44648"/>
                      <a:pt x="42357" y="33937"/>
                      <a:pt x="53864" y="33081"/>
                    </a:cubicBezTo>
                    <a:cubicBezTo>
                      <a:pt x="64576" y="32284"/>
                      <a:pt x="74185" y="38834"/>
                      <a:pt x="77368" y="48872"/>
                    </a:cubicBezTo>
                    <a:cubicBezTo>
                      <a:pt x="80551" y="58971"/>
                      <a:pt x="92609" y="63806"/>
                      <a:pt x="102219" y="57624"/>
                    </a:cubicBezTo>
                    <a:cubicBezTo>
                      <a:pt x="103382" y="56890"/>
                      <a:pt x="104422" y="55971"/>
                      <a:pt x="105341" y="54931"/>
                    </a:cubicBezTo>
                    <a:cubicBezTo>
                      <a:pt x="109380" y="50340"/>
                      <a:pt x="110605" y="44342"/>
                      <a:pt x="108830" y="38834"/>
                    </a:cubicBezTo>
                    <a:cubicBezTo>
                      <a:pt x="101301" y="15025"/>
                      <a:pt x="79082" y="-767"/>
                      <a:pt x="53986" y="29"/>
                    </a:cubicBezTo>
                    <a:cubicBezTo>
                      <a:pt x="24300" y="947"/>
                      <a:pt x="0" y="26837"/>
                      <a:pt x="0" y="56523"/>
                    </a:cubicBezTo>
                    <a:lnTo>
                      <a:pt x="0" y="105732"/>
                    </a:lnTo>
                    <a:cubicBezTo>
                      <a:pt x="0" y="136274"/>
                      <a:pt x="24239" y="161798"/>
                      <a:pt x="54843" y="162287"/>
                    </a:cubicBezTo>
                    <a:cubicBezTo>
                      <a:pt x="85876" y="162716"/>
                      <a:pt x="111278" y="137560"/>
                      <a:pt x="111278" y="106589"/>
                    </a:cubicBezTo>
                    <a:lnTo>
                      <a:pt x="111278" y="85167"/>
                    </a:lnTo>
                    <a:cubicBezTo>
                      <a:pt x="111278" y="76047"/>
                      <a:pt x="103872" y="68702"/>
                      <a:pt x="94813" y="68702"/>
                    </a:cubicBezTo>
                    <a:lnTo>
                      <a:pt x="53619" y="68702"/>
                    </a:lnTo>
                    <a:cubicBezTo>
                      <a:pt x="51293" y="68702"/>
                      <a:pt x="49089" y="69682"/>
                      <a:pt x="47559" y="71396"/>
                    </a:cubicBezTo>
                    <a:cubicBezTo>
                      <a:pt x="34950" y="85351"/>
                      <a:pt x="44683" y="101693"/>
                      <a:pt x="58149" y="101693"/>
                    </a:cubicBezTo>
                    <a:lnTo>
                      <a:pt x="78348" y="101693"/>
                    </a:lnTo>
                    <a:lnTo>
                      <a:pt x="78348" y="112893"/>
                    </a:lnTo>
                    <a:cubicBezTo>
                      <a:pt x="78348" y="116015"/>
                      <a:pt x="77062" y="118953"/>
                      <a:pt x="74797" y="121095"/>
                    </a:cubicBezTo>
                    <a:cubicBezTo>
                      <a:pt x="55578" y="138784"/>
                      <a:pt x="32992" y="125318"/>
                      <a:pt x="32992" y="106589"/>
                    </a:cubicBezTo>
                    <a:lnTo>
                      <a:pt x="32992" y="105365"/>
                    </a:lnTo>
                    <a:cubicBezTo>
                      <a:pt x="32992" y="102182"/>
                      <a:pt x="30727" y="99367"/>
                      <a:pt x="27605" y="98999"/>
                    </a:cubicBezTo>
                    <a:cubicBezTo>
                      <a:pt x="23872" y="98572"/>
                      <a:pt x="20627" y="101448"/>
                      <a:pt x="20627" y="105120"/>
                    </a:cubicBezTo>
                    <a:lnTo>
                      <a:pt x="20627" y="105916"/>
                    </a:lnTo>
                    <a:cubicBezTo>
                      <a:pt x="20627" y="126298"/>
                      <a:pt x="37338" y="142824"/>
                      <a:pt x="57720" y="141600"/>
                    </a:cubicBezTo>
                    <a:cubicBezTo>
                      <a:pt x="76083" y="140559"/>
                      <a:pt x="90712" y="125196"/>
                      <a:pt x="90712" y="106528"/>
                    </a:cubicBezTo>
                    <a:lnTo>
                      <a:pt x="90712" y="95450"/>
                    </a:lnTo>
                    <a:cubicBezTo>
                      <a:pt x="90712" y="92022"/>
                      <a:pt x="87957" y="89268"/>
                      <a:pt x="84529" y="89268"/>
                    </a:cubicBezTo>
                    <a:lnTo>
                      <a:pt x="58332" y="89268"/>
                    </a:lnTo>
                    <a:cubicBezTo>
                      <a:pt x="56373" y="89268"/>
                      <a:pt x="54537" y="87921"/>
                      <a:pt x="54170" y="86024"/>
                    </a:cubicBezTo>
                    <a:cubicBezTo>
                      <a:pt x="53619" y="83392"/>
                      <a:pt x="55639" y="81066"/>
                      <a:pt x="58210" y="81066"/>
                    </a:cubicBezTo>
                    <a:lnTo>
                      <a:pt x="94874" y="81066"/>
                    </a:lnTo>
                    <a:cubicBezTo>
                      <a:pt x="97139" y="81066"/>
                      <a:pt x="98975" y="82902"/>
                      <a:pt x="98975" y="85167"/>
                    </a:cubicBezTo>
                    <a:lnTo>
                      <a:pt x="98975" y="105855"/>
                    </a:lnTo>
                    <a:cubicBezTo>
                      <a:pt x="98975" y="129603"/>
                      <a:pt x="80184" y="149495"/>
                      <a:pt x="56496" y="149923"/>
                    </a:cubicBezTo>
                    <a:cubicBezTo>
                      <a:pt x="32257" y="150352"/>
                      <a:pt x="12425" y="130766"/>
                      <a:pt x="12425" y="106589"/>
                    </a:cubicBezTo>
                    <a:lnTo>
                      <a:pt x="12425" y="56523"/>
                    </a:lnTo>
                    <a:cubicBezTo>
                      <a:pt x="12425" y="33142"/>
                      <a:pt x="31523" y="12882"/>
                      <a:pt x="54966" y="12454"/>
                    </a:cubicBezTo>
                    <a:cubicBezTo>
                      <a:pt x="74308" y="12087"/>
                      <a:pt x="91324" y="24328"/>
                      <a:pt x="97139" y="42689"/>
                    </a:cubicBezTo>
                    <a:cubicBezTo>
                      <a:pt x="97751" y="44771"/>
                      <a:pt x="96588" y="47036"/>
                      <a:pt x="94384" y="47770"/>
                    </a:cubicBezTo>
                    <a:lnTo>
                      <a:pt x="94384" y="4777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1185;p54">
                <a:extLst>
                  <a:ext uri="{FF2B5EF4-FFF2-40B4-BE49-F238E27FC236}">
                    <a16:creationId xmlns:a16="http://schemas.microsoft.com/office/drawing/2014/main" id="{C81E1FA3-A9EC-79FD-A091-AE71D0E48EB9}"/>
                  </a:ext>
                </a:extLst>
              </p:cNvPr>
              <p:cNvSpPr/>
              <p:nvPr/>
            </p:nvSpPr>
            <p:spPr>
              <a:xfrm>
                <a:off x="3441149" y="2574979"/>
                <a:ext cx="422426" cy="247457"/>
              </a:xfrm>
              <a:custGeom>
                <a:avLst/>
                <a:gdLst/>
                <a:ahLst/>
                <a:cxnLst/>
                <a:rect l="l" t="t" r="r" b="b"/>
                <a:pathLst>
                  <a:path w="422426" h="247457" extrusionOk="0">
                    <a:moveTo>
                      <a:pt x="421509" y="120210"/>
                    </a:moveTo>
                    <a:lnTo>
                      <a:pt x="354179" y="3611"/>
                    </a:lnTo>
                    <a:cubicBezTo>
                      <a:pt x="352893" y="1469"/>
                      <a:pt x="350567" y="61"/>
                      <a:pt x="348058" y="61"/>
                    </a:cubicBezTo>
                    <a:lnTo>
                      <a:pt x="76657" y="61"/>
                    </a:lnTo>
                    <a:cubicBezTo>
                      <a:pt x="73474" y="61"/>
                      <a:pt x="70658" y="2326"/>
                      <a:pt x="70291" y="5447"/>
                    </a:cubicBezTo>
                    <a:cubicBezTo>
                      <a:pt x="69863" y="9181"/>
                      <a:pt x="72739" y="12425"/>
                      <a:pt x="76412" y="12425"/>
                    </a:cubicBezTo>
                    <a:lnTo>
                      <a:pt x="344997" y="12425"/>
                    </a:lnTo>
                    <a:lnTo>
                      <a:pt x="409267" y="123698"/>
                    </a:lnTo>
                    <a:lnTo>
                      <a:pt x="344997" y="234972"/>
                    </a:lnTo>
                    <a:lnTo>
                      <a:pt x="16305" y="234972"/>
                    </a:lnTo>
                    <a:lnTo>
                      <a:pt x="78493" y="127187"/>
                    </a:lnTo>
                    <a:cubicBezTo>
                      <a:pt x="79778" y="124984"/>
                      <a:pt x="79778" y="122290"/>
                      <a:pt x="78493" y="120148"/>
                    </a:cubicBezTo>
                    <a:lnTo>
                      <a:pt x="16305" y="12364"/>
                    </a:lnTo>
                    <a:lnTo>
                      <a:pt x="47338" y="12364"/>
                    </a:lnTo>
                    <a:cubicBezTo>
                      <a:pt x="50520" y="12364"/>
                      <a:pt x="53336" y="10099"/>
                      <a:pt x="53703" y="6977"/>
                    </a:cubicBezTo>
                    <a:cubicBezTo>
                      <a:pt x="54132" y="3244"/>
                      <a:pt x="51255" y="0"/>
                      <a:pt x="47582" y="0"/>
                    </a:cubicBezTo>
                    <a:lnTo>
                      <a:pt x="7246" y="0"/>
                    </a:lnTo>
                    <a:cubicBezTo>
                      <a:pt x="5715" y="0"/>
                      <a:pt x="4185" y="429"/>
                      <a:pt x="2900" y="1347"/>
                    </a:cubicBezTo>
                    <a:cubicBezTo>
                      <a:pt x="-161" y="3550"/>
                      <a:pt x="-773" y="7590"/>
                      <a:pt x="941" y="10528"/>
                    </a:cubicBezTo>
                    <a:lnTo>
                      <a:pt x="66251" y="123637"/>
                    </a:lnTo>
                    <a:lnTo>
                      <a:pt x="1002" y="236869"/>
                    </a:lnTo>
                    <a:cubicBezTo>
                      <a:pt x="-99" y="238766"/>
                      <a:pt x="-99" y="241154"/>
                      <a:pt x="1002" y="243051"/>
                    </a:cubicBezTo>
                    <a:lnTo>
                      <a:pt x="1737" y="244337"/>
                    </a:lnTo>
                    <a:cubicBezTo>
                      <a:pt x="2839" y="246234"/>
                      <a:pt x="4858" y="247458"/>
                      <a:pt x="7062" y="247458"/>
                    </a:cubicBezTo>
                    <a:lnTo>
                      <a:pt x="348058" y="247458"/>
                    </a:lnTo>
                    <a:cubicBezTo>
                      <a:pt x="350567" y="247458"/>
                      <a:pt x="352893" y="246111"/>
                      <a:pt x="354179" y="243908"/>
                    </a:cubicBezTo>
                    <a:lnTo>
                      <a:pt x="421509" y="127310"/>
                    </a:lnTo>
                    <a:cubicBezTo>
                      <a:pt x="422733" y="125106"/>
                      <a:pt x="422733" y="122413"/>
                      <a:pt x="421509" y="120210"/>
                    </a:cubicBezTo>
                    <a:lnTo>
                      <a:pt x="421509" y="1202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2C96F857-A28F-3597-2818-9362C1472844}"/>
              </a:ext>
            </a:extLst>
          </p:cNvPr>
          <p:cNvSpPr>
            <a:spLocks noChangeAspect="1"/>
          </p:cNvSpPr>
          <p:nvPr/>
        </p:nvSpPr>
        <p:spPr>
          <a:xfrm>
            <a:off x="385208" y="1677725"/>
            <a:ext cx="2332529" cy="1319916"/>
          </a:xfrm>
          <a:prstGeom prst="roundRect">
            <a:avLst/>
          </a:prstGeom>
          <a:noFill/>
          <a:ln w="12700">
            <a:solidFill>
              <a:srgbClr val="CFD8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Google Shape;781;p42">
            <a:extLst>
              <a:ext uri="{FF2B5EF4-FFF2-40B4-BE49-F238E27FC236}">
                <a16:creationId xmlns:a16="http://schemas.microsoft.com/office/drawing/2014/main" id="{90A810D1-5B00-BCA1-DCDD-CA13F31D5D4F}"/>
              </a:ext>
            </a:extLst>
          </p:cNvPr>
          <p:cNvSpPr txBox="1">
            <a:spLocks/>
          </p:cNvSpPr>
          <p:nvPr/>
        </p:nvSpPr>
        <p:spPr>
          <a:xfrm>
            <a:off x="3445888" y="2431069"/>
            <a:ext cx="229240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600" dirty="0"/>
              <a:t>Estrazione dei k-</a:t>
            </a:r>
            <a:r>
              <a:rPr lang="it-IT" sz="1600" dirty="0" err="1"/>
              <a:t>mer</a:t>
            </a:r>
            <a:endParaRPr lang="it-IT" sz="1600" dirty="0"/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A4A4681F-6968-6039-BB99-29F65C488561}"/>
              </a:ext>
            </a:extLst>
          </p:cNvPr>
          <p:cNvSpPr/>
          <p:nvPr/>
        </p:nvSpPr>
        <p:spPr>
          <a:xfrm>
            <a:off x="3307375" y="1622066"/>
            <a:ext cx="2529250" cy="1431235"/>
          </a:xfrm>
          <a:prstGeom prst="round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EC8D01D-D377-73A9-ACC3-47262DA5370A}"/>
              </a:ext>
            </a:extLst>
          </p:cNvPr>
          <p:cNvSpPr>
            <a:spLocks noChangeAspect="1"/>
          </p:cNvSpPr>
          <p:nvPr/>
        </p:nvSpPr>
        <p:spPr>
          <a:xfrm>
            <a:off x="3424290" y="1677725"/>
            <a:ext cx="2332529" cy="1319916"/>
          </a:xfrm>
          <a:prstGeom prst="roundRect">
            <a:avLst/>
          </a:prstGeom>
          <a:noFill/>
          <a:ln w="12700">
            <a:solidFill>
              <a:srgbClr val="CFD8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Google Shape;781;p42">
            <a:extLst>
              <a:ext uri="{FF2B5EF4-FFF2-40B4-BE49-F238E27FC236}">
                <a16:creationId xmlns:a16="http://schemas.microsoft.com/office/drawing/2014/main" id="{211E50E0-98D3-B591-FB2C-425B5CBECD59}"/>
              </a:ext>
            </a:extLst>
          </p:cNvPr>
          <p:cNvSpPr txBox="1">
            <a:spLocks/>
          </p:cNvSpPr>
          <p:nvPr/>
        </p:nvSpPr>
        <p:spPr>
          <a:xfrm>
            <a:off x="6574553" y="2431069"/>
            <a:ext cx="2035883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600" dirty="0"/>
              <a:t>FCGR</a:t>
            </a:r>
          </a:p>
        </p:txBody>
      </p:sp>
      <p:sp>
        <p:nvSpPr>
          <p:cNvPr id="59" name="Rettangolo con angoli arrotondati 58">
            <a:extLst>
              <a:ext uri="{FF2B5EF4-FFF2-40B4-BE49-F238E27FC236}">
                <a16:creationId xmlns:a16="http://schemas.microsoft.com/office/drawing/2014/main" id="{872C2AE4-0048-C3F9-9F5B-53E0A649016A}"/>
              </a:ext>
            </a:extLst>
          </p:cNvPr>
          <p:cNvSpPr/>
          <p:nvPr/>
        </p:nvSpPr>
        <p:spPr>
          <a:xfrm>
            <a:off x="6346459" y="1622066"/>
            <a:ext cx="2529250" cy="1431235"/>
          </a:xfrm>
          <a:prstGeom prst="round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3" name="Rettangolo con angoli arrotondati 792">
            <a:extLst>
              <a:ext uri="{FF2B5EF4-FFF2-40B4-BE49-F238E27FC236}">
                <a16:creationId xmlns:a16="http://schemas.microsoft.com/office/drawing/2014/main" id="{9F2134B1-4D1D-87D4-75A5-F161373BF060}"/>
              </a:ext>
            </a:extLst>
          </p:cNvPr>
          <p:cNvSpPr>
            <a:spLocks noChangeAspect="1"/>
          </p:cNvSpPr>
          <p:nvPr/>
        </p:nvSpPr>
        <p:spPr>
          <a:xfrm>
            <a:off x="6463374" y="1677725"/>
            <a:ext cx="2332529" cy="1319916"/>
          </a:xfrm>
          <a:prstGeom prst="roundRect">
            <a:avLst/>
          </a:prstGeom>
          <a:noFill/>
          <a:ln w="12700">
            <a:solidFill>
              <a:srgbClr val="CFD8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5" name="Google Shape;1022;p54">
            <a:extLst>
              <a:ext uri="{FF2B5EF4-FFF2-40B4-BE49-F238E27FC236}">
                <a16:creationId xmlns:a16="http://schemas.microsoft.com/office/drawing/2014/main" id="{5DE33467-6D80-8C71-67DB-59E09E8B0F9E}"/>
              </a:ext>
            </a:extLst>
          </p:cNvPr>
          <p:cNvSpPr>
            <a:spLocks noChangeAspect="1"/>
          </p:cNvSpPr>
          <p:nvPr/>
        </p:nvSpPr>
        <p:spPr>
          <a:xfrm rot="5400000">
            <a:off x="2927201" y="2074744"/>
            <a:ext cx="248917" cy="527343"/>
          </a:xfrm>
          <a:custGeom>
            <a:avLst/>
            <a:gdLst/>
            <a:ahLst/>
            <a:cxnLst/>
            <a:rect l="l" t="t" r="r" b="b"/>
            <a:pathLst>
              <a:path w="199664" h="422998" extrusionOk="0">
                <a:moveTo>
                  <a:pt x="139924" y="313439"/>
                </a:moveTo>
                <a:cubicBezTo>
                  <a:pt x="152839" y="303829"/>
                  <a:pt x="167591" y="291405"/>
                  <a:pt x="178853" y="275797"/>
                </a:cubicBezTo>
                <a:cubicBezTo>
                  <a:pt x="192870" y="256455"/>
                  <a:pt x="199664" y="235278"/>
                  <a:pt x="199664" y="211041"/>
                </a:cubicBezTo>
                <a:cubicBezTo>
                  <a:pt x="199664" y="182640"/>
                  <a:pt x="190238" y="158219"/>
                  <a:pt x="170773" y="136246"/>
                </a:cubicBezTo>
                <a:cubicBezTo>
                  <a:pt x="161531" y="125841"/>
                  <a:pt x="151003" y="116843"/>
                  <a:pt x="139924" y="108642"/>
                </a:cubicBezTo>
                <a:cubicBezTo>
                  <a:pt x="152778" y="99094"/>
                  <a:pt x="167407" y="86730"/>
                  <a:pt x="178670" y="71245"/>
                </a:cubicBezTo>
                <a:cubicBezTo>
                  <a:pt x="192625" y="52087"/>
                  <a:pt x="199481" y="31154"/>
                  <a:pt x="199664" y="7284"/>
                </a:cubicBezTo>
                <a:cubicBezTo>
                  <a:pt x="199664" y="5693"/>
                  <a:pt x="199236" y="4163"/>
                  <a:pt x="198317" y="2877"/>
                </a:cubicBezTo>
                <a:cubicBezTo>
                  <a:pt x="196971" y="1041"/>
                  <a:pt x="194890" y="0"/>
                  <a:pt x="192625" y="0"/>
                </a:cubicBezTo>
                <a:lnTo>
                  <a:pt x="161347" y="0"/>
                </a:lnTo>
                <a:cubicBezTo>
                  <a:pt x="157491" y="0"/>
                  <a:pt x="154369" y="3122"/>
                  <a:pt x="154308" y="6978"/>
                </a:cubicBezTo>
                <a:cubicBezTo>
                  <a:pt x="154186" y="17383"/>
                  <a:pt x="151983" y="26686"/>
                  <a:pt x="147575" y="35439"/>
                </a:cubicBezTo>
                <a:lnTo>
                  <a:pt x="141271" y="35439"/>
                </a:lnTo>
                <a:cubicBezTo>
                  <a:pt x="138088" y="35439"/>
                  <a:pt x="135272" y="37704"/>
                  <a:pt x="134905" y="40825"/>
                </a:cubicBezTo>
                <a:cubicBezTo>
                  <a:pt x="134476" y="44559"/>
                  <a:pt x="137353" y="47803"/>
                  <a:pt x="141026" y="47803"/>
                </a:cubicBezTo>
                <a:lnTo>
                  <a:pt x="155900" y="47803"/>
                </a:lnTo>
                <a:cubicBezTo>
                  <a:pt x="153390" y="51720"/>
                  <a:pt x="150513" y="55514"/>
                  <a:pt x="147147" y="59370"/>
                </a:cubicBezTo>
                <a:cubicBezTo>
                  <a:pt x="136986" y="59370"/>
                  <a:pt x="113421" y="59370"/>
                  <a:pt x="105953" y="59370"/>
                </a:cubicBezTo>
                <a:lnTo>
                  <a:pt x="105953" y="47803"/>
                </a:lnTo>
                <a:lnTo>
                  <a:pt x="111646" y="47803"/>
                </a:lnTo>
                <a:cubicBezTo>
                  <a:pt x="114829" y="47803"/>
                  <a:pt x="117644" y="45538"/>
                  <a:pt x="118012" y="42417"/>
                </a:cubicBezTo>
                <a:cubicBezTo>
                  <a:pt x="118440" y="38683"/>
                  <a:pt x="115563" y="35439"/>
                  <a:pt x="111891" y="35439"/>
                </a:cubicBezTo>
                <a:lnTo>
                  <a:pt x="52395" y="35439"/>
                </a:lnTo>
                <a:cubicBezTo>
                  <a:pt x="48233" y="27053"/>
                  <a:pt x="45846" y="17750"/>
                  <a:pt x="45723" y="6978"/>
                </a:cubicBezTo>
                <a:cubicBezTo>
                  <a:pt x="45662" y="3122"/>
                  <a:pt x="42540" y="0"/>
                  <a:pt x="38684" y="0"/>
                </a:cubicBezTo>
                <a:lnTo>
                  <a:pt x="7590" y="0"/>
                </a:lnTo>
                <a:cubicBezTo>
                  <a:pt x="5999" y="0"/>
                  <a:pt x="4469" y="429"/>
                  <a:pt x="3183" y="1408"/>
                </a:cubicBezTo>
                <a:cubicBezTo>
                  <a:pt x="1347" y="2816"/>
                  <a:pt x="306" y="4897"/>
                  <a:pt x="368" y="7100"/>
                </a:cubicBezTo>
                <a:cubicBezTo>
                  <a:pt x="551" y="35194"/>
                  <a:pt x="10099" y="59493"/>
                  <a:pt x="29503" y="81344"/>
                </a:cubicBezTo>
                <a:cubicBezTo>
                  <a:pt x="38684" y="91688"/>
                  <a:pt x="49151" y="100563"/>
                  <a:pt x="60169" y="108703"/>
                </a:cubicBezTo>
                <a:cubicBezTo>
                  <a:pt x="54476" y="112926"/>
                  <a:pt x="49518" y="116904"/>
                  <a:pt x="44867" y="120944"/>
                </a:cubicBezTo>
                <a:cubicBezTo>
                  <a:pt x="42479" y="123025"/>
                  <a:pt x="41867" y="126637"/>
                  <a:pt x="43643" y="129268"/>
                </a:cubicBezTo>
                <a:cubicBezTo>
                  <a:pt x="45785" y="132390"/>
                  <a:pt x="50070" y="132818"/>
                  <a:pt x="52824" y="130431"/>
                </a:cubicBezTo>
                <a:cubicBezTo>
                  <a:pt x="58088" y="125841"/>
                  <a:pt x="63842" y="121311"/>
                  <a:pt x="70696" y="116292"/>
                </a:cubicBezTo>
                <a:cubicBezTo>
                  <a:pt x="76695" y="120455"/>
                  <a:pt x="82816" y="124494"/>
                  <a:pt x="88937" y="128595"/>
                </a:cubicBezTo>
                <a:cubicBezTo>
                  <a:pt x="81102" y="134042"/>
                  <a:pt x="73267" y="139796"/>
                  <a:pt x="66167" y="145978"/>
                </a:cubicBezTo>
                <a:lnTo>
                  <a:pt x="51600" y="145978"/>
                </a:lnTo>
                <a:cubicBezTo>
                  <a:pt x="49457" y="145978"/>
                  <a:pt x="47437" y="146896"/>
                  <a:pt x="45968" y="148487"/>
                </a:cubicBezTo>
                <a:cubicBezTo>
                  <a:pt x="39296" y="155771"/>
                  <a:pt x="34155" y="163115"/>
                  <a:pt x="30177" y="171011"/>
                </a:cubicBezTo>
                <a:cubicBezTo>
                  <a:pt x="29197" y="172970"/>
                  <a:pt x="28952" y="175296"/>
                  <a:pt x="29748" y="177377"/>
                </a:cubicBezTo>
                <a:cubicBezTo>
                  <a:pt x="30911" y="180437"/>
                  <a:pt x="33727" y="182273"/>
                  <a:pt x="36848" y="182273"/>
                </a:cubicBezTo>
                <a:lnTo>
                  <a:pt x="38746" y="182273"/>
                </a:lnTo>
                <a:cubicBezTo>
                  <a:pt x="37338" y="185762"/>
                  <a:pt x="36236" y="189312"/>
                  <a:pt x="35379" y="192985"/>
                </a:cubicBezTo>
                <a:lnTo>
                  <a:pt x="29136" y="192985"/>
                </a:lnTo>
                <a:cubicBezTo>
                  <a:pt x="25280" y="192985"/>
                  <a:pt x="22035" y="195861"/>
                  <a:pt x="21546" y="199717"/>
                </a:cubicBezTo>
                <a:cubicBezTo>
                  <a:pt x="20689" y="207001"/>
                  <a:pt x="20689" y="214957"/>
                  <a:pt x="21546" y="222547"/>
                </a:cubicBezTo>
                <a:cubicBezTo>
                  <a:pt x="21974" y="226342"/>
                  <a:pt x="25218" y="229280"/>
                  <a:pt x="29074" y="229280"/>
                </a:cubicBezTo>
                <a:lnTo>
                  <a:pt x="35257" y="229280"/>
                </a:lnTo>
                <a:cubicBezTo>
                  <a:pt x="36175" y="233258"/>
                  <a:pt x="37338" y="237053"/>
                  <a:pt x="38868" y="240848"/>
                </a:cubicBezTo>
                <a:lnTo>
                  <a:pt x="37031" y="240848"/>
                </a:lnTo>
                <a:cubicBezTo>
                  <a:pt x="34828" y="240848"/>
                  <a:pt x="32686" y="241705"/>
                  <a:pt x="31278" y="243296"/>
                </a:cubicBezTo>
                <a:cubicBezTo>
                  <a:pt x="29074" y="245744"/>
                  <a:pt x="28646" y="249050"/>
                  <a:pt x="30054" y="251865"/>
                </a:cubicBezTo>
                <a:cubicBezTo>
                  <a:pt x="34033" y="259822"/>
                  <a:pt x="39235" y="267228"/>
                  <a:pt x="45968" y="274634"/>
                </a:cubicBezTo>
                <a:cubicBezTo>
                  <a:pt x="47376" y="276225"/>
                  <a:pt x="49457" y="277082"/>
                  <a:pt x="51538" y="277082"/>
                </a:cubicBezTo>
                <a:lnTo>
                  <a:pt x="66473" y="277082"/>
                </a:lnTo>
                <a:cubicBezTo>
                  <a:pt x="109075" y="314234"/>
                  <a:pt x="182587" y="338840"/>
                  <a:pt x="186627" y="409778"/>
                </a:cubicBezTo>
                <a:lnTo>
                  <a:pt x="166244" y="409778"/>
                </a:lnTo>
                <a:cubicBezTo>
                  <a:pt x="165693" y="401882"/>
                  <a:pt x="163979" y="394538"/>
                  <a:pt x="161164" y="387499"/>
                </a:cubicBezTo>
                <a:lnTo>
                  <a:pt x="163061" y="387499"/>
                </a:lnTo>
                <a:cubicBezTo>
                  <a:pt x="168754" y="387499"/>
                  <a:pt x="172426" y="381562"/>
                  <a:pt x="169855" y="376482"/>
                </a:cubicBezTo>
                <a:cubicBezTo>
                  <a:pt x="165877" y="368525"/>
                  <a:pt x="160674" y="361118"/>
                  <a:pt x="153941" y="353713"/>
                </a:cubicBezTo>
                <a:cubicBezTo>
                  <a:pt x="152472" y="352122"/>
                  <a:pt x="150452" y="351203"/>
                  <a:pt x="148310" y="351203"/>
                </a:cubicBezTo>
                <a:lnTo>
                  <a:pt x="134048" y="351203"/>
                </a:lnTo>
                <a:cubicBezTo>
                  <a:pt x="89916" y="312704"/>
                  <a:pt x="12426" y="287365"/>
                  <a:pt x="12426" y="210856"/>
                </a:cubicBezTo>
                <a:cubicBezTo>
                  <a:pt x="12426" y="188027"/>
                  <a:pt x="19220" y="168196"/>
                  <a:pt x="33175" y="150140"/>
                </a:cubicBezTo>
                <a:cubicBezTo>
                  <a:pt x="34951" y="147814"/>
                  <a:pt x="35012" y="144509"/>
                  <a:pt x="33175" y="142305"/>
                </a:cubicBezTo>
                <a:cubicBezTo>
                  <a:pt x="30544" y="139123"/>
                  <a:pt x="25830" y="139367"/>
                  <a:pt x="23444" y="142428"/>
                </a:cubicBezTo>
                <a:cubicBezTo>
                  <a:pt x="7651" y="162748"/>
                  <a:pt x="0" y="185150"/>
                  <a:pt x="0" y="210856"/>
                </a:cubicBezTo>
                <a:cubicBezTo>
                  <a:pt x="0" y="239379"/>
                  <a:pt x="9487" y="263984"/>
                  <a:pt x="29013" y="286079"/>
                </a:cubicBezTo>
                <a:cubicBezTo>
                  <a:pt x="38256" y="296546"/>
                  <a:pt x="48906" y="305543"/>
                  <a:pt x="60046" y="313806"/>
                </a:cubicBezTo>
                <a:cubicBezTo>
                  <a:pt x="47131" y="323415"/>
                  <a:pt x="32441" y="335779"/>
                  <a:pt x="21117" y="351387"/>
                </a:cubicBezTo>
                <a:cubicBezTo>
                  <a:pt x="7101" y="370605"/>
                  <a:pt x="184" y="391661"/>
                  <a:pt x="0" y="415715"/>
                </a:cubicBezTo>
                <a:cubicBezTo>
                  <a:pt x="0" y="417061"/>
                  <a:pt x="306" y="418469"/>
                  <a:pt x="1041" y="419632"/>
                </a:cubicBezTo>
                <a:cubicBezTo>
                  <a:pt x="2387" y="421774"/>
                  <a:pt x="4652" y="422999"/>
                  <a:pt x="7039" y="422999"/>
                </a:cubicBezTo>
                <a:lnTo>
                  <a:pt x="38440" y="422999"/>
                </a:lnTo>
                <a:cubicBezTo>
                  <a:pt x="42357" y="422999"/>
                  <a:pt x="45601" y="419816"/>
                  <a:pt x="45601" y="415898"/>
                </a:cubicBezTo>
                <a:cubicBezTo>
                  <a:pt x="45723" y="404881"/>
                  <a:pt x="48172" y="395333"/>
                  <a:pt x="52456" y="386764"/>
                </a:cubicBezTo>
                <a:lnTo>
                  <a:pt x="111891" y="386764"/>
                </a:lnTo>
                <a:cubicBezTo>
                  <a:pt x="115135" y="386764"/>
                  <a:pt x="117706" y="384132"/>
                  <a:pt x="117644" y="380827"/>
                </a:cubicBezTo>
                <a:cubicBezTo>
                  <a:pt x="117583" y="377644"/>
                  <a:pt x="114767" y="375196"/>
                  <a:pt x="111585" y="375196"/>
                </a:cubicBezTo>
                <a:lnTo>
                  <a:pt x="105770" y="375196"/>
                </a:lnTo>
                <a:lnTo>
                  <a:pt x="105770" y="363628"/>
                </a:lnTo>
                <a:lnTo>
                  <a:pt x="146963" y="363628"/>
                </a:lnTo>
                <a:cubicBezTo>
                  <a:pt x="150330" y="367423"/>
                  <a:pt x="153207" y="371279"/>
                  <a:pt x="155716" y="375196"/>
                </a:cubicBezTo>
                <a:cubicBezTo>
                  <a:pt x="152166" y="375196"/>
                  <a:pt x="140720" y="375196"/>
                  <a:pt x="140720" y="375196"/>
                </a:cubicBezTo>
                <a:cubicBezTo>
                  <a:pt x="137537" y="375196"/>
                  <a:pt x="134783" y="377644"/>
                  <a:pt x="134660" y="380827"/>
                </a:cubicBezTo>
                <a:cubicBezTo>
                  <a:pt x="134599" y="384071"/>
                  <a:pt x="137170" y="386764"/>
                  <a:pt x="140414" y="386764"/>
                </a:cubicBezTo>
                <a:lnTo>
                  <a:pt x="147330" y="386764"/>
                </a:lnTo>
                <a:cubicBezTo>
                  <a:pt x="151738" y="395517"/>
                  <a:pt x="153941" y="404881"/>
                  <a:pt x="154063" y="415225"/>
                </a:cubicBezTo>
                <a:cubicBezTo>
                  <a:pt x="154125" y="419081"/>
                  <a:pt x="157246" y="422203"/>
                  <a:pt x="161102" y="422203"/>
                </a:cubicBezTo>
                <a:lnTo>
                  <a:pt x="192196" y="422203"/>
                </a:lnTo>
                <a:cubicBezTo>
                  <a:pt x="193788" y="422203"/>
                  <a:pt x="195319" y="421774"/>
                  <a:pt x="196604" y="420795"/>
                </a:cubicBezTo>
                <a:cubicBezTo>
                  <a:pt x="198440" y="419387"/>
                  <a:pt x="199481" y="417306"/>
                  <a:pt x="199420" y="415103"/>
                </a:cubicBezTo>
                <a:cubicBezTo>
                  <a:pt x="199236" y="387009"/>
                  <a:pt x="189687" y="362710"/>
                  <a:pt x="170284" y="340920"/>
                </a:cubicBezTo>
                <a:cubicBezTo>
                  <a:pt x="161408" y="330454"/>
                  <a:pt x="150880" y="321579"/>
                  <a:pt x="139924" y="313439"/>
                </a:cubicBezTo>
                <a:lnTo>
                  <a:pt x="139924" y="313439"/>
                </a:lnTo>
                <a:close/>
                <a:moveTo>
                  <a:pt x="148432" y="71734"/>
                </a:moveTo>
                <a:cubicBezTo>
                  <a:pt x="150574" y="71734"/>
                  <a:pt x="152595" y="70816"/>
                  <a:pt x="154002" y="69286"/>
                </a:cubicBezTo>
                <a:cubicBezTo>
                  <a:pt x="160735" y="61880"/>
                  <a:pt x="165938" y="54474"/>
                  <a:pt x="169917" y="46517"/>
                </a:cubicBezTo>
                <a:cubicBezTo>
                  <a:pt x="170773" y="44803"/>
                  <a:pt x="171018" y="42845"/>
                  <a:pt x="170467" y="41008"/>
                </a:cubicBezTo>
                <a:cubicBezTo>
                  <a:pt x="169427" y="37642"/>
                  <a:pt x="166489" y="35500"/>
                  <a:pt x="163122" y="35500"/>
                </a:cubicBezTo>
                <a:lnTo>
                  <a:pt x="161164" y="35500"/>
                </a:lnTo>
                <a:cubicBezTo>
                  <a:pt x="164102" y="28217"/>
                  <a:pt x="165877" y="20566"/>
                  <a:pt x="166489" y="12425"/>
                </a:cubicBezTo>
                <a:lnTo>
                  <a:pt x="187361" y="12425"/>
                </a:lnTo>
                <a:cubicBezTo>
                  <a:pt x="184974" y="54535"/>
                  <a:pt x="158532" y="80365"/>
                  <a:pt x="129213" y="101603"/>
                </a:cubicBezTo>
                <a:cubicBezTo>
                  <a:pt x="123153" y="97380"/>
                  <a:pt x="117032" y="93340"/>
                  <a:pt x="110850" y="89240"/>
                </a:cubicBezTo>
                <a:cubicBezTo>
                  <a:pt x="118746" y="83792"/>
                  <a:pt x="126642" y="77977"/>
                  <a:pt x="133742" y="71796"/>
                </a:cubicBezTo>
                <a:lnTo>
                  <a:pt x="148432" y="71796"/>
                </a:lnTo>
                <a:close/>
                <a:moveTo>
                  <a:pt x="114094" y="71734"/>
                </a:moveTo>
                <a:cubicBezTo>
                  <a:pt x="109503" y="75162"/>
                  <a:pt x="104790" y="78467"/>
                  <a:pt x="100077" y="81711"/>
                </a:cubicBezTo>
                <a:cubicBezTo>
                  <a:pt x="95180" y="78344"/>
                  <a:pt x="90467" y="75101"/>
                  <a:pt x="85999" y="71734"/>
                </a:cubicBezTo>
                <a:lnTo>
                  <a:pt x="114094" y="71734"/>
                </a:lnTo>
                <a:close/>
                <a:moveTo>
                  <a:pt x="93650" y="47803"/>
                </a:moveTo>
                <a:lnTo>
                  <a:pt x="93650" y="59370"/>
                </a:lnTo>
                <a:lnTo>
                  <a:pt x="70084" y="59370"/>
                </a:lnTo>
                <a:cubicBezTo>
                  <a:pt x="66106" y="55637"/>
                  <a:pt x="62495" y="51842"/>
                  <a:pt x="59312" y="47803"/>
                </a:cubicBezTo>
                <a:lnTo>
                  <a:pt x="93650" y="47803"/>
                </a:lnTo>
                <a:close/>
                <a:moveTo>
                  <a:pt x="12976" y="12364"/>
                </a:moveTo>
                <a:lnTo>
                  <a:pt x="33604" y="12364"/>
                </a:lnTo>
                <a:cubicBezTo>
                  <a:pt x="36604" y="54046"/>
                  <a:pt x="70207" y="76386"/>
                  <a:pt x="105708" y="100012"/>
                </a:cubicBezTo>
                <a:cubicBezTo>
                  <a:pt x="143903" y="125473"/>
                  <a:pt x="187239" y="154302"/>
                  <a:pt x="187239" y="211041"/>
                </a:cubicBezTo>
                <a:cubicBezTo>
                  <a:pt x="187239" y="256578"/>
                  <a:pt x="159817" y="283754"/>
                  <a:pt x="129274" y="305911"/>
                </a:cubicBezTo>
                <a:cubicBezTo>
                  <a:pt x="123275" y="301748"/>
                  <a:pt x="117154" y="297709"/>
                  <a:pt x="111033" y="293608"/>
                </a:cubicBezTo>
                <a:cubicBezTo>
                  <a:pt x="111033" y="293608"/>
                  <a:pt x="111033" y="293608"/>
                  <a:pt x="111033" y="293608"/>
                </a:cubicBezTo>
                <a:cubicBezTo>
                  <a:pt x="142128" y="272063"/>
                  <a:pt x="166611" y="249723"/>
                  <a:pt x="166611" y="211041"/>
                </a:cubicBezTo>
                <a:cubicBezTo>
                  <a:pt x="166611" y="165319"/>
                  <a:pt x="131478" y="141938"/>
                  <a:pt x="94262" y="117210"/>
                </a:cubicBezTo>
                <a:cubicBezTo>
                  <a:pt x="57537" y="92667"/>
                  <a:pt x="16037" y="65063"/>
                  <a:pt x="12976" y="12364"/>
                </a:cubicBezTo>
                <a:lnTo>
                  <a:pt x="12976" y="12364"/>
                </a:lnTo>
                <a:close/>
                <a:moveTo>
                  <a:pt x="106014" y="253089"/>
                </a:moveTo>
                <a:lnTo>
                  <a:pt x="140291" y="253089"/>
                </a:lnTo>
                <a:cubicBezTo>
                  <a:pt x="137108" y="257129"/>
                  <a:pt x="133497" y="260924"/>
                  <a:pt x="129519" y="264657"/>
                </a:cubicBezTo>
                <a:lnTo>
                  <a:pt x="106014" y="264657"/>
                </a:lnTo>
                <a:lnTo>
                  <a:pt x="106014" y="253089"/>
                </a:lnTo>
                <a:close/>
                <a:moveTo>
                  <a:pt x="106014" y="205287"/>
                </a:moveTo>
                <a:lnTo>
                  <a:pt x="155227" y="205287"/>
                </a:lnTo>
                <a:cubicBezTo>
                  <a:pt x="155533" y="209082"/>
                  <a:pt x="155533" y="213060"/>
                  <a:pt x="155227" y="216855"/>
                </a:cubicBezTo>
                <a:lnTo>
                  <a:pt x="106014" y="216855"/>
                </a:lnTo>
                <a:lnTo>
                  <a:pt x="106014" y="205287"/>
                </a:lnTo>
                <a:close/>
                <a:moveTo>
                  <a:pt x="106014" y="158280"/>
                </a:moveTo>
                <a:lnTo>
                  <a:pt x="129580" y="158280"/>
                </a:lnTo>
                <a:cubicBezTo>
                  <a:pt x="133558" y="162014"/>
                  <a:pt x="137170" y="165809"/>
                  <a:pt x="140353" y="169848"/>
                </a:cubicBezTo>
                <a:lnTo>
                  <a:pt x="106014" y="169848"/>
                </a:lnTo>
                <a:lnTo>
                  <a:pt x="106014" y="158280"/>
                </a:lnTo>
                <a:close/>
                <a:moveTo>
                  <a:pt x="100077" y="135940"/>
                </a:moveTo>
                <a:cubicBezTo>
                  <a:pt x="104974" y="139306"/>
                  <a:pt x="109687" y="142550"/>
                  <a:pt x="114155" y="145917"/>
                </a:cubicBezTo>
                <a:lnTo>
                  <a:pt x="86060" y="145917"/>
                </a:lnTo>
                <a:cubicBezTo>
                  <a:pt x="90589" y="142489"/>
                  <a:pt x="95364" y="139184"/>
                  <a:pt x="100077" y="135940"/>
                </a:cubicBezTo>
                <a:lnTo>
                  <a:pt x="100077" y="135940"/>
                </a:lnTo>
                <a:close/>
                <a:moveTo>
                  <a:pt x="52456" y="158280"/>
                </a:moveTo>
                <a:lnTo>
                  <a:pt x="93650" y="158280"/>
                </a:lnTo>
                <a:lnTo>
                  <a:pt x="93650" y="169848"/>
                </a:lnTo>
                <a:cubicBezTo>
                  <a:pt x="86550" y="169848"/>
                  <a:pt x="55333" y="169848"/>
                  <a:pt x="43704" y="169848"/>
                </a:cubicBezTo>
                <a:cubicBezTo>
                  <a:pt x="46213" y="165931"/>
                  <a:pt x="49090" y="162075"/>
                  <a:pt x="52456" y="158280"/>
                </a:cubicBezTo>
                <a:close/>
                <a:moveTo>
                  <a:pt x="52518" y="182212"/>
                </a:moveTo>
                <a:lnTo>
                  <a:pt x="147636" y="182212"/>
                </a:lnTo>
                <a:cubicBezTo>
                  <a:pt x="149412" y="185884"/>
                  <a:pt x="150880" y="189679"/>
                  <a:pt x="151983" y="193780"/>
                </a:cubicBezTo>
                <a:lnTo>
                  <a:pt x="48172" y="193780"/>
                </a:lnTo>
                <a:cubicBezTo>
                  <a:pt x="49212" y="189740"/>
                  <a:pt x="50682" y="185946"/>
                  <a:pt x="52518" y="182212"/>
                </a:cubicBezTo>
                <a:lnTo>
                  <a:pt x="52518" y="182212"/>
                </a:lnTo>
                <a:close/>
                <a:moveTo>
                  <a:pt x="31707" y="205287"/>
                </a:moveTo>
                <a:lnTo>
                  <a:pt x="93650" y="205287"/>
                </a:lnTo>
                <a:lnTo>
                  <a:pt x="93650" y="216855"/>
                </a:lnTo>
                <a:cubicBezTo>
                  <a:pt x="83183" y="216855"/>
                  <a:pt x="38807" y="216855"/>
                  <a:pt x="31707" y="216855"/>
                </a:cubicBezTo>
                <a:cubicBezTo>
                  <a:pt x="31462" y="213121"/>
                  <a:pt x="31462" y="209143"/>
                  <a:pt x="31707" y="205287"/>
                </a:cubicBezTo>
                <a:lnTo>
                  <a:pt x="31707" y="205287"/>
                </a:lnTo>
                <a:close/>
                <a:moveTo>
                  <a:pt x="48172" y="229157"/>
                </a:moveTo>
                <a:lnTo>
                  <a:pt x="151983" y="229157"/>
                </a:lnTo>
                <a:cubicBezTo>
                  <a:pt x="150880" y="233197"/>
                  <a:pt x="149412" y="237053"/>
                  <a:pt x="147636" y="240726"/>
                </a:cubicBezTo>
                <a:lnTo>
                  <a:pt x="52518" y="240726"/>
                </a:lnTo>
                <a:cubicBezTo>
                  <a:pt x="50682" y="236992"/>
                  <a:pt x="49212" y="233136"/>
                  <a:pt x="48172" y="229157"/>
                </a:cubicBezTo>
                <a:close/>
                <a:moveTo>
                  <a:pt x="43704" y="253089"/>
                </a:moveTo>
                <a:lnTo>
                  <a:pt x="93650" y="253089"/>
                </a:lnTo>
                <a:lnTo>
                  <a:pt x="93650" y="264657"/>
                </a:lnTo>
                <a:lnTo>
                  <a:pt x="52456" y="264657"/>
                </a:lnTo>
                <a:cubicBezTo>
                  <a:pt x="49090" y="260801"/>
                  <a:pt x="46213" y="257006"/>
                  <a:pt x="43704" y="253089"/>
                </a:cubicBezTo>
                <a:lnTo>
                  <a:pt x="43704" y="253089"/>
                </a:lnTo>
                <a:close/>
                <a:moveTo>
                  <a:pt x="114094" y="276164"/>
                </a:moveTo>
                <a:cubicBezTo>
                  <a:pt x="109626" y="279469"/>
                  <a:pt x="104913" y="282774"/>
                  <a:pt x="100077" y="286140"/>
                </a:cubicBezTo>
                <a:cubicBezTo>
                  <a:pt x="95242" y="282836"/>
                  <a:pt x="90528" y="279530"/>
                  <a:pt x="86060" y="276164"/>
                </a:cubicBezTo>
                <a:lnTo>
                  <a:pt x="114094" y="276164"/>
                </a:lnTo>
                <a:close/>
                <a:moveTo>
                  <a:pt x="85999" y="351203"/>
                </a:moveTo>
                <a:cubicBezTo>
                  <a:pt x="90467" y="347898"/>
                  <a:pt x="95119" y="344593"/>
                  <a:pt x="100016" y="341226"/>
                </a:cubicBezTo>
                <a:cubicBezTo>
                  <a:pt x="104852" y="344532"/>
                  <a:pt x="109564" y="347837"/>
                  <a:pt x="114033" y="351203"/>
                </a:cubicBezTo>
                <a:cubicBezTo>
                  <a:pt x="96588" y="351203"/>
                  <a:pt x="103443" y="351203"/>
                  <a:pt x="85999" y="351203"/>
                </a:cubicBezTo>
                <a:close/>
                <a:moveTo>
                  <a:pt x="33665" y="409717"/>
                </a:moveTo>
                <a:lnTo>
                  <a:pt x="13038" y="409717"/>
                </a:lnTo>
                <a:cubicBezTo>
                  <a:pt x="15425" y="367851"/>
                  <a:pt x="41684" y="342206"/>
                  <a:pt x="70819" y="321028"/>
                </a:cubicBezTo>
                <a:cubicBezTo>
                  <a:pt x="76879" y="325252"/>
                  <a:pt x="83000" y="329291"/>
                  <a:pt x="89059" y="333331"/>
                </a:cubicBezTo>
                <a:cubicBezTo>
                  <a:pt x="59985" y="353468"/>
                  <a:pt x="36175" y="374584"/>
                  <a:pt x="33665" y="409717"/>
                </a:cubicBezTo>
                <a:close/>
                <a:moveTo>
                  <a:pt x="70146" y="363567"/>
                </a:moveTo>
                <a:lnTo>
                  <a:pt x="93650" y="363567"/>
                </a:lnTo>
                <a:lnTo>
                  <a:pt x="93650" y="375135"/>
                </a:lnTo>
                <a:lnTo>
                  <a:pt x="59373" y="375135"/>
                </a:lnTo>
                <a:cubicBezTo>
                  <a:pt x="62556" y="371096"/>
                  <a:pt x="66167" y="367239"/>
                  <a:pt x="70146" y="363567"/>
                </a:cubicBezTo>
                <a:close/>
              </a:path>
            </a:pathLst>
          </a:custGeom>
          <a:solidFill>
            <a:schemeClr val="dk1"/>
          </a:solidFill>
          <a:ln>
            <a:solidFill>
              <a:schemeClr val="tx2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1022;p54">
            <a:extLst>
              <a:ext uri="{FF2B5EF4-FFF2-40B4-BE49-F238E27FC236}">
                <a16:creationId xmlns:a16="http://schemas.microsoft.com/office/drawing/2014/main" id="{72FEDB9D-ABDE-E49B-1EDB-729D5198D77F}"/>
              </a:ext>
            </a:extLst>
          </p:cNvPr>
          <p:cNvSpPr>
            <a:spLocks noChangeAspect="1"/>
          </p:cNvSpPr>
          <p:nvPr/>
        </p:nvSpPr>
        <p:spPr>
          <a:xfrm rot="5400000">
            <a:off x="5967084" y="2074744"/>
            <a:ext cx="248917" cy="527343"/>
          </a:xfrm>
          <a:custGeom>
            <a:avLst/>
            <a:gdLst/>
            <a:ahLst/>
            <a:cxnLst/>
            <a:rect l="l" t="t" r="r" b="b"/>
            <a:pathLst>
              <a:path w="199664" h="422998" extrusionOk="0">
                <a:moveTo>
                  <a:pt x="139924" y="313439"/>
                </a:moveTo>
                <a:cubicBezTo>
                  <a:pt x="152839" y="303829"/>
                  <a:pt x="167591" y="291405"/>
                  <a:pt x="178853" y="275797"/>
                </a:cubicBezTo>
                <a:cubicBezTo>
                  <a:pt x="192870" y="256455"/>
                  <a:pt x="199664" y="235278"/>
                  <a:pt x="199664" y="211041"/>
                </a:cubicBezTo>
                <a:cubicBezTo>
                  <a:pt x="199664" y="182640"/>
                  <a:pt x="190238" y="158219"/>
                  <a:pt x="170773" y="136246"/>
                </a:cubicBezTo>
                <a:cubicBezTo>
                  <a:pt x="161531" y="125841"/>
                  <a:pt x="151003" y="116843"/>
                  <a:pt x="139924" y="108642"/>
                </a:cubicBezTo>
                <a:cubicBezTo>
                  <a:pt x="152778" y="99094"/>
                  <a:pt x="167407" y="86730"/>
                  <a:pt x="178670" y="71245"/>
                </a:cubicBezTo>
                <a:cubicBezTo>
                  <a:pt x="192625" y="52087"/>
                  <a:pt x="199481" y="31154"/>
                  <a:pt x="199664" y="7284"/>
                </a:cubicBezTo>
                <a:cubicBezTo>
                  <a:pt x="199664" y="5693"/>
                  <a:pt x="199236" y="4163"/>
                  <a:pt x="198317" y="2877"/>
                </a:cubicBezTo>
                <a:cubicBezTo>
                  <a:pt x="196971" y="1041"/>
                  <a:pt x="194890" y="0"/>
                  <a:pt x="192625" y="0"/>
                </a:cubicBezTo>
                <a:lnTo>
                  <a:pt x="161347" y="0"/>
                </a:lnTo>
                <a:cubicBezTo>
                  <a:pt x="157491" y="0"/>
                  <a:pt x="154369" y="3122"/>
                  <a:pt x="154308" y="6978"/>
                </a:cubicBezTo>
                <a:cubicBezTo>
                  <a:pt x="154186" y="17383"/>
                  <a:pt x="151983" y="26686"/>
                  <a:pt x="147575" y="35439"/>
                </a:cubicBezTo>
                <a:lnTo>
                  <a:pt x="141271" y="35439"/>
                </a:lnTo>
                <a:cubicBezTo>
                  <a:pt x="138088" y="35439"/>
                  <a:pt x="135272" y="37704"/>
                  <a:pt x="134905" y="40825"/>
                </a:cubicBezTo>
                <a:cubicBezTo>
                  <a:pt x="134476" y="44559"/>
                  <a:pt x="137353" y="47803"/>
                  <a:pt x="141026" y="47803"/>
                </a:cubicBezTo>
                <a:lnTo>
                  <a:pt x="155900" y="47803"/>
                </a:lnTo>
                <a:cubicBezTo>
                  <a:pt x="153390" y="51720"/>
                  <a:pt x="150513" y="55514"/>
                  <a:pt x="147147" y="59370"/>
                </a:cubicBezTo>
                <a:cubicBezTo>
                  <a:pt x="136986" y="59370"/>
                  <a:pt x="113421" y="59370"/>
                  <a:pt x="105953" y="59370"/>
                </a:cubicBezTo>
                <a:lnTo>
                  <a:pt x="105953" y="47803"/>
                </a:lnTo>
                <a:lnTo>
                  <a:pt x="111646" y="47803"/>
                </a:lnTo>
                <a:cubicBezTo>
                  <a:pt x="114829" y="47803"/>
                  <a:pt x="117644" y="45538"/>
                  <a:pt x="118012" y="42417"/>
                </a:cubicBezTo>
                <a:cubicBezTo>
                  <a:pt x="118440" y="38683"/>
                  <a:pt x="115563" y="35439"/>
                  <a:pt x="111891" y="35439"/>
                </a:cubicBezTo>
                <a:lnTo>
                  <a:pt x="52395" y="35439"/>
                </a:lnTo>
                <a:cubicBezTo>
                  <a:pt x="48233" y="27053"/>
                  <a:pt x="45846" y="17750"/>
                  <a:pt x="45723" y="6978"/>
                </a:cubicBezTo>
                <a:cubicBezTo>
                  <a:pt x="45662" y="3122"/>
                  <a:pt x="42540" y="0"/>
                  <a:pt x="38684" y="0"/>
                </a:cubicBezTo>
                <a:lnTo>
                  <a:pt x="7590" y="0"/>
                </a:lnTo>
                <a:cubicBezTo>
                  <a:pt x="5999" y="0"/>
                  <a:pt x="4469" y="429"/>
                  <a:pt x="3183" y="1408"/>
                </a:cubicBezTo>
                <a:cubicBezTo>
                  <a:pt x="1347" y="2816"/>
                  <a:pt x="306" y="4897"/>
                  <a:pt x="368" y="7100"/>
                </a:cubicBezTo>
                <a:cubicBezTo>
                  <a:pt x="551" y="35194"/>
                  <a:pt x="10099" y="59493"/>
                  <a:pt x="29503" y="81344"/>
                </a:cubicBezTo>
                <a:cubicBezTo>
                  <a:pt x="38684" y="91688"/>
                  <a:pt x="49151" y="100563"/>
                  <a:pt x="60169" y="108703"/>
                </a:cubicBezTo>
                <a:cubicBezTo>
                  <a:pt x="54476" y="112926"/>
                  <a:pt x="49518" y="116904"/>
                  <a:pt x="44867" y="120944"/>
                </a:cubicBezTo>
                <a:cubicBezTo>
                  <a:pt x="42479" y="123025"/>
                  <a:pt x="41867" y="126637"/>
                  <a:pt x="43643" y="129268"/>
                </a:cubicBezTo>
                <a:cubicBezTo>
                  <a:pt x="45785" y="132390"/>
                  <a:pt x="50070" y="132818"/>
                  <a:pt x="52824" y="130431"/>
                </a:cubicBezTo>
                <a:cubicBezTo>
                  <a:pt x="58088" y="125841"/>
                  <a:pt x="63842" y="121311"/>
                  <a:pt x="70696" y="116292"/>
                </a:cubicBezTo>
                <a:cubicBezTo>
                  <a:pt x="76695" y="120455"/>
                  <a:pt x="82816" y="124494"/>
                  <a:pt x="88937" y="128595"/>
                </a:cubicBezTo>
                <a:cubicBezTo>
                  <a:pt x="81102" y="134042"/>
                  <a:pt x="73267" y="139796"/>
                  <a:pt x="66167" y="145978"/>
                </a:cubicBezTo>
                <a:lnTo>
                  <a:pt x="51600" y="145978"/>
                </a:lnTo>
                <a:cubicBezTo>
                  <a:pt x="49457" y="145978"/>
                  <a:pt x="47437" y="146896"/>
                  <a:pt x="45968" y="148487"/>
                </a:cubicBezTo>
                <a:cubicBezTo>
                  <a:pt x="39296" y="155771"/>
                  <a:pt x="34155" y="163115"/>
                  <a:pt x="30177" y="171011"/>
                </a:cubicBezTo>
                <a:cubicBezTo>
                  <a:pt x="29197" y="172970"/>
                  <a:pt x="28952" y="175296"/>
                  <a:pt x="29748" y="177377"/>
                </a:cubicBezTo>
                <a:cubicBezTo>
                  <a:pt x="30911" y="180437"/>
                  <a:pt x="33727" y="182273"/>
                  <a:pt x="36848" y="182273"/>
                </a:cubicBezTo>
                <a:lnTo>
                  <a:pt x="38746" y="182273"/>
                </a:lnTo>
                <a:cubicBezTo>
                  <a:pt x="37338" y="185762"/>
                  <a:pt x="36236" y="189312"/>
                  <a:pt x="35379" y="192985"/>
                </a:cubicBezTo>
                <a:lnTo>
                  <a:pt x="29136" y="192985"/>
                </a:lnTo>
                <a:cubicBezTo>
                  <a:pt x="25280" y="192985"/>
                  <a:pt x="22035" y="195861"/>
                  <a:pt x="21546" y="199717"/>
                </a:cubicBezTo>
                <a:cubicBezTo>
                  <a:pt x="20689" y="207001"/>
                  <a:pt x="20689" y="214957"/>
                  <a:pt x="21546" y="222547"/>
                </a:cubicBezTo>
                <a:cubicBezTo>
                  <a:pt x="21974" y="226342"/>
                  <a:pt x="25218" y="229280"/>
                  <a:pt x="29074" y="229280"/>
                </a:cubicBezTo>
                <a:lnTo>
                  <a:pt x="35257" y="229280"/>
                </a:lnTo>
                <a:cubicBezTo>
                  <a:pt x="36175" y="233258"/>
                  <a:pt x="37338" y="237053"/>
                  <a:pt x="38868" y="240848"/>
                </a:cubicBezTo>
                <a:lnTo>
                  <a:pt x="37031" y="240848"/>
                </a:lnTo>
                <a:cubicBezTo>
                  <a:pt x="34828" y="240848"/>
                  <a:pt x="32686" y="241705"/>
                  <a:pt x="31278" y="243296"/>
                </a:cubicBezTo>
                <a:cubicBezTo>
                  <a:pt x="29074" y="245744"/>
                  <a:pt x="28646" y="249050"/>
                  <a:pt x="30054" y="251865"/>
                </a:cubicBezTo>
                <a:cubicBezTo>
                  <a:pt x="34033" y="259822"/>
                  <a:pt x="39235" y="267228"/>
                  <a:pt x="45968" y="274634"/>
                </a:cubicBezTo>
                <a:cubicBezTo>
                  <a:pt x="47376" y="276225"/>
                  <a:pt x="49457" y="277082"/>
                  <a:pt x="51538" y="277082"/>
                </a:cubicBezTo>
                <a:lnTo>
                  <a:pt x="66473" y="277082"/>
                </a:lnTo>
                <a:cubicBezTo>
                  <a:pt x="109075" y="314234"/>
                  <a:pt x="182587" y="338840"/>
                  <a:pt x="186627" y="409778"/>
                </a:cubicBezTo>
                <a:lnTo>
                  <a:pt x="166244" y="409778"/>
                </a:lnTo>
                <a:cubicBezTo>
                  <a:pt x="165693" y="401882"/>
                  <a:pt x="163979" y="394538"/>
                  <a:pt x="161164" y="387499"/>
                </a:cubicBezTo>
                <a:lnTo>
                  <a:pt x="163061" y="387499"/>
                </a:lnTo>
                <a:cubicBezTo>
                  <a:pt x="168754" y="387499"/>
                  <a:pt x="172426" y="381562"/>
                  <a:pt x="169855" y="376482"/>
                </a:cubicBezTo>
                <a:cubicBezTo>
                  <a:pt x="165877" y="368525"/>
                  <a:pt x="160674" y="361118"/>
                  <a:pt x="153941" y="353713"/>
                </a:cubicBezTo>
                <a:cubicBezTo>
                  <a:pt x="152472" y="352122"/>
                  <a:pt x="150452" y="351203"/>
                  <a:pt x="148310" y="351203"/>
                </a:cubicBezTo>
                <a:lnTo>
                  <a:pt x="134048" y="351203"/>
                </a:lnTo>
                <a:cubicBezTo>
                  <a:pt x="89916" y="312704"/>
                  <a:pt x="12426" y="287365"/>
                  <a:pt x="12426" y="210856"/>
                </a:cubicBezTo>
                <a:cubicBezTo>
                  <a:pt x="12426" y="188027"/>
                  <a:pt x="19220" y="168196"/>
                  <a:pt x="33175" y="150140"/>
                </a:cubicBezTo>
                <a:cubicBezTo>
                  <a:pt x="34951" y="147814"/>
                  <a:pt x="35012" y="144509"/>
                  <a:pt x="33175" y="142305"/>
                </a:cubicBezTo>
                <a:cubicBezTo>
                  <a:pt x="30544" y="139123"/>
                  <a:pt x="25830" y="139367"/>
                  <a:pt x="23444" y="142428"/>
                </a:cubicBezTo>
                <a:cubicBezTo>
                  <a:pt x="7651" y="162748"/>
                  <a:pt x="0" y="185150"/>
                  <a:pt x="0" y="210856"/>
                </a:cubicBezTo>
                <a:cubicBezTo>
                  <a:pt x="0" y="239379"/>
                  <a:pt x="9487" y="263984"/>
                  <a:pt x="29013" y="286079"/>
                </a:cubicBezTo>
                <a:cubicBezTo>
                  <a:pt x="38256" y="296546"/>
                  <a:pt x="48906" y="305543"/>
                  <a:pt x="60046" y="313806"/>
                </a:cubicBezTo>
                <a:cubicBezTo>
                  <a:pt x="47131" y="323415"/>
                  <a:pt x="32441" y="335779"/>
                  <a:pt x="21117" y="351387"/>
                </a:cubicBezTo>
                <a:cubicBezTo>
                  <a:pt x="7101" y="370605"/>
                  <a:pt x="184" y="391661"/>
                  <a:pt x="0" y="415715"/>
                </a:cubicBezTo>
                <a:cubicBezTo>
                  <a:pt x="0" y="417061"/>
                  <a:pt x="306" y="418469"/>
                  <a:pt x="1041" y="419632"/>
                </a:cubicBezTo>
                <a:cubicBezTo>
                  <a:pt x="2387" y="421774"/>
                  <a:pt x="4652" y="422999"/>
                  <a:pt x="7039" y="422999"/>
                </a:cubicBezTo>
                <a:lnTo>
                  <a:pt x="38440" y="422999"/>
                </a:lnTo>
                <a:cubicBezTo>
                  <a:pt x="42357" y="422999"/>
                  <a:pt x="45601" y="419816"/>
                  <a:pt x="45601" y="415898"/>
                </a:cubicBezTo>
                <a:cubicBezTo>
                  <a:pt x="45723" y="404881"/>
                  <a:pt x="48172" y="395333"/>
                  <a:pt x="52456" y="386764"/>
                </a:cubicBezTo>
                <a:lnTo>
                  <a:pt x="111891" y="386764"/>
                </a:lnTo>
                <a:cubicBezTo>
                  <a:pt x="115135" y="386764"/>
                  <a:pt x="117706" y="384132"/>
                  <a:pt x="117644" y="380827"/>
                </a:cubicBezTo>
                <a:cubicBezTo>
                  <a:pt x="117583" y="377644"/>
                  <a:pt x="114767" y="375196"/>
                  <a:pt x="111585" y="375196"/>
                </a:cubicBezTo>
                <a:lnTo>
                  <a:pt x="105770" y="375196"/>
                </a:lnTo>
                <a:lnTo>
                  <a:pt x="105770" y="363628"/>
                </a:lnTo>
                <a:lnTo>
                  <a:pt x="146963" y="363628"/>
                </a:lnTo>
                <a:cubicBezTo>
                  <a:pt x="150330" y="367423"/>
                  <a:pt x="153207" y="371279"/>
                  <a:pt x="155716" y="375196"/>
                </a:cubicBezTo>
                <a:cubicBezTo>
                  <a:pt x="152166" y="375196"/>
                  <a:pt x="140720" y="375196"/>
                  <a:pt x="140720" y="375196"/>
                </a:cubicBezTo>
                <a:cubicBezTo>
                  <a:pt x="137537" y="375196"/>
                  <a:pt x="134783" y="377644"/>
                  <a:pt x="134660" y="380827"/>
                </a:cubicBezTo>
                <a:cubicBezTo>
                  <a:pt x="134599" y="384071"/>
                  <a:pt x="137170" y="386764"/>
                  <a:pt x="140414" y="386764"/>
                </a:cubicBezTo>
                <a:lnTo>
                  <a:pt x="147330" y="386764"/>
                </a:lnTo>
                <a:cubicBezTo>
                  <a:pt x="151738" y="395517"/>
                  <a:pt x="153941" y="404881"/>
                  <a:pt x="154063" y="415225"/>
                </a:cubicBezTo>
                <a:cubicBezTo>
                  <a:pt x="154125" y="419081"/>
                  <a:pt x="157246" y="422203"/>
                  <a:pt x="161102" y="422203"/>
                </a:cubicBezTo>
                <a:lnTo>
                  <a:pt x="192196" y="422203"/>
                </a:lnTo>
                <a:cubicBezTo>
                  <a:pt x="193788" y="422203"/>
                  <a:pt x="195319" y="421774"/>
                  <a:pt x="196604" y="420795"/>
                </a:cubicBezTo>
                <a:cubicBezTo>
                  <a:pt x="198440" y="419387"/>
                  <a:pt x="199481" y="417306"/>
                  <a:pt x="199420" y="415103"/>
                </a:cubicBezTo>
                <a:cubicBezTo>
                  <a:pt x="199236" y="387009"/>
                  <a:pt x="189687" y="362710"/>
                  <a:pt x="170284" y="340920"/>
                </a:cubicBezTo>
                <a:cubicBezTo>
                  <a:pt x="161408" y="330454"/>
                  <a:pt x="150880" y="321579"/>
                  <a:pt x="139924" y="313439"/>
                </a:cubicBezTo>
                <a:lnTo>
                  <a:pt x="139924" y="313439"/>
                </a:lnTo>
                <a:close/>
                <a:moveTo>
                  <a:pt x="148432" y="71734"/>
                </a:moveTo>
                <a:cubicBezTo>
                  <a:pt x="150574" y="71734"/>
                  <a:pt x="152595" y="70816"/>
                  <a:pt x="154002" y="69286"/>
                </a:cubicBezTo>
                <a:cubicBezTo>
                  <a:pt x="160735" y="61880"/>
                  <a:pt x="165938" y="54474"/>
                  <a:pt x="169917" y="46517"/>
                </a:cubicBezTo>
                <a:cubicBezTo>
                  <a:pt x="170773" y="44803"/>
                  <a:pt x="171018" y="42845"/>
                  <a:pt x="170467" y="41008"/>
                </a:cubicBezTo>
                <a:cubicBezTo>
                  <a:pt x="169427" y="37642"/>
                  <a:pt x="166489" y="35500"/>
                  <a:pt x="163122" y="35500"/>
                </a:cubicBezTo>
                <a:lnTo>
                  <a:pt x="161164" y="35500"/>
                </a:lnTo>
                <a:cubicBezTo>
                  <a:pt x="164102" y="28217"/>
                  <a:pt x="165877" y="20566"/>
                  <a:pt x="166489" y="12425"/>
                </a:cubicBezTo>
                <a:lnTo>
                  <a:pt x="187361" y="12425"/>
                </a:lnTo>
                <a:cubicBezTo>
                  <a:pt x="184974" y="54535"/>
                  <a:pt x="158532" y="80365"/>
                  <a:pt x="129213" y="101603"/>
                </a:cubicBezTo>
                <a:cubicBezTo>
                  <a:pt x="123153" y="97380"/>
                  <a:pt x="117032" y="93340"/>
                  <a:pt x="110850" y="89240"/>
                </a:cubicBezTo>
                <a:cubicBezTo>
                  <a:pt x="118746" y="83792"/>
                  <a:pt x="126642" y="77977"/>
                  <a:pt x="133742" y="71796"/>
                </a:cubicBezTo>
                <a:lnTo>
                  <a:pt x="148432" y="71796"/>
                </a:lnTo>
                <a:close/>
                <a:moveTo>
                  <a:pt x="114094" y="71734"/>
                </a:moveTo>
                <a:cubicBezTo>
                  <a:pt x="109503" y="75162"/>
                  <a:pt x="104790" y="78467"/>
                  <a:pt x="100077" y="81711"/>
                </a:cubicBezTo>
                <a:cubicBezTo>
                  <a:pt x="95180" y="78344"/>
                  <a:pt x="90467" y="75101"/>
                  <a:pt x="85999" y="71734"/>
                </a:cubicBezTo>
                <a:lnTo>
                  <a:pt x="114094" y="71734"/>
                </a:lnTo>
                <a:close/>
                <a:moveTo>
                  <a:pt x="93650" y="47803"/>
                </a:moveTo>
                <a:lnTo>
                  <a:pt x="93650" y="59370"/>
                </a:lnTo>
                <a:lnTo>
                  <a:pt x="70084" y="59370"/>
                </a:lnTo>
                <a:cubicBezTo>
                  <a:pt x="66106" y="55637"/>
                  <a:pt x="62495" y="51842"/>
                  <a:pt x="59312" y="47803"/>
                </a:cubicBezTo>
                <a:lnTo>
                  <a:pt x="93650" y="47803"/>
                </a:lnTo>
                <a:close/>
                <a:moveTo>
                  <a:pt x="12976" y="12364"/>
                </a:moveTo>
                <a:lnTo>
                  <a:pt x="33604" y="12364"/>
                </a:lnTo>
                <a:cubicBezTo>
                  <a:pt x="36604" y="54046"/>
                  <a:pt x="70207" y="76386"/>
                  <a:pt x="105708" y="100012"/>
                </a:cubicBezTo>
                <a:cubicBezTo>
                  <a:pt x="143903" y="125473"/>
                  <a:pt x="187239" y="154302"/>
                  <a:pt x="187239" y="211041"/>
                </a:cubicBezTo>
                <a:cubicBezTo>
                  <a:pt x="187239" y="256578"/>
                  <a:pt x="159817" y="283754"/>
                  <a:pt x="129274" y="305911"/>
                </a:cubicBezTo>
                <a:cubicBezTo>
                  <a:pt x="123275" y="301748"/>
                  <a:pt x="117154" y="297709"/>
                  <a:pt x="111033" y="293608"/>
                </a:cubicBezTo>
                <a:cubicBezTo>
                  <a:pt x="111033" y="293608"/>
                  <a:pt x="111033" y="293608"/>
                  <a:pt x="111033" y="293608"/>
                </a:cubicBezTo>
                <a:cubicBezTo>
                  <a:pt x="142128" y="272063"/>
                  <a:pt x="166611" y="249723"/>
                  <a:pt x="166611" y="211041"/>
                </a:cubicBezTo>
                <a:cubicBezTo>
                  <a:pt x="166611" y="165319"/>
                  <a:pt x="131478" y="141938"/>
                  <a:pt x="94262" y="117210"/>
                </a:cubicBezTo>
                <a:cubicBezTo>
                  <a:pt x="57537" y="92667"/>
                  <a:pt x="16037" y="65063"/>
                  <a:pt x="12976" y="12364"/>
                </a:cubicBezTo>
                <a:lnTo>
                  <a:pt x="12976" y="12364"/>
                </a:lnTo>
                <a:close/>
                <a:moveTo>
                  <a:pt x="106014" y="253089"/>
                </a:moveTo>
                <a:lnTo>
                  <a:pt x="140291" y="253089"/>
                </a:lnTo>
                <a:cubicBezTo>
                  <a:pt x="137108" y="257129"/>
                  <a:pt x="133497" y="260924"/>
                  <a:pt x="129519" y="264657"/>
                </a:cubicBezTo>
                <a:lnTo>
                  <a:pt x="106014" y="264657"/>
                </a:lnTo>
                <a:lnTo>
                  <a:pt x="106014" y="253089"/>
                </a:lnTo>
                <a:close/>
                <a:moveTo>
                  <a:pt x="106014" y="205287"/>
                </a:moveTo>
                <a:lnTo>
                  <a:pt x="155227" y="205287"/>
                </a:lnTo>
                <a:cubicBezTo>
                  <a:pt x="155533" y="209082"/>
                  <a:pt x="155533" y="213060"/>
                  <a:pt x="155227" y="216855"/>
                </a:cubicBezTo>
                <a:lnTo>
                  <a:pt x="106014" y="216855"/>
                </a:lnTo>
                <a:lnTo>
                  <a:pt x="106014" y="205287"/>
                </a:lnTo>
                <a:close/>
                <a:moveTo>
                  <a:pt x="106014" y="158280"/>
                </a:moveTo>
                <a:lnTo>
                  <a:pt x="129580" y="158280"/>
                </a:lnTo>
                <a:cubicBezTo>
                  <a:pt x="133558" y="162014"/>
                  <a:pt x="137170" y="165809"/>
                  <a:pt x="140353" y="169848"/>
                </a:cubicBezTo>
                <a:lnTo>
                  <a:pt x="106014" y="169848"/>
                </a:lnTo>
                <a:lnTo>
                  <a:pt x="106014" y="158280"/>
                </a:lnTo>
                <a:close/>
                <a:moveTo>
                  <a:pt x="100077" y="135940"/>
                </a:moveTo>
                <a:cubicBezTo>
                  <a:pt x="104974" y="139306"/>
                  <a:pt x="109687" y="142550"/>
                  <a:pt x="114155" y="145917"/>
                </a:cubicBezTo>
                <a:lnTo>
                  <a:pt x="86060" y="145917"/>
                </a:lnTo>
                <a:cubicBezTo>
                  <a:pt x="90589" y="142489"/>
                  <a:pt x="95364" y="139184"/>
                  <a:pt x="100077" y="135940"/>
                </a:cubicBezTo>
                <a:lnTo>
                  <a:pt x="100077" y="135940"/>
                </a:lnTo>
                <a:close/>
                <a:moveTo>
                  <a:pt x="52456" y="158280"/>
                </a:moveTo>
                <a:lnTo>
                  <a:pt x="93650" y="158280"/>
                </a:lnTo>
                <a:lnTo>
                  <a:pt x="93650" y="169848"/>
                </a:lnTo>
                <a:cubicBezTo>
                  <a:pt x="86550" y="169848"/>
                  <a:pt x="55333" y="169848"/>
                  <a:pt x="43704" y="169848"/>
                </a:cubicBezTo>
                <a:cubicBezTo>
                  <a:pt x="46213" y="165931"/>
                  <a:pt x="49090" y="162075"/>
                  <a:pt x="52456" y="158280"/>
                </a:cubicBezTo>
                <a:close/>
                <a:moveTo>
                  <a:pt x="52518" y="182212"/>
                </a:moveTo>
                <a:lnTo>
                  <a:pt x="147636" y="182212"/>
                </a:lnTo>
                <a:cubicBezTo>
                  <a:pt x="149412" y="185884"/>
                  <a:pt x="150880" y="189679"/>
                  <a:pt x="151983" y="193780"/>
                </a:cubicBezTo>
                <a:lnTo>
                  <a:pt x="48172" y="193780"/>
                </a:lnTo>
                <a:cubicBezTo>
                  <a:pt x="49212" y="189740"/>
                  <a:pt x="50682" y="185946"/>
                  <a:pt x="52518" y="182212"/>
                </a:cubicBezTo>
                <a:lnTo>
                  <a:pt x="52518" y="182212"/>
                </a:lnTo>
                <a:close/>
                <a:moveTo>
                  <a:pt x="31707" y="205287"/>
                </a:moveTo>
                <a:lnTo>
                  <a:pt x="93650" y="205287"/>
                </a:lnTo>
                <a:lnTo>
                  <a:pt x="93650" y="216855"/>
                </a:lnTo>
                <a:cubicBezTo>
                  <a:pt x="83183" y="216855"/>
                  <a:pt x="38807" y="216855"/>
                  <a:pt x="31707" y="216855"/>
                </a:cubicBezTo>
                <a:cubicBezTo>
                  <a:pt x="31462" y="213121"/>
                  <a:pt x="31462" y="209143"/>
                  <a:pt x="31707" y="205287"/>
                </a:cubicBezTo>
                <a:lnTo>
                  <a:pt x="31707" y="205287"/>
                </a:lnTo>
                <a:close/>
                <a:moveTo>
                  <a:pt x="48172" y="229157"/>
                </a:moveTo>
                <a:lnTo>
                  <a:pt x="151983" y="229157"/>
                </a:lnTo>
                <a:cubicBezTo>
                  <a:pt x="150880" y="233197"/>
                  <a:pt x="149412" y="237053"/>
                  <a:pt x="147636" y="240726"/>
                </a:cubicBezTo>
                <a:lnTo>
                  <a:pt x="52518" y="240726"/>
                </a:lnTo>
                <a:cubicBezTo>
                  <a:pt x="50682" y="236992"/>
                  <a:pt x="49212" y="233136"/>
                  <a:pt x="48172" y="229157"/>
                </a:cubicBezTo>
                <a:close/>
                <a:moveTo>
                  <a:pt x="43704" y="253089"/>
                </a:moveTo>
                <a:lnTo>
                  <a:pt x="93650" y="253089"/>
                </a:lnTo>
                <a:lnTo>
                  <a:pt x="93650" y="264657"/>
                </a:lnTo>
                <a:lnTo>
                  <a:pt x="52456" y="264657"/>
                </a:lnTo>
                <a:cubicBezTo>
                  <a:pt x="49090" y="260801"/>
                  <a:pt x="46213" y="257006"/>
                  <a:pt x="43704" y="253089"/>
                </a:cubicBezTo>
                <a:lnTo>
                  <a:pt x="43704" y="253089"/>
                </a:lnTo>
                <a:close/>
                <a:moveTo>
                  <a:pt x="114094" y="276164"/>
                </a:moveTo>
                <a:cubicBezTo>
                  <a:pt x="109626" y="279469"/>
                  <a:pt x="104913" y="282774"/>
                  <a:pt x="100077" y="286140"/>
                </a:cubicBezTo>
                <a:cubicBezTo>
                  <a:pt x="95242" y="282836"/>
                  <a:pt x="90528" y="279530"/>
                  <a:pt x="86060" y="276164"/>
                </a:cubicBezTo>
                <a:lnTo>
                  <a:pt x="114094" y="276164"/>
                </a:lnTo>
                <a:close/>
                <a:moveTo>
                  <a:pt x="85999" y="351203"/>
                </a:moveTo>
                <a:cubicBezTo>
                  <a:pt x="90467" y="347898"/>
                  <a:pt x="95119" y="344593"/>
                  <a:pt x="100016" y="341226"/>
                </a:cubicBezTo>
                <a:cubicBezTo>
                  <a:pt x="104852" y="344532"/>
                  <a:pt x="109564" y="347837"/>
                  <a:pt x="114033" y="351203"/>
                </a:cubicBezTo>
                <a:cubicBezTo>
                  <a:pt x="96588" y="351203"/>
                  <a:pt x="103443" y="351203"/>
                  <a:pt x="85999" y="351203"/>
                </a:cubicBezTo>
                <a:close/>
                <a:moveTo>
                  <a:pt x="33665" y="409717"/>
                </a:moveTo>
                <a:lnTo>
                  <a:pt x="13038" y="409717"/>
                </a:lnTo>
                <a:cubicBezTo>
                  <a:pt x="15425" y="367851"/>
                  <a:pt x="41684" y="342206"/>
                  <a:pt x="70819" y="321028"/>
                </a:cubicBezTo>
                <a:cubicBezTo>
                  <a:pt x="76879" y="325252"/>
                  <a:pt x="83000" y="329291"/>
                  <a:pt x="89059" y="333331"/>
                </a:cubicBezTo>
                <a:cubicBezTo>
                  <a:pt x="59985" y="353468"/>
                  <a:pt x="36175" y="374584"/>
                  <a:pt x="33665" y="409717"/>
                </a:cubicBezTo>
                <a:close/>
                <a:moveTo>
                  <a:pt x="70146" y="363567"/>
                </a:moveTo>
                <a:lnTo>
                  <a:pt x="93650" y="363567"/>
                </a:lnTo>
                <a:lnTo>
                  <a:pt x="93650" y="375135"/>
                </a:lnTo>
                <a:lnTo>
                  <a:pt x="59373" y="375135"/>
                </a:lnTo>
                <a:cubicBezTo>
                  <a:pt x="62556" y="371096"/>
                  <a:pt x="66167" y="367239"/>
                  <a:pt x="70146" y="363567"/>
                </a:cubicBezTo>
                <a:close/>
              </a:path>
            </a:pathLst>
          </a:custGeom>
          <a:solidFill>
            <a:schemeClr val="dk1"/>
          </a:solidFill>
          <a:ln>
            <a:solidFill>
              <a:schemeClr val="tx2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1022;p54">
            <a:extLst>
              <a:ext uri="{FF2B5EF4-FFF2-40B4-BE49-F238E27FC236}">
                <a16:creationId xmlns:a16="http://schemas.microsoft.com/office/drawing/2014/main" id="{0095354B-B8AE-8A55-DA19-0DACCD400819}"/>
              </a:ext>
            </a:extLst>
          </p:cNvPr>
          <p:cNvSpPr>
            <a:spLocks noChangeAspect="1"/>
          </p:cNvSpPr>
          <p:nvPr/>
        </p:nvSpPr>
        <p:spPr>
          <a:xfrm rot="5400000">
            <a:off x="-136103" y="2074744"/>
            <a:ext cx="248917" cy="527343"/>
          </a:xfrm>
          <a:custGeom>
            <a:avLst/>
            <a:gdLst/>
            <a:ahLst/>
            <a:cxnLst/>
            <a:rect l="l" t="t" r="r" b="b"/>
            <a:pathLst>
              <a:path w="199664" h="422998" extrusionOk="0">
                <a:moveTo>
                  <a:pt x="139924" y="313439"/>
                </a:moveTo>
                <a:cubicBezTo>
                  <a:pt x="152839" y="303829"/>
                  <a:pt x="167591" y="291405"/>
                  <a:pt x="178853" y="275797"/>
                </a:cubicBezTo>
                <a:cubicBezTo>
                  <a:pt x="192870" y="256455"/>
                  <a:pt x="199664" y="235278"/>
                  <a:pt x="199664" y="211041"/>
                </a:cubicBezTo>
                <a:cubicBezTo>
                  <a:pt x="199664" y="182640"/>
                  <a:pt x="190238" y="158219"/>
                  <a:pt x="170773" y="136246"/>
                </a:cubicBezTo>
                <a:cubicBezTo>
                  <a:pt x="161531" y="125841"/>
                  <a:pt x="151003" y="116843"/>
                  <a:pt x="139924" y="108642"/>
                </a:cubicBezTo>
                <a:cubicBezTo>
                  <a:pt x="152778" y="99094"/>
                  <a:pt x="167407" y="86730"/>
                  <a:pt x="178670" y="71245"/>
                </a:cubicBezTo>
                <a:cubicBezTo>
                  <a:pt x="192625" y="52087"/>
                  <a:pt x="199481" y="31154"/>
                  <a:pt x="199664" y="7284"/>
                </a:cubicBezTo>
                <a:cubicBezTo>
                  <a:pt x="199664" y="5693"/>
                  <a:pt x="199236" y="4163"/>
                  <a:pt x="198317" y="2877"/>
                </a:cubicBezTo>
                <a:cubicBezTo>
                  <a:pt x="196971" y="1041"/>
                  <a:pt x="194890" y="0"/>
                  <a:pt x="192625" y="0"/>
                </a:cubicBezTo>
                <a:lnTo>
                  <a:pt x="161347" y="0"/>
                </a:lnTo>
                <a:cubicBezTo>
                  <a:pt x="157491" y="0"/>
                  <a:pt x="154369" y="3122"/>
                  <a:pt x="154308" y="6978"/>
                </a:cubicBezTo>
                <a:cubicBezTo>
                  <a:pt x="154186" y="17383"/>
                  <a:pt x="151983" y="26686"/>
                  <a:pt x="147575" y="35439"/>
                </a:cubicBezTo>
                <a:lnTo>
                  <a:pt x="141271" y="35439"/>
                </a:lnTo>
                <a:cubicBezTo>
                  <a:pt x="138088" y="35439"/>
                  <a:pt x="135272" y="37704"/>
                  <a:pt x="134905" y="40825"/>
                </a:cubicBezTo>
                <a:cubicBezTo>
                  <a:pt x="134476" y="44559"/>
                  <a:pt x="137353" y="47803"/>
                  <a:pt x="141026" y="47803"/>
                </a:cubicBezTo>
                <a:lnTo>
                  <a:pt x="155900" y="47803"/>
                </a:lnTo>
                <a:cubicBezTo>
                  <a:pt x="153390" y="51720"/>
                  <a:pt x="150513" y="55514"/>
                  <a:pt x="147147" y="59370"/>
                </a:cubicBezTo>
                <a:cubicBezTo>
                  <a:pt x="136986" y="59370"/>
                  <a:pt x="113421" y="59370"/>
                  <a:pt x="105953" y="59370"/>
                </a:cubicBezTo>
                <a:lnTo>
                  <a:pt x="105953" y="47803"/>
                </a:lnTo>
                <a:lnTo>
                  <a:pt x="111646" y="47803"/>
                </a:lnTo>
                <a:cubicBezTo>
                  <a:pt x="114829" y="47803"/>
                  <a:pt x="117644" y="45538"/>
                  <a:pt x="118012" y="42417"/>
                </a:cubicBezTo>
                <a:cubicBezTo>
                  <a:pt x="118440" y="38683"/>
                  <a:pt x="115563" y="35439"/>
                  <a:pt x="111891" y="35439"/>
                </a:cubicBezTo>
                <a:lnTo>
                  <a:pt x="52395" y="35439"/>
                </a:lnTo>
                <a:cubicBezTo>
                  <a:pt x="48233" y="27053"/>
                  <a:pt x="45846" y="17750"/>
                  <a:pt x="45723" y="6978"/>
                </a:cubicBezTo>
                <a:cubicBezTo>
                  <a:pt x="45662" y="3122"/>
                  <a:pt x="42540" y="0"/>
                  <a:pt x="38684" y="0"/>
                </a:cubicBezTo>
                <a:lnTo>
                  <a:pt x="7590" y="0"/>
                </a:lnTo>
                <a:cubicBezTo>
                  <a:pt x="5999" y="0"/>
                  <a:pt x="4469" y="429"/>
                  <a:pt x="3183" y="1408"/>
                </a:cubicBezTo>
                <a:cubicBezTo>
                  <a:pt x="1347" y="2816"/>
                  <a:pt x="306" y="4897"/>
                  <a:pt x="368" y="7100"/>
                </a:cubicBezTo>
                <a:cubicBezTo>
                  <a:pt x="551" y="35194"/>
                  <a:pt x="10099" y="59493"/>
                  <a:pt x="29503" y="81344"/>
                </a:cubicBezTo>
                <a:cubicBezTo>
                  <a:pt x="38684" y="91688"/>
                  <a:pt x="49151" y="100563"/>
                  <a:pt x="60169" y="108703"/>
                </a:cubicBezTo>
                <a:cubicBezTo>
                  <a:pt x="54476" y="112926"/>
                  <a:pt x="49518" y="116904"/>
                  <a:pt x="44867" y="120944"/>
                </a:cubicBezTo>
                <a:cubicBezTo>
                  <a:pt x="42479" y="123025"/>
                  <a:pt x="41867" y="126637"/>
                  <a:pt x="43643" y="129268"/>
                </a:cubicBezTo>
                <a:cubicBezTo>
                  <a:pt x="45785" y="132390"/>
                  <a:pt x="50070" y="132818"/>
                  <a:pt x="52824" y="130431"/>
                </a:cubicBezTo>
                <a:cubicBezTo>
                  <a:pt x="58088" y="125841"/>
                  <a:pt x="63842" y="121311"/>
                  <a:pt x="70696" y="116292"/>
                </a:cubicBezTo>
                <a:cubicBezTo>
                  <a:pt x="76695" y="120455"/>
                  <a:pt x="82816" y="124494"/>
                  <a:pt x="88937" y="128595"/>
                </a:cubicBezTo>
                <a:cubicBezTo>
                  <a:pt x="81102" y="134042"/>
                  <a:pt x="73267" y="139796"/>
                  <a:pt x="66167" y="145978"/>
                </a:cubicBezTo>
                <a:lnTo>
                  <a:pt x="51600" y="145978"/>
                </a:lnTo>
                <a:cubicBezTo>
                  <a:pt x="49457" y="145978"/>
                  <a:pt x="47437" y="146896"/>
                  <a:pt x="45968" y="148487"/>
                </a:cubicBezTo>
                <a:cubicBezTo>
                  <a:pt x="39296" y="155771"/>
                  <a:pt x="34155" y="163115"/>
                  <a:pt x="30177" y="171011"/>
                </a:cubicBezTo>
                <a:cubicBezTo>
                  <a:pt x="29197" y="172970"/>
                  <a:pt x="28952" y="175296"/>
                  <a:pt x="29748" y="177377"/>
                </a:cubicBezTo>
                <a:cubicBezTo>
                  <a:pt x="30911" y="180437"/>
                  <a:pt x="33727" y="182273"/>
                  <a:pt x="36848" y="182273"/>
                </a:cubicBezTo>
                <a:lnTo>
                  <a:pt x="38746" y="182273"/>
                </a:lnTo>
                <a:cubicBezTo>
                  <a:pt x="37338" y="185762"/>
                  <a:pt x="36236" y="189312"/>
                  <a:pt x="35379" y="192985"/>
                </a:cubicBezTo>
                <a:lnTo>
                  <a:pt x="29136" y="192985"/>
                </a:lnTo>
                <a:cubicBezTo>
                  <a:pt x="25280" y="192985"/>
                  <a:pt x="22035" y="195861"/>
                  <a:pt x="21546" y="199717"/>
                </a:cubicBezTo>
                <a:cubicBezTo>
                  <a:pt x="20689" y="207001"/>
                  <a:pt x="20689" y="214957"/>
                  <a:pt x="21546" y="222547"/>
                </a:cubicBezTo>
                <a:cubicBezTo>
                  <a:pt x="21974" y="226342"/>
                  <a:pt x="25218" y="229280"/>
                  <a:pt x="29074" y="229280"/>
                </a:cubicBezTo>
                <a:lnTo>
                  <a:pt x="35257" y="229280"/>
                </a:lnTo>
                <a:cubicBezTo>
                  <a:pt x="36175" y="233258"/>
                  <a:pt x="37338" y="237053"/>
                  <a:pt x="38868" y="240848"/>
                </a:cubicBezTo>
                <a:lnTo>
                  <a:pt x="37031" y="240848"/>
                </a:lnTo>
                <a:cubicBezTo>
                  <a:pt x="34828" y="240848"/>
                  <a:pt x="32686" y="241705"/>
                  <a:pt x="31278" y="243296"/>
                </a:cubicBezTo>
                <a:cubicBezTo>
                  <a:pt x="29074" y="245744"/>
                  <a:pt x="28646" y="249050"/>
                  <a:pt x="30054" y="251865"/>
                </a:cubicBezTo>
                <a:cubicBezTo>
                  <a:pt x="34033" y="259822"/>
                  <a:pt x="39235" y="267228"/>
                  <a:pt x="45968" y="274634"/>
                </a:cubicBezTo>
                <a:cubicBezTo>
                  <a:pt x="47376" y="276225"/>
                  <a:pt x="49457" y="277082"/>
                  <a:pt x="51538" y="277082"/>
                </a:cubicBezTo>
                <a:lnTo>
                  <a:pt x="66473" y="277082"/>
                </a:lnTo>
                <a:cubicBezTo>
                  <a:pt x="109075" y="314234"/>
                  <a:pt x="182587" y="338840"/>
                  <a:pt x="186627" y="409778"/>
                </a:cubicBezTo>
                <a:lnTo>
                  <a:pt x="166244" y="409778"/>
                </a:lnTo>
                <a:cubicBezTo>
                  <a:pt x="165693" y="401882"/>
                  <a:pt x="163979" y="394538"/>
                  <a:pt x="161164" y="387499"/>
                </a:cubicBezTo>
                <a:lnTo>
                  <a:pt x="163061" y="387499"/>
                </a:lnTo>
                <a:cubicBezTo>
                  <a:pt x="168754" y="387499"/>
                  <a:pt x="172426" y="381562"/>
                  <a:pt x="169855" y="376482"/>
                </a:cubicBezTo>
                <a:cubicBezTo>
                  <a:pt x="165877" y="368525"/>
                  <a:pt x="160674" y="361118"/>
                  <a:pt x="153941" y="353713"/>
                </a:cubicBezTo>
                <a:cubicBezTo>
                  <a:pt x="152472" y="352122"/>
                  <a:pt x="150452" y="351203"/>
                  <a:pt x="148310" y="351203"/>
                </a:cubicBezTo>
                <a:lnTo>
                  <a:pt x="134048" y="351203"/>
                </a:lnTo>
                <a:cubicBezTo>
                  <a:pt x="89916" y="312704"/>
                  <a:pt x="12426" y="287365"/>
                  <a:pt x="12426" y="210856"/>
                </a:cubicBezTo>
                <a:cubicBezTo>
                  <a:pt x="12426" y="188027"/>
                  <a:pt x="19220" y="168196"/>
                  <a:pt x="33175" y="150140"/>
                </a:cubicBezTo>
                <a:cubicBezTo>
                  <a:pt x="34951" y="147814"/>
                  <a:pt x="35012" y="144509"/>
                  <a:pt x="33175" y="142305"/>
                </a:cubicBezTo>
                <a:cubicBezTo>
                  <a:pt x="30544" y="139123"/>
                  <a:pt x="25830" y="139367"/>
                  <a:pt x="23444" y="142428"/>
                </a:cubicBezTo>
                <a:cubicBezTo>
                  <a:pt x="7651" y="162748"/>
                  <a:pt x="0" y="185150"/>
                  <a:pt x="0" y="210856"/>
                </a:cubicBezTo>
                <a:cubicBezTo>
                  <a:pt x="0" y="239379"/>
                  <a:pt x="9487" y="263984"/>
                  <a:pt x="29013" y="286079"/>
                </a:cubicBezTo>
                <a:cubicBezTo>
                  <a:pt x="38256" y="296546"/>
                  <a:pt x="48906" y="305543"/>
                  <a:pt x="60046" y="313806"/>
                </a:cubicBezTo>
                <a:cubicBezTo>
                  <a:pt x="47131" y="323415"/>
                  <a:pt x="32441" y="335779"/>
                  <a:pt x="21117" y="351387"/>
                </a:cubicBezTo>
                <a:cubicBezTo>
                  <a:pt x="7101" y="370605"/>
                  <a:pt x="184" y="391661"/>
                  <a:pt x="0" y="415715"/>
                </a:cubicBezTo>
                <a:cubicBezTo>
                  <a:pt x="0" y="417061"/>
                  <a:pt x="306" y="418469"/>
                  <a:pt x="1041" y="419632"/>
                </a:cubicBezTo>
                <a:cubicBezTo>
                  <a:pt x="2387" y="421774"/>
                  <a:pt x="4652" y="422999"/>
                  <a:pt x="7039" y="422999"/>
                </a:cubicBezTo>
                <a:lnTo>
                  <a:pt x="38440" y="422999"/>
                </a:lnTo>
                <a:cubicBezTo>
                  <a:pt x="42357" y="422999"/>
                  <a:pt x="45601" y="419816"/>
                  <a:pt x="45601" y="415898"/>
                </a:cubicBezTo>
                <a:cubicBezTo>
                  <a:pt x="45723" y="404881"/>
                  <a:pt x="48172" y="395333"/>
                  <a:pt x="52456" y="386764"/>
                </a:cubicBezTo>
                <a:lnTo>
                  <a:pt x="111891" y="386764"/>
                </a:lnTo>
                <a:cubicBezTo>
                  <a:pt x="115135" y="386764"/>
                  <a:pt x="117706" y="384132"/>
                  <a:pt x="117644" y="380827"/>
                </a:cubicBezTo>
                <a:cubicBezTo>
                  <a:pt x="117583" y="377644"/>
                  <a:pt x="114767" y="375196"/>
                  <a:pt x="111585" y="375196"/>
                </a:cubicBezTo>
                <a:lnTo>
                  <a:pt x="105770" y="375196"/>
                </a:lnTo>
                <a:lnTo>
                  <a:pt x="105770" y="363628"/>
                </a:lnTo>
                <a:lnTo>
                  <a:pt x="146963" y="363628"/>
                </a:lnTo>
                <a:cubicBezTo>
                  <a:pt x="150330" y="367423"/>
                  <a:pt x="153207" y="371279"/>
                  <a:pt x="155716" y="375196"/>
                </a:cubicBezTo>
                <a:cubicBezTo>
                  <a:pt x="152166" y="375196"/>
                  <a:pt x="140720" y="375196"/>
                  <a:pt x="140720" y="375196"/>
                </a:cubicBezTo>
                <a:cubicBezTo>
                  <a:pt x="137537" y="375196"/>
                  <a:pt x="134783" y="377644"/>
                  <a:pt x="134660" y="380827"/>
                </a:cubicBezTo>
                <a:cubicBezTo>
                  <a:pt x="134599" y="384071"/>
                  <a:pt x="137170" y="386764"/>
                  <a:pt x="140414" y="386764"/>
                </a:cubicBezTo>
                <a:lnTo>
                  <a:pt x="147330" y="386764"/>
                </a:lnTo>
                <a:cubicBezTo>
                  <a:pt x="151738" y="395517"/>
                  <a:pt x="153941" y="404881"/>
                  <a:pt x="154063" y="415225"/>
                </a:cubicBezTo>
                <a:cubicBezTo>
                  <a:pt x="154125" y="419081"/>
                  <a:pt x="157246" y="422203"/>
                  <a:pt x="161102" y="422203"/>
                </a:cubicBezTo>
                <a:lnTo>
                  <a:pt x="192196" y="422203"/>
                </a:lnTo>
                <a:cubicBezTo>
                  <a:pt x="193788" y="422203"/>
                  <a:pt x="195319" y="421774"/>
                  <a:pt x="196604" y="420795"/>
                </a:cubicBezTo>
                <a:cubicBezTo>
                  <a:pt x="198440" y="419387"/>
                  <a:pt x="199481" y="417306"/>
                  <a:pt x="199420" y="415103"/>
                </a:cubicBezTo>
                <a:cubicBezTo>
                  <a:pt x="199236" y="387009"/>
                  <a:pt x="189687" y="362710"/>
                  <a:pt x="170284" y="340920"/>
                </a:cubicBezTo>
                <a:cubicBezTo>
                  <a:pt x="161408" y="330454"/>
                  <a:pt x="150880" y="321579"/>
                  <a:pt x="139924" y="313439"/>
                </a:cubicBezTo>
                <a:lnTo>
                  <a:pt x="139924" y="313439"/>
                </a:lnTo>
                <a:close/>
                <a:moveTo>
                  <a:pt x="148432" y="71734"/>
                </a:moveTo>
                <a:cubicBezTo>
                  <a:pt x="150574" y="71734"/>
                  <a:pt x="152595" y="70816"/>
                  <a:pt x="154002" y="69286"/>
                </a:cubicBezTo>
                <a:cubicBezTo>
                  <a:pt x="160735" y="61880"/>
                  <a:pt x="165938" y="54474"/>
                  <a:pt x="169917" y="46517"/>
                </a:cubicBezTo>
                <a:cubicBezTo>
                  <a:pt x="170773" y="44803"/>
                  <a:pt x="171018" y="42845"/>
                  <a:pt x="170467" y="41008"/>
                </a:cubicBezTo>
                <a:cubicBezTo>
                  <a:pt x="169427" y="37642"/>
                  <a:pt x="166489" y="35500"/>
                  <a:pt x="163122" y="35500"/>
                </a:cubicBezTo>
                <a:lnTo>
                  <a:pt x="161164" y="35500"/>
                </a:lnTo>
                <a:cubicBezTo>
                  <a:pt x="164102" y="28217"/>
                  <a:pt x="165877" y="20566"/>
                  <a:pt x="166489" y="12425"/>
                </a:cubicBezTo>
                <a:lnTo>
                  <a:pt x="187361" y="12425"/>
                </a:lnTo>
                <a:cubicBezTo>
                  <a:pt x="184974" y="54535"/>
                  <a:pt x="158532" y="80365"/>
                  <a:pt x="129213" y="101603"/>
                </a:cubicBezTo>
                <a:cubicBezTo>
                  <a:pt x="123153" y="97380"/>
                  <a:pt x="117032" y="93340"/>
                  <a:pt x="110850" y="89240"/>
                </a:cubicBezTo>
                <a:cubicBezTo>
                  <a:pt x="118746" y="83792"/>
                  <a:pt x="126642" y="77977"/>
                  <a:pt x="133742" y="71796"/>
                </a:cubicBezTo>
                <a:lnTo>
                  <a:pt x="148432" y="71796"/>
                </a:lnTo>
                <a:close/>
                <a:moveTo>
                  <a:pt x="114094" y="71734"/>
                </a:moveTo>
                <a:cubicBezTo>
                  <a:pt x="109503" y="75162"/>
                  <a:pt x="104790" y="78467"/>
                  <a:pt x="100077" y="81711"/>
                </a:cubicBezTo>
                <a:cubicBezTo>
                  <a:pt x="95180" y="78344"/>
                  <a:pt x="90467" y="75101"/>
                  <a:pt x="85999" y="71734"/>
                </a:cubicBezTo>
                <a:lnTo>
                  <a:pt x="114094" y="71734"/>
                </a:lnTo>
                <a:close/>
                <a:moveTo>
                  <a:pt x="93650" y="47803"/>
                </a:moveTo>
                <a:lnTo>
                  <a:pt x="93650" y="59370"/>
                </a:lnTo>
                <a:lnTo>
                  <a:pt x="70084" y="59370"/>
                </a:lnTo>
                <a:cubicBezTo>
                  <a:pt x="66106" y="55637"/>
                  <a:pt x="62495" y="51842"/>
                  <a:pt x="59312" y="47803"/>
                </a:cubicBezTo>
                <a:lnTo>
                  <a:pt x="93650" y="47803"/>
                </a:lnTo>
                <a:close/>
                <a:moveTo>
                  <a:pt x="12976" y="12364"/>
                </a:moveTo>
                <a:lnTo>
                  <a:pt x="33604" y="12364"/>
                </a:lnTo>
                <a:cubicBezTo>
                  <a:pt x="36604" y="54046"/>
                  <a:pt x="70207" y="76386"/>
                  <a:pt x="105708" y="100012"/>
                </a:cubicBezTo>
                <a:cubicBezTo>
                  <a:pt x="143903" y="125473"/>
                  <a:pt x="187239" y="154302"/>
                  <a:pt x="187239" y="211041"/>
                </a:cubicBezTo>
                <a:cubicBezTo>
                  <a:pt x="187239" y="256578"/>
                  <a:pt x="159817" y="283754"/>
                  <a:pt x="129274" y="305911"/>
                </a:cubicBezTo>
                <a:cubicBezTo>
                  <a:pt x="123275" y="301748"/>
                  <a:pt x="117154" y="297709"/>
                  <a:pt x="111033" y="293608"/>
                </a:cubicBezTo>
                <a:cubicBezTo>
                  <a:pt x="111033" y="293608"/>
                  <a:pt x="111033" y="293608"/>
                  <a:pt x="111033" y="293608"/>
                </a:cubicBezTo>
                <a:cubicBezTo>
                  <a:pt x="142128" y="272063"/>
                  <a:pt x="166611" y="249723"/>
                  <a:pt x="166611" y="211041"/>
                </a:cubicBezTo>
                <a:cubicBezTo>
                  <a:pt x="166611" y="165319"/>
                  <a:pt x="131478" y="141938"/>
                  <a:pt x="94262" y="117210"/>
                </a:cubicBezTo>
                <a:cubicBezTo>
                  <a:pt x="57537" y="92667"/>
                  <a:pt x="16037" y="65063"/>
                  <a:pt x="12976" y="12364"/>
                </a:cubicBezTo>
                <a:lnTo>
                  <a:pt x="12976" y="12364"/>
                </a:lnTo>
                <a:close/>
                <a:moveTo>
                  <a:pt x="106014" y="253089"/>
                </a:moveTo>
                <a:lnTo>
                  <a:pt x="140291" y="253089"/>
                </a:lnTo>
                <a:cubicBezTo>
                  <a:pt x="137108" y="257129"/>
                  <a:pt x="133497" y="260924"/>
                  <a:pt x="129519" y="264657"/>
                </a:cubicBezTo>
                <a:lnTo>
                  <a:pt x="106014" y="264657"/>
                </a:lnTo>
                <a:lnTo>
                  <a:pt x="106014" y="253089"/>
                </a:lnTo>
                <a:close/>
                <a:moveTo>
                  <a:pt x="106014" y="205287"/>
                </a:moveTo>
                <a:lnTo>
                  <a:pt x="155227" y="205287"/>
                </a:lnTo>
                <a:cubicBezTo>
                  <a:pt x="155533" y="209082"/>
                  <a:pt x="155533" y="213060"/>
                  <a:pt x="155227" y="216855"/>
                </a:cubicBezTo>
                <a:lnTo>
                  <a:pt x="106014" y="216855"/>
                </a:lnTo>
                <a:lnTo>
                  <a:pt x="106014" y="205287"/>
                </a:lnTo>
                <a:close/>
                <a:moveTo>
                  <a:pt x="106014" y="158280"/>
                </a:moveTo>
                <a:lnTo>
                  <a:pt x="129580" y="158280"/>
                </a:lnTo>
                <a:cubicBezTo>
                  <a:pt x="133558" y="162014"/>
                  <a:pt x="137170" y="165809"/>
                  <a:pt x="140353" y="169848"/>
                </a:cubicBezTo>
                <a:lnTo>
                  <a:pt x="106014" y="169848"/>
                </a:lnTo>
                <a:lnTo>
                  <a:pt x="106014" y="158280"/>
                </a:lnTo>
                <a:close/>
                <a:moveTo>
                  <a:pt x="100077" y="135940"/>
                </a:moveTo>
                <a:cubicBezTo>
                  <a:pt x="104974" y="139306"/>
                  <a:pt x="109687" y="142550"/>
                  <a:pt x="114155" y="145917"/>
                </a:cubicBezTo>
                <a:lnTo>
                  <a:pt x="86060" y="145917"/>
                </a:lnTo>
                <a:cubicBezTo>
                  <a:pt x="90589" y="142489"/>
                  <a:pt x="95364" y="139184"/>
                  <a:pt x="100077" y="135940"/>
                </a:cubicBezTo>
                <a:lnTo>
                  <a:pt x="100077" y="135940"/>
                </a:lnTo>
                <a:close/>
                <a:moveTo>
                  <a:pt x="52456" y="158280"/>
                </a:moveTo>
                <a:lnTo>
                  <a:pt x="93650" y="158280"/>
                </a:lnTo>
                <a:lnTo>
                  <a:pt x="93650" y="169848"/>
                </a:lnTo>
                <a:cubicBezTo>
                  <a:pt x="86550" y="169848"/>
                  <a:pt x="55333" y="169848"/>
                  <a:pt x="43704" y="169848"/>
                </a:cubicBezTo>
                <a:cubicBezTo>
                  <a:pt x="46213" y="165931"/>
                  <a:pt x="49090" y="162075"/>
                  <a:pt x="52456" y="158280"/>
                </a:cubicBezTo>
                <a:close/>
                <a:moveTo>
                  <a:pt x="52518" y="182212"/>
                </a:moveTo>
                <a:lnTo>
                  <a:pt x="147636" y="182212"/>
                </a:lnTo>
                <a:cubicBezTo>
                  <a:pt x="149412" y="185884"/>
                  <a:pt x="150880" y="189679"/>
                  <a:pt x="151983" y="193780"/>
                </a:cubicBezTo>
                <a:lnTo>
                  <a:pt x="48172" y="193780"/>
                </a:lnTo>
                <a:cubicBezTo>
                  <a:pt x="49212" y="189740"/>
                  <a:pt x="50682" y="185946"/>
                  <a:pt x="52518" y="182212"/>
                </a:cubicBezTo>
                <a:lnTo>
                  <a:pt x="52518" y="182212"/>
                </a:lnTo>
                <a:close/>
                <a:moveTo>
                  <a:pt x="31707" y="205287"/>
                </a:moveTo>
                <a:lnTo>
                  <a:pt x="93650" y="205287"/>
                </a:lnTo>
                <a:lnTo>
                  <a:pt x="93650" y="216855"/>
                </a:lnTo>
                <a:cubicBezTo>
                  <a:pt x="83183" y="216855"/>
                  <a:pt x="38807" y="216855"/>
                  <a:pt x="31707" y="216855"/>
                </a:cubicBezTo>
                <a:cubicBezTo>
                  <a:pt x="31462" y="213121"/>
                  <a:pt x="31462" y="209143"/>
                  <a:pt x="31707" y="205287"/>
                </a:cubicBezTo>
                <a:lnTo>
                  <a:pt x="31707" y="205287"/>
                </a:lnTo>
                <a:close/>
                <a:moveTo>
                  <a:pt x="48172" y="229157"/>
                </a:moveTo>
                <a:lnTo>
                  <a:pt x="151983" y="229157"/>
                </a:lnTo>
                <a:cubicBezTo>
                  <a:pt x="150880" y="233197"/>
                  <a:pt x="149412" y="237053"/>
                  <a:pt x="147636" y="240726"/>
                </a:cubicBezTo>
                <a:lnTo>
                  <a:pt x="52518" y="240726"/>
                </a:lnTo>
                <a:cubicBezTo>
                  <a:pt x="50682" y="236992"/>
                  <a:pt x="49212" y="233136"/>
                  <a:pt x="48172" y="229157"/>
                </a:cubicBezTo>
                <a:close/>
                <a:moveTo>
                  <a:pt x="43704" y="253089"/>
                </a:moveTo>
                <a:lnTo>
                  <a:pt x="93650" y="253089"/>
                </a:lnTo>
                <a:lnTo>
                  <a:pt x="93650" y="264657"/>
                </a:lnTo>
                <a:lnTo>
                  <a:pt x="52456" y="264657"/>
                </a:lnTo>
                <a:cubicBezTo>
                  <a:pt x="49090" y="260801"/>
                  <a:pt x="46213" y="257006"/>
                  <a:pt x="43704" y="253089"/>
                </a:cubicBezTo>
                <a:lnTo>
                  <a:pt x="43704" y="253089"/>
                </a:lnTo>
                <a:close/>
                <a:moveTo>
                  <a:pt x="114094" y="276164"/>
                </a:moveTo>
                <a:cubicBezTo>
                  <a:pt x="109626" y="279469"/>
                  <a:pt x="104913" y="282774"/>
                  <a:pt x="100077" y="286140"/>
                </a:cubicBezTo>
                <a:cubicBezTo>
                  <a:pt x="95242" y="282836"/>
                  <a:pt x="90528" y="279530"/>
                  <a:pt x="86060" y="276164"/>
                </a:cubicBezTo>
                <a:lnTo>
                  <a:pt x="114094" y="276164"/>
                </a:lnTo>
                <a:close/>
                <a:moveTo>
                  <a:pt x="85999" y="351203"/>
                </a:moveTo>
                <a:cubicBezTo>
                  <a:pt x="90467" y="347898"/>
                  <a:pt x="95119" y="344593"/>
                  <a:pt x="100016" y="341226"/>
                </a:cubicBezTo>
                <a:cubicBezTo>
                  <a:pt x="104852" y="344532"/>
                  <a:pt x="109564" y="347837"/>
                  <a:pt x="114033" y="351203"/>
                </a:cubicBezTo>
                <a:cubicBezTo>
                  <a:pt x="96588" y="351203"/>
                  <a:pt x="103443" y="351203"/>
                  <a:pt x="85999" y="351203"/>
                </a:cubicBezTo>
                <a:close/>
                <a:moveTo>
                  <a:pt x="33665" y="409717"/>
                </a:moveTo>
                <a:lnTo>
                  <a:pt x="13038" y="409717"/>
                </a:lnTo>
                <a:cubicBezTo>
                  <a:pt x="15425" y="367851"/>
                  <a:pt x="41684" y="342206"/>
                  <a:pt x="70819" y="321028"/>
                </a:cubicBezTo>
                <a:cubicBezTo>
                  <a:pt x="76879" y="325252"/>
                  <a:pt x="83000" y="329291"/>
                  <a:pt x="89059" y="333331"/>
                </a:cubicBezTo>
                <a:cubicBezTo>
                  <a:pt x="59985" y="353468"/>
                  <a:pt x="36175" y="374584"/>
                  <a:pt x="33665" y="409717"/>
                </a:cubicBezTo>
                <a:close/>
                <a:moveTo>
                  <a:pt x="70146" y="363567"/>
                </a:moveTo>
                <a:lnTo>
                  <a:pt x="93650" y="363567"/>
                </a:lnTo>
                <a:lnTo>
                  <a:pt x="93650" y="375135"/>
                </a:lnTo>
                <a:lnTo>
                  <a:pt x="59373" y="375135"/>
                </a:lnTo>
                <a:cubicBezTo>
                  <a:pt x="62556" y="371096"/>
                  <a:pt x="66167" y="367239"/>
                  <a:pt x="70146" y="363567"/>
                </a:cubicBezTo>
                <a:close/>
              </a:path>
            </a:pathLst>
          </a:custGeom>
          <a:solidFill>
            <a:schemeClr val="dk1"/>
          </a:solidFill>
          <a:ln>
            <a:solidFill>
              <a:schemeClr val="tx2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1022;p54">
            <a:extLst>
              <a:ext uri="{FF2B5EF4-FFF2-40B4-BE49-F238E27FC236}">
                <a16:creationId xmlns:a16="http://schemas.microsoft.com/office/drawing/2014/main" id="{314F5575-308B-C713-E289-52FDE899C68B}"/>
              </a:ext>
            </a:extLst>
          </p:cNvPr>
          <p:cNvSpPr>
            <a:spLocks noChangeAspect="1"/>
          </p:cNvSpPr>
          <p:nvPr/>
        </p:nvSpPr>
        <p:spPr>
          <a:xfrm rot="5400000">
            <a:off x="9019541" y="2074744"/>
            <a:ext cx="248917" cy="527343"/>
          </a:xfrm>
          <a:custGeom>
            <a:avLst/>
            <a:gdLst/>
            <a:ahLst/>
            <a:cxnLst/>
            <a:rect l="l" t="t" r="r" b="b"/>
            <a:pathLst>
              <a:path w="199664" h="422998" extrusionOk="0">
                <a:moveTo>
                  <a:pt x="139924" y="313439"/>
                </a:moveTo>
                <a:cubicBezTo>
                  <a:pt x="152839" y="303829"/>
                  <a:pt x="167591" y="291405"/>
                  <a:pt x="178853" y="275797"/>
                </a:cubicBezTo>
                <a:cubicBezTo>
                  <a:pt x="192870" y="256455"/>
                  <a:pt x="199664" y="235278"/>
                  <a:pt x="199664" y="211041"/>
                </a:cubicBezTo>
                <a:cubicBezTo>
                  <a:pt x="199664" y="182640"/>
                  <a:pt x="190238" y="158219"/>
                  <a:pt x="170773" y="136246"/>
                </a:cubicBezTo>
                <a:cubicBezTo>
                  <a:pt x="161531" y="125841"/>
                  <a:pt x="151003" y="116843"/>
                  <a:pt x="139924" y="108642"/>
                </a:cubicBezTo>
                <a:cubicBezTo>
                  <a:pt x="152778" y="99094"/>
                  <a:pt x="167407" y="86730"/>
                  <a:pt x="178670" y="71245"/>
                </a:cubicBezTo>
                <a:cubicBezTo>
                  <a:pt x="192625" y="52087"/>
                  <a:pt x="199481" y="31154"/>
                  <a:pt x="199664" y="7284"/>
                </a:cubicBezTo>
                <a:cubicBezTo>
                  <a:pt x="199664" y="5693"/>
                  <a:pt x="199236" y="4163"/>
                  <a:pt x="198317" y="2877"/>
                </a:cubicBezTo>
                <a:cubicBezTo>
                  <a:pt x="196971" y="1041"/>
                  <a:pt x="194890" y="0"/>
                  <a:pt x="192625" y="0"/>
                </a:cubicBezTo>
                <a:lnTo>
                  <a:pt x="161347" y="0"/>
                </a:lnTo>
                <a:cubicBezTo>
                  <a:pt x="157491" y="0"/>
                  <a:pt x="154369" y="3122"/>
                  <a:pt x="154308" y="6978"/>
                </a:cubicBezTo>
                <a:cubicBezTo>
                  <a:pt x="154186" y="17383"/>
                  <a:pt x="151983" y="26686"/>
                  <a:pt x="147575" y="35439"/>
                </a:cubicBezTo>
                <a:lnTo>
                  <a:pt x="141271" y="35439"/>
                </a:lnTo>
                <a:cubicBezTo>
                  <a:pt x="138088" y="35439"/>
                  <a:pt x="135272" y="37704"/>
                  <a:pt x="134905" y="40825"/>
                </a:cubicBezTo>
                <a:cubicBezTo>
                  <a:pt x="134476" y="44559"/>
                  <a:pt x="137353" y="47803"/>
                  <a:pt x="141026" y="47803"/>
                </a:cubicBezTo>
                <a:lnTo>
                  <a:pt x="155900" y="47803"/>
                </a:lnTo>
                <a:cubicBezTo>
                  <a:pt x="153390" y="51720"/>
                  <a:pt x="150513" y="55514"/>
                  <a:pt x="147147" y="59370"/>
                </a:cubicBezTo>
                <a:cubicBezTo>
                  <a:pt x="136986" y="59370"/>
                  <a:pt x="113421" y="59370"/>
                  <a:pt x="105953" y="59370"/>
                </a:cubicBezTo>
                <a:lnTo>
                  <a:pt x="105953" y="47803"/>
                </a:lnTo>
                <a:lnTo>
                  <a:pt x="111646" y="47803"/>
                </a:lnTo>
                <a:cubicBezTo>
                  <a:pt x="114829" y="47803"/>
                  <a:pt x="117644" y="45538"/>
                  <a:pt x="118012" y="42417"/>
                </a:cubicBezTo>
                <a:cubicBezTo>
                  <a:pt x="118440" y="38683"/>
                  <a:pt x="115563" y="35439"/>
                  <a:pt x="111891" y="35439"/>
                </a:cubicBezTo>
                <a:lnTo>
                  <a:pt x="52395" y="35439"/>
                </a:lnTo>
                <a:cubicBezTo>
                  <a:pt x="48233" y="27053"/>
                  <a:pt x="45846" y="17750"/>
                  <a:pt x="45723" y="6978"/>
                </a:cubicBezTo>
                <a:cubicBezTo>
                  <a:pt x="45662" y="3122"/>
                  <a:pt x="42540" y="0"/>
                  <a:pt x="38684" y="0"/>
                </a:cubicBezTo>
                <a:lnTo>
                  <a:pt x="7590" y="0"/>
                </a:lnTo>
                <a:cubicBezTo>
                  <a:pt x="5999" y="0"/>
                  <a:pt x="4469" y="429"/>
                  <a:pt x="3183" y="1408"/>
                </a:cubicBezTo>
                <a:cubicBezTo>
                  <a:pt x="1347" y="2816"/>
                  <a:pt x="306" y="4897"/>
                  <a:pt x="368" y="7100"/>
                </a:cubicBezTo>
                <a:cubicBezTo>
                  <a:pt x="551" y="35194"/>
                  <a:pt x="10099" y="59493"/>
                  <a:pt x="29503" y="81344"/>
                </a:cubicBezTo>
                <a:cubicBezTo>
                  <a:pt x="38684" y="91688"/>
                  <a:pt x="49151" y="100563"/>
                  <a:pt x="60169" y="108703"/>
                </a:cubicBezTo>
                <a:cubicBezTo>
                  <a:pt x="54476" y="112926"/>
                  <a:pt x="49518" y="116904"/>
                  <a:pt x="44867" y="120944"/>
                </a:cubicBezTo>
                <a:cubicBezTo>
                  <a:pt x="42479" y="123025"/>
                  <a:pt x="41867" y="126637"/>
                  <a:pt x="43643" y="129268"/>
                </a:cubicBezTo>
                <a:cubicBezTo>
                  <a:pt x="45785" y="132390"/>
                  <a:pt x="50070" y="132818"/>
                  <a:pt x="52824" y="130431"/>
                </a:cubicBezTo>
                <a:cubicBezTo>
                  <a:pt x="58088" y="125841"/>
                  <a:pt x="63842" y="121311"/>
                  <a:pt x="70696" y="116292"/>
                </a:cubicBezTo>
                <a:cubicBezTo>
                  <a:pt x="76695" y="120455"/>
                  <a:pt x="82816" y="124494"/>
                  <a:pt x="88937" y="128595"/>
                </a:cubicBezTo>
                <a:cubicBezTo>
                  <a:pt x="81102" y="134042"/>
                  <a:pt x="73267" y="139796"/>
                  <a:pt x="66167" y="145978"/>
                </a:cubicBezTo>
                <a:lnTo>
                  <a:pt x="51600" y="145978"/>
                </a:lnTo>
                <a:cubicBezTo>
                  <a:pt x="49457" y="145978"/>
                  <a:pt x="47437" y="146896"/>
                  <a:pt x="45968" y="148487"/>
                </a:cubicBezTo>
                <a:cubicBezTo>
                  <a:pt x="39296" y="155771"/>
                  <a:pt x="34155" y="163115"/>
                  <a:pt x="30177" y="171011"/>
                </a:cubicBezTo>
                <a:cubicBezTo>
                  <a:pt x="29197" y="172970"/>
                  <a:pt x="28952" y="175296"/>
                  <a:pt x="29748" y="177377"/>
                </a:cubicBezTo>
                <a:cubicBezTo>
                  <a:pt x="30911" y="180437"/>
                  <a:pt x="33727" y="182273"/>
                  <a:pt x="36848" y="182273"/>
                </a:cubicBezTo>
                <a:lnTo>
                  <a:pt x="38746" y="182273"/>
                </a:lnTo>
                <a:cubicBezTo>
                  <a:pt x="37338" y="185762"/>
                  <a:pt x="36236" y="189312"/>
                  <a:pt x="35379" y="192985"/>
                </a:cubicBezTo>
                <a:lnTo>
                  <a:pt x="29136" y="192985"/>
                </a:lnTo>
                <a:cubicBezTo>
                  <a:pt x="25280" y="192985"/>
                  <a:pt x="22035" y="195861"/>
                  <a:pt x="21546" y="199717"/>
                </a:cubicBezTo>
                <a:cubicBezTo>
                  <a:pt x="20689" y="207001"/>
                  <a:pt x="20689" y="214957"/>
                  <a:pt x="21546" y="222547"/>
                </a:cubicBezTo>
                <a:cubicBezTo>
                  <a:pt x="21974" y="226342"/>
                  <a:pt x="25218" y="229280"/>
                  <a:pt x="29074" y="229280"/>
                </a:cubicBezTo>
                <a:lnTo>
                  <a:pt x="35257" y="229280"/>
                </a:lnTo>
                <a:cubicBezTo>
                  <a:pt x="36175" y="233258"/>
                  <a:pt x="37338" y="237053"/>
                  <a:pt x="38868" y="240848"/>
                </a:cubicBezTo>
                <a:lnTo>
                  <a:pt x="37031" y="240848"/>
                </a:lnTo>
                <a:cubicBezTo>
                  <a:pt x="34828" y="240848"/>
                  <a:pt x="32686" y="241705"/>
                  <a:pt x="31278" y="243296"/>
                </a:cubicBezTo>
                <a:cubicBezTo>
                  <a:pt x="29074" y="245744"/>
                  <a:pt x="28646" y="249050"/>
                  <a:pt x="30054" y="251865"/>
                </a:cubicBezTo>
                <a:cubicBezTo>
                  <a:pt x="34033" y="259822"/>
                  <a:pt x="39235" y="267228"/>
                  <a:pt x="45968" y="274634"/>
                </a:cubicBezTo>
                <a:cubicBezTo>
                  <a:pt x="47376" y="276225"/>
                  <a:pt x="49457" y="277082"/>
                  <a:pt x="51538" y="277082"/>
                </a:cubicBezTo>
                <a:lnTo>
                  <a:pt x="66473" y="277082"/>
                </a:lnTo>
                <a:cubicBezTo>
                  <a:pt x="109075" y="314234"/>
                  <a:pt x="182587" y="338840"/>
                  <a:pt x="186627" y="409778"/>
                </a:cubicBezTo>
                <a:lnTo>
                  <a:pt x="166244" y="409778"/>
                </a:lnTo>
                <a:cubicBezTo>
                  <a:pt x="165693" y="401882"/>
                  <a:pt x="163979" y="394538"/>
                  <a:pt x="161164" y="387499"/>
                </a:cubicBezTo>
                <a:lnTo>
                  <a:pt x="163061" y="387499"/>
                </a:lnTo>
                <a:cubicBezTo>
                  <a:pt x="168754" y="387499"/>
                  <a:pt x="172426" y="381562"/>
                  <a:pt x="169855" y="376482"/>
                </a:cubicBezTo>
                <a:cubicBezTo>
                  <a:pt x="165877" y="368525"/>
                  <a:pt x="160674" y="361118"/>
                  <a:pt x="153941" y="353713"/>
                </a:cubicBezTo>
                <a:cubicBezTo>
                  <a:pt x="152472" y="352122"/>
                  <a:pt x="150452" y="351203"/>
                  <a:pt x="148310" y="351203"/>
                </a:cubicBezTo>
                <a:lnTo>
                  <a:pt x="134048" y="351203"/>
                </a:lnTo>
                <a:cubicBezTo>
                  <a:pt x="89916" y="312704"/>
                  <a:pt x="12426" y="287365"/>
                  <a:pt x="12426" y="210856"/>
                </a:cubicBezTo>
                <a:cubicBezTo>
                  <a:pt x="12426" y="188027"/>
                  <a:pt x="19220" y="168196"/>
                  <a:pt x="33175" y="150140"/>
                </a:cubicBezTo>
                <a:cubicBezTo>
                  <a:pt x="34951" y="147814"/>
                  <a:pt x="35012" y="144509"/>
                  <a:pt x="33175" y="142305"/>
                </a:cubicBezTo>
                <a:cubicBezTo>
                  <a:pt x="30544" y="139123"/>
                  <a:pt x="25830" y="139367"/>
                  <a:pt x="23444" y="142428"/>
                </a:cubicBezTo>
                <a:cubicBezTo>
                  <a:pt x="7651" y="162748"/>
                  <a:pt x="0" y="185150"/>
                  <a:pt x="0" y="210856"/>
                </a:cubicBezTo>
                <a:cubicBezTo>
                  <a:pt x="0" y="239379"/>
                  <a:pt x="9487" y="263984"/>
                  <a:pt x="29013" y="286079"/>
                </a:cubicBezTo>
                <a:cubicBezTo>
                  <a:pt x="38256" y="296546"/>
                  <a:pt x="48906" y="305543"/>
                  <a:pt x="60046" y="313806"/>
                </a:cubicBezTo>
                <a:cubicBezTo>
                  <a:pt x="47131" y="323415"/>
                  <a:pt x="32441" y="335779"/>
                  <a:pt x="21117" y="351387"/>
                </a:cubicBezTo>
                <a:cubicBezTo>
                  <a:pt x="7101" y="370605"/>
                  <a:pt x="184" y="391661"/>
                  <a:pt x="0" y="415715"/>
                </a:cubicBezTo>
                <a:cubicBezTo>
                  <a:pt x="0" y="417061"/>
                  <a:pt x="306" y="418469"/>
                  <a:pt x="1041" y="419632"/>
                </a:cubicBezTo>
                <a:cubicBezTo>
                  <a:pt x="2387" y="421774"/>
                  <a:pt x="4652" y="422999"/>
                  <a:pt x="7039" y="422999"/>
                </a:cubicBezTo>
                <a:lnTo>
                  <a:pt x="38440" y="422999"/>
                </a:lnTo>
                <a:cubicBezTo>
                  <a:pt x="42357" y="422999"/>
                  <a:pt x="45601" y="419816"/>
                  <a:pt x="45601" y="415898"/>
                </a:cubicBezTo>
                <a:cubicBezTo>
                  <a:pt x="45723" y="404881"/>
                  <a:pt x="48172" y="395333"/>
                  <a:pt x="52456" y="386764"/>
                </a:cubicBezTo>
                <a:lnTo>
                  <a:pt x="111891" y="386764"/>
                </a:lnTo>
                <a:cubicBezTo>
                  <a:pt x="115135" y="386764"/>
                  <a:pt x="117706" y="384132"/>
                  <a:pt x="117644" y="380827"/>
                </a:cubicBezTo>
                <a:cubicBezTo>
                  <a:pt x="117583" y="377644"/>
                  <a:pt x="114767" y="375196"/>
                  <a:pt x="111585" y="375196"/>
                </a:cubicBezTo>
                <a:lnTo>
                  <a:pt x="105770" y="375196"/>
                </a:lnTo>
                <a:lnTo>
                  <a:pt x="105770" y="363628"/>
                </a:lnTo>
                <a:lnTo>
                  <a:pt x="146963" y="363628"/>
                </a:lnTo>
                <a:cubicBezTo>
                  <a:pt x="150330" y="367423"/>
                  <a:pt x="153207" y="371279"/>
                  <a:pt x="155716" y="375196"/>
                </a:cubicBezTo>
                <a:cubicBezTo>
                  <a:pt x="152166" y="375196"/>
                  <a:pt x="140720" y="375196"/>
                  <a:pt x="140720" y="375196"/>
                </a:cubicBezTo>
                <a:cubicBezTo>
                  <a:pt x="137537" y="375196"/>
                  <a:pt x="134783" y="377644"/>
                  <a:pt x="134660" y="380827"/>
                </a:cubicBezTo>
                <a:cubicBezTo>
                  <a:pt x="134599" y="384071"/>
                  <a:pt x="137170" y="386764"/>
                  <a:pt x="140414" y="386764"/>
                </a:cubicBezTo>
                <a:lnTo>
                  <a:pt x="147330" y="386764"/>
                </a:lnTo>
                <a:cubicBezTo>
                  <a:pt x="151738" y="395517"/>
                  <a:pt x="153941" y="404881"/>
                  <a:pt x="154063" y="415225"/>
                </a:cubicBezTo>
                <a:cubicBezTo>
                  <a:pt x="154125" y="419081"/>
                  <a:pt x="157246" y="422203"/>
                  <a:pt x="161102" y="422203"/>
                </a:cubicBezTo>
                <a:lnTo>
                  <a:pt x="192196" y="422203"/>
                </a:lnTo>
                <a:cubicBezTo>
                  <a:pt x="193788" y="422203"/>
                  <a:pt x="195319" y="421774"/>
                  <a:pt x="196604" y="420795"/>
                </a:cubicBezTo>
                <a:cubicBezTo>
                  <a:pt x="198440" y="419387"/>
                  <a:pt x="199481" y="417306"/>
                  <a:pt x="199420" y="415103"/>
                </a:cubicBezTo>
                <a:cubicBezTo>
                  <a:pt x="199236" y="387009"/>
                  <a:pt x="189687" y="362710"/>
                  <a:pt x="170284" y="340920"/>
                </a:cubicBezTo>
                <a:cubicBezTo>
                  <a:pt x="161408" y="330454"/>
                  <a:pt x="150880" y="321579"/>
                  <a:pt x="139924" y="313439"/>
                </a:cubicBezTo>
                <a:lnTo>
                  <a:pt x="139924" y="313439"/>
                </a:lnTo>
                <a:close/>
                <a:moveTo>
                  <a:pt x="148432" y="71734"/>
                </a:moveTo>
                <a:cubicBezTo>
                  <a:pt x="150574" y="71734"/>
                  <a:pt x="152595" y="70816"/>
                  <a:pt x="154002" y="69286"/>
                </a:cubicBezTo>
                <a:cubicBezTo>
                  <a:pt x="160735" y="61880"/>
                  <a:pt x="165938" y="54474"/>
                  <a:pt x="169917" y="46517"/>
                </a:cubicBezTo>
                <a:cubicBezTo>
                  <a:pt x="170773" y="44803"/>
                  <a:pt x="171018" y="42845"/>
                  <a:pt x="170467" y="41008"/>
                </a:cubicBezTo>
                <a:cubicBezTo>
                  <a:pt x="169427" y="37642"/>
                  <a:pt x="166489" y="35500"/>
                  <a:pt x="163122" y="35500"/>
                </a:cubicBezTo>
                <a:lnTo>
                  <a:pt x="161164" y="35500"/>
                </a:lnTo>
                <a:cubicBezTo>
                  <a:pt x="164102" y="28217"/>
                  <a:pt x="165877" y="20566"/>
                  <a:pt x="166489" y="12425"/>
                </a:cubicBezTo>
                <a:lnTo>
                  <a:pt x="187361" y="12425"/>
                </a:lnTo>
                <a:cubicBezTo>
                  <a:pt x="184974" y="54535"/>
                  <a:pt x="158532" y="80365"/>
                  <a:pt x="129213" y="101603"/>
                </a:cubicBezTo>
                <a:cubicBezTo>
                  <a:pt x="123153" y="97380"/>
                  <a:pt x="117032" y="93340"/>
                  <a:pt x="110850" y="89240"/>
                </a:cubicBezTo>
                <a:cubicBezTo>
                  <a:pt x="118746" y="83792"/>
                  <a:pt x="126642" y="77977"/>
                  <a:pt x="133742" y="71796"/>
                </a:cubicBezTo>
                <a:lnTo>
                  <a:pt x="148432" y="71796"/>
                </a:lnTo>
                <a:close/>
                <a:moveTo>
                  <a:pt x="114094" y="71734"/>
                </a:moveTo>
                <a:cubicBezTo>
                  <a:pt x="109503" y="75162"/>
                  <a:pt x="104790" y="78467"/>
                  <a:pt x="100077" y="81711"/>
                </a:cubicBezTo>
                <a:cubicBezTo>
                  <a:pt x="95180" y="78344"/>
                  <a:pt x="90467" y="75101"/>
                  <a:pt x="85999" y="71734"/>
                </a:cubicBezTo>
                <a:lnTo>
                  <a:pt x="114094" y="71734"/>
                </a:lnTo>
                <a:close/>
                <a:moveTo>
                  <a:pt x="93650" y="47803"/>
                </a:moveTo>
                <a:lnTo>
                  <a:pt x="93650" y="59370"/>
                </a:lnTo>
                <a:lnTo>
                  <a:pt x="70084" y="59370"/>
                </a:lnTo>
                <a:cubicBezTo>
                  <a:pt x="66106" y="55637"/>
                  <a:pt x="62495" y="51842"/>
                  <a:pt x="59312" y="47803"/>
                </a:cubicBezTo>
                <a:lnTo>
                  <a:pt x="93650" y="47803"/>
                </a:lnTo>
                <a:close/>
                <a:moveTo>
                  <a:pt x="12976" y="12364"/>
                </a:moveTo>
                <a:lnTo>
                  <a:pt x="33604" y="12364"/>
                </a:lnTo>
                <a:cubicBezTo>
                  <a:pt x="36604" y="54046"/>
                  <a:pt x="70207" y="76386"/>
                  <a:pt x="105708" y="100012"/>
                </a:cubicBezTo>
                <a:cubicBezTo>
                  <a:pt x="143903" y="125473"/>
                  <a:pt x="187239" y="154302"/>
                  <a:pt x="187239" y="211041"/>
                </a:cubicBezTo>
                <a:cubicBezTo>
                  <a:pt x="187239" y="256578"/>
                  <a:pt x="159817" y="283754"/>
                  <a:pt x="129274" y="305911"/>
                </a:cubicBezTo>
                <a:cubicBezTo>
                  <a:pt x="123275" y="301748"/>
                  <a:pt x="117154" y="297709"/>
                  <a:pt x="111033" y="293608"/>
                </a:cubicBezTo>
                <a:cubicBezTo>
                  <a:pt x="111033" y="293608"/>
                  <a:pt x="111033" y="293608"/>
                  <a:pt x="111033" y="293608"/>
                </a:cubicBezTo>
                <a:cubicBezTo>
                  <a:pt x="142128" y="272063"/>
                  <a:pt x="166611" y="249723"/>
                  <a:pt x="166611" y="211041"/>
                </a:cubicBezTo>
                <a:cubicBezTo>
                  <a:pt x="166611" y="165319"/>
                  <a:pt x="131478" y="141938"/>
                  <a:pt x="94262" y="117210"/>
                </a:cubicBezTo>
                <a:cubicBezTo>
                  <a:pt x="57537" y="92667"/>
                  <a:pt x="16037" y="65063"/>
                  <a:pt x="12976" y="12364"/>
                </a:cubicBezTo>
                <a:lnTo>
                  <a:pt x="12976" y="12364"/>
                </a:lnTo>
                <a:close/>
                <a:moveTo>
                  <a:pt x="106014" y="253089"/>
                </a:moveTo>
                <a:lnTo>
                  <a:pt x="140291" y="253089"/>
                </a:lnTo>
                <a:cubicBezTo>
                  <a:pt x="137108" y="257129"/>
                  <a:pt x="133497" y="260924"/>
                  <a:pt x="129519" y="264657"/>
                </a:cubicBezTo>
                <a:lnTo>
                  <a:pt x="106014" y="264657"/>
                </a:lnTo>
                <a:lnTo>
                  <a:pt x="106014" y="253089"/>
                </a:lnTo>
                <a:close/>
                <a:moveTo>
                  <a:pt x="106014" y="205287"/>
                </a:moveTo>
                <a:lnTo>
                  <a:pt x="155227" y="205287"/>
                </a:lnTo>
                <a:cubicBezTo>
                  <a:pt x="155533" y="209082"/>
                  <a:pt x="155533" y="213060"/>
                  <a:pt x="155227" y="216855"/>
                </a:cubicBezTo>
                <a:lnTo>
                  <a:pt x="106014" y="216855"/>
                </a:lnTo>
                <a:lnTo>
                  <a:pt x="106014" y="205287"/>
                </a:lnTo>
                <a:close/>
                <a:moveTo>
                  <a:pt x="106014" y="158280"/>
                </a:moveTo>
                <a:lnTo>
                  <a:pt x="129580" y="158280"/>
                </a:lnTo>
                <a:cubicBezTo>
                  <a:pt x="133558" y="162014"/>
                  <a:pt x="137170" y="165809"/>
                  <a:pt x="140353" y="169848"/>
                </a:cubicBezTo>
                <a:lnTo>
                  <a:pt x="106014" y="169848"/>
                </a:lnTo>
                <a:lnTo>
                  <a:pt x="106014" y="158280"/>
                </a:lnTo>
                <a:close/>
                <a:moveTo>
                  <a:pt x="100077" y="135940"/>
                </a:moveTo>
                <a:cubicBezTo>
                  <a:pt x="104974" y="139306"/>
                  <a:pt x="109687" y="142550"/>
                  <a:pt x="114155" y="145917"/>
                </a:cubicBezTo>
                <a:lnTo>
                  <a:pt x="86060" y="145917"/>
                </a:lnTo>
                <a:cubicBezTo>
                  <a:pt x="90589" y="142489"/>
                  <a:pt x="95364" y="139184"/>
                  <a:pt x="100077" y="135940"/>
                </a:cubicBezTo>
                <a:lnTo>
                  <a:pt x="100077" y="135940"/>
                </a:lnTo>
                <a:close/>
                <a:moveTo>
                  <a:pt x="52456" y="158280"/>
                </a:moveTo>
                <a:lnTo>
                  <a:pt x="93650" y="158280"/>
                </a:lnTo>
                <a:lnTo>
                  <a:pt x="93650" y="169848"/>
                </a:lnTo>
                <a:cubicBezTo>
                  <a:pt x="86550" y="169848"/>
                  <a:pt x="55333" y="169848"/>
                  <a:pt x="43704" y="169848"/>
                </a:cubicBezTo>
                <a:cubicBezTo>
                  <a:pt x="46213" y="165931"/>
                  <a:pt x="49090" y="162075"/>
                  <a:pt x="52456" y="158280"/>
                </a:cubicBezTo>
                <a:close/>
                <a:moveTo>
                  <a:pt x="52518" y="182212"/>
                </a:moveTo>
                <a:lnTo>
                  <a:pt x="147636" y="182212"/>
                </a:lnTo>
                <a:cubicBezTo>
                  <a:pt x="149412" y="185884"/>
                  <a:pt x="150880" y="189679"/>
                  <a:pt x="151983" y="193780"/>
                </a:cubicBezTo>
                <a:lnTo>
                  <a:pt x="48172" y="193780"/>
                </a:lnTo>
                <a:cubicBezTo>
                  <a:pt x="49212" y="189740"/>
                  <a:pt x="50682" y="185946"/>
                  <a:pt x="52518" y="182212"/>
                </a:cubicBezTo>
                <a:lnTo>
                  <a:pt x="52518" y="182212"/>
                </a:lnTo>
                <a:close/>
                <a:moveTo>
                  <a:pt x="31707" y="205287"/>
                </a:moveTo>
                <a:lnTo>
                  <a:pt x="93650" y="205287"/>
                </a:lnTo>
                <a:lnTo>
                  <a:pt x="93650" y="216855"/>
                </a:lnTo>
                <a:cubicBezTo>
                  <a:pt x="83183" y="216855"/>
                  <a:pt x="38807" y="216855"/>
                  <a:pt x="31707" y="216855"/>
                </a:cubicBezTo>
                <a:cubicBezTo>
                  <a:pt x="31462" y="213121"/>
                  <a:pt x="31462" y="209143"/>
                  <a:pt x="31707" y="205287"/>
                </a:cubicBezTo>
                <a:lnTo>
                  <a:pt x="31707" y="205287"/>
                </a:lnTo>
                <a:close/>
                <a:moveTo>
                  <a:pt x="48172" y="229157"/>
                </a:moveTo>
                <a:lnTo>
                  <a:pt x="151983" y="229157"/>
                </a:lnTo>
                <a:cubicBezTo>
                  <a:pt x="150880" y="233197"/>
                  <a:pt x="149412" y="237053"/>
                  <a:pt x="147636" y="240726"/>
                </a:cubicBezTo>
                <a:lnTo>
                  <a:pt x="52518" y="240726"/>
                </a:lnTo>
                <a:cubicBezTo>
                  <a:pt x="50682" y="236992"/>
                  <a:pt x="49212" y="233136"/>
                  <a:pt x="48172" y="229157"/>
                </a:cubicBezTo>
                <a:close/>
                <a:moveTo>
                  <a:pt x="43704" y="253089"/>
                </a:moveTo>
                <a:lnTo>
                  <a:pt x="93650" y="253089"/>
                </a:lnTo>
                <a:lnTo>
                  <a:pt x="93650" y="264657"/>
                </a:lnTo>
                <a:lnTo>
                  <a:pt x="52456" y="264657"/>
                </a:lnTo>
                <a:cubicBezTo>
                  <a:pt x="49090" y="260801"/>
                  <a:pt x="46213" y="257006"/>
                  <a:pt x="43704" y="253089"/>
                </a:cubicBezTo>
                <a:lnTo>
                  <a:pt x="43704" y="253089"/>
                </a:lnTo>
                <a:close/>
                <a:moveTo>
                  <a:pt x="114094" y="276164"/>
                </a:moveTo>
                <a:cubicBezTo>
                  <a:pt x="109626" y="279469"/>
                  <a:pt x="104913" y="282774"/>
                  <a:pt x="100077" y="286140"/>
                </a:cubicBezTo>
                <a:cubicBezTo>
                  <a:pt x="95242" y="282836"/>
                  <a:pt x="90528" y="279530"/>
                  <a:pt x="86060" y="276164"/>
                </a:cubicBezTo>
                <a:lnTo>
                  <a:pt x="114094" y="276164"/>
                </a:lnTo>
                <a:close/>
                <a:moveTo>
                  <a:pt x="85999" y="351203"/>
                </a:moveTo>
                <a:cubicBezTo>
                  <a:pt x="90467" y="347898"/>
                  <a:pt x="95119" y="344593"/>
                  <a:pt x="100016" y="341226"/>
                </a:cubicBezTo>
                <a:cubicBezTo>
                  <a:pt x="104852" y="344532"/>
                  <a:pt x="109564" y="347837"/>
                  <a:pt x="114033" y="351203"/>
                </a:cubicBezTo>
                <a:cubicBezTo>
                  <a:pt x="96588" y="351203"/>
                  <a:pt x="103443" y="351203"/>
                  <a:pt x="85999" y="351203"/>
                </a:cubicBezTo>
                <a:close/>
                <a:moveTo>
                  <a:pt x="33665" y="409717"/>
                </a:moveTo>
                <a:lnTo>
                  <a:pt x="13038" y="409717"/>
                </a:lnTo>
                <a:cubicBezTo>
                  <a:pt x="15425" y="367851"/>
                  <a:pt x="41684" y="342206"/>
                  <a:pt x="70819" y="321028"/>
                </a:cubicBezTo>
                <a:cubicBezTo>
                  <a:pt x="76879" y="325252"/>
                  <a:pt x="83000" y="329291"/>
                  <a:pt x="89059" y="333331"/>
                </a:cubicBezTo>
                <a:cubicBezTo>
                  <a:pt x="59985" y="353468"/>
                  <a:pt x="36175" y="374584"/>
                  <a:pt x="33665" y="409717"/>
                </a:cubicBezTo>
                <a:close/>
                <a:moveTo>
                  <a:pt x="70146" y="363567"/>
                </a:moveTo>
                <a:lnTo>
                  <a:pt x="93650" y="363567"/>
                </a:lnTo>
                <a:lnTo>
                  <a:pt x="93650" y="375135"/>
                </a:lnTo>
                <a:lnTo>
                  <a:pt x="59373" y="375135"/>
                </a:lnTo>
                <a:cubicBezTo>
                  <a:pt x="62556" y="371096"/>
                  <a:pt x="66167" y="367239"/>
                  <a:pt x="70146" y="363567"/>
                </a:cubicBezTo>
                <a:close/>
              </a:path>
            </a:pathLst>
          </a:custGeom>
          <a:solidFill>
            <a:schemeClr val="dk1"/>
          </a:solidFill>
          <a:ln>
            <a:solidFill>
              <a:schemeClr val="tx2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2" name="Google Shape;974;p54">
            <a:extLst>
              <a:ext uri="{FF2B5EF4-FFF2-40B4-BE49-F238E27FC236}">
                <a16:creationId xmlns:a16="http://schemas.microsoft.com/office/drawing/2014/main" id="{A4F1715B-6C4F-A141-95E0-24E1BA1E7947}"/>
              </a:ext>
            </a:extLst>
          </p:cNvPr>
          <p:cNvGrpSpPr/>
          <p:nvPr/>
        </p:nvGrpSpPr>
        <p:grpSpPr>
          <a:xfrm>
            <a:off x="4401903" y="1858357"/>
            <a:ext cx="377302" cy="377451"/>
            <a:chOff x="9820167" y="4500719"/>
            <a:chExt cx="421944" cy="422110"/>
          </a:xfrm>
        </p:grpSpPr>
        <p:sp>
          <p:nvSpPr>
            <p:cNvPr id="803" name="Google Shape;975;p54">
              <a:extLst>
                <a:ext uri="{FF2B5EF4-FFF2-40B4-BE49-F238E27FC236}">
                  <a16:creationId xmlns:a16="http://schemas.microsoft.com/office/drawing/2014/main" id="{9893A121-C1FE-49B3-EABF-CFB490701368}"/>
                </a:ext>
              </a:extLst>
            </p:cNvPr>
            <p:cNvSpPr/>
            <p:nvPr/>
          </p:nvSpPr>
          <p:spPr>
            <a:xfrm>
              <a:off x="9820167" y="4500719"/>
              <a:ext cx="421944" cy="422110"/>
            </a:xfrm>
            <a:custGeom>
              <a:avLst/>
              <a:gdLst/>
              <a:ahLst/>
              <a:cxnLst/>
              <a:rect l="l" t="t" r="r" b="b"/>
              <a:pathLst>
                <a:path w="421944" h="422110" extrusionOk="0">
                  <a:moveTo>
                    <a:pt x="421945" y="102031"/>
                  </a:moveTo>
                  <a:cubicBezTo>
                    <a:pt x="421945" y="98849"/>
                    <a:pt x="420720" y="95850"/>
                    <a:pt x="418456" y="93585"/>
                  </a:cubicBezTo>
                  <a:lnTo>
                    <a:pt x="328356" y="3489"/>
                  </a:lnTo>
                  <a:cubicBezTo>
                    <a:pt x="326091" y="1224"/>
                    <a:pt x="323092" y="0"/>
                    <a:pt x="319909" y="0"/>
                  </a:cubicBezTo>
                  <a:cubicBezTo>
                    <a:pt x="316726" y="0"/>
                    <a:pt x="313727" y="1224"/>
                    <a:pt x="311462" y="3489"/>
                  </a:cubicBezTo>
                  <a:lnTo>
                    <a:pt x="295731" y="19219"/>
                  </a:lnTo>
                  <a:cubicBezTo>
                    <a:pt x="293345" y="21606"/>
                    <a:pt x="293345" y="25523"/>
                    <a:pt x="295731" y="27971"/>
                  </a:cubicBezTo>
                  <a:cubicBezTo>
                    <a:pt x="298119" y="30359"/>
                    <a:pt x="302036" y="30359"/>
                    <a:pt x="304484" y="27971"/>
                  </a:cubicBezTo>
                  <a:lnTo>
                    <a:pt x="319909" y="12547"/>
                  </a:lnTo>
                  <a:lnTo>
                    <a:pt x="409458" y="102092"/>
                  </a:lnTo>
                  <a:lnTo>
                    <a:pt x="350330" y="161218"/>
                  </a:lnTo>
                  <a:lnTo>
                    <a:pt x="339435" y="150324"/>
                  </a:lnTo>
                  <a:lnTo>
                    <a:pt x="382036" y="107723"/>
                  </a:lnTo>
                  <a:cubicBezTo>
                    <a:pt x="384424" y="105337"/>
                    <a:pt x="384424" y="101419"/>
                    <a:pt x="382036" y="98971"/>
                  </a:cubicBezTo>
                  <a:cubicBezTo>
                    <a:pt x="379649" y="96584"/>
                    <a:pt x="375732" y="96584"/>
                    <a:pt x="373283" y="98971"/>
                  </a:cubicBezTo>
                  <a:lnTo>
                    <a:pt x="330682" y="141571"/>
                  </a:lnTo>
                  <a:lnTo>
                    <a:pt x="319786" y="130676"/>
                  </a:lnTo>
                  <a:lnTo>
                    <a:pt x="362388" y="88076"/>
                  </a:lnTo>
                  <a:cubicBezTo>
                    <a:pt x="364775" y="85689"/>
                    <a:pt x="364775" y="81772"/>
                    <a:pt x="362388" y="79324"/>
                  </a:cubicBezTo>
                  <a:cubicBezTo>
                    <a:pt x="360001" y="76937"/>
                    <a:pt x="356084" y="76937"/>
                    <a:pt x="353636" y="79324"/>
                  </a:cubicBezTo>
                  <a:lnTo>
                    <a:pt x="311034" y="121923"/>
                  </a:lnTo>
                  <a:lnTo>
                    <a:pt x="300139" y="111029"/>
                  </a:lnTo>
                  <a:lnTo>
                    <a:pt x="342740" y="68429"/>
                  </a:lnTo>
                  <a:cubicBezTo>
                    <a:pt x="345127" y="66042"/>
                    <a:pt x="345127" y="62125"/>
                    <a:pt x="342740" y="59676"/>
                  </a:cubicBezTo>
                  <a:cubicBezTo>
                    <a:pt x="340353" y="57290"/>
                    <a:pt x="336435" y="57290"/>
                    <a:pt x="333987" y="59676"/>
                  </a:cubicBezTo>
                  <a:lnTo>
                    <a:pt x="291386" y="102276"/>
                  </a:lnTo>
                  <a:lnTo>
                    <a:pt x="280491" y="91381"/>
                  </a:lnTo>
                  <a:lnTo>
                    <a:pt x="323092" y="48782"/>
                  </a:lnTo>
                  <a:cubicBezTo>
                    <a:pt x="325479" y="46394"/>
                    <a:pt x="325479" y="42478"/>
                    <a:pt x="323092" y="40029"/>
                  </a:cubicBezTo>
                  <a:cubicBezTo>
                    <a:pt x="320705" y="37642"/>
                    <a:pt x="316788" y="37642"/>
                    <a:pt x="314339" y="40029"/>
                  </a:cubicBezTo>
                  <a:lnTo>
                    <a:pt x="271737" y="82629"/>
                  </a:lnTo>
                  <a:lnTo>
                    <a:pt x="260842" y="71734"/>
                  </a:lnTo>
                  <a:lnTo>
                    <a:pt x="283918" y="48659"/>
                  </a:lnTo>
                  <a:cubicBezTo>
                    <a:pt x="286306" y="46272"/>
                    <a:pt x="286306" y="42355"/>
                    <a:pt x="283918" y="39907"/>
                  </a:cubicBezTo>
                  <a:cubicBezTo>
                    <a:pt x="281531" y="37519"/>
                    <a:pt x="277614" y="37519"/>
                    <a:pt x="275165" y="39907"/>
                  </a:cubicBezTo>
                  <a:lnTo>
                    <a:pt x="251538" y="63532"/>
                  </a:lnTo>
                  <a:cubicBezTo>
                    <a:pt x="248356" y="62370"/>
                    <a:pt x="244683" y="63043"/>
                    <a:pt x="242113" y="65553"/>
                  </a:cubicBezTo>
                  <a:lnTo>
                    <a:pt x="228524" y="79140"/>
                  </a:lnTo>
                  <a:cubicBezTo>
                    <a:pt x="225035" y="82629"/>
                    <a:pt x="225035" y="88260"/>
                    <a:pt x="228524" y="91687"/>
                  </a:cubicBezTo>
                  <a:lnTo>
                    <a:pt x="235318" y="98482"/>
                  </a:lnTo>
                  <a:lnTo>
                    <a:pt x="83152" y="250641"/>
                  </a:lnTo>
                  <a:cubicBezTo>
                    <a:pt x="80765" y="253028"/>
                    <a:pt x="80765" y="256945"/>
                    <a:pt x="83152" y="259393"/>
                  </a:cubicBezTo>
                  <a:cubicBezTo>
                    <a:pt x="85540" y="261780"/>
                    <a:pt x="89457" y="261780"/>
                    <a:pt x="91905" y="259393"/>
                  </a:cubicBezTo>
                  <a:lnTo>
                    <a:pt x="244071" y="107234"/>
                  </a:lnTo>
                  <a:lnTo>
                    <a:pt x="314829" y="177988"/>
                  </a:lnTo>
                  <a:lnTo>
                    <a:pt x="97782" y="395088"/>
                  </a:lnTo>
                  <a:cubicBezTo>
                    <a:pt x="78256" y="414613"/>
                    <a:pt x="46550" y="414613"/>
                    <a:pt x="27024" y="395088"/>
                  </a:cubicBezTo>
                  <a:cubicBezTo>
                    <a:pt x="7498" y="375564"/>
                    <a:pt x="7498" y="343858"/>
                    <a:pt x="27024" y="324334"/>
                  </a:cubicBezTo>
                  <a:lnTo>
                    <a:pt x="71339" y="280020"/>
                  </a:lnTo>
                  <a:cubicBezTo>
                    <a:pt x="73726" y="277633"/>
                    <a:pt x="73726" y="273716"/>
                    <a:pt x="71339" y="271267"/>
                  </a:cubicBezTo>
                  <a:cubicBezTo>
                    <a:pt x="68952" y="268880"/>
                    <a:pt x="65035" y="268880"/>
                    <a:pt x="62586" y="271267"/>
                  </a:cubicBezTo>
                  <a:lnTo>
                    <a:pt x="18271" y="315581"/>
                  </a:lnTo>
                  <a:cubicBezTo>
                    <a:pt x="-6090" y="339941"/>
                    <a:pt x="-6090" y="379480"/>
                    <a:pt x="18271" y="403840"/>
                  </a:cubicBezTo>
                  <a:cubicBezTo>
                    <a:pt x="42632" y="428201"/>
                    <a:pt x="82173" y="428201"/>
                    <a:pt x="106534" y="403840"/>
                  </a:cubicBezTo>
                  <a:lnTo>
                    <a:pt x="323582" y="186741"/>
                  </a:lnTo>
                  <a:lnTo>
                    <a:pt x="330376" y="193535"/>
                  </a:lnTo>
                  <a:cubicBezTo>
                    <a:pt x="333865" y="197024"/>
                    <a:pt x="339496" y="197024"/>
                    <a:pt x="342924" y="193535"/>
                  </a:cubicBezTo>
                  <a:lnTo>
                    <a:pt x="356512" y="179947"/>
                  </a:lnTo>
                  <a:cubicBezTo>
                    <a:pt x="359022" y="177376"/>
                    <a:pt x="359756" y="173704"/>
                    <a:pt x="358532" y="170522"/>
                  </a:cubicBezTo>
                  <a:lnTo>
                    <a:pt x="418517" y="110539"/>
                  </a:lnTo>
                  <a:cubicBezTo>
                    <a:pt x="420720" y="108275"/>
                    <a:pt x="421945" y="105275"/>
                    <a:pt x="421945" y="102031"/>
                  </a:cubicBezTo>
                  <a:lnTo>
                    <a:pt x="421945" y="102031"/>
                  </a:lnTo>
                  <a:close/>
                  <a:moveTo>
                    <a:pt x="336558" y="182334"/>
                  </a:moveTo>
                  <a:lnTo>
                    <a:pt x="239664" y="85445"/>
                  </a:lnTo>
                  <a:lnTo>
                    <a:pt x="248356" y="76753"/>
                  </a:lnTo>
                  <a:cubicBezTo>
                    <a:pt x="266657" y="95054"/>
                    <a:pt x="325724" y="154118"/>
                    <a:pt x="345250" y="173643"/>
                  </a:cubicBezTo>
                  <a:lnTo>
                    <a:pt x="336558" y="1823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976;p54">
              <a:extLst>
                <a:ext uri="{FF2B5EF4-FFF2-40B4-BE49-F238E27FC236}">
                  <a16:creationId xmlns:a16="http://schemas.microsoft.com/office/drawing/2014/main" id="{134F9D67-2E7A-958E-AD7C-9BC8F6F31453}"/>
                </a:ext>
              </a:extLst>
            </p:cNvPr>
            <p:cNvSpPr/>
            <p:nvPr/>
          </p:nvSpPr>
          <p:spPr>
            <a:xfrm>
              <a:off x="9873924" y="4647477"/>
              <a:ext cx="221362" cy="221414"/>
            </a:xfrm>
            <a:custGeom>
              <a:avLst/>
              <a:gdLst/>
              <a:ahLst/>
              <a:cxnLst/>
              <a:rect l="l" t="t" r="r" b="b"/>
              <a:pathLst>
                <a:path w="221362" h="221414" extrusionOk="0">
                  <a:moveTo>
                    <a:pt x="1791" y="177208"/>
                  </a:moveTo>
                  <a:cubicBezTo>
                    <a:pt x="-597" y="179595"/>
                    <a:pt x="-597" y="183513"/>
                    <a:pt x="1791" y="185961"/>
                  </a:cubicBezTo>
                  <a:cubicBezTo>
                    <a:pt x="4177" y="188348"/>
                    <a:pt x="8095" y="188348"/>
                    <a:pt x="10543" y="185961"/>
                  </a:cubicBezTo>
                  <a:cubicBezTo>
                    <a:pt x="21683" y="174821"/>
                    <a:pt x="33313" y="174270"/>
                    <a:pt x="46412" y="175005"/>
                  </a:cubicBezTo>
                  <a:cubicBezTo>
                    <a:pt x="46595" y="178126"/>
                    <a:pt x="46718" y="181126"/>
                    <a:pt x="46595" y="184063"/>
                  </a:cubicBezTo>
                  <a:lnTo>
                    <a:pt x="43290" y="180697"/>
                  </a:lnTo>
                  <a:cubicBezTo>
                    <a:pt x="40903" y="178310"/>
                    <a:pt x="36986" y="178310"/>
                    <a:pt x="34537" y="180697"/>
                  </a:cubicBezTo>
                  <a:cubicBezTo>
                    <a:pt x="32150" y="183084"/>
                    <a:pt x="32150" y="187001"/>
                    <a:pt x="34537" y="189449"/>
                  </a:cubicBezTo>
                  <a:lnTo>
                    <a:pt x="43780" y="198692"/>
                  </a:lnTo>
                  <a:cubicBezTo>
                    <a:pt x="42066" y="202854"/>
                    <a:pt x="39434" y="206893"/>
                    <a:pt x="35456" y="210872"/>
                  </a:cubicBezTo>
                  <a:cubicBezTo>
                    <a:pt x="33068" y="213259"/>
                    <a:pt x="33068" y="217176"/>
                    <a:pt x="35456" y="219625"/>
                  </a:cubicBezTo>
                  <a:cubicBezTo>
                    <a:pt x="37842" y="222011"/>
                    <a:pt x="41760" y="222011"/>
                    <a:pt x="44208" y="219625"/>
                  </a:cubicBezTo>
                  <a:cubicBezTo>
                    <a:pt x="56756" y="207077"/>
                    <a:pt x="59694" y="193612"/>
                    <a:pt x="58837" y="175800"/>
                  </a:cubicBezTo>
                  <a:cubicBezTo>
                    <a:pt x="73038" y="176474"/>
                    <a:pt x="88462" y="175433"/>
                    <a:pt x="102663" y="161172"/>
                  </a:cubicBezTo>
                  <a:cubicBezTo>
                    <a:pt x="116864" y="146972"/>
                    <a:pt x="117965" y="131548"/>
                    <a:pt x="117292" y="117348"/>
                  </a:cubicBezTo>
                  <a:cubicBezTo>
                    <a:pt x="135042" y="118205"/>
                    <a:pt x="148570" y="115329"/>
                    <a:pt x="161118" y="102720"/>
                  </a:cubicBezTo>
                  <a:cubicBezTo>
                    <a:pt x="173726" y="90111"/>
                    <a:pt x="176603" y="76585"/>
                    <a:pt x="175746" y="58896"/>
                  </a:cubicBezTo>
                  <a:cubicBezTo>
                    <a:pt x="189947" y="59570"/>
                    <a:pt x="205372" y="58529"/>
                    <a:pt x="219572" y="44268"/>
                  </a:cubicBezTo>
                  <a:cubicBezTo>
                    <a:pt x="221959" y="41881"/>
                    <a:pt x="221959" y="37963"/>
                    <a:pt x="219572" y="35515"/>
                  </a:cubicBezTo>
                  <a:cubicBezTo>
                    <a:pt x="217185" y="33128"/>
                    <a:pt x="213268" y="33128"/>
                    <a:pt x="210820" y="35515"/>
                  </a:cubicBezTo>
                  <a:cubicBezTo>
                    <a:pt x="199679" y="46655"/>
                    <a:pt x="188050" y="47206"/>
                    <a:pt x="174951" y="46471"/>
                  </a:cubicBezTo>
                  <a:cubicBezTo>
                    <a:pt x="174767" y="43350"/>
                    <a:pt x="174645" y="40351"/>
                    <a:pt x="174767" y="37413"/>
                  </a:cubicBezTo>
                  <a:lnTo>
                    <a:pt x="178134" y="40718"/>
                  </a:lnTo>
                  <a:cubicBezTo>
                    <a:pt x="180521" y="43105"/>
                    <a:pt x="184438" y="43105"/>
                    <a:pt x="186886" y="40718"/>
                  </a:cubicBezTo>
                  <a:cubicBezTo>
                    <a:pt x="189274" y="38331"/>
                    <a:pt x="189274" y="34413"/>
                    <a:pt x="186886" y="31965"/>
                  </a:cubicBezTo>
                  <a:lnTo>
                    <a:pt x="177644" y="22723"/>
                  </a:lnTo>
                  <a:cubicBezTo>
                    <a:pt x="179358" y="18561"/>
                    <a:pt x="181990" y="14521"/>
                    <a:pt x="185968" y="10543"/>
                  </a:cubicBezTo>
                  <a:cubicBezTo>
                    <a:pt x="188356" y="8156"/>
                    <a:pt x="188356" y="4239"/>
                    <a:pt x="185968" y="1790"/>
                  </a:cubicBezTo>
                  <a:cubicBezTo>
                    <a:pt x="183581" y="-597"/>
                    <a:pt x="179664" y="-597"/>
                    <a:pt x="177216" y="1790"/>
                  </a:cubicBezTo>
                  <a:cubicBezTo>
                    <a:pt x="164668" y="14338"/>
                    <a:pt x="161730" y="27803"/>
                    <a:pt x="162586" y="45614"/>
                  </a:cubicBezTo>
                  <a:cubicBezTo>
                    <a:pt x="148386" y="44941"/>
                    <a:pt x="132961" y="45982"/>
                    <a:pt x="118761" y="60243"/>
                  </a:cubicBezTo>
                  <a:cubicBezTo>
                    <a:pt x="104560" y="74504"/>
                    <a:pt x="103459" y="89867"/>
                    <a:pt x="104132" y="104066"/>
                  </a:cubicBezTo>
                  <a:cubicBezTo>
                    <a:pt x="86320" y="103210"/>
                    <a:pt x="72854" y="106148"/>
                    <a:pt x="60306" y="118695"/>
                  </a:cubicBezTo>
                  <a:cubicBezTo>
                    <a:pt x="47758" y="131242"/>
                    <a:pt x="44820" y="144769"/>
                    <a:pt x="45677" y="162519"/>
                  </a:cubicBezTo>
                  <a:cubicBezTo>
                    <a:pt x="31415" y="161906"/>
                    <a:pt x="15991" y="163009"/>
                    <a:pt x="1791" y="177208"/>
                  </a:cubicBezTo>
                  <a:lnTo>
                    <a:pt x="1791" y="177208"/>
                  </a:lnTo>
                  <a:close/>
                  <a:moveTo>
                    <a:pt x="127391" y="69057"/>
                  </a:moveTo>
                  <a:cubicBezTo>
                    <a:pt x="138531" y="57917"/>
                    <a:pt x="150161" y="57366"/>
                    <a:pt x="163260" y="58100"/>
                  </a:cubicBezTo>
                  <a:cubicBezTo>
                    <a:pt x="163443" y="61222"/>
                    <a:pt x="163566" y="64221"/>
                    <a:pt x="163443" y="67159"/>
                  </a:cubicBezTo>
                  <a:lnTo>
                    <a:pt x="160138" y="63854"/>
                  </a:lnTo>
                  <a:cubicBezTo>
                    <a:pt x="157751" y="61467"/>
                    <a:pt x="153834" y="61467"/>
                    <a:pt x="151385" y="63854"/>
                  </a:cubicBezTo>
                  <a:cubicBezTo>
                    <a:pt x="148998" y="66241"/>
                    <a:pt x="148998" y="70158"/>
                    <a:pt x="151385" y="72607"/>
                  </a:cubicBezTo>
                  <a:lnTo>
                    <a:pt x="160628" y="81848"/>
                  </a:lnTo>
                  <a:cubicBezTo>
                    <a:pt x="159587" y="84358"/>
                    <a:pt x="158180" y="86868"/>
                    <a:pt x="156404" y="89316"/>
                  </a:cubicBezTo>
                  <a:lnTo>
                    <a:pt x="141959" y="74871"/>
                  </a:lnTo>
                  <a:cubicBezTo>
                    <a:pt x="139572" y="72484"/>
                    <a:pt x="135654" y="72484"/>
                    <a:pt x="133206" y="74871"/>
                  </a:cubicBezTo>
                  <a:cubicBezTo>
                    <a:pt x="130819" y="77258"/>
                    <a:pt x="130819" y="81175"/>
                    <a:pt x="133206" y="83624"/>
                  </a:cubicBezTo>
                  <a:lnTo>
                    <a:pt x="147652" y="98068"/>
                  </a:lnTo>
                  <a:cubicBezTo>
                    <a:pt x="145203" y="99904"/>
                    <a:pt x="142693" y="101251"/>
                    <a:pt x="140184" y="102292"/>
                  </a:cubicBezTo>
                  <a:lnTo>
                    <a:pt x="130942" y="93049"/>
                  </a:lnTo>
                  <a:cubicBezTo>
                    <a:pt x="128554" y="90662"/>
                    <a:pt x="124637" y="90662"/>
                    <a:pt x="122188" y="93049"/>
                  </a:cubicBezTo>
                  <a:cubicBezTo>
                    <a:pt x="119802" y="95436"/>
                    <a:pt x="119802" y="99354"/>
                    <a:pt x="122188" y="101802"/>
                  </a:cubicBezTo>
                  <a:lnTo>
                    <a:pt x="125555" y="105169"/>
                  </a:lnTo>
                  <a:cubicBezTo>
                    <a:pt x="122617" y="105229"/>
                    <a:pt x="119618" y="105169"/>
                    <a:pt x="116496" y="104984"/>
                  </a:cubicBezTo>
                  <a:cubicBezTo>
                    <a:pt x="115700" y="91825"/>
                    <a:pt x="116252" y="80196"/>
                    <a:pt x="127391" y="69057"/>
                  </a:cubicBezTo>
                  <a:lnTo>
                    <a:pt x="127391" y="69057"/>
                  </a:lnTo>
                  <a:close/>
                  <a:moveTo>
                    <a:pt x="104866" y="116553"/>
                  </a:moveTo>
                  <a:cubicBezTo>
                    <a:pt x="105662" y="129712"/>
                    <a:pt x="105050" y="141341"/>
                    <a:pt x="93910" y="152419"/>
                  </a:cubicBezTo>
                  <a:cubicBezTo>
                    <a:pt x="82770" y="163559"/>
                    <a:pt x="71140" y="164110"/>
                    <a:pt x="58041" y="163376"/>
                  </a:cubicBezTo>
                  <a:cubicBezTo>
                    <a:pt x="57858" y="160254"/>
                    <a:pt x="57735" y="157255"/>
                    <a:pt x="57858" y="154317"/>
                  </a:cubicBezTo>
                  <a:lnTo>
                    <a:pt x="61163" y="157622"/>
                  </a:lnTo>
                  <a:cubicBezTo>
                    <a:pt x="63550" y="160009"/>
                    <a:pt x="67468" y="160009"/>
                    <a:pt x="69916" y="157622"/>
                  </a:cubicBezTo>
                  <a:cubicBezTo>
                    <a:pt x="72303" y="155235"/>
                    <a:pt x="72303" y="151318"/>
                    <a:pt x="69916" y="148870"/>
                  </a:cubicBezTo>
                  <a:lnTo>
                    <a:pt x="60673" y="139628"/>
                  </a:lnTo>
                  <a:cubicBezTo>
                    <a:pt x="61714" y="137118"/>
                    <a:pt x="63122" y="134609"/>
                    <a:pt x="64897" y="132160"/>
                  </a:cubicBezTo>
                  <a:lnTo>
                    <a:pt x="79342" y="146605"/>
                  </a:lnTo>
                  <a:cubicBezTo>
                    <a:pt x="81729" y="148992"/>
                    <a:pt x="85647" y="148992"/>
                    <a:pt x="88095" y="146605"/>
                  </a:cubicBezTo>
                  <a:cubicBezTo>
                    <a:pt x="90482" y="144218"/>
                    <a:pt x="90482" y="140301"/>
                    <a:pt x="88095" y="137852"/>
                  </a:cubicBezTo>
                  <a:lnTo>
                    <a:pt x="73650" y="123408"/>
                  </a:lnTo>
                  <a:cubicBezTo>
                    <a:pt x="76098" y="121572"/>
                    <a:pt x="78608" y="120225"/>
                    <a:pt x="81117" y="119184"/>
                  </a:cubicBezTo>
                  <a:lnTo>
                    <a:pt x="90360" y="128427"/>
                  </a:lnTo>
                  <a:cubicBezTo>
                    <a:pt x="92747" y="130814"/>
                    <a:pt x="96665" y="130814"/>
                    <a:pt x="99113" y="128427"/>
                  </a:cubicBezTo>
                  <a:cubicBezTo>
                    <a:pt x="101500" y="126040"/>
                    <a:pt x="101500" y="122122"/>
                    <a:pt x="99113" y="119674"/>
                  </a:cubicBezTo>
                  <a:lnTo>
                    <a:pt x="95807" y="116369"/>
                  </a:lnTo>
                  <a:cubicBezTo>
                    <a:pt x="98745" y="116308"/>
                    <a:pt x="101745" y="116369"/>
                    <a:pt x="104866" y="116553"/>
                  </a:cubicBezTo>
                  <a:lnTo>
                    <a:pt x="104866" y="1165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2" name="CasellaDiTesto 821">
            <a:extLst>
              <a:ext uri="{FF2B5EF4-FFF2-40B4-BE49-F238E27FC236}">
                <a16:creationId xmlns:a16="http://schemas.microsoft.com/office/drawing/2014/main" id="{C754B5C6-004C-0D00-CB76-AC636D0F9774}"/>
              </a:ext>
            </a:extLst>
          </p:cNvPr>
          <p:cNvSpPr txBox="1"/>
          <p:nvPr/>
        </p:nvSpPr>
        <p:spPr>
          <a:xfrm>
            <a:off x="3600191" y="2677364"/>
            <a:ext cx="18485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Sottosequenze di lunghezza k</a:t>
            </a:r>
          </a:p>
        </p:txBody>
      </p:sp>
      <p:sp>
        <p:nvSpPr>
          <p:cNvPr id="824" name="CasellaDiTesto 823">
            <a:extLst>
              <a:ext uri="{FF2B5EF4-FFF2-40B4-BE49-F238E27FC236}">
                <a16:creationId xmlns:a16="http://schemas.microsoft.com/office/drawing/2014/main" id="{68CE5412-1DE3-32EB-96D6-4378EEB9F2E9}"/>
              </a:ext>
            </a:extLst>
          </p:cNvPr>
          <p:cNvSpPr txBox="1"/>
          <p:nvPr/>
        </p:nvSpPr>
        <p:spPr>
          <a:xfrm>
            <a:off x="6463374" y="2677364"/>
            <a:ext cx="2615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Frequenza dei k-</a:t>
            </a:r>
            <a:r>
              <a:rPr lang="it-IT" sz="1000" dirty="0" err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mer</a:t>
            </a:r>
            <a:r>
              <a:rPr lang="it-IT" sz="10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 una matrice 2D</a:t>
            </a:r>
          </a:p>
        </p:txBody>
      </p:sp>
      <p:grpSp>
        <p:nvGrpSpPr>
          <p:cNvPr id="825" name="Google Shape;935;p54">
            <a:extLst>
              <a:ext uri="{FF2B5EF4-FFF2-40B4-BE49-F238E27FC236}">
                <a16:creationId xmlns:a16="http://schemas.microsoft.com/office/drawing/2014/main" id="{F08FB16C-EB8A-B443-564A-4DA0CB6499A2}"/>
              </a:ext>
            </a:extLst>
          </p:cNvPr>
          <p:cNvGrpSpPr/>
          <p:nvPr/>
        </p:nvGrpSpPr>
        <p:grpSpPr>
          <a:xfrm>
            <a:off x="7440918" y="1902314"/>
            <a:ext cx="377440" cy="372535"/>
            <a:chOff x="9820075" y="2478701"/>
            <a:chExt cx="422098" cy="416613"/>
          </a:xfrm>
        </p:grpSpPr>
        <p:sp>
          <p:nvSpPr>
            <p:cNvPr id="826" name="Google Shape;936;p54">
              <a:extLst>
                <a:ext uri="{FF2B5EF4-FFF2-40B4-BE49-F238E27FC236}">
                  <a16:creationId xmlns:a16="http://schemas.microsoft.com/office/drawing/2014/main" id="{8B189C24-28D6-ECDF-FB5B-017327055AF3}"/>
                </a:ext>
              </a:extLst>
            </p:cNvPr>
            <p:cNvSpPr/>
            <p:nvPr/>
          </p:nvSpPr>
          <p:spPr>
            <a:xfrm>
              <a:off x="9846456" y="2827936"/>
              <a:ext cx="45356" cy="67256"/>
            </a:xfrm>
            <a:custGeom>
              <a:avLst/>
              <a:gdLst/>
              <a:ahLst/>
              <a:cxnLst/>
              <a:rect l="l" t="t" r="r" b="b"/>
              <a:pathLst>
                <a:path w="45356" h="67256" extrusionOk="0">
                  <a:moveTo>
                    <a:pt x="23321" y="10"/>
                  </a:moveTo>
                  <a:cubicBezTo>
                    <a:pt x="10528" y="-357"/>
                    <a:pt x="0" y="9925"/>
                    <a:pt x="0" y="22656"/>
                  </a:cubicBezTo>
                  <a:lnTo>
                    <a:pt x="0" y="60787"/>
                  </a:lnTo>
                  <a:cubicBezTo>
                    <a:pt x="0" y="63970"/>
                    <a:pt x="2265" y="66786"/>
                    <a:pt x="5387" y="67153"/>
                  </a:cubicBezTo>
                  <a:cubicBezTo>
                    <a:pt x="9120" y="67582"/>
                    <a:pt x="12364" y="64705"/>
                    <a:pt x="12364" y="61033"/>
                  </a:cubicBezTo>
                  <a:lnTo>
                    <a:pt x="12364" y="39855"/>
                  </a:lnTo>
                  <a:lnTo>
                    <a:pt x="32992" y="39855"/>
                  </a:lnTo>
                  <a:lnTo>
                    <a:pt x="32992" y="60849"/>
                  </a:lnTo>
                  <a:cubicBezTo>
                    <a:pt x="32992" y="64032"/>
                    <a:pt x="35257" y="66847"/>
                    <a:pt x="38378" y="67214"/>
                  </a:cubicBezTo>
                  <a:cubicBezTo>
                    <a:pt x="42112" y="67643"/>
                    <a:pt x="45356" y="64766"/>
                    <a:pt x="45356" y="61094"/>
                  </a:cubicBezTo>
                  <a:lnTo>
                    <a:pt x="45356" y="23268"/>
                  </a:lnTo>
                  <a:cubicBezTo>
                    <a:pt x="45295" y="10843"/>
                    <a:pt x="35624" y="377"/>
                    <a:pt x="23321" y="10"/>
                  </a:cubicBezTo>
                  <a:close/>
                  <a:moveTo>
                    <a:pt x="12364" y="27491"/>
                  </a:moveTo>
                  <a:lnTo>
                    <a:pt x="12364" y="23145"/>
                  </a:lnTo>
                  <a:cubicBezTo>
                    <a:pt x="12364" y="17759"/>
                    <a:pt x="16343" y="12985"/>
                    <a:pt x="21729" y="12496"/>
                  </a:cubicBezTo>
                  <a:cubicBezTo>
                    <a:pt x="27850" y="11945"/>
                    <a:pt x="32992" y="16780"/>
                    <a:pt x="32992" y="22839"/>
                  </a:cubicBezTo>
                  <a:lnTo>
                    <a:pt x="32992" y="27430"/>
                  </a:lnTo>
                  <a:lnTo>
                    <a:pt x="12364" y="274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937;p54">
              <a:extLst>
                <a:ext uri="{FF2B5EF4-FFF2-40B4-BE49-F238E27FC236}">
                  <a16:creationId xmlns:a16="http://schemas.microsoft.com/office/drawing/2014/main" id="{AD3DBAE5-F683-903C-E181-8A5A64A3AFA8}"/>
                </a:ext>
              </a:extLst>
            </p:cNvPr>
            <p:cNvSpPr/>
            <p:nvPr/>
          </p:nvSpPr>
          <p:spPr>
            <a:xfrm>
              <a:off x="9820075" y="2781245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85693" y="23871"/>
                  </a:moveTo>
                  <a:lnTo>
                    <a:pt x="12303" y="23871"/>
                  </a:lnTo>
                  <a:lnTo>
                    <a:pt x="12303" y="12302"/>
                  </a:lnTo>
                  <a:lnTo>
                    <a:pt x="85693" y="12302"/>
                  </a:lnTo>
                  <a:lnTo>
                    <a:pt x="85693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938;p54">
              <a:extLst>
                <a:ext uri="{FF2B5EF4-FFF2-40B4-BE49-F238E27FC236}">
                  <a16:creationId xmlns:a16="http://schemas.microsoft.com/office/drawing/2014/main" id="{A2D3B5AF-E38D-7758-4EEB-5B447D18BAEC}"/>
                </a:ext>
              </a:extLst>
            </p:cNvPr>
            <p:cNvSpPr/>
            <p:nvPr/>
          </p:nvSpPr>
          <p:spPr>
            <a:xfrm>
              <a:off x="9820075" y="273093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693" y="23932"/>
                  </a:moveTo>
                  <a:lnTo>
                    <a:pt x="41194" y="23932"/>
                  </a:lnTo>
                  <a:lnTo>
                    <a:pt x="41194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939;p54">
              <a:extLst>
                <a:ext uri="{FF2B5EF4-FFF2-40B4-BE49-F238E27FC236}">
                  <a16:creationId xmlns:a16="http://schemas.microsoft.com/office/drawing/2014/main" id="{1EAB0477-30F4-CCF6-3AF7-2355B895456F}"/>
                </a:ext>
              </a:extLst>
            </p:cNvPr>
            <p:cNvSpPr/>
            <p:nvPr/>
          </p:nvSpPr>
          <p:spPr>
            <a:xfrm>
              <a:off x="9820075" y="268068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21"/>
                    <a:pt x="94935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693" y="23871"/>
                  </a:moveTo>
                  <a:lnTo>
                    <a:pt x="41194" y="23871"/>
                  </a:lnTo>
                  <a:lnTo>
                    <a:pt x="41194" y="12302"/>
                  </a:lnTo>
                  <a:lnTo>
                    <a:pt x="85693" y="12302"/>
                  </a:lnTo>
                  <a:lnTo>
                    <a:pt x="85693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940;p54">
              <a:extLst>
                <a:ext uri="{FF2B5EF4-FFF2-40B4-BE49-F238E27FC236}">
                  <a16:creationId xmlns:a16="http://schemas.microsoft.com/office/drawing/2014/main" id="{60FA2660-B784-569B-BC51-1138E8ED1370}"/>
                </a:ext>
              </a:extLst>
            </p:cNvPr>
            <p:cNvSpPr/>
            <p:nvPr/>
          </p:nvSpPr>
          <p:spPr>
            <a:xfrm>
              <a:off x="9820075" y="263037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693" y="23932"/>
                  </a:moveTo>
                  <a:lnTo>
                    <a:pt x="69227" y="23932"/>
                  </a:lnTo>
                  <a:lnTo>
                    <a:pt x="69227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941;p54">
              <a:extLst>
                <a:ext uri="{FF2B5EF4-FFF2-40B4-BE49-F238E27FC236}">
                  <a16:creationId xmlns:a16="http://schemas.microsoft.com/office/drawing/2014/main" id="{0E1F3806-1C95-1397-1A50-B1C21A801022}"/>
                </a:ext>
              </a:extLst>
            </p:cNvPr>
            <p:cNvSpPr/>
            <p:nvPr/>
          </p:nvSpPr>
          <p:spPr>
            <a:xfrm>
              <a:off x="9820075" y="2580059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0" y="36296"/>
                  </a:cubicBezTo>
                  <a:lnTo>
                    <a:pt x="91018" y="36296"/>
                  </a:lnTo>
                  <a:cubicBezTo>
                    <a:pt x="94935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935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693" y="23932"/>
                  </a:moveTo>
                  <a:lnTo>
                    <a:pt x="69227" y="23932"/>
                  </a:lnTo>
                  <a:lnTo>
                    <a:pt x="69227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942;p54">
              <a:extLst>
                <a:ext uri="{FF2B5EF4-FFF2-40B4-BE49-F238E27FC236}">
                  <a16:creationId xmlns:a16="http://schemas.microsoft.com/office/drawing/2014/main" id="{A5338100-98D9-6DF2-19E7-50EEB1DBE3E0}"/>
                </a:ext>
              </a:extLst>
            </p:cNvPr>
            <p:cNvSpPr/>
            <p:nvPr/>
          </p:nvSpPr>
          <p:spPr>
            <a:xfrm>
              <a:off x="9820075" y="252895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0" y="36296"/>
                  </a:cubicBezTo>
                  <a:lnTo>
                    <a:pt x="91018" y="36296"/>
                  </a:lnTo>
                  <a:cubicBezTo>
                    <a:pt x="94935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693" y="23932"/>
                  </a:moveTo>
                  <a:lnTo>
                    <a:pt x="41194" y="23932"/>
                  </a:lnTo>
                  <a:lnTo>
                    <a:pt x="41194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943;p54">
              <a:extLst>
                <a:ext uri="{FF2B5EF4-FFF2-40B4-BE49-F238E27FC236}">
                  <a16:creationId xmlns:a16="http://schemas.microsoft.com/office/drawing/2014/main" id="{5FA76E1C-6302-D32A-A2E1-0D3E72844A08}"/>
                </a:ext>
              </a:extLst>
            </p:cNvPr>
            <p:cNvSpPr/>
            <p:nvPr/>
          </p:nvSpPr>
          <p:spPr>
            <a:xfrm>
              <a:off x="9820075" y="247870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0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5"/>
                  </a:lnTo>
                  <a:cubicBezTo>
                    <a:pt x="0" y="33112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2"/>
                    <a:pt x="98118" y="29195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693" y="23871"/>
                  </a:moveTo>
                  <a:lnTo>
                    <a:pt x="69227" y="23871"/>
                  </a:lnTo>
                  <a:lnTo>
                    <a:pt x="69227" y="12302"/>
                  </a:lnTo>
                  <a:lnTo>
                    <a:pt x="85693" y="12302"/>
                  </a:lnTo>
                  <a:lnTo>
                    <a:pt x="85693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944;p54">
              <a:extLst>
                <a:ext uri="{FF2B5EF4-FFF2-40B4-BE49-F238E27FC236}">
                  <a16:creationId xmlns:a16="http://schemas.microsoft.com/office/drawing/2014/main" id="{F7066DE1-1AB0-FA86-D46A-A41B68703BF9}"/>
                </a:ext>
              </a:extLst>
            </p:cNvPr>
            <p:cNvSpPr/>
            <p:nvPr/>
          </p:nvSpPr>
          <p:spPr>
            <a:xfrm>
              <a:off x="9954429" y="2827889"/>
              <a:ext cx="45558" cy="67161"/>
            </a:xfrm>
            <a:custGeom>
              <a:avLst/>
              <a:gdLst/>
              <a:ahLst/>
              <a:cxnLst/>
              <a:rect l="l" t="t" r="r" b="b"/>
              <a:pathLst>
                <a:path w="45558" h="67161" extrusionOk="0">
                  <a:moveTo>
                    <a:pt x="13221" y="16888"/>
                  </a:moveTo>
                  <a:cubicBezTo>
                    <a:pt x="22831" y="7034"/>
                    <a:pt x="34706" y="14869"/>
                    <a:pt x="33053" y="24601"/>
                  </a:cubicBezTo>
                  <a:cubicBezTo>
                    <a:pt x="32930" y="25151"/>
                    <a:pt x="33175" y="25702"/>
                    <a:pt x="33542" y="26131"/>
                  </a:cubicBezTo>
                  <a:cubicBezTo>
                    <a:pt x="38929" y="31761"/>
                    <a:pt x="45540" y="28028"/>
                    <a:pt x="45540" y="22764"/>
                  </a:cubicBezTo>
                  <a:cubicBezTo>
                    <a:pt x="45540" y="3484"/>
                    <a:pt x="21423" y="-10287"/>
                    <a:pt x="1775" y="10033"/>
                  </a:cubicBezTo>
                  <a:cubicBezTo>
                    <a:pt x="612" y="11196"/>
                    <a:pt x="0" y="12849"/>
                    <a:pt x="0" y="14502"/>
                  </a:cubicBezTo>
                  <a:lnTo>
                    <a:pt x="0" y="52694"/>
                  </a:lnTo>
                  <a:cubicBezTo>
                    <a:pt x="0" y="54347"/>
                    <a:pt x="612" y="55938"/>
                    <a:pt x="1775" y="57162"/>
                  </a:cubicBezTo>
                  <a:cubicBezTo>
                    <a:pt x="22341" y="78340"/>
                    <a:pt x="47682" y="62365"/>
                    <a:pt x="45417" y="41799"/>
                  </a:cubicBezTo>
                  <a:cubicBezTo>
                    <a:pt x="45356" y="41432"/>
                    <a:pt x="45172" y="41004"/>
                    <a:pt x="44928" y="40759"/>
                  </a:cubicBezTo>
                  <a:cubicBezTo>
                    <a:pt x="39602" y="35556"/>
                    <a:pt x="33236" y="39229"/>
                    <a:pt x="33236" y="44431"/>
                  </a:cubicBezTo>
                  <a:cubicBezTo>
                    <a:pt x="33236" y="53245"/>
                    <a:pt x="22280" y="59488"/>
                    <a:pt x="13282" y="50307"/>
                  </a:cubicBezTo>
                  <a:cubicBezTo>
                    <a:pt x="12731" y="49756"/>
                    <a:pt x="12425" y="48961"/>
                    <a:pt x="12425" y="48165"/>
                  </a:cubicBezTo>
                  <a:cubicBezTo>
                    <a:pt x="12425" y="43207"/>
                    <a:pt x="12425" y="23989"/>
                    <a:pt x="12425" y="19030"/>
                  </a:cubicBezTo>
                  <a:cubicBezTo>
                    <a:pt x="12364" y="18235"/>
                    <a:pt x="12670" y="17500"/>
                    <a:pt x="13221" y="168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945;p54">
              <a:extLst>
                <a:ext uri="{FF2B5EF4-FFF2-40B4-BE49-F238E27FC236}">
                  <a16:creationId xmlns:a16="http://schemas.microsoft.com/office/drawing/2014/main" id="{D943E049-A078-DAA2-AE09-793AF86844D3}"/>
                </a:ext>
              </a:extLst>
            </p:cNvPr>
            <p:cNvSpPr/>
            <p:nvPr/>
          </p:nvSpPr>
          <p:spPr>
            <a:xfrm>
              <a:off x="9928048" y="2781245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2" y="36295"/>
                    <a:pt x="7100" y="36295"/>
                  </a:cubicBezTo>
                  <a:lnTo>
                    <a:pt x="91017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  <a:moveTo>
                    <a:pt x="85754" y="23871"/>
                  </a:moveTo>
                  <a:lnTo>
                    <a:pt x="12364" y="23871"/>
                  </a:lnTo>
                  <a:lnTo>
                    <a:pt x="12364" y="12302"/>
                  </a:lnTo>
                  <a:lnTo>
                    <a:pt x="85754" y="12302"/>
                  </a:lnTo>
                  <a:lnTo>
                    <a:pt x="85754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946;p54">
              <a:extLst>
                <a:ext uri="{FF2B5EF4-FFF2-40B4-BE49-F238E27FC236}">
                  <a16:creationId xmlns:a16="http://schemas.microsoft.com/office/drawing/2014/main" id="{4B494B5C-4E7D-F01E-AACA-E99361ED3E08}"/>
                </a:ext>
              </a:extLst>
            </p:cNvPr>
            <p:cNvSpPr/>
            <p:nvPr/>
          </p:nvSpPr>
          <p:spPr>
            <a:xfrm>
              <a:off x="9928048" y="273093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50191" y="0"/>
                  </a:lnTo>
                  <a:cubicBezTo>
                    <a:pt x="47008" y="0"/>
                    <a:pt x="44192" y="2265"/>
                    <a:pt x="43825" y="5386"/>
                  </a:cubicBezTo>
                  <a:cubicBezTo>
                    <a:pt x="43397" y="9120"/>
                    <a:pt x="46274" y="12364"/>
                    <a:pt x="49946" y="12364"/>
                  </a:cubicBezTo>
                  <a:lnTo>
                    <a:pt x="85754" y="12364"/>
                  </a:lnTo>
                  <a:lnTo>
                    <a:pt x="85754" y="23932"/>
                  </a:lnTo>
                  <a:lnTo>
                    <a:pt x="12364" y="23932"/>
                  </a:lnTo>
                  <a:lnTo>
                    <a:pt x="12364" y="12364"/>
                  </a:lnTo>
                  <a:lnTo>
                    <a:pt x="20811" y="12364"/>
                  </a:lnTo>
                  <a:cubicBezTo>
                    <a:pt x="23993" y="12364"/>
                    <a:pt x="26809" y="10099"/>
                    <a:pt x="27176" y="6978"/>
                  </a:cubicBezTo>
                  <a:cubicBezTo>
                    <a:pt x="27605" y="3244"/>
                    <a:pt x="24728" y="0"/>
                    <a:pt x="21056" y="0"/>
                  </a:cubicBez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2" y="36295"/>
                    <a:pt x="7100" y="36295"/>
                  </a:cubicBezTo>
                  <a:lnTo>
                    <a:pt x="91017" y="36295"/>
                  </a:lnTo>
                  <a:cubicBezTo>
                    <a:pt x="94935" y="36295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947;p54">
              <a:extLst>
                <a:ext uri="{FF2B5EF4-FFF2-40B4-BE49-F238E27FC236}">
                  <a16:creationId xmlns:a16="http://schemas.microsoft.com/office/drawing/2014/main" id="{2550DEA1-B0AD-6CE1-4A5B-B9CE32DA3D4D}"/>
                </a:ext>
              </a:extLst>
            </p:cNvPr>
            <p:cNvSpPr/>
            <p:nvPr/>
          </p:nvSpPr>
          <p:spPr>
            <a:xfrm>
              <a:off x="9928048" y="268068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2" y="36295"/>
                    <a:pt x="7100" y="36295"/>
                  </a:cubicBezTo>
                  <a:lnTo>
                    <a:pt x="91017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21"/>
                    <a:pt x="94935" y="0"/>
                    <a:pt x="91017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754" y="23871"/>
                  </a:moveTo>
                  <a:lnTo>
                    <a:pt x="69288" y="23871"/>
                  </a:lnTo>
                  <a:lnTo>
                    <a:pt x="69288" y="12302"/>
                  </a:lnTo>
                  <a:lnTo>
                    <a:pt x="85754" y="12302"/>
                  </a:lnTo>
                  <a:lnTo>
                    <a:pt x="85754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948;p54">
              <a:extLst>
                <a:ext uri="{FF2B5EF4-FFF2-40B4-BE49-F238E27FC236}">
                  <a16:creationId xmlns:a16="http://schemas.microsoft.com/office/drawing/2014/main" id="{D711DAC7-A3FA-77CD-6A83-9682F8A96092}"/>
                </a:ext>
              </a:extLst>
            </p:cNvPr>
            <p:cNvSpPr/>
            <p:nvPr/>
          </p:nvSpPr>
          <p:spPr>
            <a:xfrm>
              <a:off x="9928048" y="263037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2" y="36295"/>
                    <a:pt x="7100" y="36295"/>
                  </a:cubicBezTo>
                  <a:lnTo>
                    <a:pt x="91017" y="36295"/>
                  </a:lnTo>
                  <a:cubicBezTo>
                    <a:pt x="94935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754" y="23932"/>
                  </a:moveTo>
                  <a:lnTo>
                    <a:pt x="69288" y="23932"/>
                  </a:lnTo>
                  <a:lnTo>
                    <a:pt x="69288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949;p54">
              <a:extLst>
                <a:ext uri="{FF2B5EF4-FFF2-40B4-BE49-F238E27FC236}">
                  <a16:creationId xmlns:a16="http://schemas.microsoft.com/office/drawing/2014/main" id="{254EA579-E604-7522-53C5-D5D2F0F386B1}"/>
                </a:ext>
              </a:extLst>
            </p:cNvPr>
            <p:cNvSpPr/>
            <p:nvPr/>
          </p:nvSpPr>
          <p:spPr>
            <a:xfrm>
              <a:off x="9928048" y="2580059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2" y="36296"/>
                    <a:pt x="7100" y="36296"/>
                  </a:cubicBezTo>
                  <a:lnTo>
                    <a:pt x="91017" y="36296"/>
                  </a:lnTo>
                  <a:cubicBezTo>
                    <a:pt x="94935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  <a:moveTo>
                    <a:pt x="12364" y="12364"/>
                  </a:moveTo>
                  <a:lnTo>
                    <a:pt x="28829" y="12364"/>
                  </a:lnTo>
                  <a:lnTo>
                    <a:pt x="28829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0398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40398" y="23932"/>
                  </a:lnTo>
                  <a:lnTo>
                    <a:pt x="40398" y="12364"/>
                  </a:lnTo>
                  <a:close/>
                  <a:moveTo>
                    <a:pt x="85754" y="23932"/>
                  </a:moveTo>
                  <a:lnTo>
                    <a:pt x="69288" y="23932"/>
                  </a:lnTo>
                  <a:lnTo>
                    <a:pt x="69288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950;p54">
              <a:extLst>
                <a:ext uri="{FF2B5EF4-FFF2-40B4-BE49-F238E27FC236}">
                  <a16:creationId xmlns:a16="http://schemas.microsoft.com/office/drawing/2014/main" id="{E45E4E5F-038E-55D1-C781-0740DA965A0E}"/>
                </a:ext>
              </a:extLst>
            </p:cNvPr>
            <p:cNvSpPr/>
            <p:nvPr/>
          </p:nvSpPr>
          <p:spPr>
            <a:xfrm>
              <a:off x="9928048" y="252895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2" y="36296"/>
                    <a:pt x="7100" y="36296"/>
                  </a:cubicBezTo>
                  <a:lnTo>
                    <a:pt x="91017" y="36296"/>
                  </a:lnTo>
                  <a:cubicBezTo>
                    <a:pt x="94935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  <a:moveTo>
                    <a:pt x="12364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754" y="23932"/>
                  </a:moveTo>
                  <a:lnTo>
                    <a:pt x="69288" y="23932"/>
                  </a:lnTo>
                  <a:lnTo>
                    <a:pt x="69288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951;p54">
              <a:extLst>
                <a:ext uri="{FF2B5EF4-FFF2-40B4-BE49-F238E27FC236}">
                  <a16:creationId xmlns:a16="http://schemas.microsoft.com/office/drawing/2014/main" id="{619CA468-4791-E5FB-8FFC-C8DC66784325}"/>
                </a:ext>
              </a:extLst>
            </p:cNvPr>
            <p:cNvSpPr/>
            <p:nvPr/>
          </p:nvSpPr>
          <p:spPr>
            <a:xfrm>
              <a:off x="9928048" y="2478701"/>
              <a:ext cx="98057" cy="36295"/>
            </a:xfrm>
            <a:custGeom>
              <a:avLst/>
              <a:gdLst/>
              <a:ahLst/>
              <a:cxnLst/>
              <a:rect l="l" t="t" r="r" b="b"/>
              <a:pathLst>
                <a:path w="98057" h="36295" extrusionOk="0">
                  <a:moveTo>
                    <a:pt x="91017" y="0"/>
                  </a:moveTo>
                  <a:lnTo>
                    <a:pt x="7100" y="0"/>
                  </a:lnTo>
                  <a:cubicBezTo>
                    <a:pt x="3182" y="0"/>
                    <a:pt x="0" y="3183"/>
                    <a:pt x="0" y="7100"/>
                  </a:cubicBezTo>
                  <a:lnTo>
                    <a:pt x="0" y="29807"/>
                  </a:lnTo>
                  <a:cubicBezTo>
                    <a:pt x="0" y="33358"/>
                    <a:pt x="2876" y="36295"/>
                    <a:pt x="6488" y="36295"/>
                  </a:cubicBezTo>
                  <a:lnTo>
                    <a:pt x="28462" y="36295"/>
                  </a:lnTo>
                  <a:cubicBezTo>
                    <a:pt x="30666" y="36295"/>
                    <a:pt x="32747" y="35132"/>
                    <a:pt x="33665" y="33174"/>
                  </a:cubicBezTo>
                  <a:cubicBezTo>
                    <a:pt x="35929" y="28522"/>
                    <a:pt x="32624" y="23932"/>
                    <a:pt x="28217" y="23932"/>
                  </a:cubicBezTo>
                  <a:lnTo>
                    <a:pt x="12303" y="23932"/>
                  </a:lnTo>
                  <a:lnTo>
                    <a:pt x="12303" y="12364"/>
                  </a:lnTo>
                  <a:lnTo>
                    <a:pt x="85693" y="12364"/>
                  </a:lnTo>
                  <a:lnTo>
                    <a:pt x="85693" y="23932"/>
                  </a:lnTo>
                  <a:lnTo>
                    <a:pt x="57537" y="23932"/>
                  </a:lnTo>
                  <a:cubicBezTo>
                    <a:pt x="54354" y="23932"/>
                    <a:pt x="51538" y="26196"/>
                    <a:pt x="51171" y="29318"/>
                  </a:cubicBezTo>
                  <a:cubicBezTo>
                    <a:pt x="50742" y="33052"/>
                    <a:pt x="53619" y="36295"/>
                    <a:pt x="57291" y="36295"/>
                  </a:cubicBezTo>
                  <a:lnTo>
                    <a:pt x="90956" y="36295"/>
                  </a:lnTo>
                  <a:cubicBezTo>
                    <a:pt x="94874" y="36295"/>
                    <a:pt x="98056" y="33112"/>
                    <a:pt x="98056" y="29195"/>
                  </a:cubicBezTo>
                  <a:lnTo>
                    <a:pt x="98056" y="7100"/>
                  </a:lnTo>
                  <a:cubicBezTo>
                    <a:pt x="98118" y="3183"/>
                    <a:pt x="94935" y="0"/>
                    <a:pt x="910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952;p54">
              <a:extLst>
                <a:ext uri="{FF2B5EF4-FFF2-40B4-BE49-F238E27FC236}">
                  <a16:creationId xmlns:a16="http://schemas.microsoft.com/office/drawing/2014/main" id="{96BA56BB-C019-4835-670F-5B53758794A6}"/>
                </a:ext>
              </a:extLst>
            </p:cNvPr>
            <p:cNvSpPr/>
            <p:nvPr/>
          </p:nvSpPr>
          <p:spPr>
            <a:xfrm>
              <a:off x="10036021" y="2781245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85754" y="23871"/>
                  </a:moveTo>
                  <a:lnTo>
                    <a:pt x="12364" y="23871"/>
                  </a:lnTo>
                  <a:lnTo>
                    <a:pt x="12364" y="12302"/>
                  </a:lnTo>
                  <a:lnTo>
                    <a:pt x="85754" y="12302"/>
                  </a:lnTo>
                  <a:lnTo>
                    <a:pt x="85754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953;p54">
              <a:extLst>
                <a:ext uri="{FF2B5EF4-FFF2-40B4-BE49-F238E27FC236}">
                  <a16:creationId xmlns:a16="http://schemas.microsoft.com/office/drawing/2014/main" id="{459AE415-3D9B-6A8C-24F4-5A1EB12B08B5}"/>
                </a:ext>
              </a:extLst>
            </p:cNvPr>
            <p:cNvSpPr/>
            <p:nvPr/>
          </p:nvSpPr>
          <p:spPr>
            <a:xfrm>
              <a:off x="10036021" y="273093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85754" y="23932"/>
                  </a:moveTo>
                  <a:lnTo>
                    <a:pt x="12364" y="23932"/>
                  </a:lnTo>
                  <a:lnTo>
                    <a:pt x="12364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954;p54">
              <a:extLst>
                <a:ext uri="{FF2B5EF4-FFF2-40B4-BE49-F238E27FC236}">
                  <a16:creationId xmlns:a16="http://schemas.microsoft.com/office/drawing/2014/main" id="{67991E39-3C3E-7142-9C7C-F9C8A17432C6}"/>
                </a:ext>
              </a:extLst>
            </p:cNvPr>
            <p:cNvSpPr/>
            <p:nvPr/>
          </p:nvSpPr>
          <p:spPr>
            <a:xfrm>
              <a:off x="10036021" y="268068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5899" y="0"/>
                  </a:lnTo>
                  <a:cubicBezTo>
                    <a:pt x="72716" y="0"/>
                    <a:pt x="69901" y="2265"/>
                    <a:pt x="69534" y="5386"/>
                  </a:cubicBezTo>
                  <a:cubicBezTo>
                    <a:pt x="69105" y="9119"/>
                    <a:pt x="71982" y="12364"/>
                    <a:pt x="75655" y="12364"/>
                  </a:cubicBezTo>
                  <a:lnTo>
                    <a:pt x="85754" y="12364"/>
                  </a:lnTo>
                  <a:lnTo>
                    <a:pt x="85754" y="23932"/>
                  </a:lnTo>
                  <a:lnTo>
                    <a:pt x="41255" y="23932"/>
                  </a:lnTo>
                  <a:lnTo>
                    <a:pt x="41255" y="12364"/>
                  </a:lnTo>
                  <a:lnTo>
                    <a:pt x="46825" y="12364"/>
                  </a:lnTo>
                  <a:cubicBezTo>
                    <a:pt x="50008" y="12364"/>
                    <a:pt x="52823" y="10099"/>
                    <a:pt x="53191" y="6977"/>
                  </a:cubicBezTo>
                  <a:cubicBezTo>
                    <a:pt x="53620" y="3244"/>
                    <a:pt x="50743" y="0"/>
                    <a:pt x="47070" y="0"/>
                  </a:cubicBez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lnTo>
                    <a:pt x="91018" y="0"/>
                  </a:ln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955;p54">
              <a:extLst>
                <a:ext uri="{FF2B5EF4-FFF2-40B4-BE49-F238E27FC236}">
                  <a16:creationId xmlns:a16="http://schemas.microsoft.com/office/drawing/2014/main" id="{574D7574-C781-4901-E09C-F0C55374F257}"/>
                </a:ext>
              </a:extLst>
            </p:cNvPr>
            <p:cNvSpPr/>
            <p:nvPr/>
          </p:nvSpPr>
          <p:spPr>
            <a:xfrm>
              <a:off x="10036021" y="263037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754" y="23932"/>
                  </a:moveTo>
                  <a:lnTo>
                    <a:pt x="69289" y="23932"/>
                  </a:lnTo>
                  <a:lnTo>
                    <a:pt x="69289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956;p54">
              <a:extLst>
                <a:ext uri="{FF2B5EF4-FFF2-40B4-BE49-F238E27FC236}">
                  <a16:creationId xmlns:a16="http://schemas.microsoft.com/office/drawing/2014/main" id="{8A0C9F9D-79E5-6BB5-1E30-9FDD8ACF22B9}"/>
                </a:ext>
              </a:extLst>
            </p:cNvPr>
            <p:cNvSpPr/>
            <p:nvPr/>
          </p:nvSpPr>
          <p:spPr>
            <a:xfrm>
              <a:off x="10036021" y="2580059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1" y="36296"/>
                  </a:cubicBezTo>
                  <a:lnTo>
                    <a:pt x="91018" y="36296"/>
                  </a:lnTo>
                  <a:cubicBezTo>
                    <a:pt x="94936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1255" y="12364"/>
                  </a:moveTo>
                  <a:lnTo>
                    <a:pt x="57720" y="12364"/>
                  </a:lnTo>
                  <a:lnTo>
                    <a:pt x="57720" y="23932"/>
                  </a:lnTo>
                  <a:lnTo>
                    <a:pt x="41255" y="23932"/>
                  </a:lnTo>
                  <a:lnTo>
                    <a:pt x="41255" y="12364"/>
                  </a:lnTo>
                  <a:close/>
                  <a:moveTo>
                    <a:pt x="85754" y="23932"/>
                  </a:moveTo>
                  <a:lnTo>
                    <a:pt x="69289" y="23932"/>
                  </a:lnTo>
                  <a:lnTo>
                    <a:pt x="69289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957;p54">
              <a:extLst>
                <a:ext uri="{FF2B5EF4-FFF2-40B4-BE49-F238E27FC236}">
                  <a16:creationId xmlns:a16="http://schemas.microsoft.com/office/drawing/2014/main" id="{BADEC05E-A465-87E6-5F15-D0855CF527AF}"/>
                </a:ext>
              </a:extLst>
            </p:cNvPr>
            <p:cNvSpPr/>
            <p:nvPr/>
          </p:nvSpPr>
          <p:spPr>
            <a:xfrm>
              <a:off x="10036021" y="252895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1" y="36296"/>
                  </a:cubicBezTo>
                  <a:lnTo>
                    <a:pt x="91018" y="36296"/>
                  </a:lnTo>
                  <a:cubicBezTo>
                    <a:pt x="94936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754" y="23932"/>
                  </a:moveTo>
                  <a:lnTo>
                    <a:pt x="41255" y="23932"/>
                  </a:lnTo>
                  <a:lnTo>
                    <a:pt x="41255" y="12364"/>
                  </a:lnTo>
                  <a:lnTo>
                    <a:pt x="85754" y="12364"/>
                  </a:lnTo>
                  <a:lnTo>
                    <a:pt x="85754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958;p54">
              <a:extLst>
                <a:ext uri="{FF2B5EF4-FFF2-40B4-BE49-F238E27FC236}">
                  <a16:creationId xmlns:a16="http://schemas.microsoft.com/office/drawing/2014/main" id="{442CBACE-6AE4-89FF-9F02-74A3FE07D745}"/>
                </a:ext>
              </a:extLst>
            </p:cNvPr>
            <p:cNvSpPr/>
            <p:nvPr/>
          </p:nvSpPr>
          <p:spPr>
            <a:xfrm>
              <a:off x="10036021" y="247870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5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5"/>
                  </a:cubicBezTo>
                  <a:lnTo>
                    <a:pt x="98118" y="7100"/>
                  </a:lnTo>
                  <a:cubicBezTo>
                    <a:pt x="98118" y="3183"/>
                    <a:pt x="94936" y="0"/>
                    <a:pt x="91018" y="0"/>
                  </a:cubicBezTo>
                  <a:close/>
                  <a:moveTo>
                    <a:pt x="85754" y="23871"/>
                  </a:moveTo>
                  <a:lnTo>
                    <a:pt x="12364" y="23871"/>
                  </a:lnTo>
                  <a:lnTo>
                    <a:pt x="12364" y="12302"/>
                  </a:lnTo>
                  <a:lnTo>
                    <a:pt x="85754" y="12302"/>
                  </a:lnTo>
                  <a:lnTo>
                    <a:pt x="85754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959;p54">
              <a:extLst>
                <a:ext uri="{FF2B5EF4-FFF2-40B4-BE49-F238E27FC236}">
                  <a16:creationId xmlns:a16="http://schemas.microsoft.com/office/drawing/2014/main" id="{0E9CC84E-B0AB-2896-66B6-98B300D4DB89}"/>
                </a:ext>
              </a:extLst>
            </p:cNvPr>
            <p:cNvSpPr/>
            <p:nvPr/>
          </p:nvSpPr>
          <p:spPr>
            <a:xfrm>
              <a:off x="10170332" y="2828190"/>
              <a:ext cx="45513" cy="67124"/>
            </a:xfrm>
            <a:custGeom>
              <a:avLst/>
              <a:gdLst/>
              <a:ahLst/>
              <a:cxnLst/>
              <a:rect l="l" t="t" r="r" b="b"/>
              <a:pathLst>
                <a:path w="45513" h="67124" extrusionOk="0">
                  <a:moveTo>
                    <a:pt x="39339" y="0"/>
                  </a:moveTo>
                  <a:lnTo>
                    <a:pt x="6408" y="0"/>
                  </a:lnTo>
                  <a:cubicBezTo>
                    <a:pt x="3225" y="0"/>
                    <a:pt x="410" y="2265"/>
                    <a:pt x="42" y="5386"/>
                  </a:cubicBezTo>
                  <a:cubicBezTo>
                    <a:pt x="-386" y="9119"/>
                    <a:pt x="2491" y="12364"/>
                    <a:pt x="6163" y="12364"/>
                  </a:cubicBezTo>
                  <a:lnTo>
                    <a:pt x="16569" y="12364"/>
                  </a:lnTo>
                  <a:lnTo>
                    <a:pt x="16569" y="60717"/>
                  </a:lnTo>
                  <a:cubicBezTo>
                    <a:pt x="16569" y="63899"/>
                    <a:pt x="18834" y="66715"/>
                    <a:pt x="21955" y="67082"/>
                  </a:cubicBezTo>
                  <a:cubicBezTo>
                    <a:pt x="25689" y="67511"/>
                    <a:pt x="28933" y="64634"/>
                    <a:pt x="28933" y="60961"/>
                  </a:cubicBezTo>
                  <a:lnTo>
                    <a:pt x="28933" y="12364"/>
                  </a:lnTo>
                  <a:lnTo>
                    <a:pt x="39094" y="12364"/>
                  </a:lnTo>
                  <a:cubicBezTo>
                    <a:pt x="42277" y="12364"/>
                    <a:pt x="45093" y="10099"/>
                    <a:pt x="45460" y="6977"/>
                  </a:cubicBezTo>
                  <a:cubicBezTo>
                    <a:pt x="45949" y="3244"/>
                    <a:pt x="43011" y="0"/>
                    <a:pt x="39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960;p54">
              <a:extLst>
                <a:ext uri="{FF2B5EF4-FFF2-40B4-BE49-F238E27FC236}">
                  <a16:creationId xmlns:a16="http://schemas.microsoft.com/office/drawing/2014/main" id="{2A808696-EBE4-EE75-DC60-8215DB91E0A4}"/>
                </a:ext>
              </a:extLst>
            </p:cNvPr>
            <p:cNvSpPr/>
            <p:nvPr/>
          </p:nvSpPr>
          <p:spPr>
            <a:xfrm>
              <a:off x="10144055" y="2781245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85693" y="23871"/>
                  </a:moveTo>
                  <a:lnTo>
                    <a:pt x="12303" y="23871"/>
                  </a:lnTo>
                  <a:lnTo>
                    <a:pt x="12303" y="12302"/>
                  </a:lnTo>
                  <a:lnTo>
                    <a:pt x="85693" y="12302"/>
                  </a:lnTo>
                  <a:lnTo>
                    <a:pt x="85693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961;p54">
              <a:extLst>
                <a:ext uri="{FF2B5EF4-FFF2-40B4-BE49-F238E27FC236}">
                  <a16:creationId xmlns:a16="http://schemas.microsoft.com/office/drawing/2014/main" id="{66EE9B1C-A6DF-33D8-DBD1-4FA8F22F6698}"/>
                </a:ext>
              </a:extLst>
            </p:cNvPr>
            <p:cNvSpPr/>
            <p:nvPr/>
          </p:nvSpPr>
          <p:spPr>
            <a:xfrm>
              <a:off x="10144055" y="273093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85693" y="23932"/>
                  </a:moveTo>
                  <a:lnTo>
                    <a:pt x="12303" y="23932"/>
                  </a:lnTo>
                  <a:lnTo>
                    <a:pt x="12303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962;p54">
              <a:extLst>
                <a:ext uri="{FF2B5EF4-FFF2-40B4-BE49-F238E27FC236}">
                  <a16:creationId xmlns:a16="http://schemas.microsoft.com/office/drawing/2014/main" id="{F57BEA1C-A4D0-7372-E397-60855DF92F72}"/>
                </a:ext>
              </a:extLst>
            </p:cNvPr>
            <p:cNvSpPr/>
            <p:nvPr/>
          </p:nvSpPr>
          <p:spPr>
            <a:xfrm>
              <a:off x="10144055" y="2680683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21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1194" y="12364"/>
                  </a:moveTo>
                  <a:lnTo>
                    <a:pt x="57659" y="12364"/>
                  </a:lnTo>
                  <a:lnTo>
                    <a:pt x="57659" y="23932"/>
                  </a:lnTo>
                  <a:lnTo>
                    <a:pt x="41194" y="23932"/>
                  </a:lnTo>
                  <a:lnTo>
                    <a:pt x="41194" y="12364"/>
                  </a:lnTo>
                  <a:close/>
                  <a:moveTo>
                    <a:pt x="85693" y="23871"/>
                  </a:moveTo>
                  <a:lnTo>
                    <a:pt x="69228" y="23871"/>
                  </a:lnTo>
                  <a:lnTo>
                    <a:pt x="69228" y="12302"/>
                  </a:lnTo>
                  <a:lnTo>
                    <a:pt x="85693" y="12302"/>
                  </a:lnTo>
                  <a:lnTo>
                    <a:pt x="85693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963;p54">
              <a:extLst>
                <a:ext uri="{FF2B5EF4-FFF2-40B4-BE49-F238E27FC236}">
                  <a16:creationId xmlns:a16="http://schemas.microsoft.com/office/drawing/2014/main" id="{92821393-2F4F-297B-AF6B-8E0ECF320BB7}"/>
                </a:ext>
              </a:extLst>
            </p:cNvPr>
            <p:cNvSpPr/>
            <p:nvPr/>
          </p:nvSpPr>
          <p:spPr>
            <a:xfrm>
              <a:off x="10144055" y="263037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2"/>
                    <a:pt x="3183" y="36295"/>
                    <a:pt x="7101" y="36295"/>
                  </a:cubicBezTo>
                  <a:lnTo>
                    <a:pt x="91018" y="36295"/>
                  </a:lnTo>
                  <a:cubicBezTo>
                    <a:pt x="94936" y="36295"/>
                    <a:pt x="98118" y="33112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56863" y="12364"/>
                  </a:lnTo>
                  <a:lnTo>
                    <a:pt x="56863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85693" y="23932"/>
                  </a:moveTo>
                  <a:lnTo>
                    <a:pt x="69228" y="23932"/>
                  </a:lnTo>
                  <a:lnTo>
                    <a:pt x="69228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964;p54">
              <a:extLst>
                <a:ext uri="{FF2B5EF4-FFF2-40B4-BE49-F238E27FC236}">
                  <a16:creationId xmlns:a16="http://schemas.microsoft.com/office/drawing/2014/main" id="{CDD4B904-EA7C-A4C4-CA13-EC9A2EB64095}"/>
                </a:ext>
              </a:extLst>
            </p:cNvPr>
            <p:cNvSpPr/>
            <p:nvPr/>
          </p:nvSpPr>
          <p:spPr>
            <a:xfrm>
              <a:off x="10144055" y="2580059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1" y="36296"/>
                  </a:cubicBezTo>
                  <a:lnTo>
                    <a:pt x="91018" y="36296"/>
                  </a:lnTo>
                  <a:cubicBezTo>
                    <a:pt x="94936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1194" y="12364"/>
                  </a:moveTo>
                  <a:lnTo>
                    <a:pt x="57659" y="12364"/>
                  </a:lnTo>
                  <a:lnTo>
                    <a:pt x="57659" y="23932"/>
                  </a:lnTo>
                  <a:lnTo>
                    <a:pt x="41194" y="23932"/>
                  </a:lnTo>
                  <a:lnTo>
                    <a:pt x="41194" y="12364"/>
                  </a:lnTo>
                  <a:close/>
                  <a:moveTo>
                    <a:pt x="85693" y="23932"/>
                  </a:moveTo>
                  <a:lnTo>
                    <a:pt x="69228" y="23932"/>
                  </a:lnTo>
                  <a:lnTo>
                    <a:pt x="69228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965;p54">
              <a:extLst>
                <a:ext uri="{FF2B5EF4-FFF2-40B4-BE49-F238E27FC236}">
                  <a16:creationId xmlns:a16="http://schemas.microsoft.com/office/drawing/2014/main" id="{F1563523-75E7-4AFC-3B16-F0B39A044501}"/>
                </a:ext>
              </a:extLst>
            </p:cNvPr>
            <p:cNvSpPr/>
            <p:nvPr/>
          </p:nvSpPr>
          <p:spPr>
            <a:xfrm>
              <a:off x="10144055" y="252895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lnTo>
                    <a:pt x="7101" y="0"/>
                  </a:lnTo>
                  <a:cubicBezTo>
                    <a:pt x="3183" y="0"/>
                    <a:pt x="0" y="3183"/>
                    <a:pt x="0" y="7100"/>
                  </a:cubicBezTo>
                  <a:lnTo>
                    <a:pt x="0" y="29196"/>
                  </a:lnTo>
                  <a:cubicBezTo>
                    <a:pt x="0" y="33113"/>
                    <a:pt x="3183" y="36296"/>
                    <a:pt x="7101" y="36296"/>
                  </a:cubicBezTo>
                  <a:lnTo>
                    <a:pt x="91018" y="36296"/>
                  </a:lnTo>
                  <a:cubicBezTo>
                    <a:pt x="94936" y="36296"/>
                    <a:pt x="98118" y="33113"/>
                    <a:pt x="98118" y="29196"/>
                  </a:cubicBezTo>
                  <a:lnTo>
                    <a:pt x="98118" y="7100"/>
                  </a:lnTo>
                  <a:cubicBezTo>
                    <a:pt x="98057" y="3183"/>
                    <a:pt x="94874" y="0"/>
                    <a:pt x="91018" y="0"/>
                  </a:cubicBezTo>
                  <a:close/>
                  <a:moveTo>
                    <a:pt x="12364" y="12364"/>
                  </a:moveTo>
                  <a:lnTo>
                    <a:pt x="28830" y="12364"/>
                  </a:lnTo>
                  <a:lnTo>
                    <a:pt x="28830" y="23932"/>
                  </a:lnTo>
                  <a:lnTo>
                    <a:pt x="12364" y="23932"/>
                  </a:lnTo>
                  <a:lnTo>
                    <a:pt x="12364" y="12364"/>
                  </a:lnTo>
                  <a:close/>
                  <a:moveTo>
                    <a:pt x="41194" y="12364"/>
                  </a:moveTo>
                  <a:lnTo>
                    <a:pt x="57659" y="12364"/>
                  </a:lnTo>
                  <a:lnTo>
                    <a:pt x="57659" y="23932"/>
                  </a:lnTo>
                  <a:lnTo>
                    <a:pt x="41194" y="23932"/>
                  </a:lnTo>
                  <a:lnTo>
                    <a:pt x="41194" y="12364"/>
                  </a:lnTo>
                  <a:close/>
                  <a:moveTo>
                    <a:pt x="85693" y="23932"/>
                  </a:moveTo>
                  <a:lnTo>
                    <a:pt x="69228" y="23932"/>
                  </a:lnTo>
                  <a:lnTo>
                    <a:pt x="69228" y="12364"/>
                  </a:lnTo>
                  <a:lnTo>
                    <a:pt x="85693" y="12364"/>
                  </a:lnTo>
                  <a:lnTo>
                    <a:pt x="85693" y="239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966;p54">
              <a:extLst>
                <a:ext uri="{FF2B5EF4-FFF2-40B4-BE49-F238E27FC236}">
                  <a16:creationId xmlns:a16="http://schemas.microsoft.com/office/drawing/2014/main" id="{ECB34279-E3B1-87C5-9ABC-7B82E406A481}"/>
                </a:ext>
              </a:extLst>
            </p:cNvPr>
            <p:cNvSpPr/>
            <p:nvPr/>
          </p:nvSpPr>
          <p:spPr>
            <a:xfrm>
              <a:off x="10143994" y="2478701"/>
              <a:ext cx="98118" cy="36295"/>
            </a:xfrm>
            <a:custGeom>
              <a:avLst/>
              <a:gdLst/>
              <a:ahLst/>
              <a:cxnLst/>
              <a:rect l="l" t="t" r="r" b="b"/>
              <a:pathLst>
                <a:path w="98118" h="36295" extrusionOk="0">
                  <a:moveTo>
                    <a:pt x="91018" y="0"/>
                  </a:moveTo>
                  <a:cubicBezTo>
                    <a:pt x="23810" y="0"/>
                    <a:pt x="52028" y="0"/>
                    <a:pt x="7100" y="0"/>
                  </a:cubicBezTo>
                  <a:cubicBezTo>
                    <a:pt x="3183" y="0"/>
                    <a:pt x="0" y="3183"/>
                    <a:pt x="0" y="7100"/>
                  </a:cubicBezTo>
                  <a:lnTo>
                    <a:pt x="0" y="29195"/>
                  </a:lnTo>
                  <a:cubicBezTo>
                    <a:pt x="0" y="33112"/>
                    <a:pt x="3183" y="36295"/>
                    <a:pt x="7100" y="36295"/>
                  </a:cubicBezTo>
                  <a:lnTo>
                    <a:pt x="91018" y="36295"/>
                  </a:lnTo>
                  <a:cubicBezTo>
                    <a:pt x="94935" y="36295"/>
                    <a:pt x="98118" y="33112"/>
                    <a:pt x="98118" y="29195"/>
                  </a:cubicBezTo>
                  <a:lnTo>
                    <a:pt x="98118" y="7100"/>
                  </a:lnTo>
                  <a:cubicBezTo>
                    <a:pt x="98118" y="3183"/>
                    <a:pt x="94935" y="0"/>
                    <a:pt x="91018" y="0"/>
                  </a:cubicBezTo>
                  <a:close/>
                  <a:moveTo>
                    <a:pt x="12425" y="12364"/>
                  </a:moveTo>
                  <a:lnTo>
                    <a:pt x="28891" y="12364"/>
                  </a:lnTo>
                  <a:lnTo>
                    <a:pt x="28891" y="23932"/>
                  </a:lnTo>
                  <a:lnTo>
                    <a:pt x="12425" y="23932"/>
                  </a:lnTo>
                  <a:lnTo>
                    <a:pt x="12425" y="12364"/>
                  </a:lnTo>
                  <a:close/>
                  <a:moveTo>
                    <a:pt x="85754" y="23871"/>
                  </a:moveTo>
                  <a:lnTo>
                    <a:pt x="41255" y="23871"/>
                  </a:lnTo>
                  <a:lnTo>
                    <a:pt x="41255" y="12302"/>
                  </a:lnTo>
                  <a:lnTo>
                    <a:pt x="85754" y="12302"/>
                  </a:lnTo>
                  <a:lnTo>
                    <a:pt x="85754" y="23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967;p54">
              <a:extLst>
                <a:ext uri="{FF2B5EF4-FFF2-40B4-BE49-F238E27FC236}">
                  <a16:creationId xmlns:a16="http://schemas.microsoft.com/office/drawing/2014/main" id="{8D558599-1FFB-581A-AC48-15E1A537B014}"/>
                </a:ext>
              </a:extLst>
            </p:cNvPr>
            <p:cNvSpPr/>
            <p:nvPr/>
          </p:nvSpPr>
          <p:spPr>
            <a:xfrm>
              <a:off x="10062402" y="2827884"/>
              <a:ext cx="45355" cy="67275"/>
            </a:xfrm>
            <a:custGeom>
              <a:avLst/>
              <a:gdLst/>
              <a:ahLst/>
              <a:cxnLst/>
              <a:rect l="l" t="t" r="r" b="b"/>
              <a:pathLst>
                <a:path w="45355" h="67275" extrusionOk="0">
                  <a:moveTo>
                    <a:pt x="39174" y="27543"/>
                  </a:moveTo>
                  <a:lnTo>
                    <a:pt x="21484" y="27543"/>
                  </a:lnTo>
                  <a:cubicBezTo>
                    <a:pt x="20260" y="27543"/>
                    <a:pt x="19097" y="28093"/>
                    <a:pt x="18363" y="29012"/>
                  </a:cubicBezTo>
                  <a:cubicBezTo>
                    <a:pt x="14323" y="34153"/>
                    <a:pt x="17812" y="39907"/>
                    <a:pt x="22708" y="39907"/>
                  </a:cubicBezTo>
                  <a:lnTo>
                    <a:pt x="32991" y="39907"/>
                  </a:lnTo>
                  <a:lnTo>
                    <a:pt x="32991" y="46639"/>
                  </a:lnTo>
                  <a:cubicBezTo>
                    <a:pt x="32991" y="48659"/>
                    <a:pt x="32073" y="50618"/>
                    <a:pt x="30543" y="51842"/>
                  </a:cubicBezTo>
                  <a:cubicBezTo>
                    <a:pt x="22035" y="58819"/>
                    <a:pt x="12425" y="52760"/>
                    <a:pt x="12425" y="44497"/>
                  </a:cubicBezTo>
                  <a:lnTo>
                    <a:pt x="12425" y="20443"/>
                  </a:lnTo>
                  <a:cubicBezTo>
                    <a:pt x="12425" y="18484"/>
                    <a:pt x="13282" y="16648"/>
                    <a:pt x="14812" y="15424"/>
                  </a:cubicBezTo>
                  <a:cubicBezTo>
                    <a:pt x="21056" y="10405"/>
                    <a:pt x="28462" y="11996"/>
                    <a:pt x="31767" y="17505"/>
                  </a:cubicBezTo>
                  <a:cubicBezTo>
                    <a:pt x="32379" y="18545"/>
                    <a:pt x="33481" y="19218"/>
                    <a:pt x="34644" y="19280"/>
                  </a:cubicBezTo>
                  <a:cubicBezTo>
                    <a:pt x="41438" y="19770"/>
                    <a:pt x="44132" y="13343"/>
                    <a:pt x="41132" y="9304"/>
                  </a:cubicBezTo>
                  <a:cubicBezTo>
                    <a:pt x="36847" y="3489"/>
                    <a:pt x="29992" y="0"/>
                    <a:pt x="22769" y="0"/>
                  </a:cubicBezTo>
                  <a:cubicBezTo>
                    <a:pt x="10221" y="0"/>
                    <a:pt x="0" y="10222"/>
                    <a:pt x="0" y="22769"/>
                  </a:cubicBezTo>
                  <a:lnTo>
                    <a:pt x="0" y="44069"/>
                  </a:lnTo>
                  <a:cubicBezTo>
                    <a:pt x="0" y="56433"/>
                    <a:pt x="9671" y="66899"/>
                    <a:pt x="22035" y="67266"/>
                  </a:cubicBezTo>
                  <a:cubicBezTo>
                    <a:pt x="34828" y="67633"/>
                    <a:pt x="45356" y="57289"/>
                    <a:pt x="45356" y="44497"/>
                  </a:cubicBezTo>
                  <a:lnTo>
                    <a:pt x="45356" y="33725"/>
                  </a:lnTo>
                  <a:cubicBezTo>
                    <a:pt x="45356" y="30297"/>
                    <a:pt x="42601" y="27543"/>
                    <a:pt x="39174" y="27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8" name="Google Shape;781;p42">
            <a:extLst>
              <a:ext uri="{FF2B5EF4-FFF2-40B4-BE49-F238E27FC236}">
                <a16:creationId xmlns:a16="http://schemas.microsoft.com/office/drawing/2014/main" id="{A56252EC-632D-B40B-4D78-9F3A68CD1380}"/>
              </a:ext>
            </a:extLst>
          </p:cNvPr>
          <p:cNvSpPr txBox="1">
            <a:spLocks/>
          </p:cNvSpPr>
          <p:nvPr/>
        </p:nvSpPr>
        <p:spPr>
          <a:xfrm>
            <a:off x="2824041" y="4005323"/>
            <a:ext cx="3647746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600" dirty="0"/>
              <a:t>Rappresentazione alignment-free</a:t>
            </a:r>
          </a:p>
        </p:txBody>
      </p:sp>
    </p:spTree>
    <p:extLst>
      <p:ext uri="{BB962C8B-B14F-4D97-AF65-F5344CB8AC3E}">
        <p14:creationId xmlns:p14="http://schemas.microsoft.com/office/powerpoint/2010/main" val="3644558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8"/>
          <p:cNvSpPr txBox="1">
            <a:spLocks noGrp="1"/>
          </p:cNvSpPr>
          <p:nvPr>
            <p:ph type="title"/>
          </p:nvPr>
        </p:nvSpPr>
        <p:spPr>
          <a:xfrm>
            <a:off x="720000" y="804962"/>
            <a:ext cx="3852000" cy="10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Siamese Network e metric learning</a:t>
            </a:r>
            <a:endParaRPr dirty="0"/>
          </a:p>
        </p:txBody>
      </p:sp>
      <p:cxnSp>
        <p:nvCxnSpPr>
          <p:cNvPr id="715" name="Google Shape;715;p38"/>
          <p:cNvCxnSpPr>
            <a:cxnSpLocks/>
          </p:cNvCxnSpPr>
          <p:nvPr/>
        </p:nvCxnSpPr>
        <p:spPr>
          <a:xfrm flipH="1">
            <a:off x="618567" y="1892162"/>
            <a:ext cx="4054865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CA445B54-CD93-CD89-4AB3-8617FFA31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00" y="0"/>
            <a:ext cx="3852000" cy="5136000"/>
          </a:xfrm>
          <a:prstGeom prst="rect">
            <a:avLst/>
          </a:prstGeom>
        </p:spPr>
      </p:pic>
      <p:sp>
        <p:nvSpPr>
          <p:cNvPr id="14" name="Google Shape;990;p54">
            <a:extLst>
              <a:ext uri="{FF2B5EF4-FFF2-40B4-BE49-F238E27FC236}">
                <a16:creationId xmlns:a16="http://schemas.microsoft.com/office/drawing/2014/main" id="{91AAC97F-A6C1-15F1-CDB8-4D6DE086AF4D}"/>
              </a:ext>
            </a:extLst>
          </p:cNvPr>
          <p:cNvSpPr>
            <a:spLocks noChangeAspect="1"/>
          </p:cNvSpPr>
          <p:nvPr/>
        </p:nvSpPr>
        <p:spPr>
          <a:xfrm>
            <a:off x="1667424" y="2231958"/>
            <a:ext cx="292979" cy="271976"/>
          </a:xfrm>
          <a:custGeom>
            <a:avLst/>
            <a:gdLst/>
            <a:ahLst/>
            <a:cxnLst/>
            <a:rect l="l" t="t" r="r" b="b"/>
            <a:pathLst>
              <a:path w="420815" h="390647" extrusionOk="0">
                <a:moveTo>
                  <a:pt x="405543" y="269624"/>
                </a:moveTo>
                <a:cubicBezTo>
                  <a:pt x="396300" y="264299"/>
                  <a:pt x="385405" y="264299"/>
                  <a:pt x="376347" y="268890"/>
                </a:cubicBezTo>
                <a:lnTo>
                  <a:pt x="344089" y="250282"/>
                </a:lnTo>
                <a:cubicBezTo>
                  <a:pt x="343416" y="236267"/>
                  <a:pt x="333194" y="224698"/>
                  <a:pt x="319851" y="221883"/>
                </a:cubicBezTo>
                <a:lnTo>
                  <a:pt x="319851" y="192810"/>
                </a:lnTo>
                <a:cubicBezTo>
                  <a:pt x="333623" y="189933"/>
                  <a:pt x="344028" y="177753"/>
                  <a:pt x="344028" y="163125"/>
                </a:cubicBezTo>
                <a:cubicBezTo>
                  <a:pt x="344028" y="159758"/>
                  <a:pt x="343477" y="156576"/>
                  <a:pt x="342498" y="153576"/>
                </a:cubicBezTo>
                <a:lnTo>
                  <a:pt x="360555" y="143171"/>
                </a:lnTo>
                <a:cubicBezTo>
                  <a:pt x="364778" y="147211"/>
                  <a:pt x="370593" y="149659"/>
                  <a:pt x="376959" y="149414"/>
                </a:cubicBezTo>
                <a:cubicBezTo>
                  <a:pt x="388099" y="148925"/>
                  <a:pt x="397280" y="140111"/>
                  <a:pt x="398198" y="128971"/>
                </a:cubicBezTo>
                <a:cubicBezTo>
                  <a:pt x="399300" y="115261"/>
                  <a:pt x="387915" y="103876"/>
                  <a:pt x="374204" y="104979"/>
                </a:cubicBezTo>
                <a:cubicBezTo>
                  <a:pt x="363432" y="105835"/>
                  <a:pt x="354740" y="114527"/>
                  <a:pt x="353822" y="125299"/>
                </a:cubicBezTo>
                <a:cubicBezTo>
                  <a:pt x="353638" y="127808"/>
                  <a:pt x="353822" y="130257"/>
                  <a:pt x="354372" y="132522"/>
                </a:cubicBezTo>
                <a:lnTo>
                  <a:pt x="336316" y="142927"/>
                </a:lnTo>
                <a:cubicBezTo>
                  <a:pt x="330746" y="136744"/>
                  <a:pt x="322728" y="132828"/>
                  <a:pt x="313730" y="132828"/>
                </a:cubicBezTo>
                <a:cubicBezTo>
                  <a:pt x="304732" y="132828"/>
                  <a:pt x="296652" y="136744"/>
                  <a:pt x="291143" y="142988"/>
                </a:cubicBezTo>
                <a:lnTo>
                  <a:pt x="266354" y="128665"/>
                </a:lnTo>
                <a:cubicBezTo>
                  <a:pt x="267333" y="125666"/>
                  <a:pt x="267884" y="122483"/>
                  <a:pt x="267884" y="119178"/>
                </a:cubicBezTo>
                <a:cubicBezTo>
                  <a:pt x="267884" y="108528"/>
                  <a:pt x="262314" y="99102"/>
                  <a:pt x="253989" y="93716"/>
                </a:cubicBezTo>
                <a:lnTo>
                  <a:pt x="253989" y="56197"/>
                </a:lnTo>
                <a:cubicBezTo>
                  <a:pt x="262987" y="50382"/>
                  <a:pt x="268802" y="39916"/>
                  <a:pt x="267884" y="28225"/>
                </a:cubicBezTo>
                <a:cubicBezTo>
                  <a:pt x="267823" y="27674"/>
                  <a:pt x="267578" y="27124"/>
                  <a:pt x="267149" y="26756"/>
                </a:cubicBezTo>
                <a:cubicBezTo>
                  <a:pt x="261825" y="21799"/>
                  <a:pt x="255581" y="25471"/>
                  <a:pt x="255581" y="30551"/>
                </a:cubicBezTo>
                <a:cubicBezTo>
                  <a:pt x="255581" y="44506"/>
                  <a:pt x="239667" y="54850"/>
                  <a:pt x="225038" y="44384"/>
                </a:cubicBezTo>
                <a:cubicBezTo>
                  <a:pt x="224487" y="44017"/>
                  <a:pt x="224058" y="43527"/>
                  <a:pt x="223691" y="43037"/>
                </a:cubicBezTo>
                <a:cubicBezTo>
                  <a:pt x="213224" y="28348"/>
                  <a:pt x="223569" y="12434"/>
                  <a:pt x="237524" y="12434"/>
                </a:cubicBezTo>
                <a:cubicBezTo>
                  <a:pt x="240156" y="12434"/>
                  <a:pt x="242788" y="12985"/>
                  <a:pt x="245176" y="14087"/>
                </a:cubicBezTo>
                <a:cubicBezTo>
                  <a:pt x="245788" y="14393"/>
                  <a:pt x="246461" y="14393"/>
                  <a:pt x="247073" y="14087"/>
                </a:cubicBezTo>
                <a:cubicBezTo>
                  <a:pt x="253928" y="10842"/>
                  <a:pt x="252582" y="3498"/>
                  <a:pt x="247685" y="1723"/>
                </a:cubicBezTo>
                <a:cubicBezTo>
                  <a:pt x="238014" y="-1705"/>
                  <a:pt x="226874" y="-52"/>
                  <a:pt x="216897" y="6987"/>
                </a:cubicBezTo>
                <a:cubicBezTo>
                  <a:pt x="215856" y="7721"/>
                  <a:pt x="214938" y="8639"/>
                  <a:pt x="214203" y="9680"/>
                </a:cubicBezTo>
                <a:cubicBezTo>
                  <a:pt x="201289" y="27919"/>
                  <a:pt x="207470" y="47322"/>
                  <a:pt x="221121" y="56074"/>
                </a:cubicBezTo>
                <a:lnTo>
                  <a:pt x="221121" y="93410"/>
                </a:lnTo>
                <a:cubicBezTo>
                  <a:pt x="212735" y="98796"/>
                  <a:pt x="207164" y="108283"/>
                  <a:pt x="207164" y="118934"/>
                </a:cubicBezTo>
                <a:cubicBezTo>
                  <a:pt x="207164" y="122238"/>
                  <a:pt x="207716" y="125483"/>
                  <a:pt x="208695" y="128482"/>
                </a:cubicBezTo>
                <a:lnTo>
                  <a:pt x="183783" y="142865"/>
                </a:lnTo>
                <a:cubicBezTo>
                  <a:pt x="178213" y="136622"/>
                  <a:pt x="170133" y="132705"/>
                  <a:pt x="161074" y="132705"/>
                </a:cubicBezTo>
                <a:cubicBezTo>
                  <a:pt x="152138" y="132705"/>
                  <a:pt x="143936" y="136561"/>
                  <a:pt x="138366" y="142865"/>
                </a:cubicBezTo>
                <a:lnTo>
                  <a:pt x="113515" y="128543"/>
                </a:lnTo>
                <a:cubicBezTo>
                  <a:pt x="117922" y="115139"/>
                  <a:pt x="112535" y="100020"/>
                  <a:pt x="99865" y="92676"/>
                </a:cubicBezTo>
                <a:cubicBezTo>
                  <a:pt x="96988" y="91023"/>
                  <a:pt x="93928" y="89860"/>
                  <a:pt x="90806" y="89248"/>
                </a:cubicBezTo>
                <a:lnTo>
                  <a:pt x="90806" y="68255"/>
                </a:lnTo>
                <a:cubicBezTo>
                  <a:pt x="97356" y="66357"/>
                  <a:pt x="102681" y="61644"/>
                  <a:pt x="105374" y="55156"/>
                </a:cubicBezTo>
                <a:cubicBezTo>
                  <a:pt x="106843" y="51606"/>
                  <a:pt x="107333" y="47689"/>
                  <a:pt x="106843" y="43894"/>
                </a:cubicBezTo>
                <a:cubicBezTo>
                  <a:pt x="105925" y="36794"/>
                  <a:pt x="101885" y="30796"/>
                  <a:pt x="95825" y="27307"/>
                </a:cubicBezTo>
                <a:cubicBezTo>
                  <a:pt x="90623" y="24308"/>
                  <a:pt x="84624" y="23512"/>
                  <a:pt x="78809" y="25043"/>
                </a:cubicBezTo>
                <a:cubicBezTo>
                  <a:pt x="73056" y="26573"/>
                  <a:pt x="68220" y="30307"/>
                  <a:pt x="65221" y="35448"/>
                </a:cubicBezTo>
                <a:cubicBezTo>
                  <a:pt x="59038" y="46159"/>
                  <a:pt x="62711" y="59869"/>
                  <a:pt x="73423" y="66051"/>
                </a:cubicBezTo>
                <a:cubicBezTo>
                  <a:pt x="75014" y="66969"/>
                  <a:pt x="76728" y="67704"/>
                  <a:pt x="78442" y="68193"/>
                </a:cubicBezTo>
                <a:lnTo>
                  <a:pt x="78442" y="89309"/>
                </a:lnTo>
                <a:cubicBezTo>
                  <a:pt x="72198" y="90595"/>
                  <a:pt x="66384" y="93839"/>
                  <a:pt x="61977" y="98796"/>
                </a:cubicBezTo>
                <a:lnTo>
                  <a:pt x="43981" y="88391"/>
                </a:lnTo>
                <a:cubicBezTo>
                  <a:pt x="45389" y="82760"/>
                  <a:pt x="44532" y="76946"/>
                  <a:pt x="41655" y="71866"/>
                </a:cubicBezTo>
                <a:cubicBezTo>
                  <a:pt x="35535" y="61216"/>
                  <a:pt x="21885" y="57544"/>
                  <a:pt x="11234" y="63725"/>
                </a:cubicBezTo>
                <a:cubicBezTo>
                  <a:pt x="584" y="69846"/>
                  <a:pt x="-3027" y="83495"/>
                  <a:pt x="3094" y="94145"/>
                </a:cubicBezTo>
                <a:cubicBezTo>
                  <a:pt x="7195" y="101306"/>
                  <a:pt x="14723" y="105285"/>
                  <a:pt x="22375" y="105285"/>
                </a:cubicBezTo>
                <a:cubicBezTo>
                  <a:pt x="28312" y="105285"/>
                  <a:pt x="33759" y="102897"/>
                  <a:pt x="37799" y="99041"/>
                </a:cubicBezTo>
                <a:lnTo>
                  <a:pt x="55794" y="109447"/>
                </a:lnTo>
                <a:cubicBezTo>
                  <a:pt x="53714" y="115751"/>
                  <a:pt x="53836" y="122422"/>
                  <a:pt x="55794" y="128482"/>
                </a:cubicBezTo>
                <a:lnTo>
                  <a:pt x="37738" y="138887"/>
                </a:lnTo>
                <a:cubicBezTo>
                  <a:pt x="36024" y="137234"/>
                  <a:pt x="34004" y="135826"/>
                  <a:pt x="31678" y="134725"/>
                </a:cubicBezTo>
                <a:cubicBezTo>
                  <a:pt x="21701" y="130073"/>
                  <a:pt x="9643" y="133501"/>
                  <a:pt x="3644" y="142743"/>
                </a:cubicBezTo>
                <a:cubicBezTo>
                  <a:pt x="156" y="148129"/>
                  <a:pt x="-885" y="154556"/>
                  <a:pt x="768" y="160677"/>
                </a:cubicBezTo>
                <a:cubicBezTo>
                  <a:pt x="3461" y="170837"/>
                  <a:pt x="12642" y="177202"/>
                  <a:pt x="22252" y="177202"/>
                </a:cubicBezTo>
                <a:cubicBezTo>
                  <a:pt x="36820" y="177202"/>
                  <a:pt x="47348" y="163553"/>
                  <a:pt x="43859" y="149598"/>
                </a:cubicBezTo>
                <a:lnTo>
                  <a:pt x="61915" y="139193"/>
                </a:lnTo>
                <a:cubicBezTo>
                  <a:pt x="67547" y="145497"/>
                  <a:pt x="75749" y="149353"/>
                  <a:pt x="84502" y="149353"/>
                </a:cubicBezTo>
                <a:cubicBezTo>
                  <a:pt x="93009" y="149353"/>
                  <a:pt x="101334" y="145742"/>
                  <a:pt x="107149" y="139193"/>
                </a:cubicBezTo>
                <a:lnTo>
                  <a:pt x="131939" y="153515"/>
                </a:lnTo>
                <a:cubicBezTo>
                  <a:pt x="131510" y="154862"/>
                  <a:pt x="131143" y="156330"/>
                  <a:pt x="130898" y="157738"/>
                </a:cubicBezTo>
                <a:cubicBezTo>
                  <a:pt x="130286" y="161104"/>
                  <a:pt x="132551" y="164287"/>
                  <a:pt x="135917" y="164838"/>
                </a:cubicBezTo>
                <a:cubicBezTo>
                  <a:pt x="139284" y="165450"/>
                  <a:pt x="142467" y="163186"/>
                  <a:pt x="143017" y="159819"/>
                </a:cubicBezTo>
                <a:cubicBezTo>
                  <a:pt x="144670" y="150455"/>
                  <a:pt x="153362" y="143906"/>
                  <a:pt x="163033" y="145069"/>
                </a:cubicBezTo>
                <a:cubicBezTo>
                  <a:pt x="171296" y="146048"/>
                  <a:pt x="177846" y="152781"/>
                  <a:pt x="178702" y="161044"/>
                </a:cubicBezTo>
                <a:cubicBezTo>
                  <a:pt x="179804" y="171816"/>
                  <a:pt x="171357" y="180936"/>
                  <a:pt x="160768" y="180936"/>
                </a:cubicBezTo>
                <a:cubicBezTo>
                  <a:pt x="157279" y="180936"/>
                  <a:pt x="153913" y="179957"/>
                  <a:pt x="151036" y="178059"/>
                </a:cubicBezTo>
                <a:cubicBezTo>
                  <a:pt x="148159" y="176223"/>
                  <a:pt x="144364" y="177018"/>
                  <a:pt x="142528" y="179895"/>
                </a:cubicBezTo>
                <a:cubicBezTo>
                  <a:pt x="140631" y="182772"/>
                  <a:pt x="141549" y="186628"/>
                  <a:pt x="144364" y="188403"/>
                </a:cubicBezTo>
                <a:lnTo>
                  <a:pt x="144364" y="226228"/>
                </a:lnTo>
                <a:cubicBezTo>
                  <a:pt x="135978" y="231614"/>
                  <a:pt x="130409" y="241041"/>
                  <a:pt x="130409" y="251752"/>
                </a:cubicBezTo>
                <a:cubicBezTo>
                  <a:pt x="130409" y="255056"/>
                  <a:pt x="130959" y="258301"/>
                  <a:pt x="131939" y="261300"/>
                </a:cubicBezTo>
                <a:lnTo>
                  <a:pt x="113882" y="271705"/>
                </a:lnTo>
                <a:cubicBezTo>
                  <a:pt x="109658" y="267604"/>
                  <a:pt x="103844" y="265217"/>
                  <a:pt x="97478" y="265462"/>
                </a:cubicBezTo>
                <a:cubicBezTo>
                  <a:pt x="86338" y="265952"/>
                  <a:pt x="77095" y="274827"/>
                  <a:pt x="76239" y="285905"/>
                </a:cubicBezTo>
                <a:cubicBezTo>
                  <a:pt x="75137" y="299615"/>
                  <a:pt x="86583" y="311060"/>
                  <a:pt x="100294" y="309959"/>
                </a:cubicBezTo>
                <a:cubicBezTo>
                  <a:pt x="111066" y="309102"/>
                  <a:pt x="119820" y="300349"/>
                  <a:pt x="120676" y="289577"/>
                </a:cubicBezTo>
                <a:cubicBezTo>
                  <a:pt x="120860" y="287068"/>
                  <a:pt x="120676" y="284620"/>
                  <a:pt x="120126" y="282355"/>
                </a:cubicBezTo>
                <a:lnTo>
                  <a:pt x="138182" y="271950"/>
                </a:lnTo>
                <a:cubicBezTo>
                  <a:pt x="143752" y="278193"/>
                  <a:pt x="151832" y="282110"/>
                  <a:pt x="160830" y="282110"/>
                </a:cubicBezTo>
                <a:cubicBezTo>
                  <a:pt x="169827" y="282110"/>
                  <a:pt x="177907" y="278193"/>
                  <a:pt x="183477" y="271950"/>
                </a:cubicBezTo>
                <a:lnTo>
                  <a:pt x="208328" y="286272"/>
                </a:lnTo>
                <a:cubicBezTo>
                  <a:pt x="207349" y="289271"/>
                  <a:pt x="206797" y="292454"/>
                  <a:pt x="206797" y="295820"/>
                </a:cubicBezTo>
                <a:cubicBezTo>
                  <a:pt x="206797" y="310448"/>
                  <a:pt x="217203" y="322690"/>
                  <a:pt x="230975" y="325566"/>
                </a:cubicBezTo>
                <a:lnTo>
                  <a:pt x="230975" y="346744"/>
                </a:lnTo>
                <a:cubicBezTo>
                  <a:pt x="228588" y="347417"/>
                  <a:pt x="226323" y="348519"/>
                  <a:pt x="224181" y="349988"/>
                </a:cubicBezTo>
                <a:cubicBezTo>
                  <a:pt x="215612" y="356047"/>
                  <a:pt x="212367" y="367493"/>
                  <a:pt x="216530" y="377102"/>
                </a:cubicBezTo>
                <a:cubicBezTo>
                  <a:pt x="221916" y="389527"/>
                  <a:pt x="236790" y="394301"/>
                  <a:pt x="248297" y="387630"/>
                </a:cubicBezTo>
                <a:cubicBezTo>
                  <a:pt x="259009" y="381448"/>
                  <a:pt x="262681" y="367738"/>
                  <a:pt x="256499" y="357027"/>
                </a:cubicBezTo>
                <a:cubicBezTo>
                  <a:pt x="253561" y="351947"/>
                  <a:pt x="248909" y="348335"/>
                  <a:pt x="243278" y="346683"/>
                </a:cubicBezTo>
                <a:lnTo>
                  <a:pt x="243278" y="325750"/>
                </a:lnTo>
                <a:cubicBezTo>
                  <a:pt x="245726" y="325260"/>
                  <a:pt x="248114" y="324465"/>
                  <a:pt x="250439" y="323302"/>
                </a:cubicBezTo>
                <a:cubicBezTo>
                  <a:pt x="250929" y="323057"/>
                  <a:pt x="251357" y="322629"/>
                  <a:pt x="251541" y="322078"/>
                </a:cubicBezTo>
                <a:cubicBezTo>
                  <a:pt x="254234" y="315345"/>
                  <a:pt x="248542" y="310877"/>
                  <a:pt x="243768" y="312713"/>
                </a:cubicBezTo>
                <a:cubicBezTo>
                  <a:pt x="238075" y="314917"/>
                  <a:pt x="231526" y="314182"/>
                  <a:pt x="225283" y="310326"/>
                </a:cubicBezTo>
                <a:cubicBezTo>
                  <a:pt x="224671" y="309959"/>
                  <a:pt x="224119" y="309469"/>
                  <a:pt x="223691" y="308857"/>
                </a:cubicBezTo>
                <a:cubicBezTo>
                  <a:pt x="212551" y="294045"/>
                  <a:pt x="222957" y="277764"/>
                  <a:pt x="237096" y="277764"/>
                </a:cubicBezTo>
                <a:cubicBezTo>
                  <a:pt x="247624" y="277764"/>
                  <a:pt x="256132" y="286823"/>
                  <a:pt x="255153" y="297595"/>
                </a:cubicBezTo>
                <a:cubicBezTo>
                  <a:pt x="255092" y="298269"/>
                  <a:pt x="255336" y="299003"/>
                  <a:pt x="255826" y="299493"/>
                </a:cubicBezTo>
                <a:cubicBezTo>
                  <a:pt x="261212" y="304818"/>
                  <a:pt x="267639" y="301145"/>
                  <a:pt x="267639" y="295881"/>
                </a:cubicBezTo>
                <a:cubicBezTo>
                  <a:pt x="267639" y="292515"/>
                  <a:pt x="267088" y="289332"/>
                  <a:pt x="266109" y="286333"/>
                </a:cubicBezTo>
                <a:lnTo>
                  <a:pt x="291082" y="271950"/>
                </a:lnTo>
                <a:cubicBezTo>
                  <a:pt x="296652" y="278193"/>
                  <a:pt x="304793" y="282171"/>
                  <a:pt x="313852" y="282171"/>
                </a:cubicBezTo>
                <a:cubicBezTo>
                  <a:pt x="318871" y="282171"/>
                  <a:pt x="323646" y="280947"/>
                  <a:pt x="327808" y="278805"/>
                </a:cubicBezTo>
                <a:lnTo>
                  <a:pt x="360065" y="297411"/>
                </a:lnTo>
                <a:cubicBezTo>
                  <a:pt x="360555" y="307388"/>
                  <a:pt x="365941" y="316998"/>
                  <a:pt x="375245" y="322323"/>
                </a:cubicBezTo>
                <a:cubicBezTo>
                  <a:pt x="389935" y="330769"/>
                  <a:pt x="408542" y="325628"/>
                  <a:pt x="416867" y="311183"/>
                </a:cubicBezTo>
                <a:cubicBezTo>
                  <a:pt x="425069" y="296677"/>
                  <a:pt x="420111" y="278009"/>
                  <a:pt x="405543" y="269624"/>
                </a:cubicBezTo>
                <a:lnTo>
                  <a:pt x="405543" y="269624"/>
                </a:lnTo>
                <a:close/>
                <a:moveTo>
                  <a:pt x="376653" y="117036"/>
                </a:moveTo>
                <a:cubicBezTo>
                  <a:pt x="382161" y="117036"/>
                  <a:pt x="386691" y="121504"/>
                  <a:pt x="386691" y="127074"/>
                </a:cubicBezTo>
                <a:cubicBezTo>
                  <a:pt x="386691" y="132643"/>
                  <a:pt x="382222" y="137112"/>
                  <a:pt x="376653" y="137112"/>
                </a:cubicBezTo>
                <a:cubicBezTo>
                  <a:pt x="371083" y="137112"/>
                  <a:pt x="366614" y="132643"/>
                  <a:pt x="366614" y="127074"/>
                </a:cubicBezTo>
                <a:cubicBezTo>
                  <a:pt x="366614" y="121504"/>
                  <a:pt x="371144" y="117036"/>
                  <a:pt x="376653" y="117036"/>
                </a:cubicBezTo>
                <a:close/>
                <a:moveTo>
                  <a:pt x="30148" y="160186"/>
                </a:moveTo>
                <a:cubicBezTo>
                  <a:pt x="27394" y="164961"/>
                  <a:pt x="21273" y="166613"/>
                  <a:pt x="16437" y="163859"/>
                </a:cubicBezTo>
                <a:cubicBezTo>
                  <a:pt x="11663" y="161104"/>
                  <a:pt x="10010" y="154984"/>
                  <a:pt x="12765" y="150149"/>
                </a:cubicBezTo>
                <a:cubicBezTo>
                  <a:pt x="15519" y="145375"/>
                  <a:pt x="21640" y="143722"/>
                  <a:pt x="26476" y="146476"/>
                </a:cubicBezTo>
                <a:cubicBezTo>
                  <a:pt x="31311" y="149231"/>
                  <a:pt x="32903" y="155412"/>
                  <a:pt x="30148" y="160186"/>
                </a:cubicBezTo>
                <a:close/>
                <a:moveTo>
                  <a:pt x="75443" y="41691"/>
                </a:moveTo>
                <a:cubicBezTo>
                  <a:pt x="78748" y="35999"/>
                  <a:pt x="86522" y="34958"/>
                  <a:pt x="91235" y="39610"/>
                </a:cubicBezTo>
                <a:cubicBezTo>
                  <a:pt x="92949" y="41324"/>
                  <a:pt x="96009" y="46220"/>
                  <a:pt x="92826" y="51729"/>
                </a:cubicBezTo>
                <a:cubicBezTo>
                  <a:pt x="90072" y="56503"/>
                  <a:pt x="83951" y="58156"/>
                  <a:pt x="79115" y="55401"/>
                </a:cubicBezTo>
                <a:cubicBezTo>
                  <a:pt x="74280" y="52647"/>
                  <a:pt x="72689" y="46465"/>
                  <a:pt x="75443" y="41691"/>
                </a:cubicBezTo>
                <a:close/>
                <a:moveTo>
                  <a:pt x="26476" y="91513"/>
                </a:moveTo>
                <a:cubicBezTo>
                  <a:pt x="21701" y="94267"/>
                  <a:pt x="15519" y="92615"/>
                  <a:pt x="12765" y="87841"/>
                </a:cubicBezTo>
                <a:cubicBezTo>
                  <a:pt x="10010" y="83066"/>
                  <a:pt x="11663" y="76885"/>
                  <a:pt x="16437" y="74130"/>
                </a:cubicBezTo>
                <a:cubicBezTo>
                  <a:pt x="21211" y="71376"/>
                  <a:pt x="27332" y="73029"/>
                  <a:pt x="30148" y="77803"/>
                </a:cubicBezTo>
                <a:cubicBezTo>
                  <a:pt x="32903" y="82577"/>
                  <a:pt x="31311" y="88759"/>
                  <a:pt x="26476" y="91513"/>
                </a:cubicBezTo>
                <a:close/>
                <a:moveTo>
                  <a:pt x="75014" y="134725"/>
                </a:moveTo>
                <a:cubicBezTo>
                  <a:pt x="66384" y="129706"/>
                  <a:pt x="63385" y="118628"/>
                  <a:pt x="68404" y="109997"/>
                </a:cubicBezTo>
                <a:cubicBezTo>
                  <a:pt x="73423" y="101367"/>
                  <a:pt x="84502" y="98368"/>
                  <a:pt x="93132" y="103387"/>
                </a:cubicBezTo>
                <a:cubicBezTo>
                  <a:pt x="101824" y="108406"/>
                  <a:pt x="104762" y="119484"/>
                  <a:pt x="99742" y="128115"/>
                </a:cubicBezTo>
                <a:cubicBezTo>
                  <a:pt x="94785" y="136744"/>
                  <a:pt x="83706" y="139682"/>
                  <a:pt x="75014" y="134725"/>
                </a:cubicBezTo>
                <a:close/>
                <a:moveTo>
                  <a:pt x="98151" y="297963"/>
                </a:moveTo>
                <a:cubicBezTo>
                  <a:pt x="92642" y="297963"/>
                  <a:pt x="88113" y="293495"/>
                  <a:pt x="88113" y="287924"/>
                </a:cubicBezTo>
                <a:cubicBezTo>
                  <a:pt x="88113" y="282416"/>
                  <a:pt x="92581" y="277887"/>
                  <a:pt x="98151" y="277887"/>
                </a:cubicBezTo>
                <a:cubicBezTo>
                  <a:pt x="103660" y="277887"/>
                  <a:pt x="108190" y="282355"/>
                  <a:pt x="108190" y="287924"/>
                </a:cubicBezTo>
                <a:cubicBezTo>
                  <a:pt x="108128" y="293433"/>
                  <a:pt x="103660" y="297963"/>
                  <a:pt x="98151" y="297963"/>
                </a:cubicBezTo>
                <a:close/>
                <a:moveTo>
                  <a:pt x="246032" y="363270"/>
                </a:moveTo>
                <a:cubicBezTo>
                  <a:pt x="248787" y="368044"/>
                  <a:pt x="247134" y="374165"/>
                  <a:pt x="242360" y="376980"/>
                </a:cubicBezTo>
                <a:cubicBezTo>
                  <a:pt x="237585" y="379734"/>
                  <a:pt x="231404" y="378082"/>
                  <a:pt x="228649" y="373308"/>
                </a:cubicBezTo>
                <a:cubicBezTo>
                  <a:pt x="225895" y="368534"/>
                  <a:pt x="227548" y="362413"/>
                  <a:pt x="232322" y="359598"/>
                </a:cubicBezTo>
                <a:cubicBezTo>
                  <a:pt x="237157" y="356843"/>
                  <a:pt x="243278" y="358495"/>
                  <a:pt x="246032" y="363270"/>
                </a:cubicBezTo>
                <a:close/>
                <a:moveTo>
                  <a:pt x="362452" y="284497"/>
                </a:moveTo>
                <a:lnTo>
                  <a:pt x="338091" y="270420"/>
                </a:lnTo>
                <a:cubicBezTo>
                  <a:pt x="339744" y="268277"/>
                  <a:pt x="341151" y="265829"/>
                  <a:pt x="342192" y="263258"/>
                </a:cubicBezTo>
                <a:lnTo>
                  <a:pt x="366492" y="277275"/>
                </a:lnTo>
                <a:cubicBezTo>
                  <a:pt x="364900" y="279478"/>
                  <a:pt x="363493" y="281926"/>
                  <a:pt x="362452" y="284497"/>
                </a:cubicBezTo>
                <a:close/>
                <a:moveTo>
                  <a:pt x="314036" y="145130"/>
                </a:moveTo>
                <a:cubicBezTo>
                  <a:pt x="324013" y="145130"/>
                  <a:pt x="332153" y="153270"/>
                  <a:pt x="332153" y="163247"/>
                </a:cubicBezTo>
                <a:cubicBezTo>
                  <a:pt x="332153" y="173224"/>
                  <a:pt x="324013" y="181364"/>
                  <a:pt x="314036" y="181364"/>
                </a:cubicBezTo>
                <a:cubicBezTo>
                  <a:pt x="304059" y="181364"/>
                  <a:pt x="295918" y="173224"/>
                  <a:pt x="295918" y="163247"/>
                </a:cubicBezTo>
                <a:cubicBezTo>
                  <a:pt x="295918" y="153270"/>
                  <a:pt x="304059" y="145130"/>
                  <a:pt x="314036" y="145130"/>
                </a:cubicBezTo>
                <a:close/>
                <a:moveTo>
                  <a:pt x="233240" y="60726"/>
                </a:moveTo>
                <a:cubicBezTo>
                  <a:pt x="235994" y="61093"/>
                  <a:pt x="238749" y="61093"/>
                  <a:pt x="241503" y="60726"/>
                </a:cubicBezTo>
                <a:lnTo>
                  <a:pt x="241503" y="88820"/>
                </a:lnTo>
                <a:cubicBezTo>
                  <a:pt x="238749" y="88453"/>
                  <a:pt x="235994" y="88453"/>
                  <a:pt x="233240" y="88820"/>
                </a:cubicBezTo>
                <a:lnTo>
                  <a:pt x="233240" y="60726"/>
                </a:lnTo>
                <a:close/>
                <a:moveTo>
                  <a:pt x="237402" y="100878"/>
                </a:moveTo>
                <a:cubicBezTo>
                  <a:pt x="247379" y="100878"/>
                  <a:pt x="255520" y="109018"/>
                  <a:pt x="255520" y="118995"/>
                </a:cubicBezTo>
                <a:cubicBezTo>
                  <a:pt x="255520" y="128971"/>
                  <a:pt x="247379" y="137112"/>
                  <a:pt x="237402" y="137112"/>
                </a:cubicBezTo>
                <a:cubicBezTo>
                  <a:pt x="227425" y="137112"/>
                  <a:pt x="219284" y="128971"/>
                  <a:pt x="219284" y="118995"/>
                </a:cubicBezTo>
                <a:cubicBezTo>
                  <a:pt x="219284" y="109018"/>
                  <a:pt x="227425" y="100878"/>
                  <a:pt x="237402" y="100878"/>
                </a:cubicBezTo>
                <a:close/>
                <a:moveTo>
                  <a:pt x="156606" y="193483"/>
                </a:moveTo>
                <a:cubicBezTo>
                  <a:pt x="159299" y="193850"/>
                  <a:pt x="162115" y="193850"/>
                  <a:pt x="164869" y="193483"/>
                </a:cubicBezTo>
                <a:lnTo>
                  <a:pt x="164869" y="221577"/>
                </a:lnTo>
                <a:cubicBezTo>
                  <a:pt x="162115" y="221209"/>
                  <a:pt x="159360" y="221209"/>
                  <a:pt x="156606" y="221577"/>
                </a:cubicBezTo>
                <a:lnTo>
                  <a:pt x="156606" y="193483"/>
                </a:lnTo>
                <a:close/>
                <a:moveTo>
                  <a:pt x="160768" y="269869"/>
                </a:moveTo>
                <a:cubicBezTo>
                  <a:pt x="150791" y="269869"/>
                  <a:pt x="142650" y="261728"/>
                  <a:pt x="142650" y="251752"/>
                </a:cubicBezTo>
                <a:cubicBezTo>
                  <a:pt x="142650" y="241775"/>
                  <a:pt x="150791" y="233634"/>
                  <a:pt x="160768" y="233634"/>
                </a:cubicBezTo>
                <a:cubicBezTo>
                  <a:pt x="170745" y="233634"/>
                  <a:pt x="178886" y="241775"/>
                  <a:pt x="178886" y="251752"/>
                </a:cubicBezTo>
                <a:cubicBezTo>
                  <a:pt x="178886" y="261728"/>
                  <a:pt x="170745" y="269869"/>
                  <a:pt x="160768" y="269869"/>
                </a:cubicBezTo>
                <a:close/>
                <a:moveTo>
                  <a:pt x="259866" y="275561"/>
                </a:moveTo>
                <a:cubicBezTo>
                  <a:pt x="254295" y="269318"/>
                  <a:pt x="246216" y="265401"/>
                  <a:pt x="237157" y="265401"/>
                </a:cubicBezTo>
                <a:cubicBezTo>
                  <a:pt x="228160" y="265401"/>
                  <a:pt x="220018" y="269318"/>
                  <a:pt x="214449" y="275561"/>
                </a:cubicBezTo>
                <a:lnTo>
                  <a:pt x="189536" y="261177"/>
                </a:lnTo>
                <a:cubicBezTo>
                  <a:pt x="190516" y="258178"/>
                  <a:pt x="191067" y="254996"/>
                  <a:pt x="191067" y="251629"/>
                </a:cubicBezTo>
                <a:cubicBezTo>
                  <a:pt x="191067" y="240918"/>
                  <a:pt x="185497" y="231492"/>
                  <a:pt x="177111" y="226106"/>
                </a:cubicBezTo>
                <a:lnTo>
                  <a:pt x="177111" y="188953"/>
                </a:lnTo>
                <a:cubicBezTo>
                  <a:pt x="185497" y="183567"/>
                  <a:pt x="191067" y="174080"/>
                  <a:pt x="191067" y="163431"/>
                </a:cubicBezTo>
                <a:cubicBezTo>
                  <a:pt x="191067" y="160125"/>
                  <a:pt x="190516" y="156882"/>
                  <a:pt x="189536" y="153882"/>
                </a:cubicBezTo>
                <a:lnTo>
                  <a:pt x="214449" y="139499"/>
                </a:lnTo>
                <a:cubicBezTo>
                  <a:pt x="220018" y="145742"/>
                  <a:pt x="228098" y="149659"/>
                  <a:pt x="237157" y="149659"/>
                </a:cubicBezTo>
                <a:cubicBezTo>
                  <a:pt x="246155" y="149659"/>
                  <a:pt x="254295" y="145742"/>
                  <a:pt x="259866" y="139499"/>
                </a:cubicBezTo>
                <a:lnTo>
                  <a:pt x="284778" y="153882"/>
                </a:lnTo>
                <a:cubicBezTo>
                  <a:pt x="283798" y="156882"/>
                  <a:pt x="283248" y="160064"/>
                  <a:pt x="283248" y="163431"/>
                </a:cubicBezTo>
                <a:cubicBezTo>
                  <a:pt x="283248" y="178059"/>
                  <a:pt x="293653" y="190362"/>
                  <a:pt x="307486" y="193177"/>
                </a:cubicBezTo>
                <a:lnTo>
                  <a:pt x="307486" y="221883"/>
                </a:lnTo>
                <a:cubicBezTo>
                  <a:pt x="293653" y="224759"/>
                  <a:pt x="283248" y="237001"/>
                  <a:pt x="283248" y="251629"/>
                </a:cubicBezTo>
                <a:cubicBezTo>
                  <a:pt x="283248" y="254935"/>
                  <a:pt x="283798" y="258178"/>
                  <a:pt x="284778" y="261177"/>
                </a:cubicBezTo>
                <a:lnTo>
                  <a:pt x="259866" y="275561"/>
                </a:lnTo>
                <a:close/>
                <a:moveTo>
                  <a:pt x="295918" y="251752"/>
                </a:moveTo>
                <a:cubicBezTo>
                  <a:pt x="295918" y="241775"/>
                  <a:pt x="304059" y="233634"/>
                  <a:pt x="314036" y="233634"/>
                </a:cubicBezTo>
                <a:cubicBezTo>
                  <a:pt x="324625" y="233634"/>
                  <a:pt x="332949" y="242693"/>
                  <a:pt x="332092" y="253220"/>
                </a:cubicBezTo>
                <a:cubicBezTo>
                  <a:pt x="332092" y="253282"/>
                  <a:pt x="332092" y="253282"/>
                  <a:pt x="332092" y="253343"/>
                </a:cubicBezTo>
                <a:cubicBezTo>
                  <a:pt x="331297" y="262585"/>
                  <a:pt x="323462" y="269808"/>
                  <a:pt x="314036" y="269808"/>
                </a:cubicBezTo>
                <a:cubicBezTo>
                  <a:pt x="304059" y="269869"/>
                  <a:pt x="295918" y="261728"/>
                  <a:pt x="295918" y="251752"/>
                </a:cubicBezTo>
                <a:close/>
                <a:moveTo>
                  <a:pt x="406339" y="305062"/>
                </a:moveTo>
                <a:cubicBezTo>
                  <a:pt x="401320" y="313693"/>
                  <a:pt x="390241" y="316692"/>
                  <a:pt x="381610" y="311672"/>
                </a:cubicBezTo>
                <a:cubicBezTo>
                  <a:pt x="372980" y="306654"/>
                  <a:pt x="369981" y="295575"/>
                  <a:pt x="375000" y="286945"/>
                </a:cubicBezTo>
                <a:cubicBezTo>
                  <a:pt x="379958" y="278315"/>
                  <a:pt x="391037" y="275255"/>
                  <a:pt x="399729" y="280335"/>
                </a:cubicBezTo>
                <a:cubicBezTo>
                  <a:pt x="408420" y="285354"/>
                  <a:pt x="411358" y="296371"/>
                  <a:pt x="406339" y="305062"/>
                </a:cubicBezTo>
                <a:lnTo>
                  <a:pt x="406339" y="30506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142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712;p38">
            <a:extLst>
              <a:ext uri="{FF2B5EF4-FFF2-40B4-BE49-F238E27FC236}">
                <a16:creationId xmlns:a16="http://schemas.microsoft.com/office/drawing/2014/main" id="{D308FA8D-CA2A-C33D-86B0-F9BD248CFFE6}"/>
              </a:ext>
            </a:extLst>
          </p:cNvPr>
          <p:cNvSpPr txBox="1">
            <a:spLocks/>
          </p:cNvSpPr>
          <p:nvPr/>
        </p:nvSpPr>
        <p:spPr>
          <a:xfrm>
            <a:off x="2055819" y="2164141"/>
            <a:ext cx="1577927" cy="407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tu"/>
              <a:buNone/>
              <a:defRPr sz="30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1600" dirty="0"/>
              <a:t>Pesi condivisi</a:t>
            </a:r>
          </a:p>
        </p:txBody>
      </p:sp>
      <p:sp>
        <p:nvSpPr>
          <p:cNvPr id="21" name="Google Shape;712;p38">
            <a:extLst>
              <a:ext uri="{FF2B5EF4-FFF2-40B4-BE49-F238E27FC236}">
                <a16:creationId xmlns:a16="http://schemas.microsoft.com/office/drawing/2014/main" id="{E43AA1F3-6347-EC95-42C1-3523E82FFA15}"/>
              </a:ext>
            </a:extLst>
          </p:cNvPr>
          <p:cNvSpPr txBox="1">
            <a:spLocks/>
          </p:cNvSpPr>
          <p:nvPr/>
        </p:nvSpPr>
        <p:spPr>
          <a:xfrm>
            <a:off x="1302026" y="2775557"/>
            <a:ext cx="3495976" cy="407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tu"/>
              <a:buNone/>
              <a:defRPr sz="30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1600" dirty="0"/>
              <a:t>Stessa classe → embedding vicini</a:t>
            </a:r>
          </a:p>
        </p:txBody>
      </p:sp>
      <p:sp>
        <p:nvSpPr>
          <p:cNvPr id="24" name="Google Shape;1182;p54">
            <a:extLst>
              <a:ext uri="{FF2B5EF4-FFF2-40B4-BE49-F238E27FC236}">
                <a16:creationId xmlns:a16="http://schemas.microsoft.com/office/drawing/2014/main" id="{94DA67D5-3DAE-7258-8F8D-11E0FA4613EA}"/>
              </a:ext>
            </a:extLst>
          </p:cNvPr>
          <p:cNvSpPr>
            <a:spLocks noChangeAspect="1"/>
          </p:cNvSpPr>
          <p:nvPr/>
        </p:nvSpPr>
        <p:spPr>
          <a:xfrm>
            <a:off x="869735" y="2843373"/>
            <a:ext cx="370585" cy="271976"/>
          </a:xfrm>
          <a:custGeom>
            <a:avLst/>
            <a:gdLst/>
            <a:ahLst/>
            <a:cxnLst/>
            <a:rect l="l" t="t" r="r" b="b"/>
            <a:pathLst>
              <a:path w="422518" h="310090" extrusionOk="0">
                <a:moveTo>
                  <a:pt x="402992" y="271513"/>
                </a:moveTo>
                <a:cubicBezTo>
                  <a:pt x="401707" y="271513"/>
                  <a:pt x="400422" y="271636"/>
                  <a:pt x="399197" y="271881"/>
                </a:cubicBezTo>
                <a:lnTo>
                  <a:pt x="391607" y="258782"/>
                </a:lnTo>
                <a:cubicBezTo>
                  <a:pt x="396504" y="254069"/>
                  <a:pt x="399565" y="247459"/>
                  <a:pt x="399565" y="240175"/>
                </a:cubicBezTo>
                <a:cubicBezTo>
                  <a:pt x="399565" y="232892"/>
                  <a:pt x="396504" y="226282"/>
                  <a:pt x="391607" y="221569"/>
                </a:cubicBezTo>
                <a:lnTo>
                  <a:pt x="399197" y="208471"/>
                </a:lnTo>
                <a:cubicBezTo>
                  <a:pt x="401646" y="208960"/>
                  <a:pt x="404278" y="208960"/>
                  <a:pt x="407032" y="208410"/>
                </a:cubicBezTo>
                <a:cubicBezTo>
                  <a:pt x="414744" y="206818"/>
                  <a:pt x="420743" y="200575"/>
                  <a:pt x="422028" y="192802"/>
                </a:cubicBezTo>
                <a:cubicBezTo>
                  <a:pt x="424232" y="179520"/>
                  <a:pt x="412786" y="168197"/>
                  <a:pt x="399503" y="170522"/>
                </a:cubicBezTo>
                <a:cubicBezTo>
                  <a:pt x="391730" y="171930"/>
                  <a:pt x="385487" y="178112"/>
                  <a:pt x="384079" y="185886"/>
                </a:cubicBezTo>
                <a:cubicBezTo>
                  <a:pt x="382916" y="192128"/>
                  <a:pt x="384813" y="198004"/>
                  <a:pt x="388547" y="202227"/>
                </a:cubicBezTo>
                <a:lnTo>
                  <a:pt x="381018" y="215326"/>
                </a:lnTo>
                <a:cubicBezTo>
                  <a:pt x="372082" y="212755"/>
                  <a:pt x="362105" y="215081"/>
                  <a:pt x="355188" y="222242"/>
                </a:cubicBezTo>
                <a:lnTo>
                  <a:pt x="336642" y="211531"/>
                </a:lnTo>
                <a:cubicBezTo>
                  <a:pt x="337315" y="209266"/>
                  <a:pt x="337621" y="206879"/>
                  <a:pt x="337621" y="204370"/>
                </a:cubicBezTo>
                <a:cubicBezTo>
                  <a:pt x="337621" y="192251"/>
                  <a:pt x="329235" y="182029"/>
                  <a:pt x="317973" y="179275"/>
                </a:cubicBezTo>
                <a:lnTo>
                  <a:pt x="317973" y="158159"/>
                </a:lnTo>
                <a:cubicBezTo>
                  <a:pt x="329297" y="155343"/>
                  <a:pt x="337743" y="145122"/>
                  <a:pt x="337743" y="132942"/>
                </a:cubicBezTo>
                <a:cubicBezTo>
                  <a:pt x="337743" y="130494"/>
                  <a:pt x="337376" y="128046"/>
                  <a:pt x="336703" y="125658"/>
                </a:cubicBezTo>
                <a:lnTo>
                  <a:pt x="349863" y="118068"/>
                </a:lnTo>
                <a:cubicBezTo>
                  <a:pt x="356106" y="123577"/>
                  <a:pt x="365961" y="125107"/>
                  <a:pt x="375387" y="118680"/>
                </a:cubicBezTo>
                <a:cubicBezTo>
                  <a:pt x="376366" y="118007"/>
                  <a:pt x="377223" y="117150"/>
                  <a:pt x="377835" y="116232"/>
                </a:cubicBezTo>
                <a:cubicBezTo>
                  <a:pt x="391240" y="96463"/>
                  <a:pt x="369756" y="74918"/>
                  <a:pt x="349924" y="88261"/>
                </a:cubicBezTo>
                <a:cubicBezTo>
                  <a:pt x="348945" y="88934"/>
                  <a:pt x="348088" y="89730"/>
                  <a:pt x="347414" y="90710"/>
                </a:cubicBezTo>
                <a:cubicBezTo>
                  <a:pt x="343558" y="96340"/>
                  <a:pt x="342518" y="102216"/>
                  <a:pt x="343558" y="107296"/>
                </a:cubicBezTo>
                <a:lnTo>
                  <a:pt x="330153" y="115070"/>
                </a:lnTo>
                <a:cubicBezTo>
                  <a:pt x="326542" y="112866"/>
                  <a:pt x="321095" y="114641"/>
                  <a:pt x="320299" y="120945"/>
                </a:cubicBezTo>
                <a:cubicBezTo>
                  <a:pt x="320176" y="121863"/>
                  <a:pt x="320544" y="122720"/>
                  <a:pt x="321156" y="123332"/>
                </a:cubicBezTo>
                <a:cubicBezTo>
                  <a:pt x="325379" y="127555"/>
                  <a:pt x="326726" y="134044"/>
                  <a:pt x="323053" y="140960"/>
                </a:cubicBezTo>
                <a:cubicBezTo>
                  <a:pt x="322564" y="141817"/>
                  <a:pt x="321890" y="142613"/>
                  <a:pt x="321095" y="143163"/>
                </a:cubicBezTo>
                <a:cubicBezTo>
                  <a:pt x="310077" y="151181"/>
                  <a:pt x="298080" y="143408"/>
                  <a:pt x="298080" y="132942"/>
                </a:cubicBezTo>
                <a:cubicBezTo>
                  <a:pt x="298080" y="128780"/>
                  <a:pt x="299916" y="124801"/>
                  <a:pt x="303589" y="122047"/>
                </a:cubicBezTo>
                <a:cubicBezTo>
                  <a:pt x="304262" y="121557"/>
                  <a:pt x="304691" y="120762"/>
                  <a:pt x="304691" y="119905"/>
                </a:cubicBezTo>
                <a:cubicBezTo>
                  <a:pt x="304813" y="112499"/>
                  <a:pt x="297835" y="110357"/>
                  <a:pt x="293979" y="113845"/>
                </a:cubicBezTo>
                <a:cubicBezTo>
                  <a:pt x="293612" y="114212"/>
                  <a:pt x="293183" y="114580"/>
                  <a:pt x="292877" y="114947"/>
                </a:cubicBezTo>
                <a:lnTo>
                  <a:pt x="274270" y="104175"/>
                </a:lnTo>
                <a:cubicBezTo>
                  <a:pt x="274943" y="101910"/>
                  <a:pt x="275310" y="99462"/>
                  <a:pt x="275310" y="96952"/>
                </a:cubicBezTo>
                <a:cubicBezTo>
                  <a:pt x="275310" y="88934"/>
                  <a:pt x="271638" y="81773"/>
                  <a:pt x="265945" y="76999"/>
                </a:cubicBezTo>
                <a:lnTo>
                  <a:pt x="265945" y="45661"/>
                </a:lnTo>
                <a:cubicBezTo>
                  <a:pt x="271638" y="40948"/>
                  <a:pt x="275249" y="33787"/>
                  <a:pt x="275249" y="25831"/>
                </a:cubicBezTo>
                <a:cubicBezTo>
                  <a:pt x="275249" y="11753"/>
                  <a:pt x="263864" y="246"/>
                  <a:pt x="249847" y="1"/>
                </a:cubicBezTo>
                <a:cubicBezTo>
                  <a:pt x="246787" y="-60"/>
                  <a:pt x="243971" y="1960"/>
                  <a:pt x="243359" y="4959"/>
                </a:cubicBezTo>
                <a:cubicBezTo>
                  <a:pt x="242625" y="8937"/>
                  <a:pt x="245624" y="12365"/>
                  <a:pt x="249419" y="12365"/>
                </a:cubicBezTo>
                <a:cubicBezTo>
                  <a:pt x="257315" y="12365"/>
                  <a:pt x="263619" y="19220"/>
                  <a:pt x="262824" y="27238"/>
                </a:cubicBezTo>
                <a:cubicBezTo>
                  <a:pt x="262150" y="33420"/>
                  <a:pt x="257192" y="38439"/>
                  <a:pt x="251010" y="39174"/>
                </a:cubicBezTo>
                <a:cubicBezTo>
                  <a:pt x="242747" y="40092"/>
                  <a:pt x="235647" y="33481"/>
                  <a:pt x="236014" y="25219"/>
                </a:cubicBezTo>
                <a:cubicBezTo>
                  <a:pt x="236136" y="21791"/>
                  <a:pt x="233504" y="18914"/>
                  <a:pt x="230138" y="18792"/>
                </a:cubicBezTo>
                <a:cubicBezTo>
                  <a:pt x="226771" y="18669"/>
                  <a:pt x="223833" y="21301"/>
                  <a:pt x="223711" y="24667"/>
                </a:cubicBezTo>
                <a:cubicBezTo>
                  <a:pt x="223344" y="32808"/>
                  <a:pt x="226771" y="40520"/>
                  <a:pt x="233015" y="45661"/>
                </a:cubicBezTo>
                <a:lnTo>
                  <a:pt x="233015" y="77489"/>
                </a:lnTo>
                <a:cubicBezTo>
                  <a:pt x="227322" y="82202"/>
                  <a:pt x="223711" y="89363"/>
                  <a:pt x="223711" y="97320"/>
                </a:cubicBezTo>
                <a:cubicBezTo>
                  <a:pt x="223711" y="99829"/>
                  <a:pt x="224078" y="102216"/>
                  <a:pt x="224751" y="104481"/>
                </a:cubicBezTo>
                <a:lnTo>
                  <a:pt x="206205" y="115192"/>
                </a:lnTo>
                <a:cubicBezTo>
                  <a:pt x="201492" y="110296"/>
                  <a:pt x="194881" y="107235"/>
                  <a:pt x="187598" y="107235"/>
                </a:cubicBezTo>
                <a:cubicBezTo>
                  <a:pt x="178355" y="107235"/>
                  <a:pt x="170275" y="112132"/>
                  <a:pt x="165685" y="119415"/>
                </a:cubicBezTo>
                <a:lnTo>
                  <a:pt x="145302" y="112805"/>
                </a:lnTo>
                <a:cubicBezTo>
                  <a:pt x="146404" y="97748"/>
                  <a:pt x="134346" y="85017"/>
                  <a:pt x="119349" y="85139"/>
                </a:cubicBezTo>
                <a:cubicBezTo>
                  <a:pt x="105883" y="85262"/>
                  <a:pt x="94621" y="95851"/>
                  <a:pt x="93764" y="109316"/>
                </a:cubicBezTo>
                <a:cubicBezTo>
                  <a:pt x="93580" y="112132"/>
                  <a:pt x="93886" y="114825"/>
                  <a:pt x="94499" y="117334"/>
                </a:cubicBezTo>
                <a:lnTo>
                  <a:pt x="75830" y="143041"/>
                </a:lnTo>
                <a:cubicBezTo>
                  <a:pt x="64445" y="143775"/>
                  <a:pt x="55080" y="151916"/>
                  <a:pt x="52448" y="162627"/>
                </a:cubicBezTo>
                <a:lnTo>
                  <a:pt x="37513" y="162627"/>
                </a:lnTo>
                <a:cubicBezTo>
                  <a:pt x="34942" y="155037"/>
                  <a:pt x="27720" y="149529"/>
                  <a:pt x="19273" y="149529"/>
                </a:cubicBezTo>
                <a:cubicBezTo>
                  <a:pt x="4582" y="149529"/>
                  <a:pt x="-6313" y="166055"/>
                  <a:pt x="4154" y="181479"/>
                </a:cubicBezTo>
                <a:cubicBezTo>
                  <a:pt x="4827" y="182458"/>
                  <a:pt x="5684" y="183315"/>
                  <a:pt x="6664" y="183988"/>
                </a:cubicBezTo>
                <a:cubicBezTo>
                  <a:pt x="19823" y="192863"/>
                  <a:pt x="33779" y="186253"/>
                  <a:pt x="37574" y="174990"/>
                </a:cubicBezTo>
                <a:lnTo>
                  <a:pt x="52693" y="174990"/>
                </a:lnTo>
                <a:cubicBezTo>
                  <a:pt x="55447" y="186253"/>
                  <a:pt x="65669" y="194638"/>
                  <a:pt x="77727" y="194638"/>
                </a:cubicBezTo>
                <a:cubicBezTo>
                  <a:pt x="81155" y="194638"/>
                  <a:pt x="84460" y="193964"/>
                  <a:pt x="87460" y="192740"/>
                </a:cubicBezTo>
                <a:lnTo>
                  <a:pt x="100007" y="210001"/>
                </a:lnTo>
                <a:cubicBezTo>
                  <a:pt x="96641" y="214041"/>
                  <a:pt x="94437" y="219121"/>
                  <a:pt x="94009" y="224813"/>
                </a:cubicBezTo>
                <a:cubicBezTo>
                  <a:pt x="93948" y="225547"/>
                  <a:pt x="94192" y="226282"/>
                  <a:pt x="94682" y="226832"/>
                </a:cubicBezTo>
                <a:cubicBezTo>
                  <a:pt x="99150" y="232219"/>
                  <a:pt x="105700" y="229587"/>
                  <a:pt x="106496" y="224568"/>
                </a:cubicBezTo>
                <a:cubicBezTo>
                  <a:pt x="107965" y="214897"/>
                  <a:pt x="119900" y="208777"/>
                  <a:pt x="129571" y="217101"/>
                </a:cubicBezTo>
                <a:cubicBezTo>
                  <a:pt x="130000" y="217468"/>
                  <a:pt x="130367" y="217897"/>
                  <a:pt x="130673" y="218386"/>
                </a:cubicBezTo>
                <a:cubicBezTo>
                  <a:pt x="137345" y="228975"/>
                  <a:pt x="129816" y="240114"/>
                  <a:pt x="119778" y="240114"/>
                </a:cubicBezTo>
                <a:cubicBezTo>
                  <a:pt x="118248" y="240114"/>
                  <a:pt x="116779" y="239869"/>
                  <a:pt x="115432" y="239380"/>
                </a:cubicBezTo>
                <a:cubicBezTo>
                  <a:pt x="114514" y="239074"/>
                  <a:pt x="113535" y="239196"/>
                  <a:pt x="112739" y="239747"/>
                </a:cubicBezTo>
                <a:cubicBezTo>
                  <a:pt x="106924" y="243726"/>
                  <a:pt x="108883" y="250397"/>
                  <a:pt x="113657" y="251744"/>
                </a:cubicBezTo>
                <a:lnTo>
                  <a:pt x="113657" y="266862"/>
                </a:lnTo>
                <a:cubicBezTo>
                  <a:pt x="102395" y="270657"/>
                  <a:pt x="95784" y="284612"/>
                  <a:pt x="104720" y="297771"/>
                </a:cubicBezTo>
                <a:cubicBezTo>
                  <a:pt x="105394" y="298750"/>
                  <a:pt x="106251" y="299607"/>
                  <a:pt x="107230" y="300280"/>
                </a:cubicBezTo>
                <a:cubicBezTo>
                  <a:pt x="122655" y="310747"/>
                  <a:pt x="139181" y="299852"/>
                  <a:pt x="139181" y="285162"/>
                </a:cubicBezTo>
                <a:cubicBezTo>
                  <a:pt x="139181" y="276716"/>
                  <a:pt x="133672" y="269494"/>
                  <a:pt x="126082" y="266923"/>
                </a:cubicBezTo>
                <a:lnTo>
                  <a:pt x="126082" y="251560"/>
                </a:lnTo>
                <a:cubicBezTo>
                  <a:pt x="137345" y="248806"/>
                  <a:pt x="145731" y="238584"/>
                  <a:pt x="145731" y="226465"/>
                </a:cubicBezTo>
                <a:cubicBezTo>
                  <a:pt x="145731" y="225853"/>
                  <a:pt x="145731" y="225241"/>
                  <a:pt x="145669" y="224629"/>
                </a:cubicBezTo>
                <a:lnTo>
                  <a:pt x="166052" y="218019"/>
                </a:lnTo>
                <a:cubicBezTo>
                  <a:pt x="170643" y="225364"/>
                  <a:pt x="178722" y="230260"/>
                  <a:pt x="188026" y="230260"/>
                </a:cubicBezTo>
                <a:cubicBezTo>
                  <a:pt x="195310" y="230260"/>
                  <a:pt x="201920" y="227200"/>
                  <a:pt x="206634" y="222304"/>
                </a:cubicBezTo>
                <a:lnTo>
                  <a:pt x="225180" y="233015"/>
                </a:lnTo>
                <a:cubicBezTo>
                  <a:pt x="224139" y="236626"/>
                  <a:pt x="223833" y="240543"/>
                  <a:pt x="224507" y="244644"/>
                </a:cubicBezTo>
                <a:cubicBezTo>
                  <a:pt x="226343" y="255477"/>
                  <a:pt x="235035" y="264107"/>
                  <a:pt x="245930" y="265760"/>
                </a:cubicBezTo>
                <a:cubicBezTo>
                  <a:pt x="260436" y="267963"/>
                  <a:pt x="273168" y="258048"/>
                  <a:pt x="275494" y="244582"/>
                </a:cubicBezTo>
                <a:lnTo>
                  <a:pt x="303038" y="228669"/>
                </a:lnTo>
                <a:cubicBezTo>
                  <a:pt x="312403" y="232158"/>
                  <a:pt x="323359" y="229954"/>
                  <a:pt x="330643" y="222304"/>
                </a:cubicBezTo>
                <a:lnTo>
                  <a:pt x="349190" y="233015"/>
                </a:lnTo>
                <a:cubicBezTo>
                  <a:pt x="348149" y="236565"/>
                  <a:pt x="347843" y="240481"/>
                  <a:pt x="348516" y="244460"/>
                </a:cubicBezTo>
                <a:cubicBezTo>
                  <a:pt x="350230" y="255233"/>
                  <a:pt x="358799" y="263862"/>
                  <a:pt x="369572" y="265638"/>
                </a:cubicBezTo>
                <a:cubicBezTo>
                  <a:pt x="373612" y="266311"/>
                  <a:pt x="377591" y="266066"/>
                  <a:pt x="381202" y="264964"/>
                </a:cubicBezTo>
                <a:lnTo>
                  <a:pt x="388731" y="278062"/>
                </a:lnTo>
                <a:cubicBezTo>
                  <a:pt x="384997" y="282286"/>
                  <a:pt x="383099" y="288101"/>
                  <a:pt x="384262" y="294343"/>
                </a:cubicBezTo>
                <a:cubicBezTo>
                  <a:pt x="385670" y="302239"/>
                  <a:pt x="392097" y="308543"/>
                  <a:pt x="400054" y="309829"/>
                </a:cubicBezTo>
                <a:cubicBezTo>
                  <a:pt x="412113" y="311787"/>
                  <a:pt x="422518" y="302484"/>
                  <a:pt x="422518" y="290793"/>
                </a:cubicBezTo>
                <a:cubicBezTo>
                  <a:pt x="422273" y="280205"/>
                  <a:pt x="413643" y="271513"/>
                  <a:pt x="402992" y="271513"/>
                </a:cubicBezTo>
                <a:lnTo>
                  <a:pt x="402992" y="271513"/>
                </a:lnTo>
                <a:close/>
                <a:moveTo>
                  <a:pt x="402503" y="182703"/>
                </a:moveTo>
                <a:cubicBezTo>
                  <a:pt x="406298" y="182703"/>
                  <a:pt x="409419" y="185824"/>
                  <a:pt x="409419" y="189619"/>
                </a:cubicBezTo>
                <a:cubicBezTo>
                  <a:pt x="409419" y="193414"/>
                  <a:pt x="406298" y="196535"/>
                  <a:pt x="402503" y="196535"/>
                </a:cubicBezTo>
                <a:cubicBezTo>
                  <a:pt x="398708" y="196535"/>
                  <a:pt x="395586" y="193414"/>
                  <a:pt x="395586" y="189619"/>
                </a:cubicBezTo>
                <a:cubicBezTo>
                  <a:pt x="395586" y="185763"/>
                  <a:pt x="398708" y="182703"/>
                  <a:pt x="402503" y="182703"/>
                </a:cubicBezTo>
                <a:close/>
                <a:moveTo>
                  <a:pt x="361982" y="96769"/>
                </a:moveTo>
                <a:cubicBezTo>
                  <a:pt x="365777" y="96769"/>
                  <a:pt x="368899" y="99891"/>
                  <a:pt x="368899" y="103685"/>
                </a:cubicBezTo>
                <a:cubicBezTo>
                  <a:pt x="368899" y="107480"/>
                  <a:pt x="365777" y="110602"/>
                  <a:pt x="361982" y="110602"/>
                </a:cubicBezTo>
                <a:cubicBezTo>
                  <a:pt x="358187" y="110602"/>
                  <a:pt x="355066" y="107480"/>
                  <a:pt x="355066" y="103685"/>
                </a:cubicBezTo>
                <a:cubicBezTo>
                  <a:pt x="355066" y="99891"/>
                  <a:pt x="358126" y="96769"/>
                  <a:pt x="361982" y="96769"/>
                </a:cubicBezTo>
                <a:close/>
                <a:moveTo>
                  <a:pt x="119472" y="291895"/>
                </a:moveTo>
                <a:cubicBezTo>
                  <a:pt x="115677" y="291895"/>
                  <a:pt x="112555" y="288774"/>
                  <a:pt x="112555" y="284979"/>
                </a:cubicBezTo>
                <a:cubicBezTo>
                  <a:pt x="112555" y="281184"/>
                  <a:pt x="115677" y="278062"/>
                  <a:pt x="119472" y="278062"/>
                </a:cubicBezTo>
                <a:cubicBezTo>
                  <a:pt x="123267" y="278062"/>
                  <a:pt x="126389" y="281184"/>
                  <a:pt x="126389" y="284979"/>
                </a:cubicBezTo>
                <a:cubicBezTo>
                  <a:pt x="126389" y="288774"/>
                  <a:pt x="123267" y="291895"/>
                  <a:pt x="119472" y="291895"/>
                </a:cubicBezTo>
                <a:close/>
                <a:moveTo>
                  <a:pt x="235953" y="97197"/>
                </a:moveTo>
                <a:cubicBezTo>
                  <a:pt x="235953" y="89791"/>
                  <a:pt x="242012" y="83732"/>
                  <a:pt x="249419" y="83732"/>
                </a:cubicBezTo>
                <a:cubicBezTo>
                  <a:pt x="256825" y="83732"/>
                  <a:pt x="262885" y="89791"/>
                  <a:pt x="262885" y="97197"/>
                </a:cubicBezTo>
                <a:cubicBezTo>
                  <a:pt x="262885" y="104603"/>
                  <a:pt x="256825" y="110663"/>
                  <a:pt x="249419" y="110663"/>
                </a:cubicBezTo>
                <a:cubicBezTo>
                  <a:pt x="242012" y="110663"/>
                  <a:pt x="235953" y="104603"/>
                  <a:pt x="235953" y="97197"/>
                </a:cubicBezTo>
                <a:lnTo>
                  <a:pt x="235953" y="97197"/>
                </a:lnTo>
                <a:close/>
                <a:moveTo>
                  <a:pt x="245379" y="51170"/>
                </a:moveTo>
                <a:cubicBezTo>
                  <a:pt x="248072" y="51598"/>
                  <a:pt x="250888" y="51598"/>
                  <a:pt x="253642" y="51170"/>
                </a:cubicBezTo>
                <a:lnTo>
                  <a:pt x="253642" y="71736"/>
                </a:lnTo>
                <a:cubicBezTo>
                  <a:pt x="250949" y="71307"/>
                  <a:pt x="248133" y="71307"/>
                  <a:pt x="245379" y="71736"/>
                </a:cubicBezTo>
                <a:lnTo>
                  <a:pt x="245379" y="51170"/>
                </a:lnTo>
                <a:close/>
                <a:moveTo>
                  <a:pt x="183558" y="178969"/>
                </a:moveTo>
                <a:lnTo>
                  <a:pt x="183558" y="158404"/>
                </a:lnTo>
                <a:cubicBezTo>
                  <a:pt x="186251" y="158832"/>
                  <a:pt x="189067" y="158832"/>
                  <a:pt x="191821" y="158404"/>
                </a:cubicBezTo>
                <a:lnTo>
                  <a:pt x="191821" y="178969"/>
                </a:lnTo>
                <a:cubicBezTo>
                  <a:pt x="189128" y="178541"/>
                  <a:pt x="186312" y="178541"/>
                  <a:pt x="183558" y="178969"/>
                </a:cubicBezTo>
                <a:close/>
                <a:moveTo>
                  <a:pt x="187475" y="119477"/>
                </a:moveTo>
                <a:cubicBezTo>
                  <a:pt x="194881" y="119477"/>
                  <a:pt x="200941" y="125536"/>
                  <a:pt x="200941" y="132942"/>
                </a:cubicBezTo>
                <a:cubicBezTo>
                  <a:pt x="200941" y="140348"/>
                  <a:pt x="194881" y="146407"/>
                  <a:pt x="187475" y="146407"/>
                </a:cubicBezTo>
                <a:cubicBezTo>
                  <a:pt x="180069" y="146407"/>
                  <a:pt x="174009" y="140348"/>
                  <a:pt x="174009" y="132942"/>
                </a:cubicBezTo>
                <a:cubicBezTo>
                  <a:pt x="174009" y="125536"/>
                  <a:pt x="180069" y="119477"/>
                  <a:pt x="187475" y="119477"/>
                </a:cubicBezTo>
                <a:close/>
                <a:moveTo>
                  <a:pt x="119472" y="97381"/>
                </a:moveTo>
                <a:cubicBezTo>
                  <a:pt x="126878" y="97381"/>
                  <a:pt x="132938" y="103440"/>
                  <a:pt x="132938" y="110846"/>
                </a:cubicBezTo>
                <a:cubicBezTo>
                  <a:pt x="132938" y="118252"/>
                  <a:pt x="126878" y="124312"/>
                  <a:pt x="119472" y="124312"/>
                </a:cubicBezTo>
                <a:cubicBezTo>
                  <a:pt x="112066" y="124312"/>
                  <a:pt x="106006" y="118252"/>
                  <a:pt x="106006" y="110846"/>
                </a:cubicBezTo>
                <a:cubicBezTo>
                  <a:pt x="106006" y="103379"/>
                  <a:pt x="112066" y="97381"/>
                  <a:pt x="119472" y="97381"/>
                </a:cubicBezTo>
                <a:lnTo>
                  <a:pt x="119472" y="97381"/>
                </a:lnTo>
                <a:close/>
                <a:moveTo>
                  <a:pt x="107781" y="133860"/>
                </a:moveTo>
                <a:lnTo>
                  <a:pt x="95662" y="150508"/>
                </a:lnTo>
                <a:cubicBezTo>
                  <a:pt x="93703" y="148550"/>
                  <a:pt x="91499" y="146897"/>
                  <a:pt x="88990" y="145673"/>
                </a:cubicBezTo>
                <a:lnTo>
                  <a:pt x="101109" y="129025"/>
                </a:lnTo>
                <a:cubicBezTo>
                  <a:pt x="103068" y="130922"/>
                  <a:pt x="105333" y="132574"/>
                  <a:pt x="107781" y="133860"/>
                </a:cubicBezTo>
                <a:lnTo>
                  <a:pt x="107781" y="133860"/>
                </a:lnTo>
                <a:close/>
                <a:moveTo>
                  <a:pt x="18967" y="175602"/>
                </a:moveTo>
                <a:cubicBezTo>
                  <a:pt x="15172" y="175602"/>
                  <a:pt x="12050" y="172481"/>
                  <a:pt x="12050" y="168686"/>
                </a:cubicBezTo>
                <a:cubicBezTo>
                  <a:pt x="12050" y="164891"/>
                  <a:pt x="15172" y="161770"/>
                  <a:pt x="18967" y="161770"/>
                </a:cubicBezTo>
                <a:cubicBezTo>
                  <a:pt x="22762" y="161770"/>
                  <a:pt x="25883" y="164891"/>
                  <a:pt x="25883" y="168686"/>
                </a:cubicBezTo>
                <a:cubicBezTo>
                  <a:pt x="25883" y="172481"/>
                  <a:pt x="22762" y="175602"/>
                  <a:pt x="18967" y="175602"/>
                </a:cubicBezTo>
                <a:close/>
                <a:moveTo>
                  <a:pt x="63955" y="168686"/>
                </a:moveTo>
                <a:cubicBezTo>
                  <a:pt x="63955" y="160913"/>
                  <a:pt x="70627" y="154731"/>
                  <a:pt x="78401" y="155282"/>
                </a:cubicBezTo>
                <a:cubicBezTo>
                  <a:pt x="78401" y="155282"/>
                  <a:pt x="78462" y="155282"/>
                  <a:pt x="78462" y="155282"/>
                </a:cubicBezTo>
                <a:cubicBezTo>
                  <a:pt x="85378" y="155833"/>
                  <a:pt x="90887" y="161648"/>
                  <a:pt x="90887" y="168686"/>
                </a:cubicBezTo>
                <a:cubicBezTo>
                  <a:pt x="90887" y="176093"/>
                  <a:pt x="84827" y="182152"/>
                  <a:pt x="77421" y="182152"/>
                </a:cubicBezTo>
                <a:cubicBezTo>
                  <a:pt x="69954" y="182152"/>
                  <a:pt x="63955" y="176093"/>
                  <a:pt x="63955" y="168686"/>
                </a:cubicBezTo>
                <a:lnTo>
                  <a:pt x="63955" y="168686"/>
                </a:lnTo>
                <a:close/>
                <a:moveTo>
                  <a:pt x="141568" y="212938"/>
                </a:moveTo>
                <a:cubicBezTo>
                  <a:pt x="136978" y="205594"/>
                  <a:pt x="128898" y="200759"/>
                  <a:pt x="119656" y="200759"/>
                </a:cubicBezTo>
                <a:cubicBezTo>
                  <a:pt x="116228" y="200759"/>
                  <a:pt x="112923" y="201432"/>
                  <a:pt x="109923" y="202656"/>
                </a:cubicBezTo>
                <a:lnTo>
                  <a:pt x="97375" y="185335"/>
                </a:lnTo>
                <a:cubicBezTo>
                  <a:pt x="102884" y="178785"/>
                  <a:pt x="104659" y="170216"/>
                  <a:pt x="102639" y="162321"/>
                </a:cubicBezTo>
                <a:lnTo>
                  <a:pt x="121308" y="136614"/>
                </a:lnTo>
                <a:cubicBezTo>
                  <a:pt x="129877" y="136063"/>
                  <a:pt x="137284" y="131350"/>
                  <a:pt x="141568" y="124495"/>
                </a:cubicBezTo>
                <a:lnTo>
                  <a:pt x="161951" y="131106"/>
                </a:lnTo>
                <a:cubicBezTo>
                  <a:pt x="161339" y="139736"/>
                  <a:pt x="165011" y="147693"/>
                  <a:pt x="171194" y="152834"/>
                </a:cubicBezTo>
                <a:lnTo>
                  <a:pt x="171194" y="184662"/>
                </a:lnTo>
                <a:cubicBezTo>
                  <a:pt x="164828" y="189986"/>
                  <a:pt x="161339" y="198004"/>
                  <a:pt x="161951" y="206390"/>
                </a:cubicBezTo>
                <a:lnTo>
                  <a:pt x="141568" y="212938"/>
                </a:lnTo>
                <a:close/>
                <a:moveTo>
                  <a:pt x="187475" y="217897"/>
                </a:moveTo>
                <a:cubicBezTo>
                  <a:pt x="180069" y="217897"/>
                  <a:pt x="174009" y="211837"/>
                  <a:pt x="174009" y="204431"/>
                </a:cubicBezTo>
                <a:cubicBezTo>
                  <a:pt x="174009" y="197025"/>
                  <a:pt x="180069" y="190966"/>
                  <a:pt x="187475" y="190966"/>
                </a:cubicBezTo>
                <a:cubicBezTo>
                  <a:pt x="194881" y="190966"/>
                  <a:pt x="200941" y="197025"/>
                  <a:pt x="200941" y="204431"/>
                </a:cubicBezTo>
                <a:cubicBezTo>
                  <a:pt x="200941" y="211837"/>
                  <a:pt x="194881" y="217897"/>
                  <a:pt x="187475" y="217897"/>
                </a:cubicBezTo>
                <a:close/>
                <a:moveTo>
                  <a:pt x="212510" y="211714"/>
                </a:moveTo>
                <a:cubicBezTo>
                  <a:pt x="213183" y="209450"/>
                  <a:pt x="213550" y="207002"/>
                  <a:pt x="213550" y="204554"/>
                </a:cubicBezTo>
                <a:cubicBezTo>
                  <a:pt x="213550" y="196535"/>
                  <a:pt x="209939" y="189436"/>
                  <a:pt x="204185" y="184662"/>
                </a:cubicBezTo>
                <a:lnTo>
                  <a:pt x="204185" y="152773"/>
                </a:lnTo>
                <a:cubicBezTo>
                  <a:pt x="209878" y="147999"/>
                  <a:pt x="213550" y="140899"/>
                  <a:pt x="213550" y="132880"/>
                </a:cubicBezTo>
                <a:cubicBezTo>
                  <a:pt x="213550" y="130371"/>
                  <a:pt x="213183" y="127984"/>
                  <a:pt x="212510" y="125658"/>
                </a:cubicBezTo>
                <a:lnTo>
                  <a:pt x="231056" y="114947"/>
                </a:lnTo>
                <a:cubicBezTo>
                  <a:pt x="235769" y="119844"/>
                  <a:pt x="242380" y="122904"/>
                  <a:pt x="249725" y="122904"/>
                </a:cubicBezTo>
                <a:cubicBezTo>
                  <a:pt x="257070" y="122904"/>
                  <a:pt x="263681" y="119844"/>
                  <a:pt x="268394" y="114947"/>
                </a:cubicBezTo>
                <a:lnTo>
                  <a:pt x="286940" y="125658"/>
                </a:lnTo>
                <a:cubicBezTo>
                  <a:pt x="286267" y="127984"/>
                  <a:pt x="285899" y="130371"/>
                  <a:pt x="285899" y="132820"/>
                </a:cubicBezTo>
                <a:cubicBezTo>
                  <a:pt x="285899" y="144938"/>
                  <a:pt x="294285" y="155160"/>
                  <a:pt x="305547" y="157914"/>
                </a:cubicBezTo>
                <a:lnTo>
                  <a:pt x="305547" y="179336"/>
                </a:lnTo>
                <a:cubicBezTo>
                  <a:pt x="295632" y="181785"/>
                  <a:pt x="287980" y="189925"/>
                  <a:pt x="286267" y="200085"/>
                </a:cubicBezTo>
                <a:lnTo>
                  <a:pt x="258661" y="215999"/>
                </a:lnTo>
                <a:cubicBezTo>
                  <a:pt x="249296" y="212510"/>
                  <a:pt x="238401" y="214714"/>
                  <a:pt x="231056" y="222365"/>
                </a:cubicBezTo>
                <a:lnTo>
                  <a:pt x="212510" y="211714"/>
                </a:lnTo>
                <a:close/>
                <a:moveTo>
                  <a:pt x="269434" y="223895"/>
                </a:moveTo>
                <a:lnTo>
                  <a:pt x="287246" y="213612"/>
                </a:lnTo>
                <a:cubicBezTo>
                  <a:pt x="288225" y="216244"/>
                  <a:pt x="289633" y="218631"/>
                  <a:pt x="291347" y="220773"/>
                </a:cubicBezTo>
                <a:lnTo>
                  <a:pt x="273535" y="231056"/>
                </a:lnTo>
                <a:cubicBezTo>
                  <a:pt x="272556" y="228424"/>
                  <a:pt x="271148" y="226037"/>
                  <a:pt x="269434" y="223895"/>
                </a:cubicBezTo>
                <a:close/>
                <a:moveTo>
                  <a:pt x="249419" y="253641"/>
                </a:moveTo>
                <a:cubicBezTo>
                  <a:pt x="242012" y="253641"/>
                  <a:pt x="235953" y="247582"/>
                  <a:pt x="235953" y="240175"/>
                </a:cubicBezTo>
                <a:cubicBezTo>
                  <a:pt x="235953" y="232770"/>
                  <a:pt x="242012" y="226710"/>
                  <a:pt x="249419" y="226710"/>
                </a:cubicBezTo>
                <a:cubicBezTo>
                  <a:pt x="256825" y="226710"/>
                  <a:pt x="262885" y="232770"/>
                  <a:pt x="262885" y="240175"/>
                </a:cubicBezTo>
                <a:cubicBezTo>
                  <a:pt x="262885" y="247643"/>
                  <a:pt x="256825" y="253641"/>
                  <a:pt x="249419" y="253641"/>
                </a:cubicBezTo>
                <a:close/>
                <a:moveTo>
                  <a:pt x="311362" y="217897"/>
                </a:moveTo>
                <a:cubicBezTo>
                  <a:pt x="303956" y="217897"/>
                  <a:pt x="297774" y="211776"/>
                  <a:pt x="297896" y="204125"/>
                </a:cubicBezTo>
                <a:cubicBezTo>
                  <a:pt x="297896" y="204064"/>
                  <a:pt x="297896" y="204003"/>
                  <a:pt x="297896" y="203942"/>
                </a:cubicBezTo>
                <a:cubicBezTo>
                  <a:pt x="298141" y="196719"/>
                  <a:pt x="304079" y="190966"/>
                  <a:pt x="311362" y="190966"/>
                </a:cubicBezTo>
                <a:cubicBezTo>
                  <a:pt x="318769" y="190966"/>
                  <a:pt x="324828" y="197025"/>
                  <a:pt x="324828" y="204431"/>
                </a:cubicBezTo>
                <a:cubicBezTo>
                  <a:pt x="324828" y="211837"/>
                  <a:pt x="318769" y="217897"/>
                  <a:pt x="311362" y="217897"/>
                </a:cubicBezTo>
                <a:lnTo>
                  <a:pt x="311362" y="217897"/>
                </a:lnTo>
                <a:close/>
                <a:moveTo>
                  <a:pt x="359840" y="240175"/>
                </a:moveTo>
                <a:cubicBezTo>
                  <a:pt x="359840" y="232770"/>
                  <a:pt x="365900" y="226710"/>
                  <a:pt x="373306" y="226710"/>
                </a:cubicBezTo>
                <a:cubicBezTo>
                  <a:pt x="380712" y="226710"/>
                  <a:pt x="386772" y="232770"/>
                  <a:pt x="386772" y="240175"/>
                </a:cubicBezTo>
                <a:cubicBezTo>
                  <a:pt x="386772" y="247582"/>
                  <a:pt x="380712" y="253641"/>
                  <a:pt x="373306" y="253641"/>
                </a:cubicBezTo>
                <a:cubicBezTo>
                  <a:pt x="365900" y="253641"/>
                  <a:pt x="359840" y="247582"/>
                  <a:pt x="359840" y="240175"/>
                </a:cubicBezTo>
                <a:close/>
                <a:moveTo>
                  <a:pt x="402503" y="297709"/>
                </a:moveTo>
                <a:cubicBezTo>
                  <a:pt x="398708" y="297709"/>
                  <a:pt x="395586" y="294588"/>
                  <a:pt x="395586" y="290793"/>
                </a:cubicBezTo>
                <a:cubicBezTo>
                  <a:pt x="395586" y="286998"/>
                  <a:pt x="398708" y="283877"/>
                  <a:pt x="402503" y="283877"/>
                </a:cubicBezTo>
                <a:cubicBezTo>
                  <a:pt x="406298" y="283877"/>
                  <a:pt x="409419" y="286998"/>
                  <a:pt x="409419" y="290793"/>
                </a:cubicBezTo>
                <a:cubicBezTo>
                  <a:pt x="409419" y="294588"/>
                  <a:pt x="406298" y="297709"/>
                  <a:pt x="402503" y="29770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D0A24E03-7C3E-2924-7A8A-7EC0A20CDCB3}"/>
              </a:ext>
            </a:extLst>
          </p:cNvPr>
          <p:cNvGrpSpPr/>
          <p:nvPr/>
        </p:nvGrpSpPr>
        <p:grpSpPr>
          <a:xfrm>
            <a:off x="797010" y="3386973"/>
            <a:ext cx="4247991" cy="407609"/>
            <a:chOff x="906035" y="3387524"/>
            <a:chExt cx="4247991" cy="407609"/>
          </a:xfrm>
        </p:grpSpPr>
        <p:sp>
          <p:nvSpPr>
            <p:cNvPr id="26" name="Google Shape;973;p54">
              <a:extLst>
                <a:ext uri="{FF2B5EF4-FFF2-40B4-BE49-F238E27FC236}">
                  <a16:creationId xmlns:a16="http://schemas.microsoft.com/office/drawing/2014/main" id="{90F0A06D-31DC-2826-5CB5-ED46C352C4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6035" y="3455340"/>
              <a:ext cx="327004" cy="271976"/>
            </a:xfrm>
            <a:custGeom>
              <a:avLst/>
              <a:gdLst/>
              <a:ahLst/>
              <a:cxnLst/>
              <a:rect l="l" t="t" r="r" b="b"/>
              <a:pathLst>
                <a:path w="420105" h="349410" extrusionOk="0">
                  <a:moveTo>
                    <a:pt x="399492" y="191187"/>
                  </a:moveTo>
                  <a:cubicBezTo>
                    <a:pt x="390250" y="191187"/>
                    <a:pt x="382415" y="197307"/>
                    <a:pt x="379783" y="205693"/>
                  </a:cubicBezTo>
                  <a:lnTo>
                    <a:pt x="363135" y="205693"/>
                  </a:lnTo>
                  <a:cubicBezTo>
                    <a:pt x="360319" y="193268"/>
                    <a:pt x="349178" y="183903"/>
                    <a:pt x="335897" y="183903"/>
                  </a:cubicBezTo>
                  <a:lnTo>
                    <a:pt x="315820" y="156238"/>
                  </a:lnTo>
                  <a:cubicBezTo>
                    <a:pt x="316922" y="152872"/>
                    <a:pt x="317350" y="149199"/>
                    <a:pt x="317105" y="145404"/>
                  </a:cubicBezTo>
                  <a:cubicBezTo>
                    <a:pt x="317044" y="144854"/>
                    <a:pt x="316677" y="144058"/>
                    <a:pt x="316248" y="143691"/>
                  </a:cubicBezTo>
                  <a:cubicBezTo>
                    <a:pt x="310984" y="138855"/>
                    <a:pt x="304802" y="142527"/>
                    <a:pt x="304802" y="147608"/>
                  </a:cubicBezTo>
                  <a:cubicBezTo>
                    <a:pt x="304802" y="159604"/>
                    <a:pt x="291152" y="168479"/>
                    <a:pt x="278544" y="159604"/>
                  </a:cubicBezTo>
                  <a:cubicBezTo>
                    <a:pt x="277992" y="159237"/>
                    <a:pt x="277564" y="158747"/>
                    <a:pt x="277197" y="158258"/>
                  </a:cubicBezTo>
                  <a:cubicBezTo>
                    <a:pt x="268322" y="145649"/>
                    <a:pt x="277197" y="132000"/>
                    <a:pt x="289194" y="132000"/>
                  </a:cubicBezTo>
                  <a:cubicBezTo>
                    <a:pt x="290479" y="132000"/>
                    <a:pt x="291764" y="132184"/>
                    <a:pt x="292989" y="132490"/>
                  </a:cubicBezTo>
                  <a:cubicBezTo>
                    <a:pt x="296294" y="133286"/>
                    <a:pt x="299661" y="131327"/>
                    <a:pt x="300456" y="127960"/>
                  </a:cubicBezTo>
                  <a:cubicBezTo>
                    <a:pt x="301252" y="124656"/>
                    <a:pt x="299293" y="121289"/>
                    <a:pt x="295927" y="120493"/>
                  </a:cubicBezTo>
                  <a:cubicBezTo>
                    <a:pt x="293723" y="119943"/>
                    <a:pt x="291458" y="119637"/>
                    <a:pt x="289133" y="119637"/>
                  </a:cubicBezTo>
                  <a:cubicBezTo>
                    <a:pt x="272790" y="119637"/>
                    <a:pt x="259752" y="133714"/>
                    <a:pt x="261282" y="150178"/>
                  </a:cubicBezTo>
                  <a:lnTo>
                    <a:pt x="237656" y="157829"/>
                  </a:lnTo>
                  <a:cubicBezTo>
                    <a:pt x="232759" y="149689"/>
                    <a:pt x="223822" y="144180"/>
                    <a:pt x="213662" y="144180"/>
                  </a:cubicBezTo>
                  <a:cubicBezTo>
                    <a:pt x="205582" y="144180"/>
                    <a:pt x="198237" y="147669"/>
                    <a:pt x="193157" y="153178"/>
                  </a:cubicBezTo>
                  <a:lnTo>
                    <a:pt x="171672" y="140753"/>
                  </a:lnTo>
                  <a:cubicBezTo>
                    <a:pt x="172468" y="138121"/>
                    <a:pt x="172896" y="135367"/>
                    <a:pt x="172896" y="132490"/>
                  </a:cubicBezTo>
                  <a:cubicBezTo>
                    <a:pt x="172896" y="119208"/>
                    <a:pt x="163593" y="108007"/>
                    <a:pt x="151106" y="105192"/>
                  </a:cubicBezTo>
                  <a:lnTo>
                    <a:pt x="151106" y="80403"/>
                  </a:lnTo>
                  <a:cubicBezTo>
                    <a:pt x="163593" y="77588"/>
                    <a:pt x="172896" y="66448"/>
                    <a:pt x="172896" y="53105"/>
                  </a:cubicBezTo>
                  <a:cubicBezTo>
                    <a:pt x="172896" y="50228"/>
                    <a:pt x="172468" y="47413"/>
                    <a:pt x="171672" y="44842"/>
                  </a:cubicBezTo>
                  <a:lnTo>
                    <a:pt x="187097" y="35967"/>
                  </a:lnTo>
                  <a:cubicBezTo>
                    <a:pt x="193830" y="42149"/>
                    <a:pt x="204603" y="43985"/>
                    <a:pt x="214947" y="36824"/>
                  </a:cubicBezTo>
                  <a:cubicBezTo>
                    <a:pt x="215865" y="36212"/>
                    <a:pt x="216600" y="35416"/>
                    <a:pt x="217212" y="34560"/>
                  </a:cubicBezTo>
                  <a:cubicBezTo>
                    <a:pt x="231963" y="13198"/>
                    <a:pt x="208459" y="-10182"/>
                    <a:pt x="187159" y="4691"/>
                  </a:cubicBezTo>
                  <a:cubicBezTo>
                    <a:pt x="186485" y="5180"/>
                    <a:pt x="185873" y="5793"/>
                    <a:pt x="185383" y="6466"/>
                  </a:cubicBezTo>
                  <a:cubicBezTo>
                    <a:pt x="180732" y="12892"/>
                    <a:pt x="179629" y="19503"/>
                    <a:pt x="180915" y="25256"/>
                  </a:cubicBezTo>
                  <a:lnTo>
                    <a:pt x="165490" y="34131"/>
                  </a:lnTo>
                  <a:cubicBezTo>
                    <a:pt x="160348" y="28622"/>
                    <a:pt x="153065" y="25134"/>
                    <a:pt x="144985" y="25134"/>
                  </a:cubicBezTo>
                  <a:cubicBezTo>
                    <a:pt x="136906" y="25134"/>
                    <a:pt x="129560" y="28622"/>
                    <a:pt x="124480" y="34131"/>
                  </a:cubicBezTo>
                  <a:lnTo>
                    <a:pt x="109055" y="25256"/>
                  </a:lnTo>
                  <a:cubicBezTo>
                    <a:pt x="110280" y="19686"/>
                    <a:pt x="109300" y="13198"/>
                    <a:pt x="104893" y="6894"/>
                  </a:cubicBezTo>
                  <a:cubicBezTo>
                    <a:pt x="104281" y="5976"/>
                    <a:pt x="103486" y="5241"/>
                    <a:pt x="102628" y="4629"/>
                  </a:cubicBezTo>
                  <a:cubicBezTo>
                    <a:pt x="81328" y="-9999"/>
                    <a:pt x="58007" y="13321"/>
                    <a:pt x="72698" y="34560"/>
                  </a:cubicBezTo>
                  <a:cubicBezTo>
                    <a:pt x="73310" y="35478"/>
                    <a:pt x="74105" y="36212"/>
                    <a:pt x="74962" y="36824"/>
                  </a:cubicBezTo>
                  <a:cubicBezTo>
                    <a:pt x="85306" y="43985"/>
                    <a:pt x="96079" y="42149"/>
                    <a:pt x="102812" y="35967"/>
                  </a:cubicBezTo>
                  <a:lnTo>
                    <a:pt x="118237" y="44842"/>
                  </a:lnTo>
                  <a:cubicBezTo>
                    <a:pt x="117196" y="48147"/>
                    <a:pt x="116768" y="51697"/>
                    <a:pt x="117074" y="55370"/>
                  </a:cubicBezTo>
                  <a:cubicBezTo>
                    <a:pt x="117135" y="55982"/>
                    <a:pt x="117441" y="56594"/>
                    <a:pt x="117931" y="57022"/>
                  </a:cubicBezTo>
                  <a:cubicBezTo>
                    <a:pt x="123195" y="61857"/>
                    <a:pt x="129377" y="58185"/>
                    <a:pt x="129377" y="53105"/>
                  </a:cubicBezTo>
                  <a:cubicBezTo>
                    <a:pt x="129377" y="41108"/>
                    <a:pt x="143026" y="32234"/>
                    <a:pt x="155636" y="41108"/>
                  </a:cubicBezTo>
                  <a:cubicBezTo>
                    <a:pt x="156186" y="41476"/>
                    <a:pt x="156615" y="41965"/>
                    <a:pt x="156982" y="42455"/>
                  </a:cubicBezTo>
                  <a:cubicBezTo>
                    <a:pt x="165857" y="55064"/>
                    <a:pt x="156982" y="68713"/>
                    <a:pt x="144985" y="68713"/>
                  </a:cubicBezTo>
                  <a:cubicBezTo>
                    <a:pt x="143026" y="68713"/>
                    <a:pt x="141129" y="68345"/>
                    <a:pt x="139354" y="67672"/>
                  </a:cubicBezTo>
                  <a:cubicBezTo>
                    <a:pt x="138619" y="67366"/>
                    <a:pt x="137824" y="67427"/>
                    <a:pt x="137151" y="67856"/>
                  </a:cubicBezTo>
                  <a:cubicBezTo>
                    <a:pt x="130724" y="71650"/>
                    <a:pt x="132621" y="78750"/>
                    <a:pt x="137640" y="80097"/>
                  </a:cubicBezTo>
                  <a:cubicBezTo>
                    <a:pt x="138007" y="80219"/>
                    <a:pt x="138436" y="80281"/>
                    <a:pt x="138803" y="80403"/>
                  </a:cubicBezTo>
                  <a:lnTo>
                    <a:pt x="138803" y="105192"/>
                  </a:lnTo>
                  <a:cubicBezTo>
                    <a:pt x="127357" y="107824"/>
                    <a:pt x="118543" y="117555"/>
                    <a:pt x="117258" y="129491"/>
                  </a:cubicBezTo>
                  <a:lnTo>
                    <a:pt x="87816" y="146567"/>
                  </a:lnTo>
                  <a:cubicBezTo>
                    <a:pt x="79246" y="142712"/>
                    <a:pt x="68413" y="143140"/>
                    <a:pt x="57885" y="150423"/>
                  </a:cubicBezTo>
                  <a:cubicBezTo>
                    <a:pt x="56722" y="151219"/>
                    <a:pt x="55743" y="152199"/>
                    <a:pt x="54947" y="153361"/>
                  </a:cubicBezTo>
                  <a:cubicBezTo>
                    <a:pt x="40930" y="173621"/>
                    <a:pt x="52376" y="195349"/>
                    <a:pt x="70371" y="199450"/>
                  </a:cubicBezTo>
                  <a:lnTo>
                    <a:pt x="70371" y="224238"/>
                  </a:lnTo>
                  <a:cubicBezTo>
                    <a:pt x="57946" y="227054"/>
                    <a:pt x="48703" y="238194"/>
                    <a:pt x="48703" y="251537"/>
                  </a:cubicBezTo>
                  <a:cubicBezTo>
                    <a:pt x="48703" y="254413"/>
                    <a:pt x="49132" y="257229"/>
                    <a:pt x="49928" y="259860"/>
                  </a:cubicBezTo>
                  <a:lnTo>
                    <a:pt x="34564" y="268735"/>
                  </a:lnTo>
                  <a:cubicBezTo>
                    <a:pt x="27892" y="262554"/>
                    <a:pt x="17119" y="260718"/>
                    <a:pt x="6836" y="267879"/>
                  </a:cubicBezTo>
                  <a:cubicBezTo>
                    <a:pt x="5918" y="268491"/>
                    <a:pt x="5183" y="269287"/>
                    <a:pt x="4571" y="270143"/>
                  </a:cubicBezTo>
                  <a:cubicBezTo>
                    <a:pt x="-10057" y="291504"/>
                    <a:pt x="13263" y="314824"/>
                    <a:pt x="34503" y="299951"/>
                  </a:cubicBezTo>
                  <a:cubicBezTo>
                    <a:pt x="35176" y="299461"/>
                    <a:pt x="35788" y="298849"/>
                    <a:pt x="36278" y="298176"/>
                  </a:cubicBezTo>
                  <a:cubicBezTo>
                    <a:pt x="40930" y="291749"/>
                    <a:pt x="42031" y="285139"/>
                    <a:pt x="40746" y="279386"/>
                  </a:cubicBezTo>
                  <a:lnTo>
                    <a:pt x="56110" y="270511"/>
                  </a:lnTo>
                  <a:cubicBezTo>
                    <a:pt x="61190" y="276019"/>
                    <a:pt x="68474" y="279508"/>
                    <a:pt x="76554" y="279508"/>
                  </a:cubicBezTo>
                  <a:cubicBezTo>
                    <a:pt x="80593" y="279508"/>
                    <a:pt x="84388" y="278651"/>
                    <a:pt x="87816" y="277121"/>
                  </a:cubicBezTo>
                  <a:lnTo>
                    <a:pt x="117258" y="294198"/>
                  </a:lnTo>
                  <a:cubicBezTo>
                    <a:pt x="117564" y="297380"/>
                    <a:pt x="118482" y="300440"/>
                    <a:pt x="119829" y="303379"/>
                  </a:cubicBezTo>
                  <a:cubicBezTo>
                    <a:pt x="120135" y="303991"/>
                    <a:pt x="120624" y="304419"/>
                    <a:pt x="121236" y="304664"/>
                  </a:cubicBezTo>
                  <a:cubicBezTo>
                    <a:pt x="127847" y="307235"/>
                    <a:pt x="132254" y="301603"/>
                    <a:pt x="130418" y="296890"/>
                  </a:cubicBezTo>
                  <a:cubicBezTo>
                    <a:pt x="128581" y="292116"/>
                    <a:pt x="129132" y="286669"/>
                    <a:pt x="132315" y="281405"/>
                  </a:cubicBezTo>
                  <a:cubicBezTo>
                    <a:pt x="132804" y="280610"/>
                    <a:pt x="133416" y="279936"/>
                    <a:pt x="134151" y="279447"/>
                  </a:cubicBezTo>
                  <a:cubicBezTo>
                    <a:pt x="146761" y="270266"/>
                    <a:pt x="160471" y="279202"/>
                    <a:pt x="160471" y="291259"/>
                  </a:cubicBezTo>
                  <a:cubicBezTo>
                    <a:pt x="160471" y="299216"/>
                    <a:pt x="154473" y="306010"/>
                    <a:pt x="146454" y="306806"/>
                  </a:cubicBezTo>
                  <a:cubicBezTo>
                    <a:pt x="145720" y="306867"/>
                    <a:pt x="144985" y="307296"/>
                    <a:pt x="144618" y="307969"/>
                  </a:cubicBezTo>
                  <a:cubicBezTo>
                    <a:pt x="140578" y="314212"/>
                    <a:pt x="145475" y="319720"/>
                    <a:pt x="150494" y="318741"/>
                  </a:cubicBezTo>
                  <a:cubicBezTo>
                    <a:pt x="163409" y="316110"/>
                    <a:pt x="172835" y="304603"/>
                    <a:pt x="172835" y="291321"/>
                  </a:cubicBezTo>
                  <a:cubicBezTo>
                    <a:pt x="172835" y="288444"/>
                    <a:pt x="172407" y="285629"/>
                    <a:pt x="171611" y="283058"/>
                  </a:cubicBezTo>
                  <a:lnTo>
                    <a:pt x="192973" y="270633"/>
                  </a:lnTo>
                  <a:cubicBezTo>
                    <a:pt x="198054" y="276142"/>
                    <a:pt x="205337" y="279630"/>
                    <a:pt x="213417" y="279630"/>
                  </a:cubicBezTo>
                  <a:cubicBezTo>
                    <a:pt x="223578" y="279630"/>
                    <a:pt x="232453" y="274121"/>
                    <a:pt x="237350" y="265981"/>
                  </a:cubicBezTo>
                  <a:lnTo>
                    <a:pt x="260854" y="273632"/>
                  </a:lnTo>
                  <a:cubicBezTo>
                    <a:pt x="259385" y="290097"/>
                    <a:pt x="272300" y="304174"/>
                    <a:pt x="288581" y="304174"/>
                  </a:cubicBezTo>
                  <a:cubicBezTo>
                    <a:pt x="292499" y="304174"/>
                    <a:pt x="296172" y="303379"/>
                    <a:pt x="299538" y="301909"/>
                  </a:cubicBezTo>
                  <a:lnTo>
                    <a:pt x="309944" y="316293"/>
                  </a:lnTo>
                  <a:cubicBezTo>
                    <a:pt x="304924" y="323026"/>
                    <a:pt x="303945" y="332941"/>
                    <a:pt x="310433" y="342489"/>
                  </a:cubicBezTo>
                  <a:cubicBezTo>
                    <a:pt x="311045" y="343407"/>
                    <a:pt x="311841" y="344203"/>
                    <a:pt x="312759" y="344815"/>
                  </a:cubicBezTo>
                  <a:cubicBezTo>
                    <a:pt x="333938" y="359505"/>
                    <a:pt x="357136" y="336124"/>
                    <a:pt x="342507" y="314885"/>
                  </a:cubicBezTo>
                  <a:cubicBezTo>
                    <a:pt x="341895" y="313967"/>
                    <a:pt x="341099" y="313233"/>
                    <a:pt x="340242" y="312621"/>
                  </a:cubicBezTo>
                  <a:cubicBezTo>
                    <a:pt x="333142" y="307724"/>
                    <a:pt x="325919" y="307051"/>
                    <a:pt x="319921" y="309132"/>
                  </a:cubicBezTo>
                  <a:lnTo>
                    <a:pt x="309515" y="294748"/>
                  </a:lnTo>
                  <a:cubicBezTo>
                    <a:pt x="318758" y="284160"/>
                    <a:pt x="318758" y="268429"/>
                    <a:pt x="309515" y="257902"/>
                  </a:cubicBezTo>
                  <a:lnTo>
                    <a:pt x="322981" y="239295"/>
                  </a:lnTo>
                  <a:cubicBezTo>
                    <a:pt x="323349" y="238806"/>
                    <a:pt x="323593" y="238255"/>
                    <a:pt x="323777" y="237704"/>
                  </a:cubicBezTo>
                  <a:cubicBezTo>
                    <a:pt x="327205" y="239234"/>
                    <a:pt x="331000" y="240091"/>
                    <a:pt x="334978" y="240091"/>
                  </a:cubicBezTo>
                  <a:cubicBezTo>
                    <a:pt x="348199" y="240091"/>
                    <a:pt x="359340" y="230787"/>
                    <a:pt x="362155" y="218302"/>
                  </a:cubicBezTo>
                  <a:lnTo>
                    <a:pt x="379845" y="218302"/>
                  </a:lnTo>
                  <a:cubicBezTo>
                    <a:pt x="383701" y="230726"/>
                    <a:pt x="399003" y="238194"/>
                    <a:pt x="413326" y="228217"/>
                  </a:cubicBezTo>
                  <a:cubicBezTo>
                    <a:pt x="414183" y="227605"/>
                    <a:pt x="414978" y="226809"/>
                    <a:pt x="415590" y="225952"/>
                  </a:cubicBezTo>
                  <a:cubicBezTo>
                    <a:pt x="426914" y="209059"/>
                    <a:pt x="415223" y="191187"/>
                    <a:pt x="399492" y="191187"/>
                  </a:cubicBezTo>
                  <a:lnTo>
                    <a:pt x="399492" y="191187"/>
                  </a:lnTo>
                  <a:close/>
                  <a:moveTo>
                    <a:pt x="201175" y="12341"/>
                  </a:moveTo>
                  <a:cubicBezTo>
                    <a:pt x="205766" y="12341"/>
                    <a:pt x="209500" y="16075"/>
                    <a:pt x="209500" y="20666"/>
                  </a:cubicBezTo>
                  <a:cubicBezTo>
                    <a:pt x="209500" y="25256"/>
                    <a:pt x="205766" y="28990"/>
                    <a:pt x="201175" y="28990"/>
                  </a:cubicBezTo>
                  <a:cubicBezTo>
                    <a:pt x="196584" y="28990"/>
                    <a:pt x="192851" y="25256"/>
                    <a:pt x="192851" y="20666"/>
                  </a:cubicBezTo>
                  <a:cubicBezTo>
                    <a:pt x="192851" y="16075"/>
                    <a:pt x="196523" y="12341"/>
                    <a:pt x="201175" y="12341"/>
                  </a:cubicBezTo>
                  <a:close/>
                  <a:moveTo>
                    <a:pt x="88856" y="28990"/>
                  </a:moveTo>
                  <a:cubicBezTo>
                    <a:pt x="84266" y="28990"/>
                    <a:pt x="80532" y="25256"/>
                    <a:pt x="80532" y="20666"/>
                  </a:cubicBezTo>
                  <a:cubicBezTo>
                    <a:pt x="80532" y="16075"/>
                    <a:pt x="84266" y="12341"/>
                    <a:pt x="88856" y="12341"/>
                  </a:cubicBezTo>
                  <a:cubicBezTo>
                    <a:pt x="93447" y="12341"/>
                    <a:pt x="97181" y="16075"/>
                    <a:pt x="97181" y="20666"/>
                  </a:cubicBezTo>
                  <a:cubicBezTo>
                    <a:pt x="97181" y="25256"/>
                    <a:pt x="93447" y="28990"/>
                    <a:pt x="88856" y="28990"/>
                  </a:cubicBezTo>
                  <a:close/>
                  <a:moveTo>
                    <a:pt x="20119" y="292300"/>
                  </a:moveTo>
                  <a:cubicBezTo>
                    <a:pt x="15528" y="292300"/>
                    <a:pt x="11795" y="288567"/>
                    <a:pt x="11795" y="283976"/>
                  </a:cubicBezTo>
                  <a:cubicBezTo>
                    <a:pt x="11795" y="279386"/>
                    <a:pt x="15528" y="275652"/>
                    <a:pt x="20119" y="275652"/>
                  </a:cubicBezTo>
                  <a:cubicBezTo>
                    <a:pt x="24709" y="275652"/>
                    <a:pt x="28443" y="279386"/>
                    <a:pt x="28443" y="283976"/>
                  </a:cubicBezTo>
                  <a:cubicBezTo>
                    <a:pt x="28443" y="288567"/>
                    <a:pt x="24709" y="292300"/>
                    <a:pt x="20119" y="292300"/>
                  </a:cubicBezTo>
                  <a:close/>
                  <a:moveTo>
                    <a:pt x="316310" y="191860"/>
                  </a:moveTo>
                  <a:lnTo>
                    <a:pt x="302170" y="172397"/>
                  </a:lnTo>
                  <a:cubicBezTo>
                    <a:pt x="304618" y="171111"/>
                    <a:pt x="306883" y="169458"/>
                    <a:pt x="308842" y="167561"/>
                  </a:cubicBezTo>
                  <a:lnTo>
                    <a:pt x="322981" y="187025"/>
                  </a:lnTo>
                  <a:cubicBezTo>
                    <a:pt x="320533" y="188310"/>
                    <a:pt x="318268" y="189902"/>
                    <a:pt x="316310" y="191860"/>
                  </a:cubicBezTo>
                  <a:close/>
                  <a:moveTo>
                    <a:pt x="209622" y="223871"/>
                  </a:moveTo>
                  <a:lnTo>
                    <a:pt x="209622" y="199817"/>
                  </a:lnTo>
                  <a:cubicBezTo>
                    <a:pt x="212315" y="200246"/>
                    <a:pt x="215131" y="200246"/>
                    <a:pt x="217885" y="199817"/>
                  </a:cubicBezTo>
                  <a:lnTo>
                    <a:pt x="217885" y="223871"/>
                  </a:lnTo>
                  <a:cubicBezTo>
                    <a:pt x="215192" y="223443"/>
                    <a:pt x="212438" y="223443"/>
                    <a:pt x="209622" y="223871"/>
                  </a:cubicBezTo>
                  <a:lnTo>
                    <a:pt x="209622" y="223871"/>
                  </a:lnTo>
                  <a:close/>
                  <a:moveTo>
                    <a:pt x="213723" y="156544"/>
                  </a:moveTo>
                  <a:cubicBezTo>
                    <a:pt x="222354" y="156544"/>
                    <a:pt x="229331" y="163522"/>
                    <a:pt x="229331" y="172152"/>
                  </a:cubicBezTo>
                  <a:cubicBezTo>
                    <a:pt x="229331" y="180782"/>
                    <a:pt x="222354" y="187759"/>
                    <a:pt x="213723" y="187759"/>
                  </a:cubicBezTo>
                  <a:cubicBezTo>
                    <a:pt x="205093" y="187759"/>
                    <a:pt x="198115" y="180782"/>
                    <a:pt x="198115" y="172152"/>
                  </a:cubicBezTo>
                  <a:cubicBezTo>
                    <a:pt x="198115" y="163522"/>
                    <a:pt x="205154" y="156544"/>
                    <a:pt x="213723" y="156544"/>
                  </a:cubicBezTo>
                  <a:close/>
                  <a:moveTo>
                    <a:pt x="144985" y="116821"/>
                  </a:moveTo>
                  <a:cubicBezTo>
                    <a:pt x="153615" y="116821"/>
                    <a:pt x="160594" y="123799"/>
                    <a:pt x="160594" y="132428"/>
                  </a:cubicBezTo>
                  <a:cubicBezTo>
                    <a:pt x="160594" y="141059"/>
                    <a:pt x="153615" y="148036"/>
                    <a:pt x="144985" y="148036"/>
                  </a:cubicBezTo>
                  <a:cubicBezTo>
                    <a:pt x="136538" y="148036"/>
                    <a:pt x="129683" y="141365"/>
                    <a:pt x="129377" y="132980"/>
                  </a:cubicBezTo>
                  <a:cubicBezTo>
                    <a:pt x="129377" y="132919"/>
                    <a:pt x="129377" y="132857"/>
                    <a:pt x="129377" y="132796"/>
                  </a:cubicBezTo>
                  <a:cubicBezTo>
                    <a:pt x="129193" y="124105"/>
                    <a:pt x="136232" y="116821"/>
                    <a:pt x="144985" y="116821"/>
                  </a:cubicBezTo>
                  <a:close/>
                  <a:moveTo>
                    <a:pt x="102261" y="161869"/>
                  </a:moveTo>
                  <a:cubicBezTo>
                    <a:pt x="101221" y="159298"/>
                    <a:pt x="99813" y="156911"/>
                    <a:pt x="98099" y="154708"/>
                  </a:cubicBezTo>
                  <a:lnTo>
                    <a:pt x="118910" y="142712"/>
                  </a:lnTo>
                  <a:cubicBezTo>
                    <a:pt x="119950" y="145282"/>
                    <a:pt x="121359" y="147730"/>
                    <a:pt x="123072" y="149872"/>
                  </a:cubicBezTo>
                  <a:lnTo>
                    <a:pt x="102261" y="161869"/>
                  </a:lnTo>
                  <a:close/>
                  <a:moveTo>
                    <a:pt x="60639" y="172152"/>
                  </a:moveTo>
                  <a:cubicBezTo>
                    <a:pt x="60639" y="163522"/>
                    <a:pt x="67617" y="156544"/>
                    <a:pt x="76248" y="156544"/>
                  </a:cubicBezTo>
                  <a:cubicBezTo>
                    <a:pt x="84878" y="156544"/>
                    <a:pt x="91856" y="163522"/>
                    <a:pt x="91856" y="172152"/>
                  </a:cubicBezTo>
                  <a:cubicBezTo>
                    <a:pt x="91856" y="180782"/>
                    <a:pt x="84878" y="187759"/>
                    <a:pt x="76248" y="187759"/>
                  </a:cubicBezTo>
                  <a:cubicBezTo>
                    <a:pt x="67678" y="187759"/>
                    <a:pt x="60639" y="180721"/>
                    <a:pt x="60639" y="172152"/>
                  </a:cubicBezTo>
                  <a:close/>
                  <a:moveTo>
                    <a:pt x="60639" y="251537"/>
                  </a:moveTo>
                  <a:cubicBezTo>
                    <a:pt x="60639" y="242906"/>
                    <a:pt x="67617" y="235929"/>
                    <a:pt x="76248" y="235929"/>
                  </a:cubicBezTo>
                  <a:cubicBezTo>
                    <a:pt x="85000" y="235929"/>
                    <a:pt x="92039" y="243212"/>
                    <a:pt x="91856" y="251904"/>
                  </a:cubicBezTo>
                  <a:cubicBezTo>
                    <a:pt x="91856" y="251965"/>
                    <a:pt x="91856" y="252026"/>
                    <a:pt x="91856" y="252087"/>
                  </a:cubicBezTo>
                  <a:cubicBezTo>
                    <a:pt x="91550" y="260412"/>
                    <a:pt x="84694" y="267144"/>
                    <a:pt x="76248" y="267144"/>
                  </a:cubicBezTo>
                  <a:cubicBezTo>
                    <a:pt x="67678" y="267144"/>
                    <a:pt x="60639" y="260106"/>
                    <a:pt x="60639" y="251537"/>
                  </a:cubicBezTo>
                  <a:close/>
                  <a:moveTo>
                    <a:pt x="123133" y="273815"/>
                  </a:moveTo>
                  <a:cubicBezTo>
                    <a:pt x="121420" y="275958"/>
                    <a:pt x="120012" y="278345"/>
                    <a:pt x="118971" y="280977"/>
                  </a:cubicBezTo>
                  <a:lnTo>
                    <a:pt x="98160" y="268981"/>
                  </a:lnTo>
                  <a:cubicBezTo>
                    <a:pt x="99874" y="266838"/>
                    <a:pt x="101282" y="264451"/>
                    <a:pt x="102261" y="261819"/>
                  </a:cubicBezTo>
                  <a:lnTo>
                    <a:pt x="123133" y="273815"/>
                  </a:lnTo>
                  <a:close/>
                  <a:moveTo>
                    <a:pt x="165613" y="272102"/>
                  </a:moveTo>
                  <a:cubicBezTo>
                    <a:pt x="160533" y="266593"/>
                    <a:pt x="153187" y="263104"/>
                    <a:pt x="145108" y="263104"/>
                  </a:cubicBezTo>
                  <a:cubicBezTo>
                    <a:pt x="141068" y="263104"/>
                    <a:pt x="137273" y="263961"/>
                    <a:pt x="133784" y="265492"/>
                  </a:cubicBezTo>
                  <a:lnTo>
                    <a:pt x="104220" y="248415"/>
                  </a:lnTo>
                  <a:cubicBezTo>
                    <a:pt x="102934" y="236479"/>
                    <a:pt x="94121" y="226748"/>
                    <a:pt x="82613" y="224177"/>
                  </a:cubicBezTo>
                  <a:lnTo>
                    <a:pt x="82613" y="199389"/>
                  </a:lnTo>
                  <a:cubicBezTo>
                    <a:pt x="94121" y="196757"/>
                    <a:pt x="102934" y="187086"/>
                    <a:pt x="104220" y="175151"/>
                  </a:cubicBezTo>
                  <a:lnTo>
                    <a:pt x="133784" y="158074"/>
                  </a:lnTo>
                  <a:cubicBezTo>
                    <a:pt x="137273" y="159604"/>
                    <a:pt x="141068" y="160461"/>
                    <a:pt x="145108" y="160461"/>
                  </a:cubicBezTo>
                  <a:cubicBezTo>
                    <a:pt x="153187" y="160461"/>
                    <a:pt x="160471" y="157034"/>
                    <a:pt x="165613" y="151464"/>
                  </a:cubicBezTo>
                  <a:lnTo>
                    <a:pt x="187036" y="163828"/>
                  </a:lnTo>
                  <a:cubicBezTo>
                    <a:pt x="186240" y="166460"/>
                    <a:pt x="185812" y="169214"/>
                    <a:pt x="185812" y="172091"/>
                  </a:cubicBezTo>
                  <a:cubicBezTo>
                    <a:pt x="185812" y="181333"/>
                    <a:pt x="190341" y="189535"/>
                    <a:pt x="197258" y="194615"/>
                  </a:cubicBezTo>
                  <a:lnTo>
                    <a:pt x="197258" y="228768"/>
                  </a:lnTo>
                  <a:cubicBezTo>
                    <a:pt x="190341" y="233848"/>
                    <a:pt x="185812" y="242050"/>
                    <a:pt x="185812" y="251292"/>
                  </a:cubicBezTo>
                  <a:cubicBezTo>
                    <a:pt x="185812" y="254168"/>
                    <a:pt x="186240" y="256923"/>
                    <a:pt x="187036" y="259554"/>
                  </a:cubicBezTo>
                  <a:lnTo>
                    <a:pt x="165613" y="272102"/>
                  </a:lnTo>
                  <a:close/>
                  <a:moveTo>
                    <a:pt x="213723" y="267144"/>
                  </a:moveTo>
                  <a:cubicBezTo>
                    <a:pt x="205093" y="267144"/>
                    <a:pt x="198115" y="260167"/>
                    <a:pt x="198115" y="251537"/>
                  </a:cubicBezTo>
                  <a:cubicBezTo>
                    <a:pt x="198115" y="242906"/>
                    <a:pt x="205093" y="235929"/>
                    <a:pt x="213723" y="235929"/>
                  </a:cubicBezTo>
                  <a:cubicBezTo>
                    <a:pt x="222354" y="235929"/>
                    <a:pt x="229331" y="242906"/>
                    <a:pt x="229331" y="251537"/>
                  </a:cubicBezTo>
                  <a:cubicBezTo>
                    <a:pt x="229331" y="260167"/>
                    <a:pt x="222354" y="267144"/>
                    <a:pt x="213723" y="267144"/>
                  </a:cubicBezTo>
                  <a:close/>
                  <a:moveTo>
                    <a:pt x="273647" y="276019"/>
                  </a:moveTo>
                  <a:cubicBezTo>
                    <a:pt x="273647" y="267389"/>
                    <a:pt x="280624" y="260412"/>
                    <a:pt x="289255" y="260412"/>
                  </a:cubicBezTo>
                  <a:cubicBezTo>
                    <a:pt x="297885" y="260412"/>
                    <a:pt x="304863" y="267389"/>
                    <a:pt x="304863" y="276019"/>
                  </a:cubicBezTo>
                  <a:cubicBezTo>
                    <a:pt x="304863" y="284649"/>
                    <a:pt x="297885" y="291627"/>
                    <a:pt x="289255" y="291627"/>
                  </a:cubicBezTo>
                  <a:cubicBezTo>
                    <a:pt x="280624" y="291627"/>
                    <a:pt x="273647" y="284649"/>
                    <a:pt x="273647" y="276019"/>
                  </a:cubicBezTo>
                  <a:close/>
                  <a:moveTo>
                    <a:pt x="335712" y="328473"/>
                  </a:moveTo>
                  <a:cubicBezTo>
                    <a:pt x="335712" y="333064"/>
                    <a:pt x="331979" y="336797"/>
                    <a:pt x="327388" y="336797"/>
                  </a:cubicBezTo>
                  <a:cubicBezTo>
                    <a:pt x="322798" y="336797"/>
                    <a:pt x="319064" y="333064"/>
                    <a:pt x="319064" y="328473"/>
                  </a:cubicBezTo>
                  <a:cubicBezTo>
                    <a:pt x="319064" y="323883"/>
                    <a:pt x="322798" y="320149"/>
                    <a:pt x="327388" y="320149"/>
                  </a:cubicBezTo>
                  <a:cubicBezTo>
                    <a:pt x="331979" y="320149"/>
                    <a:pt x="335712" y="323883"/>
                    <a:pt x="335712" y="328473"/>
                  </a:cubicBezTo>
                  <a:close/>
                  <a:moveTo>
                    <a:pt x="313861" y="231705"/>
                  </a:moveTo>
                  <a:lnTo>
                    <a:pt x="300334" y="250313"/>
                  </a:lnTo>
                  <a:cubicBezTo>
                    <a:pt x="296967" y="248843"/>
                    <a:pt x="293234" y="248048"/>
                    <a:pt x="289316" y="248048"/>
                  </a:cubicBezTo>
                  <a:cubicBezTo>
                    <a:pt x="279094" y="248048"/>
                    <a:pt x="270158" y="253556"/>
                    <a:pt x="265261" y="261697"/>
                  </a:cubicBezTo>
                  <a:lnTo>
                    <a:pt x="241635" y="254046"/>
                  </a:lnTo>
                  <a:cubicBezTo>
                    <a:pt x="242553" y="244069"/>
                    <a:pt x="238084" y="234643"/>
                    <a:pt x="230249" y="228890"/>
                  </a:cubicBezTo>
                  <a:lnTo>
                    <a:pt x="230249" y="194676"/>
                  </a:lnTo>
                  <a:cubicBezTo>
                    <a:pt x="238146" y="188923"/>
                    <a:pt x="242553" y="179435"/>
                    <a:pt x="241635" y="169520"/>
                  </a:cubicBezTo>
                  <a:lnTo>
                    <a:pt x="265261" y="161869"/>
                  </a:lnTo>
                  <a:cubicBezTo>
                    <a:pt x="270158" y="170009"/>
                    <a:pt x="279094" y="175518"/>
                    <a:pt x="289255" y="175518"/>
                  </a:cubicBezTo>
                  <a:lnTo>
                    <a:pt x="309332" y="203184"/>
                  </a:lnTo>
                  <a:cubicBezTo>
                    <a:pt x="308474" y="205876"/>
                    <a:pt x="307985" y="208753"/>
                    <a:pt x="307985" y="211752"/>
                  </a:cubicBezTo>
                  <a:cubicBezTo>
                    <a:pt x="307985" y="218914"/>
                    <a:pt x="310678" y="225401"/>
                    <a:pt x="315085" y="230359"/>
                  </a:cubicBezTo>
                  <a:cubicBezTo>
                    <a:pt x="314657" y="230787"/>
                    <a:pt x="314228" y="231216"/>
                    <a:pt x="313861" y="231705"/>
                  </a:cubicBezTo>
                  <a:lnTo>
                    <a:pt x="313861" y="231705"/>
                  </a:lnTo>
                  <a:close/>
                  <a:moveTo>
                    <a:pt x="335897" y="227421"/>
                  </a:moveTo>
                  <a:cubicBezTo>
                    <a:pt x="327266" y="227421"/>
                    <a:pt x="320288" y="220444"/>
                    <a:pt x="320288" y="211813"/>
                  </a:cubicBezTo>
                  <a:cubicBezTo>
                    <a:pt x="320288" y="203184"/>
                    <a:pt x="327266" y="196206"/>
                    <a:pt x="335897" y="196206"/>
                  </a:cubicBezTo>
                  <a:cubicBezTo>
                    <a:pt x="344527" y="196206"/>
                    <a:pt x="351505" y="203184"/>
                    <a:pt x="351505" y="211813"/>
                  </a:cubicBezTo>
                  <a:cubicBezTo>
                    <a:pt x="351505" y="220444"/>
                    <a:pt x="344527" y="227421"/>
                    <a:pt x="335897" y="227421"/>
                  </a:cubicBezTo>
                  <a:close/>
                  <a:moveTo>
                    <a:pt x="400778" y="220199"/>
                  </a:moveTo>
                  <a:cubicBezTo>
                    <a:pt x="396187" y="220199"/>
                    <a:pt x="392453" y="216465"/>
                    <a:pt x="392453" y="211875"/>
                  </a:cubicBezTo>
                  <a:cubicBezTo>
                    <a:pt x="392453" y="207284"/>
                    <a:pt x="396187" y="203550"/>
                    <a:pt x="400778" y="203550"/>
                  </a:cubicBezTo>
                  <a:cubicBezTo>
                    <a:pt x="405369" y="203550"/>
                    <a:pt x="409102" y="207284"/>
                    <a:pt x="409102" y="211875"/>
                  </a:cubicBezTo>
                  <a:cubicBezTo>
                    <a:pt x="409102" y="216404"/>
                    <a:pt x="405369" y="220199"/>
                    <a:pt x="400778" y="220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712;p38">
              <a:extLst>
                <a:ext uri="{FF2B5EF4-FFF2-40B4-BE49-F238E27FC236}">
                  <a16:creationId xmlns:a16="http://schemas.microsoft.com/office/drawing/2014/main" id="{80D752F5-1E65-4709-D12E-CD5CAF012B5A}"/>
                </a:ext>
              </a:extLst>
            </p:cNvPr>
            <p:cNvSpPr txBox="1">
              <a:spLocks/>
            </p:cNvSpPr>
            <p:nvPr/>
          </p:nvSpPr>
          <p:spPr>
            <a:xfrm>
              <a:off x="1302026" y="3387524"/>
              <a:ext cx="3852000" cy="407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Gotu"/>
                <a:buNone/>
                <a:defRPr sz="30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r>
                <a:rPr lang="it-IT" sz="1600" dirty="0"/>
                <a:t>Classe diversa → embedding lontani</a:t>
              </a:r>
            </a:p>
          </p:txBody>
        </p:sp>
      </p:grpSp>
      <p:sp>
        <p:nvSpPr>
          <p:cNvPr id="31" name="Google Shape;712;p38">
            <a:extLst>
              <a:ext uri="{FF2B5EF4-FFF2-40B4-BE49-F238E27FC236}">
                <a16:creationId xmlns:a16="http://schemas.microsoft.com/office/drawing/2014/main" id="{AE26367C-8A95-7F85-1280-472E6E9B0816}"/>
              </a:ext>
            </a:extLst>
          </p:cNvPr>
          <p:cNvSpPr txBox="1">
            <a:spLocks/>
          </p:cNvSpPr>
          <p:nvPr/>
        </p:nvSpPr>
        <p:spPr>
          <a:xfrm>
            <a:off x="78542" y="4134022"/>
            <a:ext cx="5134913" cy="407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tu"/>
              <a:buNone/>
              <a:defRPr sz="30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otu"/>
              <a:buNone/>
              <a:defRPr sz="35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1600" b="1" dirty="0"/>
              <a:t>Obiettivo:  </a:t>
            </a:r>
            <a:r>
              <a:rPr lang="it-IT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apprendere uno spazio di similarità disease-aware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>
          <a:extLst>
            <a:ext uri="{FF2B5EF4-FFF2-40B4-BE49-F238E27FC236}">
              <a16:creationId xmlns:a16="http://schemas.microsoft.com/office/drawing/2014/main" id="{0E15C6AD-0553-423E-8650-E0CB8BBA3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7">
            <a:extLst>
              <a:ext uri="{FF2B5EF4-FFF2-40B4-BE49-F238E27FC236}">
                <a16:creationId xmlns:a16="http://schemas.microsoft.com/office/drawing/2014/main" id="{00DF2E20-06F8-EF11-EE65-740B922FD1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1975" y="2429100"/>
            <a:ext cx="4056900" cy="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</a:t>
            </a:r>
            <a:endParaRPr dirty="0"/>
          </a:p>
        </p:txBody>
      </p:sp>
      <p:sp>
        <p:nvSpPr>
          <p:cNvPr id="705" name="Google Shape;705;p37">
            <a:extLst>
              <a:ext uri="{FF2B5EF4-FFF2-40B4-BE49-F238E27FC236}">
                <a16:creationId xmlns:a16="http://schemas.microsoft.com/office/drawing/2014/main" id="{149DE669-2464-1704-3A62-E1BC6C03C04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71975" y="1793850"/>
            <a:ext cx="1239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707" name="Google Shape;707;p37">
            <a:extLst>
              <a:ext uri="{FF2B5EF4-FFF2-40B4-BE49-F238E27FC236}">
                <a16:creationId xmlns:a16="http://schemas.microsoft.com/office/drawing/2014/main" id="{079DF124-ACCD-1922-52FC-701E6F4E9123}"/>
              </a:ext>
            </a:extLst>
          </p:cNvPr>
          <p:cNvCxnSpPr/>
          <p:nvPr/>
        </p:nvCxnSpPr>
        <p:spPr>
          <a:xfrm>
            <a:off x="4000500" y="3349638"/>
            <a:ext cx="51435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Segnaposto immagine 12">
            <a:extLst>
              <a:ext uri="{FF2B5EF4-FFF2-40B4-BE49-F238E27FC236}">
                <a16:creationId xmlns:a16="http://schemas.microsoft.com/office/drawing/2014/main" id="{6524F07C-40A6-3851-5FED-445621E08A18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4630" r="4630"/>
          <a:stretch>
            <a:fillRect/>
          </a:stretch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4483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1"/>
          <p:cNvSpPr txBox="1">
            <a:spLocks noGrp="1"/>
          </p:cNvSpPr>
          <p:nvPr>
            <p:ph type="subTitle" idx="2"/>
          </p:nvPr>
        </p:nvSpPr>
        <p:spPr>
          <a:xfrm>
            <a:off x="1868557" y="1894438"/>
            <a:ext cx="167493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CircleBase V2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eccDNABase</a:t>
            </a:r>
            <a:endParaRPr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6" name="Google Shape;766;p41"/>
          <p:cNvSpPr txBox="1">
            <a:spLocks noGrp="1"/>
          </p:cNvSpPr>
          <p:nvPr>
            <p:ph type="title"/>
          </p:nvPr>
        </p:nvSpPr>
        <p:spPr>
          <a:xfrm>
            <a:off x="360175" y="324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e task finale</a:t>
            </a:r>
            <a:endParaRPr dirty="0"/>
          </a:p>
        </p:txBody>
      </p:sp>
      <p:sp>
        <p:nvSpPr>
          <p:cNvPr id="767" name="Google Shape;767;p41"/>
          <p:cNvSpPr txBox="1">
            <a:spLocks noGrp="1"/>
          </p:cNvSpPr>
          <p:nvPr>
            <p:ph type="subTitle" idx="1"/>
          </p:nvPr>
        </p:nvSpPr>
        <p:spPr>
          <a:xfrm>
            <a:off x="1152458" y="1094194"/>
            <a:ext cx="29670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di partenza</a:t>
            </a:r>
            <a:endParaRPr dirty="0"/>
          </a:p>
        </p:txBody>
      </p:sp>
      <p:sp>
        <p:nvSpPr>
          <p:cNvPr id="769" name="Google Shape;769;p41"/>
          <p:cNvSpPr txBox="1">
            <a:spLocks noGrp="1"/>
          </p:cNvSpPr>
          <p:nvPr>
            <p:ph type="subTitle" idx="7"/>
          </p:nvPr>
        </p:nvSpPr>
        <p:spPr>
          <a:xfrm>
            <a:off x="5141383" y="1094194"/>
            <a:ext cx="29670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Task Finale</a:t>
            </a:r>
            <a:endParaRPr dirty="0"/>
          </a:p>
        </p:txBody>
      </p:sp>
      <p:cxnSp>
        <p:nvCxnSpPr>
          <p:cNvPr id="771" name="Google Shape;771;p41"/>
          <p:cNvCxnSpPr>
            <a:cxnSpLocks/>
          </p:cNvCxnSpPr>
          <p:nvPr/>
        </p:nvCxnSpPr>
        <p:spPr>
          <a:xfrm flipH="1" flipV="1">
            <a:off x="4565413" y="1457225"/>
            <a:ext cx="25322" cy="293189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Google Shape;771;p41">
            <a:extLst>
              <a:ext uri="{FF2B5EF4-FFF2-40B4-BE49-F238E27FC236}">
                <a16:creationId xmlns:a16="http://schemas.microsoft.com/office/drawing/2014/main" id="{99F9D4FB-69A3-755E-6CBC-E0F93EE6FD98}"/>
              </a:ext>
            </a:extLst>
          </p:cNvPr>
          <p:cNvCxnSpPr>
            <a:cxnSpLocks/>
          </p:cNvCxnSpPr>
          <p:nvPr/>
        </p:nvCxnSpPr>
        <p:spPr>
          <a:xfrm flipH="1" flipV="1">
            <a:off x="1296876" y="2570415"/>
            <a:ext cx="2463703" cy="133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" name="Google Shape;10443;p71">
            <a:extLst>
              <a:ext uri="{FF2B5EF4-FFF2-40B4-BE49-F238E27FC236}">
                <a16:creationId xmlns:a16="http://schemas.microsoft.com/office/drawing/2014/main" id="{E92B953E-1A19-4BEE-C709-56AE13206F37}"/>
              </a:ext>
            </a:extLst>
          </p:cNvPr>
          <p:cNvGrpSpPr>
            <a:grpSpLocks noChangeAspect="1"/>
          </p:cNvGrpSpPr>
          <p:nvPr/>
        </p:nvGrpSpPr>
        <p:grpSpPr>
          <a:xfrm>
            <a:off x="1489247" y="2018533"/>
            <a:ext cx="379310" cy="333496"/>
            <a:chOff x="-45664625" y="2352225"/>
            <a:chExt cx="300125" cy="263875"/>
          </a:xfrm>
        </p:grpSpPr>
        <p:sp>
          <p:nvSpPr>
            <p:cNvPr id="6" name="Google Shape;10444;p71">
              <a:extLst>
                <a:ext uri="{FF2B5EF4-FFF2-40B4-BE49-F238E27FC236}">
                  <a16:creationId xmlns:a16="http://schemas.microsoft.com/office/drawing/2014/main" id="{950E1777-5F80-6B31-3BAF-A87CAA3B776E}"/>
                </a:ext>
              </a:extLst>
            </p:cNvPr>
            <p:cNvSpPr/>
            <p:nvPr/>
          </p:nvSpPr>
          <p:spPr>
            <a:xfrm>
              <a:off x="-45664625" y="2352225"/>
              <a:ext cx="300125" cy="263875"/>
            </a:xfrm>
            <a:custGeom>
              <a:avLst/>
              <a:gdLst/>
              <a:ahLst/>
              <a:cxnLst/>
              <a:rect l="l" t="t" r="r" b="b"/>
              <a:pathLst>
                <a:path w="12005" h="10555" extrusionOk="0">
                  <a:moveTo>
                    <a:pt x="10965" y="694"/>
                  </a:moveTo>
                  <a:cubicBezTo>
                    <a:pt x="11154" y="694"/>
                    <a:pt x="11311" y="851"/>
                    <a:pt x="11311" y="1072"/>
                  </a:cubicBezTo>
                  <a:lnTo>
                    <a:pt x="11311" y="2836"/>
                  </a:lnTo>
                  <a:lnTo>
                    <a:pt x="726" y="2836"/>
                  </a:lnTo>
                  <a:lnTo>
                    <a:pt x="726" y="1072"/>
                  </a:lnTo>
                  <a:cubicBezTo>
                    <a:pt x="694" y="851"/>
                    <a:pt x="852" y="694"/>
                    <a:pt x="1072" y="694"/>
                  </a:cubicBezTo>
                  <a:close/>
                  <a:moveTo>
                    <a:pt x="11311" y="3498"/>
                  </a:moveTo>
                  <a:lnTo>
                    <a:pt x="11311" y="9484"/>
                  </a:lnTo>
                  <a:cubicBezTo>
                    <a:pt x="11311" y="9673"/>
                    <a:pt x="11154" y="9830"/>
                    <a:pt x="10933" y="9830"/>
                  </a:cubicBezTo>
                  <a:lnTo>
                    <a:pt x="1072" y="9830"/>
                  </a:lnTo>
                  <a:cubicBezTo>
                    <a:pt x="852" y="9830"/>
                    <a:pt x="694" y="9673"/>
                    <a:pt x="694" y="9484"/>
                  </a:cubicBezTo>
                  <a:lnTo>
                    <a:pt x="694" y="3498"/>
                  </a:ln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33" y="10555"/>
                  </a:lnTo>
                  <a:cubicBezTo>
                    <a:pt x="11532" y="10555"/>
                    <a:pt x="12004" y="10082"/>
                    <a:pt x="12004" y="9484"/>
                  </a:cubicBezTo>
                  <a:lnTo>
                    <a:pt x="12004" y="1040"/>
                  </a:lnTo>
                  <a:cubicBezTo>
                    <a:pt x="11973" y="473"/>
                    <a:pt x="11500" y="1"/>
                    <a:pt x="10933" y="1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25384D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14257"/>
                </a:solidFill>
              </a:endParaRPr>
            </a:p>
          </p:txBody>
        </p:sp>
        <p:sp>
          <p:nvSpPr>
            <p:cNvPr id="7" name="Google Shape;10445;p71">
              <a:extLst>
                <a:ext uri="{FF2B5EF4-FFF2-40B4-BE49-F238E27FC236}">
                  <a16:creationId xmlns:a16="http://schemas.microsoft.com/office/drawing/2014/main" id="{DDD4FECB-A221-775A-5CF4-89BF7C9E360D}"/>
                </a:ext>
              </a:extLst>
            </p:cNvPr>
            <p:cNvSpPr/>
            <p:nvPr/>
          </p:nvSpPr>
          <p:spPr>
            <a:xfrm>
              <a:off x="-45612625" y="2475100"/>
              <a:ext cx="55150" cy="88225"/>
            </a:xfrm>
            <a:custGeom>
              <a:avLst/>
              <a:gdLst/>
              <a:ahLst/>
              <a:cxnLst/>
              <a:rect l="l" t="t" r="r" b="b"/>
              <a:pathLst>
                <a:path w="2206" h="3529" extrusionOk="0">
                  <a:moveTo>
                    <a:pt x="1808" y="0"/>
                  </a:moveTo>
                  <a:cubicBezTo>
                    <a:pt x="1717" y="0"/>
                    <a:pt x="1623" y="32"/>
                    <a:pt x="1544" y="95"/>
                  </a:cubicBezTo>
                  <a:lnTo>
                    <a:pt x="126" y="1513"/>
                  </a:lnTo>
                  <a:cubicBezTo>
                    <a:pt x="0" y="1607"/>
                    <a:pt x="0" y="1859"/>
                    <a:pt x="126" y="2017"/>
                  </a:cubicBezTo>
                  <a:lnTo>
                    <a:pt x="1544" y="3434"/>
                  </a:lnTo>
                  <a:cubicBezTo>
                    <a:pt x="1607" y="3497"/>
                    <a:pt x="1694" y="3529"/>
                    <a:pt x="1784" y="3529"/>
                  </a:cubicBezTo>
                  <a:cubicBezTo>
                    <a:pt x="1875" y="3529"/>
                    <a:pt x="1969" y="3497"/>
                    <a:pt x="2048" y="3434"/>
                  </a:cubicBezTo>
                  <a:cubicBezTo>
                    <a:pt x="2174" y="3308"/>
                    <a:pt x="2174" y="3088"/>
                    <a:pt x="2048" y="2930"/>
                  </a:cubicBezTo>
                  <a:lnTo>
                    <a:pt x="914" y="1765"/>
                  </a:lnTo>
                  <a:lnTo>
                    <a:pt x="2048" y="631"/>
                  </a:lnTo>
                  <a:cubicBezTo>
                    <a:pt x="2206" y="473"/>
                    <a:pt x="2206" y="252"/>
                    <a:pt x="2048" y="95"/>
                  </a:cubicBezTo>
                  <a:cubicBezTo>
                    <a:pt x="1985" y="32"/>
                    <a:pt x="1898" y="0"/>
                    <a:pt x="1808" y="0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25384D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14257"/>
                </a:solidFill>
              </a:endParaRPr>
            </a:p>
          </p:txBody>
        </p:sp>
        <p:sp>
          <p:nvSpPr>
            <p:cNvPr id="8" name="Google Shape;10446;p71">
              <a:extLst>
                <a:ext uri="{FF2B5EF4-FFF2-40B4-BE49-F238E27FC236}">
                  <a16:creationId xmlns:a16="http://schemas.microsoft.com/office/drawing/2014/main" id="{906DDFAE-1E3F-39F9-1815-2B2B67C30CAE}"/>
                </a:ext>
              </a:extLst>
            </p:cNvPr>
            <p:cNvSpPr/>
            <p:nvPr/>
          </p:nvSpPr>
          <p:spPr>
            <a:xfrm>
              <a:off x="-45471650" y="2475100"/>
              <a:ext cx="54375" cy="86850"/>
            </a:xfrm>
            <a:custGeom>
              <a:avLst/>
              <a:gdLst/>
              <a:ahLst/>
              <a:cxnLst/>
              <a:rect l="l" t="t" r="r" b="b"/>
              <a:pathLst>
                <a:path w="2175" h="3474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189"/>
                    <a:pt x="1" y="441"/>
                    <a:pt x="127" y="599"/>
                  </a:cubicBezTo>
                  <a:lnTo>
                    <a:pt x="1261" y="1733"/>
                  </a:lnTo>
                  <a:lnTo>
                    <a:pt x="127" y="2867"/>
                  </a:lnTo>
                  <a:cubicBezTo>
                    <a:pt x="1" y="2993"/>
                    <a:pt x="1" y="3245"/>
                    <a:pt x="127" y="3403"/>
                  </a:cubicBezTo>
                  <a:cubicBezTo>
                    <a:pt x="174" y="3450"/>
                    <a:pt x="261" y="3474"/>
                    <a:pt x="355" y="3474"/>
                  </a:cubicBezTo>
                  <a:cubicBezTo>
                    <a:pt x="450" y="3474"/>
                    <a:pt x="552" y="3450"/>
                    <a:pt x="631" y="3403"/>
                  </a:cubicBezTo>
                  <a:lnTo>
                    <a:pt x="2048" y="1985"/>
                  </a:lnTo>
                  <a:cubicBezTo>
                    <a:pt x="2174" y="1859"/>
                    <a:pt x="2174" y="1607"/>
                    <a:pt x="2048" y="1450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25384D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14257"/>
                </a:solidFill>
              </a:endParaRPr>
            </a:p>
          </p:txBody>
        </p:sp>
        <p:sp>
          <p:nvSpPr>
            <p:cNvPr id="9" name="Google Shape;10447;p71">
              <a:extLst>
                <a:ext uri="{FF2B5EF4-FFF2-40B4-BE49-F238E27FC236}">
                  <a16:creationId xmlns:a16="http://schemas.microsoft.com/office/drawing/2014/main" id="{E90CC7AE-739B-7C4C-7BE4-824652C42C71}"/>
                </a:ext>
              </a:extLst>
            </p:cNvPr>
            <p:cNvSpPr/>
            <p:nvPr/>
          </p:nvSpPr>
          <p:spPr>
            <a:xfrm>
              <a:off x="-45542525" y="2456975"/>
              <a:ext cx="55150" cy="123300"/>
            </a:xfrm>
            <a:custGeom>
              <a:avLst/>
              <a:gdLst/>
              <a:ahLst/>
              <a:cxnLst/>
              <a:rect l="l" t="t" r="r" b="b"/>
              <a:pathLst>
                <a:path w="2206" h="4932" extrusionOk="0">
                  <a:moveTo>
                    <a:pt x="1791" y="0"/>
                  </a:moveTo>
                  <a:cubicBezTo>
                    <a:pt x="1651" y="0"/>
                    <a:pt x="1529" y="108"/>
                    <a:pt x="1481" y="253"/>
                  </a:cubicBezTo>
                  <a:lnTo>
                    <a:pt x="63" y="4474"/>
                  </a:lnTo>
                  <a:cubicBezTo>
                    <a:pt x="0" y="4664"/>
                    <a:pt x="126" y="4853"/>
                    <a:pt x="315" y="4916"/>
                  </a:cubicBezTo>
                  <a:cubicBezTo>
                    <a:pt x="349" y="4927"/>
                    <a:pt x="382" y="4932"/>
                    <a:pt x="415" y="4932"/>
                  </a:cubicBezTo>
                  <a:cubicBezTo>
                    <a:pt x="567" y="4932"/>
                    <a:pt x="704" y="4819"/>
                    <a:pt x="756" y="4664"/>
                  </a:cubicBezTo>
                  <a:lnTo>
                    <a:pt x="2174" y="442"/>
                  </a:lnTo>
                  <a:cubicBezTo>
                    <a:pt x="2206" y="284"/>
                    <a:pt x="2111" y="95"/>
                    <a:pt x="1922" y="32"/>
                  </a:cubicBezTo>
                  <a:cubicBezTo>
                    <a:pt x="1878" y="10"/>
                    <a:pt x="1834" y="0"/>
                    <a:pt x="1791" y="0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25384D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14257"/>
                </a:solidFill>
              </a:endParaRPr>
            </a:p>
          </p:txBody>
        </p:sp>
        <p:sp>
          <p:nvSpPr>
            <p:cNvPr id="10" name="Google Shape;10448;p71">
              <a:extLst>
                <a:ext uri="{FF2B5EF4-FFF2-40B4-BE49-F238E27FC236}">
                  <a16:creationId xmlns:a16="http://schemas.microsoft.com/office/drawing/2014/main" id="{31D01D97-3BC5-4B48-F03D-327657A3F095}"/>
                </a:ext>
              </a:extLst>
            </p:cNvPr>
            <p:cNvSpPr/>
            <p:nvPr/>
          </p:nvSpPr>
          <p:spPr>
            <a:xfrm>
              <a:off x="-45541750" y="23861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32" y="567"/>
                    <a:pt x="221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25384D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14257"/>
                </a:solidFill>
              </a:endParaRPr>
            </a:p>
          </p:txBody>
        </p:sp>
        <p:sp>
          <p:nvSpPr>
            <p:cNvPr id="11" name="Google Shape;10449;p71">
              <a:extLst>
                <a:ext uri="{FF2B5EF4-FFF2-40B4-BE49-F238E27FC236}">
                  <a16:creationId xmlns:a16="http://schemas.microsoft.com/office/drawing/2014/main" id="{0E4525FD-EED4-2DEB-AE31-E4EABDCB8FFF}"/>
                </a:ext>
              </a:extLst>
            </p:cNvPr>
            <p:cNvSpPr/>
            <p:nvPr/>
          </p:nvSpPr>
          <p:spPr>
            <a:xfrm>
              <a:off x="-45488175" y="23861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89"/>
                    <a:pt x="1260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25384D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14257"/>
                </a:solidFill>
              </a:endParaRPr>
            </a:p>
          </p:txBody>
        </p:sp>
        <p:sp>
          <p:nvSpPr>
            <p:cNvPr id="12" name="Google Shape;10450;p71">
              <a:extLst>
                <a:ext uri="{FF2B5EF4-FFF2-40B4-BE49-F238E27FC236}">
                  <a16:creationId xmlns:a16="http://schemas.microsoft.com/office/drawing/2014/main" id="{FF0020A8-50C6-2338-ED61-BD5DE386DB38}"/>
                </a:ext>
              </a:extLst>
            </p:cNvPr>
            <p:cNvSpPr/>
            <p:nvPr/>
          </p:nvSpPr>
          <p:spPr>
            <a:xfrm>
              <a:off x="-45436200" y="23861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32" y="567"/>
                    <a:pt x="189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25384D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14257"/>
                </a:solidFill>
              </a:endParaRPr>
            </a:p>
          </p:txBody>
        </p:sp>
      </p:grpSp>
      <p:cxnSp>
        <p:nvCxnSpPr>
          <p:cNvPr id="17" name="Google Shape;771;p41">
            <a:extLst>
              <a:ext uri="{FF2B5EF4-FFF2-40B4-BE49-F238E27FC236}">
                <a16:creationId xmlns:a16="http://schemas.microsoft.com/office/drawing/2014/main" id="{6B0D93AD-334C-D2FE-07C4-C0D228282668}"/>
              </a:ext>
            </a:extLst>
          </p:cNvPr>
          <p:cNvCxnSpPr>
            <a:cxnSpLocks/>
          </p:cNvCxnSpPr>
          <p:nvPr/>
        </p:nvCxnSpPr>
        <p:spPr>
          <a:xfrm flipH="1" flipV="1">
            <a:off x="1278863" y="3454255"/>
            <a:ext cx="2463703" cy="133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762;p41">
            <a:extLst>
              <a:ext uri="{FF2B5EF4-FFF2-40B4-BE49-F238E27FC236}">
                <a16:creationId xmlns:a16="http://schemas.microsoft.com/office/drawing/2014/main" id="{9DFAFC31-9482-AA21-D102-8EF948876A77}"/>
              </a:ext>
            </a:extLst>
          </p:cNvPr>
          <p:cNvSpPr txBox="1">
            <a:spLocks/>
          </p:cNvSpPr>
          <p:nvPr/>
        </p:nvSpPr>
        <p:spPr>
          <a:xfrm>
            <a:off x="1868557" y="2799096"/>
            <a:ext cx="180494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it-IT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FASTA → sequenze</a:t>
            </a:r>
          </a:p>
          <a:p>
            <a:pPr marL="0" indent="0"/>
            <a:r>
              <a:rPr lang="it-IT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TSV → metadati</a:t>
            </a:r>
          </a:p>
        </p:txBody>
      </p:sp>
      <p:grpSp>
        <p:nvGrpSpPr>
          <p:cNvPr id="19" name="Google Shape;10426;p71">
            <a:extLst>
              <a:ext uri="{FF2B5EF4-FFF2-40B4-BE49-F238E27FC236}">
                <a16:creationId xmlns:a16="http://schemas.microsoft.com/office/drawing/2014/main" id="{026B552F-963F-011C-928E-ACA498300877}"/>
              </a:ext>
            </a:extLst>
          </p:cNvPr>
          <p:cNvGrpSpPr/>
          <p:nvPr/>
        </p:nvGrpSpPr>
        <p:grpSpPr>
          <a:xfrm>
            <a:off x="1521409" y="2905869"/>
            <a:ext cx="314006" cy="359154"/>
            <a:chOff x="-47509225" y="1974175"/>
            <a:chExt cx="263075" cy="300900"/>
          </a:xfrm>
        </p:grpSpPr>
        <p:sp>
          <p:nvSpPr>
            <p:cNvPr id="20" name="Google Shape;10427;p71">
              <a:extLst>
                <a:ext uri="{FF2B5EF4-FFF2-40B4-BE49-F238E27FC236}">
                  <a16:creationId xmlns:a16="http://schemas.microsoft.com/office/drawing/2014/main" id="{57709402-DB1F-13CB-5C9B-637A0D5F7E83}"/>
                </a:ext>
              </a:extLst>
            </p:cNvPr>
            <p:cNvSpPr/>
            <p:nvPr/>
          </p:nvSpPr>
          <p:spPr>
            <a:xfrm>
              <a:off x="-47439925" y="2026950"/>
              <a:ext cx="124475" cy="124450"/>
            </a:xfrm>
            <a:custGeom>
              <a:avLst/>
              <a:gdLst/>
              <a:ahLst/>
              <a:cxnLst/>
              <a:rect l="l" t="t" r="r" b="b"/>
              <a:pathLst>
                <a:path w="4979" h="4978" extrusionOk="0">
                  <a:moveTo>
                    <a:pt x="1828" y="725"/>
                  </a:moveTo>
                  <a:cubicBezTo>
                    <a:pt x="2301" y="725"/>
                    <a:pt x="2679" y="1008"/>
                    <a:pt x="2805" y="1418"/>
                  </a:cubicBezTo>
                  <a:lnTo>
                    <a:pt x="1828" y="1418"/>
                  </a:lnTo>
                  <a:cubicBezTo>
                    <a:pt x="1607" y="1418"/>
                    <a:pt x="1450" y="1575"/>
                    <a:pt x="1450" y="1796"/>
                  </a:cubicBezTo>
                  <a:lnTo>
                    <a:pt x="1450" y="2773"/>
                  </a:lnTo>
                  <a:cubicBezTo>
                    <a:pt x="1040" y="2615"/>
                    <a:pt x="757" y="2206"/>
                    <a:pt x="757" y="1796"/>
                  </a:cubicBezTo>
                  <a:cubicBezTo>
                    <a:pt x="757" y="1197"/>
                    <a:pt x="1229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54" y="2111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8"/>
                    <a:pt x="3372" y="2804"/>
                    <a:pt x="3529" y="2111"/>
                  </a:cubicBezTo>
                  <a:close/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cubicBezTo>
                    <a:pt x="1" y="2647"/>
                    <a:pt x="599" y="3340"/>
                    <a:pt x="1418" y="3529"/>
                  </a:cubicBezTo>
                  <a:lnTo>
                    <a:pt x="1418" y="4631"/>
                  </a:lnTo>
                  <a:cubicBezTo>
                    <a:pt x="1418" y="4820"/>
                    <a:pt x="1576" y="4978"/>
                    <a:pt x="1765" y="4978"/>
                  </a:cubicBezTo>
                  <a:lnTo>
                    <a:pt x="4569" y="4978"/>
                  </a:lnTo>
                  <a:cubicBezTo>
                    <a:pt x="4789" y="4978"/>
                    <a:pt x="4916" y="4820"/>
                    <a:pt x="4916" y="4631"/>
                  </a:cubicBezTo>
                  <a:lnTo>
                    <a:pt x="4916" y="1827"/>
                  </a:lnTo>
                  <a:cubicBezTo>
                    <a:pt x="4979" y="1575"/>
                    <a:pt x="4821" y="1418"/>
                    <a:pt x="4600" y="1418"/>
                  </a:cubicBezTo>
                  <a:lnTo>
                    <a:pt x="3498" y="1418"/>
                  </a:lnTo>
                  <a:cubicBezTo>
                    <a:pt x="3340" y="630"/>
                    <a:pt x="2647" y="0"/>
                    <a:pt x="1765" y="0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31425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428;p71">
              <a:extLst>
                <a:ext uri="{FF2B5EF4-FFF2-40B4-BE49-F238E27FC236}">
                  <a16:creationId xmlns:a16="http://schemas.microsoft.com/office/drawing/2014/main" id="{FDBDE89C-8946-7BEA-EEE8-EF6802E82406}"/>
                </a:ext>
              </a:extLst>
            </p:cNvPr>
            <p:cNvSpPr/>
            <p:nvPr/>
          </p:nvSpPr>
          <p:spPr>
            <a:xfrm>
              <a:off x="-47439125" y="2184475"/>
              <a:ext cx="88225" cy="18125"/>
            </a:xfrm>
            <a:custGeom>
              <a:avLst/>
              <a:gdLst/>
              <a:ahLst/>
              <a:cxnLst/>
              <a:rect l="l" t="t" r="r" b="b"/>
              <a:pathLst>
                <a:path w="3529" h="725" extrusionOk="0">
                  <a:moveTo>
                    <a:pt x="378" y="0"/>
                  </a:moveTo>
                  <a:cubicBezTo>
                    <a:pt x="158" y="0"/>
                    <a:pt x="32" y="158"/>
                    <a:pt x="32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3182" y="725"/>
                  </a:lnTo>
                  <a:cubicBezTo>
                    <a:pt x="3371" y="725"/>
                    <a:pt x="3529" y="567"/>
                    <a:pt x="3529" y="378"/>
                  </a:cubicBezTo>
                  <a:cubicBezTo>
                    <a:pt x="3529" y="158"/>
                    <a:pt x="3371" y="0"/>
                    <a:pt x="3182" y="0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31425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429;p71">
              <a:extLst>
                <a:ext uri="{FF2B5EF4-FFF2-40B4-BE49-F238E27FC236}">
                  <a16:creationId xmlns:a16="http://schemas.microsoft.com/office/drawing/2014/main" id="{6D8A074B-9234-6987-3F6C-49AEF9529B30}"/>
                </a:ext>
              </a:extLst>
            </p:cNvPr>
            <p:cNvSpPr/>
            <p:nvPr/>
          </p:nvSpPr>
          <p:spPr>
            <a:xfrm>
              <a:off x="-47438350" y="2219900"/>
              <a:ext cx="122900" cy="18150"/>
            </a:xfrm>
            <a:custGeom>
              <a:avLst/>
              <a:gdLst/>
              <a:ahLst/>
              <a:cxnLst/>
              <a:rect l="l" t="t" r="r" b="b"/>
              <a:pathLst>
                <a:path w="4916" h="726" extrusionOk="0">
                  <a:moveTo>
                    <a:pt x="347" y="1"/>
                  </a:moveTo>
                  <a:cubicBezTo>
                    <a:pt x="127" y="1"/>
                    <a:pt x="1" y="158"/>
                    <a:pt x="1" y="379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4537" y="725"/>
                  </a:lnTo>
                  <a:cubicBezTo>
                    <a:pt x="4758" y="725"/>
                    <a:pt x="4916" y="568"/>
                    <a:pt x="4916" y="379"/>
                  </a:cubicBezTo>
                  <a:cubicBezTo>
                    <a:pt x="4916" y="158"/>
                    <a:pt x="4758" y="1"/>
                    <a:pt x="4537" y="1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31425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430;p71">
              <a:extLst>
                <a:ext uri="{FF2B5EF4-FFF2-40B4-BE49-F238E27FC236}">
                  <a16:creationId xmlns:a16="http://schemas.microsoft.com/office/drawing/2014/main" id="{D8235767-56A4-D7D9-685F-46DC79B3AED8}"/>
                </a:ext>
              </a:extLst>
            </p:cNvPr>
            <p:cNvSpPr/>
            <p:nvPr/>
          </p:nvSpPr>
          <p:spPr>
            <a:xfrm>
              <a:off x="-47333600" y="21860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26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31425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431;p71">
              <a:extLst>
                <a:ext uri="{FF2B5EF4-FFF2-40B4-BE49-F238E27FC236}">
                  <a16:creationId xmlns:a16="http://schemas.microsoft.com/office/drawing/2014/main" id="{0CC3C680-8258-D857-C1F3-050DDBE4B19F}"/>
                </a:ext>
              </a:extLst>
            </p:cNvPr>
            <p:cNvSpPr/>
            <p:nvPr/>
          </p:nvSpPr>
          <p:spPr>
            <a:xfrm>
              <a:off x="-47509225" y="1974175"/>
              <a:ext cx="263075" cy="300900"/>
            </a:xfrm>
            <a:custGeom>
              <a:avLst/>
              <a:gdLst/>
              <a:ahLst/>
              <a:cxnLst/>
              <a:rect l="l" t="t" r="r" b="b"/>
              <a:pathLst>
                <a:path w="10523" h="12036" extrusionOk="0">
                  <a:moveTo>
                    <a:pt x="9483" y="2111"/>
                  </a:moveTo>
                  <a:cubicBezTo>
                    <a:pt x="9672" y="2111"/>
                    <a:pt x="9830" y="2269"/>
                    <a:pt x="9830" y="2489"/>
                  </a:cubicBezTo>
                  <a:lnTo>
                    <a:pt x="9830" y="3529"/>
                  </a:lnTo>
                  <a:lnTo>
                    <a:pt x="9105" y="3529"/>
                  </a:lnTo>
                  <a:lnTo>
                    <a:pt x="9105" y="2111"/>
                  </a:lnTo>
                  <a:close/>
                  <a:moveTo>
                    <a:pt x="9830" y="4222"/>
                  </a:moveTo>
                  <a:lnTo>
                    <a:pt x="9830" y="5640"/>
                  </a:lnTo>
                  <a:lnTo>
                    <a:pt x="9105" y="5640"/>
                  </a:lnTo>
                  <a:lnTo>
                    <a:pt x="9105" y="4222"/>
                  </a:lnTo>
                  <a:close/>
                  <a:moveTo>
                    <a:pt x="9861" y="6333"/>
                  </a:moveTo>
                  <a:lnTo>
                    <a:pt x="9861" y="7751"/>
                  </a:lnTo>
                  <a:lnTo>
                    <a:pt x="9168" y="7751"/>
                  </a:lnTo>
                  <a:lnTo>
                    <a:pt x="9168" y="6333"/>
                  </a:lnTo>
                  <a:close/>
                  <a:moveTo>
                    <a:pt x="9830" y="8412"/>
                  </a:moveTo>
                  <a:lnTo>
                    <a:pt x="9830" y="9483"/>
                  </a:lnTo>
                  <a:cubicBezTo>
                    <a:pt x="9830" y="9672"/>
                    <a:pt x="9672" y="9830"/>
                    <a:pt x="9483" y="9830"/>
                  </a:cubicBezTo>
                  <a:lnTo>
                    <a:pt x="9137" y="9830"/>
                  </a:lnTo>
                  <a:lnTo>
                    <a:pt x="9137" y="8412"/>
                  </a:lnTo>
                  <a:close/>
                  <a:moveTo>
                    <a:pt x="8444" y="630"/>
                  </a:moveTo>
                  <a:lnTo>
                    <a:pt x="8444" y="11248"/>
                  </a:lnTo>
                  <a:lnTo>
                    <a:pt x="1450" y="11248"/>
                  </a:lnTo>
                  <a:lnTo>
                    <a:pt x="1450" y="10554"/>
                  </a:lnTo>
                  <a:lnTo>
                    <a:pt x="1796" y="10554"/>
                  </a:lnTo>
                  <a:cubicBezTo>
                    <a:pt x="1985" y="10554"/>
                    <a:pt x="2143" y="10397"/>
                    <a:pt x="2143" y="10176"/>
                  </a:cubicBezTo>
                  <a:cubicBezTo>
                    <a:pt x="2143" y="9987"/>
                    <a:pt x="1985" y="9830"/>
                    <a:pt x="1796" y="9830"/>
                  </a:cubicBezTo>
                  <a:lnTo>
                    <a:pt x="1450" y="9830"/>
                  </a:lnTo>
                  <a:lnTo>
                    <a:pt x="1450" y="8412"/>
                  </a:lnTo>
                  <a:lnTo>
                    <a:pt x="1796" y="8412"/>
                  </a:lnTo>
                  <a:cubicBezTo>
                    <a:pt x="1985" y="8412"/>
                    <a:pt x="2143" y="8255"/>
                    <a:pt x="2143" y="8066"/>
                  </a:cubicBezTo>
                  <a:cubicBezTo>
                    <a:pt x="2143" y="7877"/>
                    <a:pt x="1985" y="7719"/>
                    <a:pt x="1796" y="7719"/>
                  </a:cubicBezTo>
                  <a:lnTo>
                    <a:pt x="1450" y="7719"/>
                  </a:lnTo>
                  <a:lnTo>
                    <a:pt x="1450" y="6301"/>
                  </a:lnTo>
                  <a:lnTo>
                    <a:pt x="1796" y="6301"/>
                  </a:lnTo>
                  <a:cubicBezTo>
                    <a:pt x="1985" y="6301"/>
                    <a:pt x="2143" y="6144"/>
                    <a:pt x="2143" y="5923"/>
                  </a:cubicBezTo>
                  <a:cubicBezTo>
                    <a:pt x="2143" y="5734"/>
                    <a:pt x="1985" y="5577"/>
                    <a:pt x="1796" y="5577"/>
                  </a:cubicBezTo>
                  <a:lnTo>
                    <a:pt x="1450" y="5577"/>
                  </a:lnTo>
                  <a:lnTo>
                    <a:pt x="1450" y="4159"/>
                  </a:lnTo>
                  <a:lnTo>
                    <a:pt x="1796" y="4159"/>
                  </a:lnTo>
                  <a:cubicBezTo>
                    <a:pt x="1985" y="4159"/>
                    <a:pt x="2143" y="4001"/>
                    <a:pt x="2143" y="3812"/>
                  </a:cubicBezTo>
                  <a:cubicBezTo>
                    <a:pt x="2143" y="3623"/>
                    <a:pt x="1985" y="3466"/>
                    <a:pt x="1796" y="3466"/>
                  </a:cubicBezTo>
                  <a:lnTo>
                    <a:pt x="1450" y="3466"/>
                  </a:lnTo>
                  <a:lnTo>
                    <a:pt x="1450" y="2048"/>
                  </a:lnTo>
                  <a:lnTo>
                    <a:pt x="1796" y="2048"/>
                  </a:lnTo>
                  <a:cubicBezTo>
                    <a:pt x="1985" y="2048"/>
                    <a:pt x="2143" y="1891"/>
                    <a:pt x="2143" y="1670"/>
                  </a:cubicBezTo>
                  <a:cubicBezTo>
                    <a:pt x="2143" y="1481"/>
                    <a:pt x="1985" y="1324"/>
                    <a:pt x="1796" y="1324"/>
                  </a:cubicBezTo>
                  <a:lnTo>
                    <a:pt x="1450" y="1324"/>
                  </a:lnTo>
                  <a:lnTo>
                    <a:pt x="1450" y="630"/>
                  </a:lnTo>
                  <a:close/>
                  <a:moveTo>
                    <a:pt x="1040" y="0"/>
                  </a:moveTo>
                  <a:cubicBezTo>
                    <a:pt x="851" y="0"/>
                    <a:pt x="693" y="158"/>
                    <a:pt x="693" y="347"/>
                  </a:cubicBezTo>
                  <a:lnTo>
                    <a:pt x="693" y="1418"/>
                  </a:lnTo>
                  <a:lnTo>
                    <a:pt x="347" y="1418"/>
                  </a:lnTo>
                  <a:cubicBezTo>
                    <a:pt x="158" y="1418"/>
                    <a:pt x="0" y="1576"/>
                    <a:pt x="0" y="1765"/>
                  </a:cubicBezTo>
                  <a:cubicBezTo>
                    <a:pt x="0" y="1954"/>
                    <a:pt x="158" y="2111"/>
                    <a:pt x="347" y="2111"/>
                  </a:cubicBezTo>
                  <a:lnTo>
                    <a:pt x="693" y="2111"/>
                  </a:lnTo>
                  <a:lnTo>
                    <a:pt x="693" y="3529"/>
                  </a:lnTo>
                  <a:lnTo>
                    <a:pt x="347" y="3529"/>
                  </a:lnTo>
                  <a:cubicBezTo>
                    <a:pt x="158" y="3529"/>
                    <a:pt x="0" y="3686"/>
                    <a:pt x="0" y="3907"/>
                  </a:cubicBezTo>
                  <a:cubicBezTo>
                    <a:pt x="0" y="4096"/>
                    <a:pt x="158" y="4254"/>
                    <a:pt x="347" y="4254"/>
                  </a:cubicBezTo>
                  <a:lnTo>
                    <a:pt x="693" y="4254"/>
                  </a:lnTo>
                  <a:lnTo>
                    <a:pt x="693" y="5671"/>
                  </a:lnTo>
                  <a:lnTo>
                    <a:pt x="347" y="5671"/>
                  </a:lnTo>
                  <a:cubicBezTo>
                    <a:pt x="158" y="5671"/>
                    <a:pt x="0" y="5829"/>
                    <a:pt x="0" y="6018"/>
                  </a:cubicBezTo>
                  <a:cubicBezTo>
                    <a:pt x="0" y="6207"/>
                    <a:pt x="158" y="6364"/>
                    <a:pt x="347" y="6364"/>
                  </a:cubicBezTo>
                  <a:lnTo>
                    <a:pt x="693" y="6364"/>
                  </a:lnTo>
                  <a:lnTo>
                    <a:pt x="693" y="7782"/>
                  </a:lnTo>
                  <a:lnTo>
                    <a:pt x="347" y="7782"/>
                  </a:lnTo>
                  <a:cubicBezTo>
                    <a:pt x="158" y="7782"/>
                    <a:pt x="0" y="7940"/>
                    <a:pt x="0" y="8160"/>
                  </a:cubicBezTo>
                  <a:cubicBezTo>
                    <a:pt x="0" y="8349"/>
                    <a:pt x="158" y="8507"/>
                    <a:pt x="347" y="8507"/>
                  </a:cubicBezTo>
                  <a:lnTo>
                    <a:pt x="693" y="8507"/>
                  </a:lnTo>
                  <a:lnTo>
                    <a:pt x="693" y="9924"/>
                  </a:lnTo>
                  <a:lnTo>
                    <a:pt x="347" y="9924"/>
                  </a:lnTo>
                  <a:cubicBezTo>
                    <a:pt x="158" y="9924"/>
                    <a:pt x="0" y="10082"/>
                    <a:pt x="0" y="10271"/>
                  </a:cubicBezTo>
                  <a:cubicBezTo>
                    <a:pt x="0" y="10460"/>
                    <a:pt x="158" y="10617"/>
                    <a:pt x="347" y="10617"/>
                  </a:cubicBezTo>
                  <a:lnTo>
                    <a:pt x="693" y="10617"/>
                  </a:lnTo>
                  <a:lnTo>
                    <a:pt x="693" y="11689"/>
                  </a:lnTo>
                  <a:cubicBezTo>
                    <a:pt x="693" y="11878"/>
                    <a:pt x="851" y="12035"/>
                    <a:pt x="1040" y="12035"/>
                  </a:cubicBezTo>
                  <a:lnTo>
                    <a:pt x="8759" y="12035"/>
                  </a:lnTo>
                  <a:cubicBezTo>
                    <a:pt x="8979" y="12035"/>
                    <a:pt x="9137" y="11878"/>
                    <a:pt x="9137" y="11689"/>
                  </a:cubicBezTo>
                  <a:lnTo>
                    <a:pt x="9137" y="10617"/>
                  </a:lnTo>
                  <a:lnTo>
                    <a:pt x="9483" y="10617"/>
                  </a:lnTo>
                  <a:cubicBezTo>
                    <a:pt x="10050" y="10617"/>
                    <a:pt x="10523" y="10145"/>
                    <a:pt x="10523" y="9578"/>
                  </a:cubicBezTo>
                  <a:lnTo>
                    <a:pt x="10523" y="2552"/>
                  </a:lnTo>
                  <a:cubicBezTo>
                    <a:pt x="10523" y="1891"/>
                    <a:pt x="10050" y="1418"/>
                    <a:pt x="9483" y="1418"/>
                  </a:cubicBezTo>
                  <a:lnTo>
                    <a:pt x="9137" y="1418"/>
                  </a:lnTo>
                  <a:lnTo>
                    <a:pt x="9137" y="347"/>
                  </a:lnTo>
                  <a:cubicBezTo>
                    <a:pt x="9137" y="158"/>
                    <a:pt x="8979" y="0"/>
                    <a:pt x="8759" y="0"/>
                  </a:cubicBezTo>
                  <a:close/>
                </a:path>
              </a:pathLst>
            </a:custGeom>
            <a:solidFill>
              <a:schemeClr val="dk2"/>
            </a:solidFill>
            <a:ln w="6350">
              <a:solidFill>
                <a:srgbClr val="31425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767;p41">
            <a:extLst>
              <a:ext uri="{FF2B5EF4-FFF2-40B4-BE49-F238E27FC236}">
                <a16:creationId xmlns:a16="http://schemas.microsoft.com/office/drawing/2014/main" id="{8CF8820D-0086-7F4F-4289-EF05DF72DCC3}"/>
              </a:ext>
            </a:extLst>
          </p:cNvPr>
          <p:cNvSpPr txBox="1">
            <a:spLocks/>
          </p:cNvSpPr>
          <p:nvPr/>
        </p:nvSpPr>
        <p:spPr>
          <a:xfrm>
            <a:off x="1624668" y="3736959"/>
            <a:ext cx="1955202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400" dirty="0"/>
              <a:t>≈ 3.76 M record</a:t>
            </a:r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C445507B-FE34-BA8E-60E4-CBD41BAEF668}"/>
              </a:ext>
            </a:extLst>
          </p:cNvPr>
          <p:cNvGrpSpPr/>
          <p:nvPr/>
        </p:nvGrpSpPr>
        <p:grpSpPr>
          <a:xfrm>
            <a:off x="5648770" y="2033337"/>
            <a:ext cx="2005983" cy="572700"/>
            <a:chOff x="5208596" y="2061280"/>
            <a:chExt cx="2005983" cy="572700"/>
          </a:xfrm>
        </p:grpSpPr>
        <p:sp>
          <p:nvSpPr>
            <p:cNvPr id="32" name="Google Shape;769;p41">
              <a:extLst>
                <a:ext uri="{FF2B5EF4-FFF2-40B4-BE49-F238E27FC236}">
                  <a16:creationId xmlns:a16="http://schemas.microsoft.com/office/drawing/2014/main" id="{07C22AF7-4C83-C36F-EBD3-0C45E4041156}"/>
                </a:ext>
              </a:extLst>
            </p:cNvPr>
            <p:cNvSpPr txBox="1">
              <a:spLocks/>
            </p:cNvSpPr>
            <p:nvPr/>
          </p:nvSpPr>
          <p:spPr>
            <a:xfrm>
              <a:off x="5208596" y="2089078"/>
              <a:ext cx="808130" cy="5259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18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L="914400" marR="0" lvl="1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 spc="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 spc="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 spc="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 spc="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 spc="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 spc="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 spc="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 spc="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9pPr>
            </a:lstStyle>
            <a:p>
              <a:pPr marL="0" indent="0"/>
              <a:r>
                <a:rPr lang="it-IT" sz="4000" dirty="0"/>
                <a:t>12</a:t>
              </a:r>
            </a:p>
          </p:txBody>
        </p:sp>
        <p:sp>
          <p:nvSpPr>
            <p:cNvPr id="34" name="Google Shape;762;p41">
              <a:extLst>
                <a:ext uri="{FF2B5EF4-FFF2-40B4-BE49-F238E27FC236}">
                  <a16:creationId xmlns:a16="http://schemas.microsoft.com/office/drawing/2014/main" id="{D9B81444-F300-859A-7A8B-B43E84989A55}"/>
                </a:ext>
              </a:extLst>
            </p:cNvPr>
            <p:cNvSpPr txBox="1">
              <a:spLocks/>
            </p:cNvSpPr>
            <p:nvPr/>
          </p:nvSpPr>
          <p:spPr>
            <a:xfrm>
              <a:off x="5277255" y="2061280"/>
              <a:ext cx="1937324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ind"/>
                <a:buNone/>
                <a:defRPr sz="1200" b="0" i="0" u="none" strike="noStrike" cap="none" spc="0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914400" marR="0" lvl="1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Hind"/>
                <a:buNone/>
                <a:defRPr sz="1200" b="0" i="0" u="none" strike="noStrike" cap="none" spc="0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Hind"/>
                <a:buNone/>
                <a:defRPr sz="1200" b="0" i="0" u="none" strike="noStrike" cap="none" spc="0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Hind"/>
                <a:buNone/>
                <a:defRPr sz="1200" b="0" i="0" u="none" strike="noStrike" cap="none" spc="0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Hind"/>
                <a:buNone/>
                <a:defRPr sz="1200" b="0" i="0" u="none" strike="noStrike" cap="none" spc="0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Hind"/>
                <a:buNone/>
                <a:defRPr sz="1200" b="0" i="0" u="none" strike="noStrike" cap="none" spc="0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Hind"/>
                <a:buNone/>
                <a:defRPr sz="1200" b="0" i="0" u="none" strike="noStrike" cap="none" spc="0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Hind"/>
                <a:buNone/>
                <a:defRPr sz="1200" b="0" i="0" u="none" strike="noStrike" cap="none" spc="0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Hind"/>
                <a:buNone/>
                <a:defRPr sz="1200" b="0" i="0" u="none" strike="noStrike" cap="none" spc="0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indent="0"/>
              <a:r>
                <a:rPr lang="it-IT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Classi</a:t>
              </a:r>
            </a:p>
            <a:p>
              <a:pPr marL="0" indent="0"/>
              <a:r>
                <a:rPr lang="it-IT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11 tumorali + Healthy</a:t>
              </a:r>
            </a:p>
          </p:txBody>
        </p:sp>
      </p:grpSp>
      <p:sp>
        <p:nvSpPr>
          <p:cNvPr id="41" name="Google Shape;762;p41">
            <a:extLst>
              <a:ext uri="{FF2B5EF4-FFF2-40B4-BE49-F238E27FC236}">
                <a16:creationId xmlns:a16="http://schemas.microsoft.com/office/drawing/2014/main" id="{BE17603E-9F2E-8BFE-EB0E-81BAA6EB156A}"/>
              </a:ext>
            </a:extLst>
          </p:cNvPr>
          <p:cNvSpPr txBox="1">
            <a:spLocks/>
          </p:cNvSpPr>
          <p:nvPr/>
        </p:nvSpPr>
        <p:spPr>
          <a:xfrm>
            <a:off x="5141383" y="2887358"/>
            <a:ext cx="1804946" cy="1272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Gastric cancer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Healthy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Ovarian cancer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Prostate cancer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Colorectal cancer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Lymphoma</a:t>
            </a:r>
          </a:p>
        </p:txBody>
      </p:sp>
      <p:sp>
        <p:nvSpPr>
          <p:cNvPr id="45" name="Google Shape;762;p41">
            <a:extLst>
              <a:ext uri="{FF2B5EF4-FFF2-40B4-BE49-F238E27FC236}">
                <a16:creationId xmlns:a16="http://schemas.microsoft.com/office/drawing/2014/main" id="{D6EC7D33-6D33-130D-5EEF-3D977DCF2E51}"/>
              </a:ext>
            </a:extLst>
          </p:cNvPr>
          <p:cNvSpPr txBox="1">
            <a:spLocks/>
          </p:cNvSpPr>
          <p:nvPr/>
        </p:nvSpPr>
        <p:spPr>
          <a:xfrm>
            <a:off x="6856973" y="2887358"/>
            <a:ext cx="2088244" cy="1272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Cervical adenocarcinoma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Leukemia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Hypopharyngeal SCC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Glioblastoma cancer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Melanoma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Hypopharynx cancer</a:t>
            </a:r>
          </a:p>
        </p:txBody>
      </p:sp>
      <p:sp>
        <p:nvSpPr>
          <p:cNvPr id="47" name="Google Shape;767;p41">
            <a:extLst>
              <a:ext uri="{FF2B5EF4-FFF2-40B4-BE49-F238E27FC236}">
                <a16:creationId xmlns:a16="http://schemas.microsoft.com/office/drawing/2014/main" id="{EBBAF53F-8282-D681-5408-54DD6AE4767D}"/>
              </a:ext>
            </a:extLst>
          </p:cNvPr>
          <p:cNvSpPr txBox="1">
            <a:spLocks/>
          </p:cNvSpPr>
          <p:nvPr/>
        </p:nvSpPr>
        <p:spPr>
          <a:xfrm>
            <a:off x="3613134" y="4459777"/>
            <a:ext cx="1955202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400" dirty="0"/>
              <a:t>Target: disease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>
          <a:extLst>
            <a:ext uri="{FF2B5EF4-FFF2-40B4-BE49-F238E27FC236}">
              <a16:creationId xmlns:a16="http://schemas.microsoft.com/office/drawing/2014/main" id="{022A9982-7D1E-7456-46BB-0CE23FB2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1">
            <a:extLst>
              <a:ext uri="{FF2B5EF4-FFF2-40B4-BE49-F238E27FC236}">
                <a16:creationId xmlns:a16="http://schemas.microsoft.com/office/drawing/2014/main" id="{66E8A617-A4E6-D1E8-AB90-049FF167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6389" y="3205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Split, leakage e bilanciamento</a:t>
            </a:r>
            <a:endParaRPr dirty="0"/>
          </a:p>
        </p:txBody>
      </p:sp>
      <p:sp>
        <p:nvSpPr>
          <p:cNvPr id="767" name="Google Shape;767;p41">
            <a:extLst>
              <a:ext uri="{FF2B5EF4-FFF2-40B4-BE49-F238E27FC236}">
                <a16:creationId xmlns:a16="http://schemas.microsoft.com/office/drawing/2014/main" id="{E9909FED-D458-A418-31F2-A21DD1F2FA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142233"/>
            <a:ext cx="29670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Split dei dati</a:t>
            </a:r>
            <a:endParaRPr dirty="0"/>
          </a:p>
        </p:txBody>
      </p:sp>
      <p:cxnSp>
        <p:nvCxnSpPr>
          <p:cNvPr id="771" name="Google Shape;771;p41">
            <a:extLst>
              <a:ext uri="{FF2B5EF4-FFF2-40B4-BE49-F238E27FC236}">
                <a16:creationId xmlns:a16="http://schemas.microsoft.com/office/drawing/2014/main" id="{7430B3D6-5F56-4201-E4B9-6B10AEFCFEA3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1405183"/>
            <a:ext cx="23304" cy="2747996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Google Shape;771;p41">
            <a:extLst>
              <a:ext uri="{FF2B5EF4-FFF2-40B4-BE49-F238E27FC236}">
                <a16:creationId xmlns:a16="http://schemas.microsoft.com/office/drawing/2014/main" id="{BAC9D7B5-3612-7E80-0420-242F18FC002D}"/>
              </a:ext>
            </a:extLst>
          </p:cNvPr>
          <p:cNvCxnSpPr>
            <a:cxnSpLocks/>
          </p:cNvCxnSpPr>
          <p:nvPr/>
        </p:nvCxnSpPr>
        <p:spPr>
          <a:xfrm>
            <a:off x="1802419" y="1938232"/>
            <a:ext cx="0" cy="53707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771;p41">
            <a:extLst>
              <a:ext uri="{FF2B5EF4-FFF2-40B4-BE49-F238E27FC236}">
                <a16:creationId xmlns:a16="http://schemas.microsoft.com/office/drawing/2014/main" id="{3D12CDD2-4F3E-C8E2-AD7A-90FAB707B59C}"/>
              </a:ext>
            </a:extLst>
          </p:cNvPr>
          <p:cNvCxnSpPr>
            <a:cxnSpLocks/>
          </p:cNvCxnSpPr>
          <p:nvPr/>
        </p:nvCxnSpPr>
        <p:spPr>
          <a:xfrm flipH="1" flipV="1">
            <a:off x="1019986" y="3401631"/>
            <a:ext cx="2463703" cy="133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767;p41">
            <a:extLst>
              <a:ext uri="{FF2B5EF4-FFF2-40B4-BE49-F238E27FC236}">
                <a16:creationId xmlns:a16="http://schemas.microsoft.com/office/drawing/2014/main" id="{1624F7EF-A0CE-AA04-314A-3755EC75B1DE}"/>
              </a:ext>
            </a:extLst>
          </p:cNvPr>
          <p:cNvSpPr txBox="1">
            <a:spLocks/>
          </p:cNvSpPr>
          <p:nvPr/>
        </p:nvSpPr>
        <p:spPr>
          <a:xfrm>
            <a:off x="2371163" y="4467460"/>
            <a:ext cx="4401674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400" dirty="0"/>
              <a:t>Coppie e reference bank costruite solo dal train</a:t>
            </a:r>
          </a:p>
        </p:txBody>
      </p:sp>
      <p:cxnSp>
        <p:nvCxnSpPr>
          <p:cNvPr id="28" name="Google Shape;771;p41">
            <a:extLst>
              <a:ext uri="{FF2B5EF4-FFF2-40B4-BE49-F238E27FC236}">
                <a16:creationId xmlns:a16="http://schemas.microsoft.com/office/drawing/2014/main" id="{7943A2DB-9D28-11B9-7EF4-2605B8EE9C7B}"/>
              </a:ext>
            </a:extLst>
          </p:cNvPr>
          <p:cNvCxnSpPr>
            <a:cxnSpLocks/>
          </p:cNvCxnSpPr>
          <p:nvPr/>
        </p:nvCxnSpPr>
        <p:spPr>
          <a:xfrm>
            <a:off x="3060861" y="1938232"/>
            <a:ext cx="0" cy="53707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Google Shape;767;p41">
            <a:extLst>
              <a:ext uri="{FF2B5EF4-FFF2-40B4-BE49-F238E27FC236}">
                <a16:creationId xmlns:a16="http://schemas.microsoft.com/office/drawing/2014/main" id="{47B30BDF-2736-F124-6288-C1CE3D5CF91A}"/>
              </a:ext>
            </a:extLst>
          </p:cNvPr>
          <p:cNvSpPr txBox="1">
            <a:spLocks/>
          </p:cNvSpPr>
          <p:nvPr/>
        </p:nvSpPr>
        <p:spPr>
          <a:xfrm>
            <a:off x="709524" y="1807604"/>
            <a:ext cx="867702" cy="4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200" dirty="0"/>
              <a:t>TRAIN</a:t>
            </a:r>
          </a:p>
        </p:txBody>
      </p:sp>
      <p:sp>
        <p:nvSpPr>
          <p:cNvPr id="37" name="Google Shape;767;p41">
            <a:extLst>
              <a:ext uri="{FF2B5EF4-FFF2-40B4-BE49-F238E27FC236}">
                <a16:creationId xmlns:a16="http://schemas.microsoft.com/office/drawing/2014/main" id="{51F83345-3F10-5017-DA6D-B0F90F2537F2}"/>
              </a:ext>
            </a:extLst>
          </p:cNvPr>
          <p:cNvSpPr txBox="1">
            <a:spLocks/>
          </p:cNvSpPr>
          <p:nvPr/>
        </p:nvSpPr>
        <p:spPr>
          <a:xfrm>
            <a:off x="1962418" y="1807603"/>
            <a:ext cx="867702" cy="4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200" dirty="0"/>
              <a:t>VAL</a:t>
            </a:r>
          </a:p>
        </p:txBody>
      </p:sp>
      <p:sp>
        <p:nvSpPr>
          <p:cNvPr id="39" name="Google Shape;767;p41">
            <a:extLst>
              <a:ext uri="{FF2B5EF4-FFF2-40B4-BE49-F238E27FC236}">
                <a16:creationId xmlns:a16="http://schemas.microsoft.com/office/drawing/2014/main" id="{0FB7CDAD-3D67-9E3B-F231-30365D1F23AD}"/>
              </a:ext>
            </a:extLst>
          </p:cNvPr>
          <p:cNvSpPr txBox="1">
            <a:spLocks/>
          </p:cNvSpPr>
          <p:nvPr/>
        </p:nvSpPr>
        <p:spPr>
          <a:xfrm>
            <a:off x="3149028" y="1807603"/>
            <a:ext cx="867702" cy="4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200" dirty="0"/>
              <a:t>TEST</a:t>
            </a:r>
          </a:p>
        </p:txBody>
      </p:sp>
      <p:sp>
        <p:nvSpPr>
          <p:cNvPr id="42" name="Google Shape;762;p41">
            <a:extLst>
              <a:ext uri="{FF2B5EF4-FFF2-40B4-BE49-F238E27FC236}">
                <a16:creationId xmlns:a16="http://schemas.microsoft.com/office/drawing/2014/main" id="{BA78318B-A1D3-FA14-F609-D376F0141CFC}"/>
              </a:ext>
            </a:extLst>
          </p:cNvPr>
          <p:cNvSpPr txBox="1">
            <a:spLocks/>
          </p:cNvSpPr>
          <p:nvPr/>
        </p:nvSpPr>
        <p:spPr>
          <a:xfrm>
            <a:off x="683129" y="2059667"/>
            <a:ext cx="920491" cy="4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96,167</a:t>
            </a:r>
          </a:p>
        </p:txBody>
      </p:sp>
      <p:sp>
        <p:nvSpPr>
          <p:cNvPr id="44" name="Google Shape;762;p41">
            <a:extLst>
              <a:ext uri="{FF2B5EF4-FFF2-40B4-BE49-F238E27FC236}">
                <a16:creationId xmlns:a16="http://schemas.microsoft.com/office/drawing/2014/main" id="{B0AA8153-9B27-C79D-AA7F-EDDEE8590DFE}"/>
              </a:ext>
            </a:extLst>
          </p:cNvPr>
          <p:cNvSpPr txBox="1">
            <a:spLocks/>
          </p:cNvSpPr>
          <p:nvPr/>
        </p:nvSpPr>
        <p:spPr>
          <a:xfrm>
            <a:off x="1955670" y="2065696"/>
            <a:ext cx="920491" cy="4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9,753</a:t>
            </a:r>
          </a:p>
        </p:txBody>
      </p:sp>
      <p:sp>
        <p:nvSpPr>
          <p:cNvPr id="48" name="Google Shape;762;p41">
            <a:extLst>
              <a:ext uri="{FF2B5EF4-FFF2-40B4-BE49-F238E27FC236}">
                <a16:creationId xmlns:a16="http://schemas.microsoft.com/office/drawing/2014/main" id="{0950275B-BCDD-0E0C-D6A7-4E444DAA03A2}"/>
              </a:ext>
            </a:extLst>
          </p:cNvPr>
          <p:cNvSpPr txBox="1">
            <a:spLocks/>
          </p:cNvSpPr>
          <p:nvPr/>
        </p:nvSpPr>
        <p:spPr>
          <a:xfrm>
            <a:off x="3117183" y="2059666"/>
            <a:ext cx="920491" cy="4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8,923</a:t>
            </a:r>
          </a:p>
        </p:txBody>
      </p:sp>
      <p:sp>
        <p:nvSpPr>
          <p:cNvPr id="52" name="Google Shape;767;p41">
            <a:extLst>
              <a:ext uri="{FF2B5EF4-FFF2-40B4-BE49-F238E27FC236}">
                <a16:creationId xmlns:a16="http://schemas.microsoft.com/office/drawing/2014/main" id="{E4EBD550-3875-5DE5-6CB3-522ECAF89D96}"/>
              </a:ext>
            </a:extLst>
          </p:cNvPr>
          <p:cNvSpPr txBox="1">
            <a:spLocks/>
          </p:cNvSpPr>
          <p:nvPr/>
        </p:nvSpPr>
        <p:spPr>
          <a:xfrm>
            <a:off x="1556103" y="2979959"/>
            <a:ext cx="1391468" cy="4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200" dirty="0"/>
              <a:t>Test congelato</a:t>
            </a:r>
          </a:p>
        </p:txBody>
      </p:sp>
      <p:sp>
        <p:nvSpPr>
          <p:cNvPr id="54" name="Google Shape;767;p41">
            <a:extLst>
              <a:ext uri="{FF2B5EF4-FFF2-40B4-BE49-F238E27FC236}">
                <a16:creationId xmlns:a16="http://schemas.microsoft.com/office/drawing/2014/main" id="{4FFB17F3-00BE-EAD0-AC4D-4A193023B316}"/>
              </a:ext>
            </a:extLst>
          </p:cNvPr>
          <p:cNvSpPr txBox="1">
            <a:spLocks/>
          </p:cNvSpPr>
          <p:nvPr/>
        </p:nvSpPr>
        <p:spPr>
          <a:xfrm>
            <a:off x="1556103" y="3423255"/>
            <a:ext cx="1391468" cy="4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200" dirty="0"/>
              <a:t>Split_cluster</a:t>
            </a:r>
          </a:p>
        </p:txBody>
      </p:sp>
      <p:sp>
        <p:nvSpPr>
          <p:cNvPr id="55" name="Google Shape;767;p41">
            <a:extLst>
              <a:ext uri="{FF2B5EF4-FFF2-40B4-BE49-F238E27FC236}">
                <a16:creationId xmlns:a16="http://schemas.microsoft.com/office/drawing/2014/main" id="{E6688B9B-2C01-CC10-FA1C-741D2BBC78CB}"/>
              </a:ext>
            </a:extLst>
          </p:cNvPr>
          <p:cNvSpPr txBox="1">
            <a:spLocks/>
          </p:cNvSpPr>
          <p:nvPr/>
        </p:nvSpPr>
        <p:spPr>
          <a:xfrm>
            <a:off x="4308389" y="1142233"/>
            <a:ext cx="29670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dirty="0"/>
              <a:t>Bilanciamento</a:t>
            </a:r>
          </a:p>
        </p:txBody>
      </p:sp>
      <p:sp>
        <p:nvSpPr>
          <p:cNvPr id="59" name="Google Shape;767;p41">
            <a:extLst>
              <a:ext uri="{FF2B5EF4-FFF2-40B4-BE49-F238E27FC236}">
                <a16:creationId xmlns:a16="http://schemas.microsoft.com/office/drawing/2014/main" id="{D1296A13-4530-596E-B306-23162D73D505}"/>
              </a:ext>
            </a:extLst>
          </p:cNvPr>
          <p:cNvSpPr txBox="1">
            <a:spLocks/>
          </p:cNvSpPr>
          <p:nvPr/>
        </p:nvSpPr>
        <p:spPr>
          <a:xfrm>
            <a:off x="4826046" y="1806455"/>
            <a:ext cx="1633596" cy="4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200" dirty="0"/>
              <a:t>DOWNSAMPLING :</a:t>
            </a:r>
          </a:p>
        </p:txBody>
      </p:sp>
      <p:sp>
        <p:nvSpPr>
          <p:cNvPr id="61" name="Google Shape;762;p41">
            <a:extLst>
              <a:ext uri="{FF2B5EF4-FFF2-40B4-BE49-F238E27FC236}">
                <a16:creationId xmlns:a16="http://schemas.microsoft.com/office/drawing/2014/main" id="{3D8F0BD3-7623-E31D-0A6B-C46989368ED7}"/>
              </a:ext>
            </a:extLst>
          </p:cNvPr>
          <p:cNvSpPr txBox="1">
            <a:spLocks/>
          </p:cNvSpPr>
          <p:nvPr/>
        </p:nvSpPr>
        <p:spPr>
          <a:xfrm>
            <a:off x="4834527" y="2059665"/>
            <a:ext cx="3694030" cy="39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2,111 campioni / classe </a:t>
            </a:r>
            <a:r>
              <a:rPr lang="it-IT" sz="1400" dirty="0">
                <a:solidFill>
                  <a:schemeClr val="tx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</a:t>
            </a:r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25,332 campioni</a:t>
            </a:r>
          </a:p>
        </p:txBody>
      </p:sp>
      <p:sp>
        <p:nvSpPr>
          <p:cNvPr id="705" name="Google Shape;767;p41">
            <a:extLst>
              <a:ext uri="{FF2B5EF4-FFF2-40B4-BE49-F238E27FC236}">
                <a16:creationId xmlns:a16="http://schemas.microsoft.com/office/drawing/2014/main" id="{CF41FE68-A692-2708-0391-503A07165896}"/>
              </a:ext>
            </a:extLst>
          </p:cNvPr>
          <p:cNvSpPr txBox="1">
            <a:spLocks/>
          </p:cNvSpPr>
          <p:nvPr/>
        </p:nvSpPr>
        <p:spPr>
          <a:xfrm>
            <a:off x="4826046" y="2946593"/>
            <a:ext cx="3643386" cy="4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200" dirty="0"/>
              <a:t>FULL-TRAIN + BALANCED BATCH SAMPLING</a:t>
            </a:r>
          </a:p>
        </p:txBody>
      </p:sp>
      <p:sp>
        <p:nvSpPr>
          <p:cNvPr id="709" name="Google Shape;762;p41">
            <a:extLst>
              <a:ext uri="{FF2B5EF4-FFF2-40B4-BE49-F238E27FC236}">
                <a16:creationId xmlns:a16="http://schemas.microsoft.com/office/drawing/2014/main" id="{BDD18DB9-D991-F38A-DD88-461D895C44EE}"/>
              </a:ext>
            </a:extLst>
          </p:cNvPr>
          <p:cNvSpPr txBox="1">
            <a:spLocks/>
          </p:cNvSpPr>
          <p:nvPr/>
        </p:nvSpPr>
        <p:spPr>
          <a:xfrm>
            <a:off x="4826046" y="2397827"/>
            <a:ext cx="3694030" cy="26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r>
              <a:rPr lang="it-IT" sz="1100" dirty="0">
                <a:solidFill>
                  <a:schemeClr val="accent1">
                    <a:lumMod val="75000"/>
                  </a:schemeClr>
                </a:solidFill>
              </a:rPr>
              <a:t>STESSA NUMEROSITÀ PER TUTTE LE CLASSI</a:t>
            </a:r>
            <a:endParaRPr lang="it-IT" sz="11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sp>
        <p:nvSpPr>
          <p:cNvPr id="713" name="Google Shape;762;p41">
            <a:extLst>
              <a:ext uri="{FF2B5EF4-FFF2-40B4-BE49-F238E27FC236}">
                <a16:creationId xmlns:a16="http://schemas.microsoft.com/office/drawing/2014/main" id="{1C7FDE0E-BE4F-FF12-E7B4-7C921F94261C}"/>
              </a:ext>
            </a:extLst>
          </p:cNvPr>
          <p:cNvSpPr txBox="1">
            <a:spLocks/>
          </p:cNvSpPr>
          <p:nvPr/>
        </p:nvSpPr>
        <p:spPr>
          <a:xfrm>
            <a:off x="4905937" y="3230407"/>
            <a:ext cx="3694030" cy="81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l"/>
            <a:r>
              <a:rPr lang="it-IT" sz="1400" dirty="0"/>
              <a:t>96,167 campioni mantenuti</a:t>
            </a:r>
          </a:p>
          <a:p>
            <a:pPr marL="0" indent="0" algn="l"/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 campioni per classe / batch</a:t>
            </a:r>
          </a:p>
          <a:p>
            <a:pPr marL="0" indent="0" algn="l"/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Batch size = 60</a:t>
            </a:r>
          </a:p>
        </p:txBody>
      </p:sp>
    </p:spTree>
    <p:extLst>
      <p:ext uri="{BB962C8B-B14F-4D97-AF65-F5344CB8AC3E}">
        <p14:creationId xmlns:p14="http://schemas.microsoft.com/office/powerpoint/2010/main" val="353779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>
          <a:extLst>
            <a:ext uri="{FF2B5EF4-FFF2-40B4-BE49-F238E27FC236}">
              <a16:creationId xmlns:a16="http://schemas.microsoft.com/office/drawing/2014/main" id="{844D91BF-262D-1630-73BF-E932E2D64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7">
            <a:extLst>
              <a:ext uri="{FF2B5EF4-FFF2-40B4-BE49-F238E27FC236}">
                <a16:creationId xmlns:a16="http://schemas.microsoft.com/office/drawing/2014/main" id="{B9E3639E-8112-60B6-648A-FF967D8043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1975" y="2429100"/>
            <a:ext cx="4056900" cy="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Metodologia</a:t>
            </a:r>
            <a:endParaRPr dirty="0"/>
          </a:p>
        </p:txBody>
      </p:sp>
      <p:sp>
        <p:nvSpPr>
          <p:cNvPr id="705" name="Google Shape;705;p37">
            <a:extLst>
              <a:ext uri="{FF2B5EF4-FFF2-40B4-BE49-F238E27FC236}">
                <a16:creationId xmlns:a16="http://schemas.microsoft.com/office/drawing/2014/main" id="{C36FB388-81DB-4BD9-CC77-066AFE1C628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71975" y="1793850"/>
            <a:ext cx="1239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707" name="Google Shape;707;p37">
            <a:extLst>
              <a:ext uri="{FF2B5EF4-FFF2-40B4-BE49-F238E27FC236}">
                <a16:creationId xmlns:a16="http://schemas.microsoft.com/office/drawing/2014/main" id="{1D51A3B9-4D22-8003-CE89-93C124AB51C4}"/>
              </a:ext>
            </a:extLst>
          </p:cNvPr>
          <p:cNvCxnSpPr/>
          <p:nvPr/>
        </p:nvCxnSpPr>
        <p:spPr>
          <a:xfrm>
            <a:off x="4000500" y="3349638"/>
            <a:ext cx="51435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Segnaposto immagine 4">
            <a:extLst>
              <a:ext uri="{FF2B5EF4-FFF2-40B4-BE49-F238E27FC236}">
                <a16:creationId xmlns:a16="http://schemas.microsoft.com/office/drawing/2014/main" id="{07941C3F-8EA5-9117-66B8-9A000D19EF94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4473" r="4473"/>
          <a:stretch>
            <a:fillRect/>
          </a:stretch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8025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>
          <a:extLst>
            <a:ext uri="{FF2B5EF4-FFF2-40B4-BE49-F238E27FC236}">
              <a16:creationId xmlns:a16="http://schemas.microsoft.com/office/drawing/2014/main" id="{754B1DE3-9D60-5E41-F69F-32EA8E1AB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9">
            <a:extLst>
              <a:ext uri="{FF2B5EF4-FFF2-40B4-BE49-F238E27FC236}">
                <a16:creationId xmlns:a16="http://schemas.microsoft.com/office/drawing/2014/main" id="{CCC03DB5-2BAE-55EA-164E-5F8714927F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2963" y="199040"/>
            <a:ext cx="49780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Backbone CNN condivisa</a:t>
            </a:r>
            <a:endParaRPr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EA65D49-4925-105E-88A9-EEF846073B3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914326" y="978589"/>
            <a:ext cx="1149292" cy="558900"/>
          </a:xfrm>
        </p:spPr>
        <p:txBody>
          <a:bodyPr/>
          <a:lstStyle/>
          <a:p>
            <a:r>
              <a:rPr lang="it-IT" dirty="0"/>
              <a:t>Input:</a:t>
            </a:r>
          </a:p>
        </p:txBody>
      </p:sp>
      <p:cxnSp>
        <p:nvCxnSpPr>
          <p:cNvPr id="20" name="Google Shape;789;p42">
            <a:extLst>
              <a:ext uri="{FF2B5EF4-FFF2-40B4-BE49-F238E27FC236}">
                <a16:creationId xmlns:a16="http://schemas.microsoft.com/office/drawing/2014/main" id="{28202D63-499C-8F16-1B01-1B258F8443F4}"/>
              </a:ext>
            </a:extLst>
          </p:cNvPr>
          <p:cNvCxnSpPr>
            <a:cxnSpLocks/>
          </p:cNvCxnSpPr>
          <p:nvPr/>
        </p:nvCxnSpPr>
        <p:spPr>
          <a:xfrm>
            <a:off x="2377535" y="4590889"/>
            <a:ext cx="3419061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762;p41">
            <a:extLst>
              <a:ext uri="{FF2B5EF4-FFF2-40B4-BE49-F238E27FC236}">
                <a16:creationId xmlns:a16="http://schemas.microsoft.com/office/drawing/2014/main" id="{EB4547BC-E4FE-FD9B-69FC-7442C6C50382}"/>
              </a:ext>
            </a:extLst>
          </p:cNvPr>
          <p:cNvSpPr txBox="1">
            <a:spLocks/>
          </p:cNvSpPr>
          <p:nvPr/>
        </p:nvSpPr>
        <p:spPr>
          <a:xfrm>
            <a:off x="5359896" y="1424769"/>
            <a:ext cx="3419062" cy="5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l"/>
            <a:r>
              <a:rPr lang="it-IT" sz="1400" dirty="0">
                <a:solidFill>
                  <a:schemeClr val="tx2">
                    <a:lumMod val="50000"/>
                  </a:schemeClr>
                </a:solidFill>
              </a:rPr>
              <a:t>FCGR 64 x 64 ottenuta dalle sequenze eccDNA</a:t>
            </a:r>
            <a:endParaRPr lang="it-IT" sz="1400" dirty="0">
              <a:solidFill>
                <a:schemeClr val="tx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Sottotitolo 2">
            <a:extLst>
              <a:ext uri="{FF2B5EF4-FFF2-40B4-BE49-F238E27FC236}">
                <a16:creationId xmlns:a16="http://schemas.microsoft.com/office/drawing/2014/main" id="{180685E4-9DC8-D4F8-8A4B-9EAEEDEA3F5B}"/>
              </a:ext>
            </a:extLst>
          </p:cNvPr>
          <p:cNvSpPr txBox="1">
            <a:spLocks/>
          </p:cNvSpPr>
          <p:nvPr/>
        </p:nvSpPr>
        <p:spPr>
          <a:xfrm>
            <a:off x="4914326" y="1983669"/>
            <a:ext cx="2537048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it-IT" dirty="0"/>
              <a:t>Feature extraction:</a:t>
            </a:r>
          </a:p>
        </p:txBody>
      </p:sp>
      <p:sp>
        <p:nvSpPr>
          <p:cNvPr id="26" name="Google Shape;762;p41">
            <a:extLst>
              <a:ext uri="{FF2B5EF4-FFF2-40B4-BE49-F238E27FC236}">
                <a16:creationId xmlns:a16="http://schemas.microsoft.com/office/drawing/2014/main" id="{1BEBDFA2-45F6-E742-5BA0-DBCC10FC4C9A}"/>
              </a:ext>
            </a:extLst>
          </p:cNvPr>
          <p:cNvSpPr txBox="1">
            <a:spLocks/>
          </p:cNvSpPr>
          <p:nvPr/>
        </p:nvSpPr>
        <p:spPr>
          <a:xfrm>
            <a:off x="5359895" y="2384456"/>
            <a:ext cx="3716993" cy="5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l"/>
            <a:r>
              <a:rPr lang="it-IT" sz="1400" dirty="0">
                <a:solidFill>
                  <a:schemeClr val="tx2">
                    <a:lumMod val="50000"/>
                  </a:schemeClr>
                </a:solidFill>
              </a:rPr>
              <a:t>5 convoluzioni 3x3, </a:t>
            </a:r>
            <a:r>
              <a:rPr lang="it-IT" sz="1400" i="1" dirty="0">
                <a:solidFill>
                  <a:schemeClr val="tx2">
                    <a:lumMod val="50000"/>
                  </a:schemeClr>
                </a:solidFill>
              </a:rPr>
              <a:t>GroupNorm</a:t>
            </a:r>
            <a:r>
              <a:rPr lang="it-IT" sz="1400" dirty="0">
                <a:solidFill>
                  <a:schemeClr val="tx2">
                    <a:lumMod val="50000"/>
                  </a:schemeClr>
                </a:solidFill>
              </a:rPr>
              <a:t> + </a:t>
            </a:r>
            <a:r>
              <a:rPr lang="it-IT" sz="1400" i="1" dirty="0">
                <a:solidFill>
                  <a:schemeClr val="tx2">
                    <a:lumMod val="50000"/>
                  </a:schemeClr>
                </a:solidFill>
              </a:rPr>
              <a:t>ReLU</a:t>
            </a:r>
          </a:p>
          <a:p>
            <a:pPr marL="0" indent="0" algn="l"/>
            <a:r>
              <a:rPr lang="it-IT" sz="1400" i="1" dirty="0">
                <a:solidFill>
                  <a:schemeClr val="tx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 MaxPooling</a:t>
            </a:r>
            <a:r>
              <a:rPr lang="it-IT" sz="1400" dirty="0">
                <a:solidFill>
                  <a:schemeClr val="tx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per ridurre progressivamente la dimensionalità</a:t>
            </a:r>
          </a:p>
        </p:txBody>
      </p:sp>
      <p:sp>
        <p:nvSpPr>
          <p:cNvPr id="27" name="Sottotitolo 2">
            <a:extLst>
              <a:ext uri="{FF2B5EF4-FFF2-40B4-BE49-F238E27FC236}">
                <a16:creationId xmlns:a16="http://schemas.microsoft.com/office/drawing/2014/main" id="{C35B6040-C71C-BF1A-AF1E-F5707091F62E}"/>
              </a:ext>
            </a:extLst>
          </p:cNvPr>
          <p:cNvSpPr txBox="1">
            <a:spLocks/>
          </p:cNvSpPr>
          <p:nvPr/>
        </p:nvSpPr>
        <p:spPr>
          <a:xfrm>
            <a:off x="4914325" y="3215545"/>
            <a:ext cx="1584445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it-IT" dirty="0"/>
              <a:t>Projection:</a:t>
            </a:r>
          </a:p>
        </p:txBody>
      </p:sp>
      <p:sp>
        <p:nvSpPr>
          <p:cNvPr id="29" name="Google Shape;762;p41">
            <a:extLst>
              <a:ext uri="{FF2B5EF4-FFF2-40B4-BE49-F238E27FC236}">
                <a16:creationId xmlns:a16="http://schemas.microsoft.com/office/drawing/2014/main" id="{3E8336E3-E41D-FE00-7071-5A326540EC10}"/>
              </a:ext>
            </a:extLst>
          </p:cNvPr>
          <p:cNvSpPr txBox="1">
            <a:spLocks/>
          </p:cNvSpPr>
          <p:nvPr/>
        </p:nvSpPr>
        <p:spPr>
          <a:xfrm>
            <a:off x="5359895" y="3629271"/>
            <a:ext cx="3419062" cy="5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l"/>
            <a:r>
              <a:rPr lang="it-IT" sz="1400" i="1" dirty="0">
                <a:solidFill>
                  <a:schemeClr val="tx2">
                    <a:lumMod val="50000"/>
                  </a:schemeClr>
                </a:solidFill>
              </a:rPr>
              <a:t>Adaptive Avg Pool 4×4</a:t>
            </a:r>
          </a:p>
          <a:p>
            <a:pPr marL="0" indent="0" algn="l"/>
            <a:r>
              <a:rPr lang="it-IT" sz="1400" dirty="0">
                <a:solidFill>
                  <a:schemeClr val="tx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Embedding: 2048 → 256 → 128</a:t>
            </a:r>
          </a:p>
        </p:txBody>
      </p:sp>
      <p:sp>
        <p:nvSpPr>
          <p:cNvPr id="30" name="Sottotitolo 2">
            <a:extLst>
              <a:ext uri="{FF2B5EF4-FFF2-40B4-BE49-F238E27FC236}">
                <a16:creationId xmlns:a16="http://schemas.microsoft.com/office/drawing/2014/main" id="{A408A6E2-2EA2-612E-8191-E92EA602F706}"/>
              </a:ext>
            </a:extLst>
          </p:cNvPr>
          <p:cNvSpPr txBox="1">
            <a:spLocks/>
          </p:cNvSpPr>
          <p:nvPr/>
        </p:nvSpPr>
        <p:spPr>
          <a:xfrm>
            <a:off x="312759" y="3142990"/>
            <a:ext cx="2564663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it-IT" dirty="0"/>
              <a:t>Ruolo nella pipeline:</a:t>
            </a:r>
          </a:p>
        </p:txBody>
      </p:sp>
      <p:sp>
        <p:nvSpPr>
          <p:cNvPr id="32" name="Google Shape;762;p41">
            <a:extLst>
              <a:ext uri="{FF2B5EF4-FFF2-40B4-BE49-F238E27FC236}">
                <a16:creationId xmlns:a16="http://schemas.microsoft.com/office/drawing/2014/main" id="{802B6D89-D72B-3FF9-D474-BE569763B4B8}"/>
              </a:ext>
            </a:extLst>
          </p:cNvPr>
          <p:cNvSpPr txBox="1">
            <a:spLocks/>
          </p:cNvSpPr>
          <p:nvPr/>
        </p:nvSpPr>
        <p:spPr>
          <a:xfrm>
            <a:off x="810613" y="3605202"/>
            <a:ext cx="3419062" cy="5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l"/>
            <a:r>
              <a:rPr lang="it-IT" sz="1400" dirty="0">
                <a:solidFill>
                  <a:schemeClr val="tx2">
                    <a:lumMod val="50000"/>
                  </a:schemeClr>
                </a:solidFill>
              </a:rPr>
              <a:t>Similarità nella Siamese</a:t>
            </a:r>
          </a:p>
          <a:p>
            <a:pPr marL="0" indent="0" algn="l"/>
            <a:r>
              <a:rPr lang="it-IT" sz="1400" dirty="0">
                <a:solidFill>
                  <a:schemeClr val="tx2">
                    <a:lumMod val="50000"/>
                  </a:schemeClr>
                </a:solidFill>
              </a:rPr>
              <a:t>Classificazione nella CNN diretta.</a:t>
            </a:r>
            <a:endParaRPr lang="it-IT" sz="1400" dirty="0">
              <a:solidFill>
                <a:schemeClr val="tx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0FEB6370-3BD1-B515-E831-A2A5746F80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" t="28196" r="832" b="9441"/>
          <a:stretch>
            <a:fillRect/>
          </a:stretch>
        </p:blipFill>
        <p:spPr>
          <a:xfrm>
            <a:off x="0" y="1329346"/>
            <a:ext cx="4755071" cy="1691501"/>
          </a:xfrm>
          <a:prstGeom prst="rect">
            <a:avLst/>
          </a:prstGeom>
        </p:spPr>
      </p:pic>
      <p:sp>
        <p:nvSpPr>
          <p:cNvPr id="37" name="Sottotitolo 2">
            <a:extLst>
              <a:ext uri="{FF2B5EF4-FFF2-40B4-BE49-F238E27FC236}">
                <a16:creationId xmlns:a16="http://schemas.microsoft.com/office/drawing/2014/main" id="{F16B8B5B-C326-5F07-B782-0AC29163267F}"/>
              </a:ext>
            </a:extLst>
          </p:cNvPr>
          <p:cNvSpPr txBox="1">
            <a:spLocks/>
          </p:cNvSpPr>
          <p:nvPr/>
        </p:nvSpPr>
        <p:spPr>
          <a:xfrm>
            <a:off x="777040" y="4733343"/>
            <a:ext cx="7956061" cy="41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it-IT" sz="1400" dirty="0"/>
              <a:t>La differenza tra i modelli sta nel modo in cui la rappresentazione 128D viene usata</a:t>
            </a:r>
          </a:p>
        </p:txBody>
      </p:sp>
    </p:spTree>
    <p:extLst>
      <p:ext uri="{BB962C8B-B14F-4D97-AF65-F5344CB8AC3E}">
        <p14:creationId xmlns:p14="http://schemas.microsoft.com/office/powerpoint/2010/main" val="711830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>
          <a:extLst>
            <a:ext uri="{FF2B5EF4-FFF2-40B4-BE49-F238E27FC236}">
              <a16:creationId xmlns:a16="http://schemas.microsoft.com/office/drawing/2014/main" id="{F1E24FF0-0D64-03CA-3B78-A4DC39800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3">
            <a:extLst>
              <a:ext uri="{FF2B5EF4-FFF2-40B4-BE49-F238E27FC236}">
                <a16:creationId xmlns:a16="http://schemas.microsoft.com/office/drawing/2014/main" id="{D2CA2010-4E3D-A75A-E112-F2572C834C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3579" y="119487"/>
            <a:ext cx="6185885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25384D"/>
                </a:solidFill>
              </a:rPr>
              <a:t>Training della Siamese Network</a:t>
            </a:r>
            <a:endParaRPr sz="3000" dirty="0"/>
          </a:p>
        </p:txBody>
      </p:sp>
      <p:sp>
        <p:nvSpPr>
          <p:cNvPr id="798" name="Google Shape;798;p43">
            <a:extLst>
              <a:ext uri="{FF2B5EF4-FFF2-40B4-BE49-F238E27FC236}">
                <a16:creationId xmlns:a16="http://schemas.microsoft.com/office/drawing/2014/main" id="{7C3C2011-E99A-ADBF-F6BB-541DB114AA2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575" y="982598"/>
            <a:ext cx="2262127" cy="7048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Warm-up</a:t>
            </a:r>
            <a:endParaRPr sz="2600" dirty="0"/>
          </a:p>
        </p:txBody>
      </p:sp>
      <p:sp>
        <p:nvSpPr>
          <p:cNvPr id="3" name="Google Shape;798;p43">
            <a:extLst>
              <a:ext uri="{FF2B5EF4-FFF2-40B4-BE49-F238E27FC236}">
                <a16:creationId xmlns:a16="http://schemas.microsoft.com/office/drawing/2014/main" id="{7C7644C0-60AC-F4E7-6CC1-E1116873A326}"/>
              </a:ext>
            </a:extLst>
          </p:cNvPr>
          <p:cNvSpPr txBox="1">
            <a:spLocks/>
          </p:cNvSpPr>
          <p:nvPr/>
        </p:nvSpPr>
        <p:spPr>
          <a:xfrm>
            <a:off x="2533250" y="1687448"/>
            <a:ext cx="3749230" cy="92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4500" b="0" i="0" u="none" strike="noStrike" cap="none" spc="0">
                <a:solidFill>
                  <a:schemeClr val="accent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2600" dirty="0"/>
              <a:t>Dynamic Semi-Hard Negative Mining</a:t>
            </a:r>
          </a:p>
        </p:txBody>
      </p:sp>
      <p:sp>
        <p:nvSpPr>
          <p:cNvPr id="9" name="Google Shape;798;p43">
            <a:extLst>
              <a:ext uri="{FF2B5EF4-FFF2-40B4-BE49-F238E27FC236}">
                <a16:creationId xmlns:a16="http://schemas.microsoft.com/office/drawing/2014/main" id="{5C92A747-9AA2-3816-4D4B-0F3915637CE3}"/>
              </a:ext>
            </a:extLst>
          </p:cNvPr>
          <p:cNvSpPr txBox="1">
            <a:spLocks/>
          </p:cNvSpPr>
          <p:nvPr/>
        </p:nvSpPr>
        <p:spPr>
          <a:xfrm>
            <a:off x="6599655" y="2729269"/>
            <a:ext cx="2179618" cy="92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4500" b="0" i="0" u="none" strike="noStrike" cap="none" spc="0">
                <a:solidFill>
                  <a:schemeClr val="accent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2600" dirty="0"/>
              <a:t>Contrastive Loss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4E5BC66-0C5E-73DB-4899-B8FB89A2FE7E}"/>
              </a:ext>
            </a:extLst>
          </p:cNvPr>
          <p:cNvSpPr txBox="1"/>
          <p:nvPr/>
        </p:nvSpPr>
        <p:spPr>
          <a:xfrm>
            <a:off x="250083" y="1477639"/>
            <a:ext cx="20511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 epoche</a:t>
            </a:r>
          </a:p>
          <a:p>
            <a:pPr algn="ctr"/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Random pairs</a:t>
            </a:r>
          </a:p>
          <a:p>
            <a:pPr algn="ctr"/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Prima organizzazione dello spazio latente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0A32C48-A9F1-8375-8559-BB6F9F71CDA5}"/>
                  </a:ext>
                </a:extLst>
              </p:cNvPr>
              <p:cNvSpPr txBox="1"/>
              <p:nvPr/>
            </p:nvSpPr>
            <p:spPr>
              <a:xfrm>
                <a:off x="2755008" y="2654471"/>
                <a:ext cx="3305713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Per ogni anchor: 1 positive + 6 negative</a:t>
                </a:r>
              </a:p>
              <a:p>
                <a:pPr algn="ctr"/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Distanza Euclidea</a:t>
                </a:r>
              </a:p>
              <a:p>
                <a:pPr algn="ctr"/>
                <a:endParaRPr lang="it-IT" dirty="0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+</m:t>
                          </m:r>
                        </m:sub>
                      </m:sSub>
                      <m:r>
                        <a:rPr lang="it-IT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&lt;</m:t>
                      </m:r>
                      <m:sSub>
                        <m:sSubPr>
                          <m:ctrlPr>
                            <a:rPr lang="it-IT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−</m:t>
                          </m:r>
                        </m:sub>
                      </m:sSub>
                      <m:r>
                        <a:rPr lang="it-IT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&lt;</m:t>
                      </m:r>
                      <m:r>
                        <a:rPr lang="it-IT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𝑚</m:t>
                      </m:r>
                      <m:r>
                        <a:rPr lang="it-IT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    (</m:t>
                      </m:r>
                      <m:r>
                        <a:rPr lang="it-IT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𝑚</m:t>
                      </m:r>
                      <m:r>
                        <a:rPr lang="it-IT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=1.25)</m:t>
                      </m:r>
                    </m:oMath>
                  </m:oMathPara>
                </a14:m>
                <a:endParaRPr lang="it-IT" dirty="0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0A32C48-A9F1-8375-8559-BB6F9F71C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008" y="2654471"/>
                <a:ext cx="3305713" cy="954107"/>
              </a:xfrm>
              <a:prstGeom prst="rect">
                <a:avLst/>
              </a:prstGeom>
              <a:blipFill>
                <a:blip r:embed="rId3"/>
                <a:stretch>
                  <a:fillRect t="-637" b="-25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0C3E150-8B0F-DE6B-66FE-1ACD1548C2F6}"/>
                  </a:ext>
                </a:extLst>
              </p:cNvPr>
              <p:cNvSpPr txBox="1"/>
              <p:nvPr/>
            </p:nvSpPr>
            <p:spPr>
              <a:xfrm>
                <a:off x="6415342" y="3656522"/>
                <a:ext cx="292746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Stessa classe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𝑑</m:t>
                    </m:r>
                    <m:r>
                      <a:rPr lang="it-IT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↓</m:t>
                    </m:r>
                  </m:oMath>
                </a14:m>
                <a:endParaRPr lang="it-IT" b="0" dirty="0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Cambria Math" panose="02040503050406030204" pitchFamily="18" charset="0"/>
                  <a:cs typeface="Lato" panose="020F0502020204030203" pitchFamily="34" charset="0"/>
                </a:endParaRPr>
              </a:p>
              <a:p>
                <a:r>
                  <a:rPr lang="it-IT" b="0" dirty="0">
                    <a:solidFill>
                      <a:schemeClr val="tx2">
                        <a:lumMod val="50000"/>
                      </a:schemeClr>
                    </a:solidFill>
                    <a:ea typeface="Cambria Math" panose="02040503050406030204" pitchFamily="18" charset="0"/>
                    <a:cs typeface="Lato" panose="020F0502020204030203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      </m:t>
                    </m:r>
                    <m:r>
                      <a:rPr lang="it-IT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→</m:t>
                    </m:r>
                  </m:oMath>
                </a14:m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embedding più vicini</a:t>
                </a:r>
              </a:p>
              <a:p>
                <a:endParaRPr lang="it-IT" dirty="0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Classe diversa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𝑑</m:t>
                    </m:r>
                    <m:r>
                      <a:rPr lang="it-IT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↑</m:t>
                    </m:r>
                  </m:oMath>
                </a14:m>
                <a:endParaRPr lang="it-IT" dirty="0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  <a:ea typeface="Cambria Math" panose="02040503050406030204" pitchFamily="18" charset="0"/>
                    <a:cs typeface="Lato" panose="020F0502020204030203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it-IT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 </m:t>
                    </m:r>
                    <m:r>
                      <a:rPr lang="it-IT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 →</m:t>
                    </m:r>
                  </m:oMath>
                </a14:m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embedding più lontani</a:t>
                </a: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0C3E150-8B0F-DE6B-66FE-1ACD1548C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342" y="3656522"/>
                <a:ext cx="2927465" cy="1169551"/>
              </a:xfrm>
              <a:prstGeom prst="rect">
                <a:avLst/>
              </a:prstGeom>
              <a:blipFill>
                <a:blip r:embed="rId4"/>
                <a:stretch>
                  <a:fillRect l="-624" t="-1042" b="-364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767;p41">
            <a:extLst>
              <a:ext uri="{FF2B5EF4-FFF2-40B4-BE49-F238E27FC236}">
                <a16:creationId xmlns:a16="http://schemas.microsoft.com/office/drawing/2014/main" id="{FCCAAFC9-A98C-DCF5-2C81-5396AB3D0132}"/>
              </a:ext>
            </a:extLst>
          </p:cNvPr>
          <p:cNvSpPr txBox="1">
            <a:spLocks/>
          </p:cNvSpPr>
          <p:nvPr/>
        </p:nvSpPr>
        <p:spPr>
          <a:xfrm>
            <a:off x="94620" y="3820060"/>
            <a:ext cx="1523165" cy="100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400" dirty="0"/>
              <a:t>Checkpoint selezionato sulla Validation ROC-AUC</a:t>
            </a:r>
          </a:p>
        </p:txBody>
      </p:sp>
    </p:spTree>
    <p:extLst>
      <p:ext uri="{BB962C8B-B14F-4D97-AF65-F5344CB8AC3E}">
        <p14:creationId xmlns:p14="http://schemas.microsoft.com/office/powerpoint/2010/main" val="3006188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>
          <a:extLst>
            <a:ext uri="{FF2B5EF4-FFF2-40B4-BE49-F238E27FC236}">
              <a16:creationId xmlns:a16="http://schemas.microsoft.com/office/drawing/2014/main" id="{0C447C12-C628-1EDE-6EC5-E883220D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96;p43">
            <a:extLst>
              <a:ext uri="{FF2B5EF4-FFF2-40B4-BE49-F238E27FC236}">
                <a16:creationId xmlns:a16="http://schemas.microsoft.com/office/drawing/2014/main" id="{EAC1B255-3910-7428-253D-9C70BA587371}"/>
              </a:ext>
            </a:extLst>
          </p:cNvPr>
          <p:cNvSpPr txBox="1">
            <a:spLocks/>
          </p:cNvSpPr>
          <p:nvPr/>
        </p:nvSpPr>
        <p:spPr>
          <a:xfrm>
            <a:off x="721452" y="54202"/>
            <a:ext cx="7226353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tu"/>
              <a:buNone/>
              <a:defRPr sz="7200" b="0" i="0" u="none" strike="noStrike" cap="none" spc="0">
                <a:solidFill>
                  <a:schemeClr val="accent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tu"/>
              <a:buNone/>
              <a:defRPr sz="96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tu"/>
              <a:buNone/>
              <a:defRPr sz="96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tu"/>
              <a:buNone/>
              <a:defRPr sz="96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tu"/>
              <a:buNone/>
              <a:defRPr sz="96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tu"/>
              <a:buNone/>
              <a:defRPr sz="96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tu"/>
              <a:buNone/>
              <a:defRPr sz="96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tu"/>
              <a:buNone/>
              <a:defRPr sz="96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tu"/>
              <a:buNone/>
              <a:defRPr sz="96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pPr algn="ctr"/>
            <a:r>
              <a:rPr lang="it-IT" sz="3000" dirty="0">
                <a:solidFill>
                  <a:srgbClr val="25384D"/>
                </a:solidFill>
              </a:rPr>
              <a:t>Reference bank e ranking multiclass</a:t>
            </a:r>
            <a:endParaRPr lang="it-IT" sz="3000" dirty="0"/>
          </a:p>
        </p:txBody>
      </p: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98C4CD2A-4AFF-834F-CACC-592AD26B7701}"/>
              </a:ext>
            </a:extLst>
          </p:cNvPr>
          <p:cNvGrpSpPr/>
          <p:nvPr/>
        </p:nvGrpSpPr>
        <p:grpSpPr>
          <a:xfrm>
            <a:off x="586956" y="993064"/>
            <a:ext cx="7211323" cy="3157372"/>
            <a:chOff x="586956" y="1155831"/>
            <a:chExt cx="7211323" cy="3157372"/>
          </a:xfrm>
        </p:grpSpPr>
        <p:sp>
          <p:nvSpPr>
            <p:cNvPr id="6" name="Google Shape;796;p43">
              <a:extLst>
                <a:ext uri="{FF2B5EF4-FFF2-40B4-BE49-F238E27FC236}">
                  <a16:creationId xmlns:a16="http://schemas.microsoft.com/office/drawing/2014/main" id="{B102A03C-B808-89ED-6408-26FB829A4288}"/>
                </a:ext>
              </a:extLst>
            </p:cNvPr>
            <p:cNvSpPr txBox="1">
              <a:spLocks/>
            </p:cNvSpPr>
            <p:nvPr/>
          </p:nvSpPr>
          <p:spPr>
            <a:xfrm>
              <a:off x="1238963" y="1313268"/>
              <a:ext cx="1811840" cy="553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7200" b="0" i="0" u="none" strike="noStrike" cap="none" spc="0">
                  <a:solidFill>
                    <a:schemeClr val="accent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pPr algn="ctr"/>
              <a:r>
                <a:rPr lang="it-IT" sz="1800" dirty="0">
                  <a:solidFill>
                    <a:srgbClr val="25384D"/>
                  </a:solidFill>
                </a:rPr>
                <a:t>Nuova FCGR</a:t>
              </a:r>
            </a:p>
          </p:txBody>
        </p:sp>
        <p:sp>
          <p:nvSpPr>
            <p:cNvPr id="9" name="Rettangolo con angoli arrotondati 8">
              <a:extLst>
                <a:ext uri="{FF2B5EF4-FFF2-40B4-BE49-F238E27FC236}">
                  <a16:creationId xmlns:a16="http://schemas.microsoft.com/office/drawing/2014/main" id="{A14D931C-0BB8-26D1-F1DD-C621315F5AB4}"/>
                </a:ext>
              </a:extLst>
            </p:cNvPr>
            <p:cNvSpPr/>
            <p:nvPr/>
          </p:nvSpPr>
          <p:spPr>
            <a:xfrm>
              <a:off x="1273469" y="1155831"/>
              <a:ext cx="1742828" cy="836588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Google Shape;1022;p54">
              <a:extLst>
                <a:ext uri="{FF2B5EF4-FFF2-40B4-BE49-F238E27FC236}">
                  <a16:creationId xmlns:a16="http://schemas.microsoft.com/office/drawing/2014/main" id="{74C88CD7-B90B-9723-8C77-C4857D64A6E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134278" y="1350666"/>
              <a:ext cx="210955" cy="446918"/>
            </a:xfrm>
            <a:custGeom>
              <a:avLst/>
              <a:gdLst/>
              <a:ahLst/>
              <a:cxnLst/>
              <a:rect l="l" t="t" r="r" b="b"/>
              <a:pathLst>
                <a:path w="199664" h="422998" extrusionOk="0">
                  <a:moveTo>
                    <a:pt x="139924" y="313439"/>
                  </a:moveTo>
                  <a:cubicBezTo>
                    <a:pt x="152839" y="303829"/>
                    <a:pt x="167591" y="291405"/>
                    <a:pt x="178853" y="275797"/>
                  </a:cubicBezTo>
                  <a:cubicBezTo>
                    <a:pt x="192870" y="256455"/>
                    <a:pt x="199664" y="235278"/>
                    <a:pt x="199664" y="211041"/>
                  </a:cubicBezTo>
                  <a:cubicBezTo>
                    <a:pt x="199664" y="182640"/>
                    <a:pt x="190238" y="158219"/>
                    <a:pt x="170773" y="136246"/>
                  </a:cubicBezTo>
                  <a:cubicBezTo>
                    <a:pt x="161531" y="125841"/>
                    <a:pt x="151003" y="116843"/>
                    <a:pt x="139924" y="108642"/>
                  </a:cubicBezTo>
                  <a:cubicBezTo>
                    <a:pt x="152778" y="99094"/>
                    <a:pt x="167407" y="86730"/>
                    <a:pt x="178670" y="71245"/>
                  </a:cubicBezTo>
                  <a:cubicBezTo>
                    <a:pt x="192625" y="52087"/>
                    <a:pt x="199481" y="31154"/>
                    <a:pt x="199664" y="7284"/>
                  </a:cubicBezTo>
                  <a:cubicBezTo>
                    <a:pt x="199664" y="5693"/>
                    <a:pt x="199236" y="4163"/>
                    <a:pt x="198317" y="2877"/>
                  </a:cubicBezTo>
                  <a:cubicBezTo>
                    <a:pt x="196971" y="1041"/>
                    <a:pt x="194890" y="0"/>
                    <a:pt x="192625" y="0"/>
                  </a:cubicBezTo>
                  <a:lnTo>
                    <a:pt x="161347" y="0"/>
                  </a:lnTo>
                  <a:cubicBezTo>
                    <a:pt x="157491" y="0"/>
                    <a:pt x="154369" y="3122"/>
                    <a:pt x="154308" y="6978"/>
                  </a:cubicBezTo>
                  <a:cubicBezTo>
                    <a:pt x="154186" y="17383"/>
                    <a:pt x="151983" y="26686"/>
                    <a:pt x="147575" y="35439"/>
                  </a:cubicBezTo>
                  <a:lnTo>
                    <a:pt x="141271" y="35439"/>
                  </a:lnTo>
                  <a:cubicBezTo>
                    <a:pt x="138088" y="35439"/>
                    <a:pt x="135272" y="37704"/>
                    <a:pt x="134905" y="40825"/>
                  </a:cubicBezTo>
                  <a:cubicBezTo>
                    <a:pt x="134476" y="44559"/>
                    <a:pt x="137353" y="47803"/>
                    <a:pt x="141026" y="47803"/>
                  </a:cubicBezTo>
                  <a:lnTo>
                    <a:pt x="155900" y="47803"/>
                  </a:lnTo>
                  <a:cubicBezTo>
                    <a:pt x="153390" y="51720"/>
                    <a:pt x="150513" y="55514"/>
                    <a:pt x="147147" y="59370"/>
                  </a:cubicBezTo>
                  <a:cubicBezTo>
                    <a:pt x="136986" y="59370"/>
                    <a:pt x="113421" y="59370"/>
                    <a:pt x="105953" y="59370"/>
                  </a:cubicBezTo>
                  <a:lnTo>
                    <a:pt x="105953" y="47803"/>
                  </a:lnTo>
                  <a:lnTo>
                    <a:pt x="111646" y="47803"/>
                  </a:lnTo>
                  <a:cubicBezTo>
                    <a:pt x="114829" y="47803"/>
                    <a:pt x="117644" y="45538"/>
                    <a:pt x="118012" y="42417"/>
                  </a:cubicBezTo>
                  <a:cubicBezTo>
                    <a:pt x="118440" y="38683"/>
                    <a:pt x="115563" y="35439"/>
                    <a:pt x="111891" y="35439"/>
                  </a:cubicBezTo>
                  <a:lnTo>
                    <a:pt x="52395" y="35439"/>
                  </a:lnTo>
                  <a:cubicBezTo>
                    <a:pt x="48233" y="27053"/>
                    <a:pt x="45846" y="17750"/>
                    <a:pt x="45723" y="6978"/>
                  </a:cubicBezTo>
                  <a:cubicBezTo>
                    <a:pt x="45662" y="3122"/>
                    <a:pt x="42540" y="0"/>
                    <a:pt x="38684" y="0"/>
                  </a:cubicBezTo>
                  <a:lnTo>
                    <a:pt x="7590" y="0"/>
                  </a:lnTo>
                  <a:cubicBezTo>
                    <a:pt x="5999" y="0"/>
                    <a:pt x="4469" y="429"/>
                    <a:pt x="3183" y="1408"/>
                  </a:cubicBezTo>
                  <a:cubicBezTo>
                    <a:pt x="1347" y="2816"/>
                    <a:pt x="306" y="4897"/>
                    <a:pt x="368" y="7100"/>
                  </a:cubicBezTo>
                  <a:cubicBezTo>
                    <a:pt x="551" y="35194"/>
                    <a:pt x="10099" y="59493"/>
                    <a:pt x="29503" y="81344"/>
                  </a:cubicBezTo>
                  <a:cubicBezTo>
                    <a:pt x="38684" y="91688"/>
                    <a:pt x="49151" y="100563"/>
                    <a:pt x="60169" y="108703"/>
                  </a:cubicBezTo>
                  <a:cubicBezTo>
                    <a:pt x="54476" y="112926"/>
                    <a:pt x="49518" y="116904"/>
                    <a:pt x="44867" y="120944"/>
                  </a:cubicBezTo>
                  <a:cubicBezTo>
                    <a:pt x="42479" y="123025"/>
                    <a:pt x="41867" y="126637"/>
                    <a:pt x="43643" y="129268"/>
                  </a:cubicBezTo>
                  <a:cubicBezTo>
                    <a:pt x="45785" y="132390"/>
                    <a:pt x="50070" y="132818"/>
                    <a:pt x="52824" y="130431"/>
                  </a:cubicBezTo>
                  <a:cubicBezTo>
                    <a:pt x="58088" y="125841"/>
                    <a:pt x="63842" y="121311"/>
                    <a:pt x="70696" y="116292"/>
                  </a:cubicBezTo>
                  <a:cubicBezTo>
                    <a:pt x="76695" y="120455"/>
                    <a:pt x="82816" y="124494"/>
                    <a:pt x="88937" y="128595"/>
                  </a:cubicBezTo>
                  <a:cubicBezTo>
                    <a:pt x="81102" y="134042"/>
                    <a:pt x="73267" y="139796"/>
                    <a:pt x="66167" y="145978"/>
                  </a:cubicBezTo>
                  <a:lnTo>
                    <a:pt x="51600" y="145978"/>
                  </a:lnTo>
                  <a:cubicBezTo>
                    <a:pt x="49457" y="145978"/>
                    <a:pt x="47437" y="146896"/>
                    <a:pt x="45968" y="148487"/>
                  </a:cubicBezTo>
                  <a:cubicBezTo>
                    <a:pt x="39296" y="155771"/>
                    <a:pt x="34155" y="163115"/>
                    <a:pt x="30177" y="171011"/>
                  </a:cubicBezTo>
                  <a:cubicBezTo>
                    <a:pt x="29197" y="172970"/>
                    <a:pt x="28952" y="175296"/>
                    <a:pt x="29748" y="177377"/>
                  </a:cubicBezTo>
                  <a:cubicBezTo>
                    <a:pt x="30911" y="180437"/>
                    <a:pt x="33727" y="182273"/>
                    <a:pt x="36848" y="182273"/>
                  </a:cubicBezTo>
                  <a:lnTo>
                    <a:pt x="38746" y="182273"/>
                  </a:lnTo>
                  <a:cubicBezTo>
                    <a:pt x="37338" y="185762"/>
                    <a:pt x="36236" y="189312"/>
                    <a:pt x="35379" y="192985"/>
                  </a:cubicBezTo>
                  <a:lnTo>
                    <a:pt x="29136" y="192985"/>
                  </a:lnTo>
                  <a:cubicBezTo>
                    <a:pt x="25280" y="192985"/>
                    <a:pt x="22035" y="195861"/>
                    <a:pt x="21546" y="199717"/>
                  </a:cubicBezTo>
                  <a:cubicBezTo>
                    <a:pt x="20689" y="207001"/>
                    <a:pt x="20689" y="214957"/>
                    <a:pt x="21546" y="222547"/>
                  </a:cubicBezTo>
                  <a:cubicBezTo>
                    <a:pt x="21974" y="226342"/>
                    <a:pt x="25218" y="229280"/>
                    <a:pt x="29074" y="229280"/>
                  </a:cubicBezTo>
                  <a:lnTo>
                    <a:pt x="35257" y="229280"/>
                  </a:lnTo>
                  <a:cubicBezTo>
                    <a:pt x="36175" y="233258"/>
                    <a:pt x="37338" y="237053"/>
                    <a:pt x="38868" y="240848"/>
                  </a:cubicBezTo>
                  <a:lnTo>
                    <a:pt x="37031" y="240848"/>
                  </a:lnTo>
                  <a:cubicBezTo>
                    <a:pt x="34828" y="240848"/>
                    <a:pt x="32686" y="241705"/>
                    <a:pt x="31278" y="243296"/>
                  </a:cubicBezTo>
                  <a:cubicBezTo>
                    <a:pt x="29074" y="245744"/>
                    <a:pt x="28646" y="249050"/>
                    <a:pt x="30054" y="251865"/>
                  </a:cubicBezTo>
                  <a:cubicBezTo>
                    <a:pt x="34033" y="259822"/>
                    <a:pt x="39235" y="267228"/>
                    <a:pt x="45968" y="274634"/>
                  </a:cubicBezTo>
                  <a:cubicBezTo>
                    <a:pt x="47376" y="276225"/>
                    <a:pt x="49457" y="277082"/>
                    <a:pt x="51538" y="277082"/>
                  </a:cubicBezTo>
                  <a:lnTo>
                    <a:pt x="66473" y="277082"/>
                  </a:lnTo>
                  <a:cubicBezTo>
                    <a:pt x="109075" y="314234"/>
                    <a:pt x="182587" y="338840"/>
                    <a:pt x="186627" y="409778"/>
                  </a:cubicBezTo>
                  <a:lnTo>
                    <a:pt x="166244" y="409778"/>
                  </a:lnTo>
                  <a:cubicBezTo>
                    <a:pt x="165693" y="401882"/>
                    <a:pt x="163979" y="394538"/>
                    <a:pt x="161164" y="387499"/>
                  </a:cubicBezTo>
                  <a:lnTo>
                    <a:pt x="163061" y="387499"/>
                  </a:lnTo>
                  <a:cubicBezTo>
                    <a:pt x="168754" y="387499"/>
                    <a:pt x="172426" y="381562"/>
                    <a:pt x="169855" y="376482"/>
                  </a:cubicBezTo>
                  <a:cubicBezTo>
                    <a:pt x="165877" y="368525"/>
                    <a:pt x="160674" y="361118"/>
                    <a:pt x="153941" y="353713"/>
                  </a:cubicBezTo>
                  <a:cubicBezTo>
                    <a:pt x="152472" y="352122"/>
                    <a:pt x="150452" y="351203"/>
                    <a:pt x="148310" y="351203"/>
                  </a:cubicBezTo>
                  <a:lnTo>
                    <a:pt x="134048" y="351203"/>
                  </a:lnTo>
                  <a:cubicBezTo>
                    <a:pt x="89916" y="312704"/>
                    <a:pt x="12426" y="287365"/>
                    <a:pt x="12426" y="210856"/>
                  </a:cubicBezTo>
                  <a:cubicBezTo>
                    <a:pt x="12426" y="188027"/>
                    <a:pt x="19220" y="168196"/>
                    <a:pt x="33175" y="150140"/>
                  </a:cubicBezTo>
                  <a:cubicBezTo>
                    <a:pt x="34951" y="147814"/>
                    <a:pt x="35012" y="144509"/>
                    <a:pt x="33175" y="142305"/>
                  </a:cubicBezTo>
                  <a:cubicBezTo>
                    <a:pt x="30544" y="139123"/>
                    <a:pt x="25830" y="139367"/>
                    <a:pt x="23444" y="142428"/>
                  </a:cubicBezTo>
                  <a:cubicBezTo>
                    <a:pt x="7651" y="162748"/>
                    <a:pt x="0" y="185150"/>
                    <a:pt x="0" y="210856"/>
                  </a:cubicBezTo>
                  <a:cubicBezTo>
                    <a:pt x="0" y="239379"/>
                    <a:pt x="9487" y="263984"/>
                    <a:pt x="29013" y="286079"/>
                  </a:cubicBezTo>
                  <a:cubicBezTo>
                    <a:pt x="38256" y="296546"/>
                    <a:pt x="48906" y="305543"/>
                    <a:pt x="60046" y="313806"/>
                  </a:cubicBezTo>
                  <a:cubicBezTo>
                    <a:pt x="47131" y="323415"/>
                    <a:pt x="32441" y="335779"/>
                    <a:pt x="21117" y="351387"/>
                  </a:cubicBezTo>
                  <a:cubicBezTo>
                    <a:pt x="7101" y="370605"/>
                    <a:pt x="184" y="391661"/>
                    <a:pt x="0" y="415715"/>
                  </a:cubicBezTo>
                  <a:cubicBezTo>
                    <a:pt x="0" y="417061"/>
                    <a:pt x="306" y="418469"/>
                    <a:pt x="1041" y="419632"/>
                  </a:cubicBezTo>
                  <a:cubicBezTo>
                    <a:pt x="2387" y="421774"/>
                    <a:pt x="4652" y="422999"/>
                    <a:pt x="7039" y="422999"/>
                  </a:cubicBezTo>
                  <a:lnTo>
                    <a:pt x="38440" y="422999"/>
                  </a:lnTo>
                  <a:cubicBezTo>
                    <a:pt x="42357" y="422999"/>
                    <a:pt x="45601" y="419816"/>
                    <a:pt x="45601" y="415898"/>
                  </a:cubicBezTo>
                  <a:cubicBezTo>
                    <a:pt x="45723" y="404881"/>
                    <a:pt x="48172" y="395333"/>
                    <a:pt x="52456" y="386764"/>
                  </a:cubicBezTo>
                  <a:lnTo>
                    <a:pt x="111891" y="386764"/>
                  </a:lnTo>
                  <a:cubicBezTo>
                    <a:pt x="115135" y="386764"/>
                    <a:pt x="117706" y="384132"/>
                    <a:pt x="117644" y="380827"/>
                  </a:cubicBezTo>
                  <a:cubicBezTo>
                    <a:pt x="117583" y="377644"/>
                    <a:pt x="114767" y="375196"/>
                    <a:pt x="111585" y="375196"/>
                  </a:cubicBezTo>
                  <a:lnTo>
                    <a:pt x="105770" y="375196"/>
                  </a:lnTo>
                  <a:lnTo>
                    <a:pt x="105770" y="363628"/>
                  </a:lnTo>
                  <a:lnTo>
                    <a:pt x="146963" y="363628"/>
                  </a:lnTo>
                  <a:cubicBezTo>
                    <a:pt x="150330" y="367423"/>
                    <a:pt x="153207" y="371279"/>
                    <a:pt x="155716" y="375196"/>
                  </a:cubicBezTo>
                  <a:cubicBezTo>
                    <a:pt x="152166" y="375196"/>
                    <a:pt x="140720" y="375196"/>
                    <a:pt x="140720" y="375196"/>
                  </a:cubicBezTo>
                  <a:cubicBezTo>
                    <a:pt x="137537" y="375196"/>
                    <a:pt x="134783" y="377644"/>
                    <a:pt x="134660" y="380827"/>
                  </a:cubicBezTo>
                  <a:cubicBezTo>
                    <a:pt x="134599" y="384071"/>
                    <a:pt x="137170" y="386764"/>
                    <a:pt x="140414" y="386764"/>
                  </a:cubicBezTo>
                  <a:lnTo>
                    <a:pt x="147330" y="386764"/>
                  </a:lnTo>
                  <a:cubicBezTo>
                    <a:pt x="151738" y="395517"/>
                    <a:pt x="153941" y="404881"/>
                    <a:pt x="154063" y="415225"/>
                  </a:cubicBezTo>
                  <a:cubicBezTo>
                    <a:pt x="154125" y="419081"/>
                    <a:pt x="157246" y="422203"/>
                    <a:pt x="161102" y="422203"/>
                  </a:cubicBezTo>
                  <a:lnTo>
                    <a:pt x="192196" y="422203"/>
                  </a:lnTo>
                  <a:cubicBezTo>
                    <a:pt x="193788" y="422203"/>
                    <a:pt x="195319" y="421774"/>
                    <a:pt x="196604" y="420795"/>
                  </a:cubicBezTo>
                  <a:cubicBezTo>
                    <a:pt x="198440" y="419387"/>
                    <a:pt x="199481" y="417306"/>
                    <a:pt x="199420" y="415103"/>
                  </a:cubicBezTo>
                  <a:cubicBezTo>
                    <a:pt x="199236" y="387009"/>
                    <a:pt x="189687" y="362710"/>
                    <a:pt x="170284" y="340920"/>
                  </a:cubicBezTo>
                  <a:cubicBezTo>
                    <a:pt x="161408" y="330454"/>
                    <a:pt x="150880" y="321579"/>
                    <a:pt x="139924" y="313439"/>
                  </a:cubicBezTo>
                  <a:lnTo>
                    <a:pt x="139924" y="313439"/>
                  </a:lnTo>
                  <a:close/>
                  <a:moveTo>
                    <a:pt x="148432" y="71734"/>
                  </a:moveTo>
                  <a:cubicBezTo>
                    <a:pt x="150574" y="71734"/>
                    <a:pt x="152595" y="70816"/>
                    <a:pt x="154002" y="69286"/>
                  </a:cubicBezTo>
                  <a:cubicBezTo>
                    <a:pt x="160735" y="61880"/>
                    <a:pt x="165938" y="54474"/>
                    <a:pt x="169917" y="46517"/>
                  </a:cubicBezTo>
                  <a:cubicBezTo>
                    <a:pt x="170773" y="44803"/>
                    <a:pt x="171018" y="42845"/>
                    <a:pt x="170467" y="41008"/>
                  </a:cubicBezTo>
                  <a:cubicBezTo>
                    <a:pt x="169427" y="37642"/>
                    <a:pt x="166489" y="35500"/>
                    <a:pt x="163122" y="35500"/>
                  </a:cubicBezTo>
                  <a:lnTo>
                    <a:pt x="161164" y="35500"/>
                  </a:lnTo>
                  <a:cubicBezTo>
                    <a:pt x="164102" y="28217"/>
                    <a:pt x="165877" y="20566"/>
                    <a:pt x="166489" y="12425"/>
                  </a:cubicBezTo>
                  <a:lnTo>
                    <a:pt x="187361" y="12425"/>
                  </a:lnTo>
                  <a:cubicBezTo>
                    <a:pt x="184974" y="54535"/>
                    <a:pt x="158532" y="80365"/>
                    <a:pt x="129213" y="101603"/>
                  </a:cubicBezTo>
                  <a:cubicBezTo>
                    <a:pt x="123153" y="97380"/>
                    <a:pt x="117032" y="93340"/>
                    <a:pt x="110850" y="89240"/>
                  </a:cubicBezTo>
                  <a:cubicBezTo>
                    <a:pt x="118746" y="83792"/>
                    <a:pt x="126642" y="77977"/>
                    <a:pt x="133742" y="71796"/>
                  </a:cubicBezTo>
                  <a:lnTo>
                    <a:pt x="148432" y="71796"/>
                  </a:lnTo>
                  <a:close/>
                  <a:moveTo>
                    <a:pt x="114094" y="71734"/>
                  </a:moveTo>
                  <a:cubicBezTo>
                    <a:pt x="109503" y="75162"/>
                    <a:pt x="104790" y="78467"/>
                    <a:pt x="100077" y="81711"/>
                  </a:cubicBezTo>
                  <a:cubicBezTo>
                    <a:pt x="95180" y="78344"/>
                    <a:pt x="90467" y="75101"/>
                    <a:pt x="85999" y="71734"/>
                  </a:cubicBezTo>
                  <a:lnTo>
                    <a:pt x="114094" y="71734"/>
                  </a:lnTo>
                  <a:close/>
                  <a:moveTo>
                    <a:pt x="93650" y="47803"/>
                  </a:moveTo>
                  <a:lnTo>
                    <a:pt x="93650" y="59370"/>
                  </a:lnTo>
                  <a:lnTo>
                    <a:pt x="70084" y="59370"/>
                  </a:lnTo>
                  <a:cubicBezTo>
                    <a:pt x="66106" y="55637"/>
                    <a:pt x="62495" y="51842"/>
                    <a:pt x="59312" y="47803"/>
                  </a:cubicBezTo>
                  <a:lnTo>
                    <a:pt x="93650" y="47803"/>
                  </a:lnTo>
                  <a:close/>
                  <a:moveTo>
                    <a:pt x="12976" y="12364"/>
                  </a:moveTo>
                  <a:lnTo>
                    <a:pt x="33604" y="12364"/>
                  </a:lnTo>
                  <a:cubicBezTo>
                    <a:pt x="36604" y="54046"/>
                    <a:pt x="70207" y="76386"/>
                    <a:pt x="105708" y="100012"/>
                  </a:cubicBezTo>
                  <a:cubicBezTo>
                    <a:pt x="143903" y="125473"/>
                    <a:pt x="187239" y="154302"/>
                    <a:pt x="187239" y="211041"/>
                  </a:cubicBezTo>
                  <a:cubicBezTo>
                    <a:pt x="187239" y="256578"/>
                    <a:pt x="159817" y="283754"/>
                    <a:pt x="129274" y="305911"/>
                  </a:cubicBezTo>
                  <a:cubicBezTo>
                    <a:pt x="123275" y="301748"/>
                    <a:pt x="117154" y="297709"/>
                    <a:pt x="111033" y="293608"/>
                  </a:cubicBezTo>
                  <a:cubicBezTo>
                    <a:pt x="111033" y="293608"/>
                    <a:pt x="111033" y="293608"/>
                    <a:pt x="111033" y="293608"/>
                  </a:cubicBezTo>
                  <a:cubicBezTo>
                    <a:pt x="142128" y="272063"/>
                    <a:pt x="166611" y="249723"/>
                    <a:pt x="166611" y="211041"/>
                  </a:cubicBezTo>
                  <a:cubicBezTo>
                    <a:pt x="166611" y="165319"/>
                    <a:pt x="131478" y="141938"/>
                    <a:pt x="94262" y="117210"/>
                  </a:cubicBezTo>
                  <a:cubicBezTo>
                    <a:pt x="57537" y="92667"/>
                    <a:pt x="16037" y="65063"/>
                    <a:pt x="12976" y="12364"/>
                  </a:cubicBezTo>
                  <a:lnTo>
                    <a:pt x="12976" y="12364"/>
                  </a:lnTo>
                  <a:close/>
                  <a:moveTo>
                    <a:pt x="106014" y="253089"/>
                  </a:moveTo>
                  <a:lnTo>
                    <a:pt x="140291" y="253089"/>
                  </a:lnTo>
                  <a:cubicBezTo>
                    <a:pt x="137108" y="257129"/>
                    <a:pt x="133497" y="260924"/>
                    <a:pt x="129519" y="264657"/>
                  </a:cubicBezTo>
                  <a:lnTo>
                    <a:pt x="106014" y="264657"/>
                  </a:lnTo>
                  <a:lnTo>
                    <a:pt x="106014" y="253089"/>
                  </a:lnTo>
                  <a:close/>
                  <a:moveTo>
                    <a:pt x="106014" y="205287"/>
                  </a:moveTo>
                  <a:lnTo>
                    <a:pt x="155227" y="205287"/>
                  </a:lnTo>
                  <a:cubicBezTo>
                    <a:pt x="155533" y="209082"/>
                    <a:pt x="155533" y="213060"/>
                    <a:pt x="155227" y="216855"/>
                  </a:cubicBezTo>
                  <a:lnTo>
                    <a:pt x="106014" y="216855"/>
                  </a:lnTo>
                  <a:lnTo>
                    <a:pt x="106014" y="205287"/>
                  </a:lnTo>
                  <a:close/>
                  <a:moveTo>
                    <a:pt x="106014" y="158280"/>
                  </a:moveTo>
                  <a:lnTo>
                    <a:pt x="129580" y="158280"/>
                  </a:lnTo>
                  <a:cubicBezTo>
                    <a:pt x="133558" y="162014"/>
                    <a:pt x="137170" y="165809"/>
                    <a:pt x="140353" y="169848"/>
                  </a:cubicBezTo>
                  <a:lnTo>
                    <a:pt x="106014" y="169848"/>
                  </a:lnTo>
                  <a:lnTo>
                    <a:pt x="106014" y="158280"/>
                  </a:lnTo>
                  <a:close/>
                  <a:moveTo>
                    <a:pt x="100077" y="135940"/>
                  </a:moveTo>
                  <a:cubicBezTo>
                    <a:pt x="104974" y="139306"/>
                    <a:pt x="109687" y="142550"/>
                    <a:pt x="114155" y="145917"/>
                  </a:cubicBezTo>
                  <a:lnTo>
                    <a:pt x="86060" y="145917"/>
                  </a:lnTo>
                  <a:cubicBezTo>
                    <a:pt x="90589" y="142489"/>
                    <a:pt x="95364" y="139184"/>
                    <a:pt x="100077" y="135940"/>
                  </a:cubicBezTo>
                  <a:lnTo>
                    <a:pt x="100077" y="135940"/>
                  </a:lnTo>
                  <a:close/>
                  <a:moveTo>
                    <a:pt x="52456" y="158280"/>
                  </a:moveTo>
                  <a:lnTo>
                    <a:pt x="93650" y="158280"/>
                  </a:lnTo>
                  <a:lnTo>
                    <a:pt x="93650" y="169848"/>
                  </a:lnTo>
                  <a:cubicBezTo>
                    <a:pt x="86550" y="169848"/>
                    <a:pt x="55333" y="169848"/>
                    <a:pt x="43704" y="169848"/>
                  </a:cubicBezTo>
                  <a:cubicBezTo>
                    <a:pt x="46213" y="165931"/>
                    <a:pt x="49090" y="162075"/>
                    <a:pt x="52456" y="158280"/>
                  </a:cubicBezTo>
                  <a:close/>
                  <a:moveTo>
                    <a:pt x="52518" y="182212"/>
                  </a:moveTo>
                  <a:lnTo>
                    <a:pt x="147636" y="182212"/>
                  </a:lnTo>
                  <a:cubicBezTo>
                    <a:pt x="149412" y="185884"/>
                    <a:pt x="150880" y="189679"/>
                    <a:pt x="151983" y="193780"/>
                  </a:cubicBezTo>
                  <a:lnTo>
                    <a:pt x="48172" y="193780"/>
                  </a:lnTo>
                  <a:cubicBezTo>
                    <a:pt x="49212" y="189740"/>
                    <a:pt x="50682" y="185946"/>
                    <a:pt x="52518" y="182212"/>
                  </a:cubicBezTo>
                  <a:lnTo>
                    <a:pt x="52518" y="182212"/>
                  </a:lnTo>
                  <a:close/>
                  <a:moveTo>
                    <a:pt x="31707" y="205287"/>
                  </a:moveTo>
                  <a:lnTo>
                    <a:pt x="93650" y="205287"/>
                  </a:lnTo>
                  <a:lnTo>
                    <a:pt x="93650" y="216855"/>
                  </a:lnTo>
                  <a:cubicBezTo>
                    <a:pt x="83183" y="216855"/>
                    <a:pt x="38807" y="216855"/>
                    <a:pt x="31707" y="216855"/>
                  </a:cubicBezTo>
                  <a:cubicBezTo>
                    <a:pt x="31462" y="213121"/>
                    <a:pt x="31462" y="209143"/>
                    <a:pt x="31707" y="205287"/>
                  </a:cubicBezTo>
                  <a:lnTo>
                    <a:pt x="31707" y="205287"/>
                  </a:lnTo>
                  <a:close/>
                  <a:moveTo>
                    <a:pt x="48172" y="229157"/>
                  </a:moveTo>
                  <a:lnTo>
                    <a:pt x="151983" y="229157"/>
                  </a:lnTo>
                  <a:cubicBezTo>
                    <a:pt x="150880" y="233197"/>
                    <a:pt x="149412" y="237053"/>
                    <a:pt x="147636" y="240726"/>
                  </a:cubicBezTo>
                  <a:lnTo>
                    <a:pt x="52518" y="240726"/>
                  </a:lnTo>
                  <a:cubicBezTo>
                    <a:pt x="50682" y="236992"/>
                    <a:pt x="49212" y="233136"/>
                    <a:pt x="48172" y="229157"/>
                  </a:cubicBezTo>
                  <a:close/>
                  <a:moveTo>
                    <a:pt x="43704" y="253089"/>
                  </a:moveTo>
                  <a:lnTo>
                    <a:pt x="93650" y="253089"/>
                  </a:lnTo>
                  <a:lnTo>
                    <a:pt x="93650" y="264657"/>
                  </a:lnTo>
                  <a:lnTo>
                    <a:pt x="52456" y="264657"/>
                  </a:lnTo>
                  <a:cubicBezTo>
                    <a:pt x="49090" y="260801"/>
                    <a:pt x="46213" y="257006"/>
                    <a:pt x="43704" y="253089"/>
                  </a:cubicBezTo>
                  <a:lnTo>
                    <a:pt x="43704" y="253089"/>
                  </a:lnTo>
                  <a:close/>
                  <a:moveTo>
                    <a:pt x="114094" y="276164"/>
                  </a:moveTo>
                  <a:cubicBezTo>
                    <a:pt x="109626" y="279469"/>
                    <a:pt x="104913" y="282774"/>
                    <a:pt x="100077" y="286140"/>
                  </a:cubicBezTo>
                  <a:cubicBezTo>
                    <a:pt x="95242" y="282836"/>
                    <a:pt x="90528" y="279530"/>
                    <a:pt x="86060" y="276164"/>
                  </a:cubicBezTo>
                  <a:lnTo>
                    <a:pt x="114094" y="276164"/>
                  </a:lnTo>
                  <a:close/>
                  <a:moveTo>
                    <a:pt x="85999" y="351203"/>
                  </a:moveTo>
                  <a:cubicBezTo>
                    <a:pt x="90467" y="347898"/>
                    <a:pt x="95119" y="344593"/>
                    <a:pt x="100016" y="341226"/>
                  </a:cubicBezTo>
                  <a:cubicBezTo>
                    <a:pt x="104852" y="344532"/>
                    <a:pt x="109564" y="347837"/>
                    <a:pt x="114033" y="351203"/>
                  </a:cubicBezTo>
                  <a:cubicBezTo>
                    <a:pt x="96588" y="351203"/>
                    <a:pt x="103443" y="351203"/>
                    <a:pt x="85999" y="351203"/>
                  </a:cubicBezTo>
                  <a:close/>
                  <a:moveTo>
                    <a:pt x="33665" y="409717"/>
                  </a:moveTo>
                  <a:lnTo>
                    <a:pt x="13038" y="409717"/>
                  </a:lnTo>
                  <a:cubicBezTo>
                    <a:pt x="15425" y="367851"/>
                    <a:pt x="41684" y="342206"/>
                    <a:pt x="70819" y="321028"/>
                  </a:cubicBezTo>
                  <a:cubicBezTo>
                    <a:pt x="76879" y="325252"/>
                    <a:pt x="83000" y="329291"/>
                    <a:pt x="89059" y="333331"/>
                  </a:cubicBezTo>
                  <a:cubicBezTo>
                    <a:pt x="59985" y="353468"/>
                    <a:pt x="36175" y="374584"/>
                    <a:pt x="33665" y="409717"/>
                  </a:cubicBezTo>
                  <a:close/>
                  <a:moveTo>
                    <a:pt x="70146" y="363567"/>
                  </a:moveTo>
                  <a:lnTo>
                    <a:pt x="93650" y="363567"/>
                  </a:lnTo>
                  <a:lnTo>
                    <a:pt x="93650" y="375135"/>
                  </a:lnTo>
                  <a:lnTo>
                    <a:pt x="59373" y="375135"/>
                  </a:lnTo>
                  <a:cubicBezTo>
                    <a:pt x="62556" y="371096"/>
                    <a:pt x="66167" y="367239"/>
                    <a:pt x="70146" y="363567"/>
                  </a:cubicBezTo>
                  <a:close/>
                </a:path>
              </a:pathLst>
            </a:custGeom>
            <a:solidFill>
              <a:schemeClr val="dk1"/>
            </a:solidFill>
            <a:ln w="6350">
              <a:solidFill>
                <a:schemeClr val="tx2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Rettangolo con angoli arrotondati 12">
              <a:extLst>
                <a:ext uri="{FF2B5EF4-FFF2-40B4-BE49-F238E27FC236}">
                  <a16:creationId xmlns:a16="http://schemas.microsoft.com/office/drawing/2014/main" id="{D83CF2E4-9393-4EC5-F51F-0932AD53B028}"/>
                </a:ext>
              </a:extLst>
            </p:cNvPr>
            <p:cNvSpPr/>
            <p:nvPr/>
          </p:nvSpPr>
          <p:spPr>
            <a:xfrm>
              <a:off x="3463215" y="1155831"/>
              <a:ext cx="1742828" cy="836588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Google Shape;796;p43">
              <a:extLst>
                <a:ext uri="{FF2B5EF4-FFF2-40B4-BE49-F238E27FC236}">
                  <a16:creationId xmlns:a16="http://schemas.microsoft.com/office/drawing/2014/main" id="{72A2697D-7FAF-E63D-AA71-7DE1A0E6EF1F}"/>
                </a:ext>
              </a:extLst>
            </p:cNvPr>
            <p:cNvSpPr txBox="1">
              <a:spLocks/>
            </p:cNvSpPr>
            <p:nvPr/>
          </p:nvSpPr>
          <p:spPr>
            <a:xfrm>
              <a:off x="3428709" y="1313268"/>
              <a:ext cx="1811840" cy="553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7200" b="0" i="0" u="none" strike="noStrike" cap="none" spc="0">
                  <a:solidFill>
                    <a:schemeClr val="accent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pPr algn="ctr"/>
              <a:r>
                <a:rPr lang="it-IT" sz="1800" dirty="0">
                  <a:solidFill>
                    <a:srgbClr val="25384D"/>
                  </a:solidFill>
                </a:rPr>
                <a:t>CNN Encoder</a:t>
              </a:r>
            </a:p>
          </p:txBody>
        </p:sp>
        <p:sp>
          <p:nvSpPr>
            <p:cNvPr id="17" name="Google Shape;1022;p54">
              <a:extLst>
                <a:ext uri="{FF2B5EF4-FFF2-40B4-BE49-F238E27FC236}">
                  <a16:creationId xmlns:a16="http://schemas.microsoft.com/office/drawing/2014/main" id="{94491DB9-D743-30B0-F27F-F0BED25E8079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25774" y="1350667"/>
              <a:ext cx="210955" cy="446918"/>
            </a:xfrm>
            <a:custGeom>
              <a:avLst/>
              <a:gdLst/>
              <a:ahLst/>
              <a:cxnLst/>
              <a:rect l="l" t="t" r="r" b="b"/>
              <a:pathLst>
                <a:path w="199664" h="422998" extrusionOk="0">
                  <a:moveTo>
                    <a:pt x="139924" y="313439"/>
                  </a:moveTo>
                  <a:cubicBezTo>
                    <a:pt x="152839" y="303829"/>
                    <a:pt x="167591" y="291405"/>
                    <a:pt x="178853" y="275797"/>
                  </a:cubicBezTo>
                  <a:cubicBezTo>
                    <a:pt x="192870" y="256455"/>
                    <a:pt x="199664" y="235278"/>
                    <a:pt x="199664" y="211041"/>
                  </a:cubicBezTo>
                  <a:cubicBezTo>
                    <a:pt x="199664" y="182640"/>
                    <a:pt x="190238" y="158219"/>
                    <a:pt x="170773" y="136246"/>
                  </a:cubicBezTo>
                  <a:cubicBezTo>
                    <a:pt x="161531" y="125841"/>
                    <a:pt x="151003" y="116843"/>
                    <a:pt x="139924" y="108642"/>
                  </a:cubicBezTo>
                  <a:cubicBezTo>
                    <a:pt x="152778" y="99094"/>
                    <a:pt x="167407" y="86730"/>
                    <a:pt x="178670" y="71245"/>
                  </a:cubicBezTo>
                  <a:cubicBezTo>
                    <a:pt x="192625" y="52087"/>
                    <a:pt x="199481" y="31154"/>
                    <a:pt x="199664" y="7284"/>
                  </a:cubicBezTo>
                  <a:cubicBezTo>
                    <a:pt x="199664" y="5693"/>
                    <a:pt x="199236" y="4163"/>
                    <a:pt x="198317" y="2877"/>
                  </a:cubicBezTo>
                  <a:cubicBezTo>
                    <a:pt x="196971" y="1041"/>
                    <a:pt x="194890" y="0"/>
                    <a:pt x="192625" y="0"/>
                  </a:cubicBezTo>
                  <a:lnTo>
                    <a:pt x="161347" y="0"/>
                  </a:lnTo>
                  <a:cubicBezTo>
                    <a:pt x="157491" y="0"/>
                    <a:pt x="154369" y="3122"/>
                    <a:pt x="154308" y="6978"/>
                  </a:cubicBezTo>
                  <a:cubicBezTo>
                    <a:pt x="154186" y="17383"/>
                    <a:pt x="151983" y="26686"/>
                    <a:pt x="147575" y="35439"/>
                  </a:cubicBezTo>
                  <a:lnTo>
                    <a:pt x="141271" y="35439"/>
                  </a:lnTo>
                  <a:cubicBezTo>
                    <a:pt x="138088" y="35439"/>
                    <a:pt x="135272" y="37704"/>
                    <a:pt x="134905" y="40825"/>
                  </a:cubicBezTo>
                  <a:cubicBezTo>
                    <a:pt x="134476" y="44559"/>
                    <a:pt x="137353" y="47803"/>
                    <a:pt x="141026" y="47803"/>
                  </a:cubicBezTo>
                  <a:lnTo>
                    <a:pt x="155900" y="47803"/>
                  </a:lnTo>
                  <a:cubicBezTo>
                    <a:pt x="153390" y="51720"/>
                    <a:pt x="150513" y="55514"/>
                    <a:pt x="147147" y="59370"/>
                  </a:cubicBezTo>
                  <a:cubicBezTo>
                    <a:pt x="136986" y="59370"/>
                    <a:pt x="113421" y="59370"/>
                    <a:pt x="105953" y="59370"/>
                  </a:cubicBezTo>
                  <a:lnTo>
                    <a:pt x="105953" y="47803"/>
                  </a:lnTo>
                  <a:lnTo>
                    <a:pt x="111646" y="47803"/>
                  </a:lnTo>
                  <a:cubicBezTo>
                    <a:pt x="114829" y="47803"/>
                    <a:pt x="117644" y="45538"/>
                    <a:pt x="118012" y="42417"/>
                  </a:cubicBezTo>
                  <a:cubicBezTo>
                    <a:pt x="118440" y="38683"/>
                    <a:pt x="115563" y="35439"/>
                    <a:pt x="111891" y="35439"/>
                  </a:cubicBezTo>
                  <a:lnTo>
                    <a:pt x="52395" y="35439"/>
                  </a:lnTo>
                  <a:cubicBezTo>
                    <a:pt x="48233" y="27053"/>
                    <a:pt x="45846" y="17750"/>
                    <a:pt x="45723" y="6978"/>
                  </a:cubicBezTo>
                  <a:cubicBezTo>
                    <a:pt x="45662" y="3122"/>
                    <a:pt x="42540" y="0"/>
                    <a:pt x="38684" y="0"/>
                  </a:cubicBezTo>
                  <a:lnTo>
                    <a:pt x="7590" y="0"/>
                  </a:lnTo>
                  <a:cubicBezTo>
                    <a:pt x="5999" y="0"/>
                    <a:pt x="4469" y="429"/>
                    <a:pt x="3183" y="1408"/>
                  </a:cubicBezTo>
                  <a:cubicBezTo>
                    <a:pt x="1347" y="2816"/>
                    <a:pt x="306" y="4897"/>
                    <a:pt x="368" y="7100"/>
                  </a:cubicBezTo>
                  <a:cubicBezTo>
                    <a:pt x="551" y="35194"/>
                    <a:pt x="10099" y="59493"/>
                    <a:pt x="29503" y="81344"/>
                  </a:cubicBezTo>
                  <a:cubicBezTo>
                    <a:pt x="38684" y="91688"/>
                    <a:pt x="49151" y="100563"/>
                    <a:pt x="60169" y="108703"/>
                  </a:cubicBezTo>
                  <a:cubicBezTo>
                    <a:pt x="54476" y="112926"/>
                    <a:pt x="49518" y="116904"/>
                    <a:pt x="44867" y="120944"/>
                  </a:cubicBezTo>
                  <a:cubicBezTo>
                    <a:pt x="42479" y="123025"/>
                    <a:pt x="41867" y="126637"/>
                    <a:pt x="43643" y="129268"/>
                  </a:cubicBezTo>
                  <a:cubicBezTo>
                    <a:pt x="45785" y="132390"/>
                    <a:pt x="50070" y="132818"/>
                    <a:pt x="52824" y="130431"/>
                  </a:cubicBezTo>
                  <a:cubicBezTo>
                    <a:pt x="58088" y="125841"/>
                    <a:pt x="63842" y="121311"/>
                    <a:pt x="70696" y="116292"/>
                  </a:cubicBezTo>
                  <a:cubicBezTo>
                    <a:pt x="76695" y="120455"/>
                    <a:pt x="82816" y="124494"/>
                    <a:pt x="88937" y="128595"/>
                  </a:cubicBezTo>
                  <a:cubicBezTo>
                    <a:pt x="81102" y="134042"/>
                    <a:pt x="73267" y="139796"/>
                    <a:pt x="66167" y="145978"/>
                  </a:cubicBezTo>
                  <a:lnTo>
                    <a:pt x="51600" y="145978"/>
                  </a:lnTo>
                  <a:cubicBezTo>
                    <a:pt x="49457" y="145978"/>
                    <a:pt x="47437" y="146896"/>
                    <a:pt x="45968" y="148487"/>
                  </a:cubicBezTo>
                  <a:cubicBezTo>
                    <a:pt x="39296" y="155771"/>
                    <a:pt x="34155" y="163115"/>
                    <a:pt x="30177" y="171011"/>
                  </a:cubicBezTo>
                  <a:cubicBezTo>
                    <a:pt x="29197" y="172970"/>
                    <a:pt x="28952" y="175296"/>
                    <a:pt x="29748" y="177377"/>
                  </a:cubicBezTo>
                  <a:cubicBezTo>
                    <a:pt x="30911" y="180437"/>
                    <a:pt x="33727" y="182273"/>
                    <a:pt x="36848" y="182273"/>
                  </a:cubicBezTo>
                  <a:lnTo>
                    <a:pt x="38746" y="182273"/>
                  </a:lnTo>
                  <a:cubicBezTo>
                    <a:pt x="37338" y="185762"/>
                    <a:pt x="36236" y="189312"/>
                    <a:pt x="35379" y="192985"/>
                  </a:cubicBezTo>
                  <a:lnTo>
                    <a:pt x="29136" y="192985"/>
                  </a:lnTo>
                  <a:cubicBezTo>
                    <a:pt x="25280" y="192985"/>
                    <a:pt x="22035" y="195861"/>
                    <a:pt x="21546" y="199717"/>
                  </a:cubicBezTo>
                  <a:cubicBezTo>
                    <a:pt x="20689" y="207001"/>
                    <a:pt x="20689" y="214957"/>
                    <a:pt x="21546" y="222547"/>
                  </a:cubicBezTo>
                  <a:cubicBezTo>
                    <a:pt x="21974" y="226342"/>
                    <a:pt x="25218" y="229280"/>
                    <a:pt x="29074" y="229280"/>
                  </a:cubicBezTo>
                  <a:lnTo>
                    <a:pt x="35257" y="229280"/>
                  </a:lnTo>
                  <a:cubicBezTo>
                    <a:pt x="36175" y="233258"/>
                    <a:pt x="37338" y="237053"/>
                    <a:pt x="38868" y="240848"/>
                  </a:cubicBezTo>
                  <a:lnTo>
                    <a:pt x="37031" y="240848"/>
                  </a:lnTo>
                  <a:cubicBezTo>
                    <a:pt x="34828" y="240848"/>
                    <a:pt x="32686" y="241705"/>
                    <a:pt x="31278" y="243296"/>
                  </a:cubicBezTo>
                  <a:cubicBezTo>
                    <a:pt x="29074" y="245744"/>
                    <a:pt x="28646" y="249050"/>
                    <a:pt x="30054" y="251865"/>
                  </a:cubicBezTo>
                  <a:cubicBezTo>
                    <a:pt x="34033" y="259822"/>
                    <a:pt x="39235" y="267228"/>
                    <a:pt x="45968" y="274634"/>
                  </a:cubicBezTo>
                  <a:cubicBezTo>
                    <a:pt x="47376" y="276225"/>
                    <a:pt x="49457" y="277082"/>
                    <a:pt x="51538" y="277082"/>
                  </a:cubicBezTo>
                  <a:lnTo>
                    <a:pt x="66473" y="277082"/>
                  </a:lnTo>
                  <a:cubicBezTo>
                    <a:pt x="109075" y="314234"/>
                    <a:pt x="182587" y="338840"/>
                    <a:pt x="186627" y="409778"/>
                  </a:cubicBezTo>
                  <a:lnTo>
                    <a:pt x="166244" y="409778"/>
                  </a:lnTo>
                  <a:cubicBezTo>
                    <a:pt x="165693" y="401882"/>
                    <a:pt x="163979" y="394538"/>
                    <a:pt x="161164" y="387499"/>
                  </a:cubicBezTo>
                  <a:lnTo>
                    <a:pt x="163061" y="387499"/>
                  </a:lnTo>
                  <a:cubicBezTo>
                    <a:pt x="168754" y="387499"/>
                    <a:pt x="172426" y="381562"/>
                    <a:pt x="169855" y="376482"/>
                  </a:cubicBezTo>
                  <a:cubicBezTo>
                    <a:pt x="165877" y="368525"/>
                    <a:pt x="160674" y="361118"/>
                    <a:pt x="153941" y="353713"/>
                  </a:cubicBezTo>
                  <a:cubicBezTo>
                    <a:pt x="152472" y="352122"/>
                    <a:pt x="150452" y="351203"/>
                    <a:pt x="148310" y="351203"/>
                  </a:cubicBezTo>
                  <a:lnTo>
                    <a:pt x="134048" y="351203"/>
                  </a:lnTo>
                  <a:cubicBezTo>
                    <a:pt x="89916" y="312704"/>
                    <a:pt x="12426" y="287365"/>
                    <a:pt x="12426" y="210856"/>
                  </a:cubicBezTo>
                  <a:cubicBezTo>
                    <a:pt x="12426" y="188027"/>
                    <a:pt x="19220" y="168196"/>
                    <a:pt x="33175" y="150140"/>
                  </a:cubicBezTo>
                  <a:cubicBezTo>
                    <a:pt x="34951" y="147814"/>
                    <a:pt x="35012" y="144509"/>
                    <a:pt x="33175" y="142305"/>
                  </a:cubicBezTo>
                  <a:cubicBezTo>
                    <a:pt x="30544" y="139123"/>
                    <a:pt x="25830" y="139367"/>
                    <a:pt x="23444" y="142428"/>
                  </a:cubicBezTo>
                  <a:cubicBezTo>
                    <a:pt x="7651" y="162748"/>
                    <a:pt x="0" y="185150"/>
                    <a:pt x="0" y="210856"/>
                  </a:cubicBezTo>
                  <a:cubicBezTo>
                    <a:pt x="0" y="239379"/>
                    <a:pt x="9487" y="263984"/>
                    <a:pt x="29013" y="286079"/>
                  </a:cubicBezTo>
                  <a:cubicBezTo>
                    <a:pt x="38256" y="296546"/>
                    <a:pt x="48906" y="305543"/>
                    <a:pt x="60046" y="313806"/>
                  </a:cubicBezTo>
                  <a:cubicBezTo>
                    <a:pt x="47131" y="323415"/>
                    <a:pt x="32441" y="335779"/>
                    <a:pt x="21117" y="351387"/>
                  </a:cubicBezTo>
                  <a:cubicBezTo>
                    <a:pt x="7101" y="370605"/>
                    <a:pt x="184" y="391661"/>
                    <a:pt x="0" y="415715"/>
                  </a:cubicBezTo>
                  <a:cubicBezTo>
                    <a:pt x="0" y="417061"/>
                    <a:pt x="306" y="418469"/>
                    <a:pt x="1041" y="419632"/>
                  </a:cubicBezTo>
                  <a:cubicBezTo>
                    <a:pt x="2387" y="421774"/>
                    <a:pt x="4652" y="422999"/>
                    <a:pt x="7039" y="422999"/>
                  </a:cubicBezTo>
                  <a:lnTo>
                    <a:pt x="38440" y="422999"/>
                  </a:lnTo>
                  <a:cubicBezTo>
                    <a:pt x="42357" y="422999"/>
                    <a:pt x="45601" y="419816"/>
                    <a:pt x="45601" y="415898"/>
                  </a:cubicBezTo>
                  <a:cubicBezTo>
                    <a:pt x="45723" y="404881"/>
                    <a:pt x="48172" y="395333"/>
                    <a:pt x="52456" y="386764"/>
                  </a:cubicBezTo>
                  <a:lnTo>
                    <a:pt x="111891" y="386764"/>
                  </a:lnTo>
                  <a:cubicBezTo>
                    <a:pt x="115135" y="386764"/>
                    <a:pt x="117706" y="384132"/>
                    <a:pt x="117644" y="380827"/>
                  </a:cubicBezTo>
                  <a:cubicBezTo>
                    <a:pt x="117583" y="377644"/>
                    <a:pt x="114767" y="375196"/>
                    <a:pt x="111585" y="375196"/>
                  </a:cubicBezTo>
                  <a:lnTo>
                    <a:pt x="105770" y="375196"/>
                  </a:lnTo>
                  <a:lnTo>
                    <a:pt x="105770" y="363628"/>
                  </a:lnTo>
                  <a:lnTo>
                    <a:pt x="146963" y="363628"/>
                  </a:lnTo>
                  <a:cubicBezTo>
                    <a:pt x="150330" y="367423"/>
                    <a:pt x="153207" y="371279"/>
                    <a:pt x="155716" y="375196"/>
                  </a:cubicBezTo>
                  <a:cubicBezTo>
                    <a:pt x="152166" y="375196"/>
                    <a:pt x="140720" y="375196"/>
                    <a:pt x="140720" y="375196"/>
                  </a:cubicBezTo>
                  <a:cubicBezTo>
                    <a:pt x="137537" y="375196"/>
                    <a:pt x="134783" y="377644"/>
                    <a:pt x="134660" y="380827"/>
                  </a:cubicBezTo>
                  <a:cubicBezTo>
                    <a:pt x="134599" y="384071"/>
                    <a:pt x="137170" y="386764"/>
                    <a:pt x="140414" y="386764"/>
                  </a:cubicBezTo>
                  <a:lnTo>
                    <a:pt x="147330" y="386764"/>
                  </a:lnTo>
                  <a:cubicBezTo>
                    <a:pt x="151738" y="395517"/>
                    <a:pt x="153941" y="404881"/>
                    <a:pt x="154063" y="415225"/>
                  </a:cubicBezTo>
                  <a:cubicBezTo>
                    <a:pt x="154125" y="419081"/>
                    <a:pt x="157246" y="422203"/>
                    <a:pt x="161102" y="422203"/>
                  </a:cubicBezTo>
                  <a:lnTo>
                    <a:pt x="192196" y="422203"/>
                  </a:lnTo>
                  <a:cubicBezTo>
                    <a:pt x="193788" y="422203"/>
                    <a:pt x="195319" y="421774"/>
                    <a:pt x="196604" y="420795"/>
                  </a:cubicBezTo>
                  <a:cubicBezTo>
                    <a:pt x="198440" y="419387"/>
                    <a:pt x="199481" y="417306"/>
                    <a:pt x="199420" y="415103"/>
                  </a:cubicBezTo>
                  <a:cubicBezTo>
                    <a:pt x="199236" y="387009"/>
                    <a:pt x="189687" y="362710"/>
                    <a:pt x="170284" y="340920"/>
                  </a:cubicBezTo>
                  <a:cubicBezTo>
                    <a:pt x="161408" y="330454"/>
                    <a:pt x="150880" y="321579"/>
                    <a:pt x="139924" y="313439"/>
                  </a:cubicBezTo>
                  <a:lnTo>
                    <a:pt x="139924" y="313439"/>
                  </a:lnTo>
                  <a:close/>
                  <a:moveTo>
                    <a:pt x="148432" y="71734"/>
                  </a:moveTo>
                  <a:cubicBezTo>
                    <a:pt x="150574" y="71734"/>
                    <a:pt x="152595" y="70816"/>
                    <a:pt x="154002" y="69286"/>
                  </a:cubicBezTo>
                  <a:cubicBezTo>
                    <a:pt x="160735" y="61880"/>
                    <a:pt x="165938" y="54474"/>
                    <a:pt x="169917" y="46517"/>
                  </a:cubicBezTo>
                  <a:cubicBezTo>
                    <a:pt x="170773" y="44803"/>
                    <a:pt x="171018" y="42845"/>
                    <a:pt x="170467" y="41008"/>
                  </a:cubicBezTo>
                  <a:cubicBezTo>
                    <a:pt x="169427" y="37642"/>
                    <a:pt x="166489" y="35500"/>
                    <a:pt x="163122" y="35500"/>
                  </a:cubicBezTo>
                  <a:lnTo>
                    <a:pt x="161164" y="35500"/>
                  </a:lnTo>
                  <a:cubicBezTo>
                    <a:pt x="164102" y="28217"/>
                    <a:pt x="165877" y="20566"/>
                    <a:pt x="166489" y="12425"/>
                  </a:cubicBezTo>
                  <a:lnTo>
                    <a:pt x="187361" y="12425"/>
                  </a:lnTo>
                  <a:cubicBezTo>
                    <a:pt x="184974" y="54535"/>
                    <a:pt x="158532" y="80365"/>
                    <a:pt x="129213" y="101603"/>
                  </a:cubicBezTo>
                  <a:cubicBezTo>
                    <a:pt x="123153" y="97380"/>
                    <a:pt x="117032" y="93340"/>
                    <a:pt x="110850" y="89240"/>
                  </a:cubicBezTo>
                  <a:cubicBezTo>
                    <a:pt x="118746" y="83792"/>
                    <a:pt x="126642" y="77977"/>
                    <a:pt x="133742" y="71796"/>
                  </a:cubicBezTo>
                  <a:lnTo>
                    <a:pt x="148432" y="71796"/>
                  </a:lnTo>
                  <a:close/>
                  <a:moveTo>
                    <a:pt x="114094" y="71734"/>
                  </a:moveTo>
                  <a:cubicBezTo>
                    <a:pt x="109503" y="75162"/>
                    <a:pt x="104790" y="78467"/>
                    <a:pt x="100077" y="81711"/>
                  </a:cubicBezTo>
                  <a:cubicBezTo>
                    <a:pt x="95180" y="78344"/>
                    <a:pt x="90467" y="75101"/>
                    <a:pt x="85999" y="71734"/>
                  </a:cubicBezTo>
                  <a:lnTo>
                    <a:pt x="114094" y="71734"/>
                  </a:lnTo>
                  <a:close/>
                  <a:moveTo>
                    <a:pt x="93650" y="47803"/>
                  </a:moveTo>
                  <a:lnTo>
                    <a:pt x="93650" y="59370"/>
                  </a:lnTo>
                  <a:lnTo>
                    <a:pt x="70084" y="59370"/>
                  </a:lnTo>
                  <a:cubicBezTo>
                    <a:pt x="66106" y="55637"/>
                    <a:pt x="62495" y="51842"/>
                    <a:pt x="59312" y="47803"/>
                  </a:cubicBezTo>
                  <a:lnTo>
                    <a:pt x="93650" y="47803"/>
                  </a:lnTo>
                  <a:close/>
                  <a:moveTo>
                    <a:pt x="12976" y="12364"/>
                  </a:moveTo>
                  <a:lnTo>
                    <a:pt x="33604" y="12364"/>
                  </a:lnTo>
                  <a:cubicBezTo>
                    <a:pt x="36604" y="54046"/>
                    <a:pt x="70207" y="76386"/>
                    <a:pt x="105708" y="100012"/>
                  </a:cubicBezTo>
                  <a:cubicBezTo>
                    <a:pt x="143903" y="125473"/>
                    <a:pt x="187239" y="154302"/>
                    <a:pt x="187239" y="211041"/>
                  </a:cubicBezTo>
                  <a:cubicBezTo>
                    <a:pt x="187239" y="256578"/>
                    <a:pt x="159817" y="283754"/>
                    <a:pt x="129274" y="305911"/>
                  </a:cubicBezTo>
                  <a:cubicBezTo>
                    <a:pt x="123275" y="301748"/>
                    <a:pt x="117154" y="297709"/>
                    <a:pt x="111033" y="293608"/>
                  </a:cubicBezTo>
                  <a:cubicBezTo>
                    <a:pt x="111033" y="293608"/>
                    <a:pt x="111033" y="293608"/>
                    <a:pt x="111033" y="293608"/>
                  </a:cubicBezTo>
                  <a:cubicBezTo>
                    <a:pt x="142128" y="272063"/>
                    <a:pt x="166611" y="249723"/>
                    <a:pt x="166611" y="211041"/>
                  </a:cubicBezTo>
                  <a:cubicBezTo>
                    <a:pt x="166611" y="165319"/>
                    <a:pt x="131478" y="141938"/>
                    <a:pt x="94262" y="117210"/>
                  </a:cubicBezTo>
                  <a:cubicBezTo>
                    <a:pt x="57537" y="92667"/>
                    <a:pt x="16037" y="65063"/>
                    <a:pt x="12976" y="12364"/>
                  </a:cubicBezTo>
                  <a:lnTo>
                    <a:pt x="12976" y="12364"/>
                  </a:lnTo>
                  <a:close/>
                  <a:moveTo>
                    <a:pt x="106014" y="253089"/>
                  </a:moveTo>
                  <a:lnTo>
                    <a:pt x="140291" y="253089"/>
                  </a:lnTo>
                  <a:cubicBezTo>
                    <a:pt x="137108" y="257129"/>
                    <a:pt x="133497" y="260924"/>
                    <a:pt x="129519" y="264657"/>
                  </a:cubicBezTo>
                  <a:lnTo>
                    <a:pt x="106014" y="264657"/>
                  </a:lnTo>
                  <a:lnTo>
                    <a:pt x="106014" y="253089"/>
                  </a:lnTo>
                  <a:close/>
                  <a:moveTo>
                    <a:pt x="106014" y="205287"/>
                  </a:moveTo>
                  <a:lnTo>
                    <a:pt x="155227" y="205287"/>
                  </a:lnTo>
                  <a:cubicBezTo>
                    <a:pt x="155533" y="209082"/>
                    <a:pt x="155533" y="213060"/>
                    <a:pt x="155227" y="216855"/>
                  </a:cubicBezTo>
                  <a:lnTo>
                    <a:pt x="106014" y="216855"/>
                  </a:lnTo>
                  <a:lnTo>
                    <a:pt x="106014" y="205287"/>
                  </a:lnTo>
                  <a:close/>
                  <a:moveTo>
                    <a:pt x="106014" y="158280"/>
                  </a:moveTo>
                  <a:lnTo>
                    <a:pt x="129580" y="158280"/>
                  </a:lnTo>
                  <a:cubicBezTo>
                    <a:pt x="133558" y="162014"/>
                    <a:pt x="137170" y="165809"/>
                    <a:pt x="140353" y="169848"/>
                  </a:cubicBezTo>
                  <a:lnTo>
                    <a:pt x="106014" y="169848"/>
                  </a:lnTo>
                  <a:lnTo>
                    <a:pt x="106014" y="158280"/>
                  </a:lnTo>
                  <a:close/>
                  <a:moveTo>
                    <a:pt x="100077" y="135940"/>
                  </a:moveTo>
                  <a:cubicBezTo>
                    <a:pt x="104974" y="139306"/>
                    <a:pt x="109687" y="142550"/>
                    <a:pt x="114155" y="145917"/>
                  </a:cubicBezTo>
                  <a:lnTo>
                    <a:pt x="86060" y="145917"/>
                  </a:lnTo>
                  <a:cubicBezTo>
                    <a:pt x="90589" y="142489"/>
                    <a:pt x="95364" y="139184"/>
                    <a:pt x="100077" y="135940"/>
                  </a:cubicBezTo>
                  <a:lnTo>
                    <a:pt x="100077" y="135940"/>
                  </a:lnTo>
                  <a:close/>
                  <a:moveTo>
                    <a:pt x="52456" y="158280"/>
                  </a:moveTo>
                  <a:lnTo>
                    <a:pt x="93650" y="158280"/>
                  </a:lnTo>
                  <a:lnTo>
                    <a:pt x="93650" y="169848"/>
                  </a:lnTo>
                  <a:cubicBezTo>
                    <a:pt x="86550" y="169848"/>
                    <a:pt x="55333" y="169848"/>
                    <a:pt x="43704" y="169848"/>
                  </a:cubicBezTo>
                  <a:cubicBezTo>
                    <a:pt x="46213" y="165931"/>
                    <a:pt x="49090" y="162075"/>
                    <a:pt x="52456" y="158280"/>
                  </a:cubicBezTo>
                  <a:close/>
                  <a:moveTo>
                    <a:pt x="52518" y="182212"/>
                  </a:moveTo>
                  <a:lnTo>
                    <a:pt x="147636" y="182212"/>
                  </a:lnTo>
                  <a:cubicBezTo>
                    <a:pt x="149412" y="185884"/>
                    <a:pt x="150880" y="189679"/>
                    <a:pt x="151983" y="193780"/>
                  </a:cubicBezTo>
                  <a:lnTo>
                    <a:pt x="48172" y="193780"/>
                  </a:lnTo>
                  <a:cubicBezTo>
                    <a:pt x="49212" y="189740"/>
                    <a:pt x="50682" y="185946"/>
                    <a:pt x="52518" y="182212"/>
                  </a:cubicBezTo>
                  <a:lnTo>
                    <a:pt x="52518" y="182212"/>
                  </a:lnTo>
                  <a:close/>
                  <a:moveTo>
                    <a:pt x="31707" y="205287"/>
                  </a:moveTo>
                  <a:lnTo>
                    <a:pt x="93650" y="205287"/>
                  </a:lnTo>
                  <a:lnTo>
                    <a:pt x="93650" y="216855"/>
                  </a:lnTo>
                  <a:cubicBezTo>
                    <a:pt x="83183" y="216855"/>
                    <a:pt x="38807" y="216855"/>
                    <a:pt x="31707" y="216855"/>
                  </a:cubicBezTo>
                  <a:cubicBezTo>
                    <a:pt x="31462" y="213121"/>
                    <a:pt x="31462" y="209143"/>
                    <a:pt x="31707" y="205287"/>
                  </a:cubicBezTo>
                  <a:lnTo>
                    <a:pt x="31707" y="205287"/>
                  </a:lnTo>
                  <a:close/>
                  <a:moveTo>
                    <a:pt x="48172" y="229157"/>
                  </a:moveTo>
                  <a:lnTo>
                    <a:pt x="151983" y="229157"/>
                  </a:lnTo>
                  <a:cubicBezTo>
                    <a:pt x="150880" y="233197"/>
                    <a:pt x="149412" y="237053"/>
                    <a:pt x="147636" y="240726"/>
                  </a:cubicBezTo>
                  <a:lnTo>
                    <a:pt x="52518" y="240726"/>
                  </a:lnTo>
                  <a:cubicBezTo>
                    <a:pt x="50682" y="236992"/>
                    <a:pt x="49212" y="233136"/>
                    <a:pt x="48172" y="229157"/>
                  </a:cubicBezTo>
                  <a:close/>
                  <a:moveTo>
                    <a:pt x="43704" y="253089"/>
                  </a:moveTo>
                  <a:lnTo>
                    <a:pt x="93650" y="253089"/>
                  </a:lnTo>
                  <a:lnTo>
                    <a:pt x="93650" y="264657"/>
                  </a:lnTo>
                  <a:lnTo>
                    <a:pt x="52456" y="264657"/>
                  </a:lnTo>
                  <a:cubicBezTo>
                    <a:pt x="49090" y="260801"/>
                    <a:pt x="46213" y="257006"/>
                    <a:pt x="43704" y="253089"/>
                  </a:cubicBezTo>
                  <a:lnTo>
                    <a:pt x="43704" y="253089"/>
                  </a:lnTo>
                  <a:close/>
                  <a:moveTo>
                    <a:pt x="114094" y="276164"/>
                  </a:moveTo>
                  <a:cubicBezTo>
                    <a:pt x="109626" y="279469"/>
                    <a:pt x="104913" y="282774"/>
                    <a:pt x="100077" y="286140"/>
                  </a:cubicBezTo>
                  <a:cubicBezTo>
                    <a:pt x="95242" y="282836"/>
                    <a:pt x="90528" y="279530"/>
                    <a:pt x="86060" y="276164"/>
                  </a:cubicBezTo>
                  <a:lnTo>
                    <a:pt x="114094" y="276164"/>
                  </a:lnTo>
                  <a:close/>
                  <a:moveTo>
                    <a:pt x="85999" y="351203"/>
                  </a:moveTo>
                  <a:cubicBezTo>
                    <a:pt x="90467" y="347898"/>
                    <a:pt x="95119" y="344593"/>
                    <a:pt x="100016" y="341226"/>
                  </a:cubicBezTo>
                  <a:cubicBezTo>
                    <a:pt x="104852" y="344532"/>
                    <a:pt x="109564" y="347837"/>
                    <a:pt x="114033" y="351203"/>
                  </a:cubicBezTo>
                  <a:cubicBezTo>
                    <a:pt x="96588" y="351203"/>
                    <a:pt x="103443" y="351203"/>
                    <a:pt x="85999" y="351203"/>
                  </a:cubicBezTo>
                  <a:close/>
                  <a:moveTo>
                    <a:pt x="33665" y="409717"/>
                  </a:moveTo>
                  <a:lnTo>
                    <a:pt x="13038" y="409717"/>
                  </a:lnTo>
                  <a:cubicBezTo>
                    <a:pt x="15425" y="367851"/>
                    <a:pt x="41684" y="342206"/>
                    <a:pt x="70819" y="321028"/>
                  </a:cubicBezTo>
                  <a:cubicBezTo>
                    <a:pt x="76879" y="325252"/>
                    <a:pt x="83000" y="329291"/>
                    <a:pt x="89059" y="333331"/>
                  </a:cubicBezTo>
                  <a:cubicBezTo>
                    <a:pt x="59985" y="353468"/>
                    <a:pt x="36175" y="374584"/>
                    <a:pt x="33665" y="409717"/>
                  </a:cubicBezTo>
                  <a:close/>
                  <a:moveTo>
                    <a:pt x="70146" y="363567"/>
                  </a:moveTo>
                  <a:lnTo>
                    <a:pt x="93650" y="363567"/>
                  </a:lnTo>
                  <a:lnTo>
                    <a:pt x="93650" y="375135"/>
                  </a:lnTo>
                  <a:lnTo>
                    <a:pt x="59373" y="375135"/>
                  </a:lnTo>
                  <a:cubicBezTo>
                    <a:pt x="62556" y="371096"/>
                    <a:pt x="66167" y="367239"/>
                    <a:pt x="70146" y="363567"/>
                  </a:cubicBezTo>
                  <a:close/>
                </a:path>
              </a:pathLst>
            </a:custGeom>
            <a:solidFill>
              <a:schemeClr val="dk1"/>
            </a:solidFill>
            <a:ln w="6350">
              <a:solidFill>
                <a:schemeClr val="tx2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Rettangolo con angoli arrotondati 18">
              <a:extLst>
                <a:ext uri="{FF2B5EF4-FFF2-40B4-BE49-F238E27FC236}">
                  <a16:creationId xmlns:a16="http://schemas.microsoft.com/office/drawing/2014/main" id="{DA3E8B7A-4EA2-63C4-46D8-7648B556D410}"/>
                </a:ext>
              </a:extLst>
            </p:cNvPr>
            <p:cNvSpPr/>
            <p:nvPr/>
          </p:nvSpPr>
          <p:spPr>
            <a:xfrm>
              <a:off x="5652961" y="1155831"/>
              <a:ext cx="1742828" cy="836588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Google Shape;796;p43">
              <a:extLst>
                <a:ext uri="{FF2B5EF4-FFF2-40B4-BE49-F238E27FC236}">
                  <a16:creationId xmlns:a16="http://schemas.microsoft.com/office/drawing/2014/main" id="{3A41A221-7393-0C70-F3A6-565E1CB17C65}"/>
                </a:ext>
              </a:extLst>
            </p:cNvPr>
            <p:cNvSpPr txBox="1">
              <a:spLocks/>
            </p:cNvSpPr>
            <p:nvPr/>
          </p:nvSpPr>
          <p:spPr>
            <a:xfrm>
              <a:off x="5618455" y="1353352"/>
              <a:ext cx="1811840" cy="553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7200" b="0" i="0" u="none" strike="noStrike" cap="none" spc="0">
                  <a:solidFill>
                    <a:schemeClr val="accent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pPr algn="ctr"/>
              <a:r>
                <a:rPr lang="it-IT" sz="1800" dirty="0">
                  <a:solidFill>
                    <a:srgbClr val="25384D"/>
                  </a:solidFill>
                </a:rPr>
                <a:t>Embedding query</a:t>
              </a:r>
            </a:p>
          </p:txBody>
        </p:sp>
        <p:sp>
          <p:nvSpPr>
            <p:cNvPr id="27" name="Google Shape;1022;p54">
              <a:extLst>
                <a:ext uri="{FF2B5EF4-FFF2-40B4-BE49-F238E27FC236}">
                  <a16:creationId xmlns:a16="http://schemas.microsoft.com/office/drawing/2014/main" id="{17495A87-8694-90B1-16AB-D2CFB82245A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6418897" y="1992419"/>
              <a:ext cx="210955" cy="446918"/>
            </a:xfrm>
            <a:custGeom>
              <a:avLst/>
              <a:gdLst/>
              <a:ahLst/>
              <a:cxnLst/>
              <a:rect l="l" t="t" r="r" b="b"/>
              <a:pathLst>
                <a:path w="199664" h="422998" extrusionOk="0">
                  <a:moveTo>
                    <a:pt x="139924" y="313439"/>
                  </a:moveTo>
                  <a:cubicBezTo>
                    <a:pt x="152839" y="303829"/>
                    <a:pt x="167591" y="291405"/>
                    <a:pt x="178853" y="275797"/>
                  </a:cubicBezTo>
                  <a:cubicBezTo>
                    <a:pt x="192870" y="256455"/>
                    <a:pt x="199664" y="235278"/>
                    <a:pt x="199664" y="211041"/>
                  </a:cubicBezTo>
                  <a:cubicBezTo>
                    <a:pt x="199664" y="182640"/>
                    <a:pt x="190238" y="158219"/>
                    <a:pt x="170773" y="136246"/>
                  </a:cubicBezTo>
                  <a:cubicBezTo>
                    <a:pt x="161531" y="125841"/>
                    <a:pt x="151003" y="116843"/>
                    <a:pt x="139924" y="108642"/>
                  </a:cubicBezTo>
                  <a:cubicBezTo>
                    <a:pt x="152778" y="99094"/>
                    <a:pt x="167407" y="86730"/>
                    <a:pt x="178670" y="71245"/>
                  </a:cubicBezTo>
                  <a:cubicBezTo>
                    <a:pt x="192625" y="52087"/>
                    <a:pt x="199481" y="31154"/>
                    <a:pt x="199664" y="7284"/>
                  </a:cubicBezTo>
                  <a:cubicBezTo>
                    <a:pt x="199664" y="5693"/>
                    <a:pt x="199236" y="4163"/>
                    <a:pt x="198317" y="2877"/>
                  </a:cubicBezTo>
                  <a:cubicBezTo>
                    <a:pt x="196971" y="1041"/>
                    <a:pt x="194890" y="0"/>
                    <a:pt x="192625" y="0"/>
                  </a:cubicBezTo>
                  <a:lnTo>
                    <a:pt x="161347" y="0"/>
                  </a:lnTo>
                  <a:cubicBezTo>
                    <a:pt x="157491" y="0"/>
                    <a:pt x="154369" y="3122"/>
                    <a:pt x="154308" y="6978"/>
                  </a:cubicBezTo>
                  <a:cubicBezTo>
                    <a:pt x="154186" y="17383"/>
                    <a:pt x="151983" y="26686"/>
                    <a:pt x="147575" y="35439"/>
                  </a:cubicBezTo>
                  <a:lnTo>
                    <a:pt x="141271" y="35439"/>
                  </a:lnTo>
                  <a:cubicBezTo>
                    <a:pt x="138088" y="35439"/>
                    <a:pt x="135272" y="37704"/>
                    <a:pt x="134905" y="40825"/>
                  </a:cubicBezTo>
                  <a:cubicBezTo>
                    <a:pt x="134476" y="44559"/>
                    <a:pt x="137353" y="47803"/>
                    <a:pt x="141026" y="47803"/>
                  </a:cubicBezTo>
                  <a:lnTo>
                    <a:pt x="155900" y="47803"/>
                  </a:lnTo>
                  <a:cubicBezTo>
                    <a:pt x="153390" y="51720"/>
                    <a:pt x="150513" y="55514"/>
                    <a:pt x="147147" y="59370"/>
                  </a:cubicBezTo>
                  <a:cubicBezTo>
                    <a:pt x="136986" y="59370"/>
                    <a:pt x="113421" y="59370"/>
                    <a:pt x="105953" y="59370"/>
                  </a:cubicBezTo>
                  <a:lnTo>
                    <a:pt x="105953" y="47803"/>
                  </a:lnTo>
                  <a:lnTo>
                    <a:pt x="111646" y="47803"/>
                  </a:lnTo>
                  <a:cubicBezTo>
                    <a:pt x="114829" y="47803"/>
                    <a:pt x="117644" y="45538"/>
                    <a:pt x="118012" y="42417"/>
                  </a:cubicBezTo>
                  <a:cubicBezTo>
                    <a:pt x="118440" y="38683"/>
                    <a:pt x="115563" y="35439"/>
                    <a:pt x="111891" y="35439"/>
                  </a:cubicBezTo>
                  <a:lnTo>
                    <a:pt x="52395" y="35439"/>
                  </a:lnTo>
                  <a:cubicBezTo>
                    <a:pt x="48233" y="27053"/>
                    <a:pt x="45846" y="17750"/>
                    <a:pt x="45723" y="6978"/>
                  </a:cubicBezTo>
                  <a:cubicBezTo>
                    <a:pt x="45662" y="3122"/>
                    <a:pt x="42540" y="0"/>
                    <a:pt x="38684" y="0"/>
                  </a:cubicBezTo>
                  <a:lnTo>
                    <a:pt x="7590" y="0"/>
                  </a:lnTo>
                  <a:cubicBezTo>
                    <a:pt x="5999" y="0"/>
                    <a:pt x="4469" y="429"/>
                    <a:pt x="3183" y="1408"/>
                  </a:cubicBezTo>
                  <a:cubicBezTo>
                    <a:pt x="1347" y="2816"/>
                    <a:pt x="306" y="4897"/>
                    <a:pt x="368" y="7100"/>
                  </a:cubicBezTo>
                  <a:cubicBezTo>
                    <a:pt x="551" y="35194"/>
                    <a:pt x="10099" y="59493"/>
                    <a:pt x="29503" y="81344"/>
                  </a:cubicBezTo>
                  <a:cubicBezTo>
                    <a:pt x="38684" y="91688"/>
                    <a:pt x="49151" y="100563"/>
                    <a:pt x="60169" y="108703"/>
                  </a:cubicBezTo>
                  <a:cubicBezTo>
                    <a:pt x="54476" y="112926"/>
                    <a:pt x="49518" y="116904"/>
                    <a:pt x="44867" y="120944"/>
                  </a:cubicBezTo>
                  <a:cubicBezTo>
                    <a:pt x="42479" y="123025"/>
                    <a:pt x="41867" y="126637"/>
                    <a:pt x="43643" y="129268"/>
                  </a:cubicBezTo>
                  <a:cubicBezTo>
                    <a:pt x="45785" y="132390"/>
                    <a:pt x="50070" y="132818"/>
                    <a:pt x="52824" y="130431"/>
                  </a:cubicBezTo>
                  <a:cubicBezTo>
                    <a:pt x="58088" y="125841"/>
                    <a:pt x="63842" y="121311"/>
                    <a:pt x="70696" y="116292"/>
                  </a:cubicBezTo>
                  <a:cubicBezTo>
                    <a:pt x="76695" y="120455"/>
                    <a:pt x="82816" y="124494"/>
                    <a:pt x="88937" y="128595"/>
                  </a:cubicBezTo>
                  <a:cubicBezTo>
                    <a:pt x="81102" y="134042"/>
                    <a:pt x="73267" y="139796"/>
                    <a:pt x="66167" y="145978"/>
                  </a:cubicBezTo>
                  <a:lnTo>
                    <a:pt x="51600" y="145978"/>
                  </a:lnTo>
                  <a:cubicBezTo>
                    <a:pt x="49457" y="145978"/>
                    <a:pt x="47437" y="146896"/>
                    <a:pt x="45968" y="148487"/>
                  </a:cubicBezTo>
                  <a:cubicBezTo>
                    <a:pt x="39296" y="155771"/>
                    <a:pt x="34155" y="163115"/>
                    <a:pt x="30177" y="171011"/>
                  </a:cubicBezTo>
                  <a:cubicBezTo>
                    <a:pt x="29197" y="172970"/>
                    <a:pt x="28952" y="175296"/>
                    <a:pt x="29748" y="177377"/>
                  </a:cubicBezTo>
                  <a:cubicBezTo>
                    <a:pt x="30911" y="180437"/>
                    <a:pt x="33727" y="182273"/>
                    <a:pt x="36848" y="182273"/>
                  </a:cubicBezTo>
                  <a:lnTo>
                    <a:pt x="38746" y="182273"/>
                  </a:lnTo>
                  <a:cubicBezTo>
                    <a:pt x="37338" y="185762"/>
                    <a:pt x="36236" y="189312"/>
                    <a:pt x="35379" y="192985"/>
                  </a:cubicBezTo>
                  <a:lnTo>
                    <a:pt x="29136" y="192985"/>
                  </a:lnTo>
                  <a:cubicBezTo>
                    <a:pt x="25280" y="192985"/>
                    <a:pt x="22035" y="195861"/>
                    <a:pt x="21546" y="199717"/>
                  </a:cubicBezTo>
                  <a:cubicBezTo>
                    <a:pt x="20689" y="207001"/>
                    <a:pt x="20689" y="214957"/>
                    <a:pt x="21546" y="222547"/>
                  </a:cubicBezTo>
                  <a:cubicBezTo>
                    <a:pt x="21974" y="226342"/>
                    <a:pt x="25218" y="229280"/>
                    <a:pt x="29074" y="229280"/>
                  </a:cubicBezTo>
                  <a:lnTo>
                    <a:pt x="35257" y="229280"/>
                  </a:lnTo>
                  <a:cubicBezTo>
                    <a:pt x="36175" y="233258"/>
                    <a:pt x="37338" y="237053"/>
                    <a:pt x="38868" y="240848"/>
                  </a:cubicBezTo>
                  <a:lnTo>
                    <a:pt x="37031" y="240848"/>
                  </a:lnTo>
                  <a:cubicBezTo>
                    <a:pt x="34828" y="240848"/>
                    <a:pt x="32686" y="241705"/>
                    <a:pt x="31278" y="243296"/>
                  </a:cubicBezTo>
                  <a:cubicBezTo>
                    <a:pt x="29074" y="245744"/>
                    <a:pt x="28646" y="249050"/>
                    <a:pt x="30054" y="251865"/>
                  </a:cubicBezTo>
                  <a:cubicBezTo>
                    <a:pt x="34033" y="259822"/>
                    <a:pt x="39235" y="267228"/>
                    <a:pt x="45968" y="274634"/>
                  </a:cubicBezTo>
                  <a:cubicBezTo>
                    <a:pt x="47376" y="276225"/>
                    <a:pt x="49457" y="277082"/>
                    <a:pt x="51538" y="277082"/>
                  </a:cubicBezTo>
                  <a:lnTo>
                    <a:pt x="66473" y="277082"/>
                  </a:lnTo>
                  <a:cubicBezTo>
                    <a:pt x="109075" y="314234"/>
                    <a:pt x="182587" y="338840"/>
                    <a:pt x="186627" y="409778"/>
                  </a:cubicBezTo>
                  <a:lnTo>
                    <a:pt x="166244" y="409778"/>
                  </a:lnTo>
                  <a:cubicBezTo>
                    <a:pt x="165693" y="401882"/>
                    <a:pt x="163979" y="394538"/>
                    <a:pt x="161164" y="387499"/>
                  </a:cubicBezTo>
                  <a:lnTo>
                    <a:pt x="163061" y="387499"/>
                  </a:lnTo>
                  <a:cubicBezTo>
                    <a:pt x="168754" y="387499"/>
                    <a:pt x="172426" y="381562"/>
                    <a:pt x="169855" y="376482"/>
                  </a:cubicBezTo>
                  <a:cubicBezTo>
                    <a:pt x="165877" y="368525"/>
                    <a:pt x="160674" y="361118"/>
                    <a:pt x="153941" y="353713"/>
                  </a:cubicBezTo>
                  <a:cubicBezTo>
                    <a:pt x="152472" y="352122"/>
                    <a:pt x="150452" y="351203"/>
                    <a:pt x="148310" y="351203"/>
                  </a:cubicBezTo>
                  <a:lnTo>
                    <a:pt x="134048" y="351203"/>
                  </a:lnTo>
                  <a:cubicBezTo>
                    <a:pt x="89916" y="312704"/>
                    <a:pt x="12426" y="287365"/>
                    <a:pt x="12426" y="210856"/>
                  </a:cubicBezTo>
                  <a:cubicBezTo>
                    <a:pt x="12426" y="188027"/>
                    <a:pt x="19220" y="168196"/>
                    <a:pt x="33175" y="150140"/>
                  </a:cubicBezTo>
                  <a:cubicBezTo>
                    <a:pt x="34951" y="147814"/>
                    <a:pt x="35012" y="144509"/>
                    <a:pt x="33175" y="142305"/>
                  </a:cubicBezTo>
                  <a:cubicBezTo>
                    <a:pt x="30544" y="139123"/>
                    <a:pt x="25830" y="139367"/>
                    <a:pt x="23444" y="142428"/>
                  </a:cubicBezTo>
                  <a:cubicBezTo>
                    <a:pt x="7651" y="162748"/>
                    <a:pt x="0" y="185150"/>
                    <a:pt x="0" y="210856"/>
                  </a:cubicBezTo>
                  <a:cubicBezTo>
                    <a:pt x="0" y="239379"/>
                    <a:pt x="9487" y="263984"/>
                    <a:pt x="29013" y="286079"/>
                  </a:cubicBezTo>
                  <a:cubicBezTo>
                    <a:pt x="38256" y="296546"/>
                    <a:pt x="48906" y="305543"/>
                    <a:pt x="60046" y="313806"/>
                  </a:cubicBezTo>
                  <a:cubicBezTo>
                    <a:pt x="47131" y="323415"/>
                    <a:pt x="32441" y="335779"/>
                    <a:pt x="21117" y="351387"/>
                  </a:cubicBezTo>
                  <a:cubicBezTo>
                    <a:pt x="7101" y="370605"/>
                    <a:pt x="184" y="391661"/>
                    <a:pt x="0" y="415715"/>
                  </a:cubicBezTo>
                  <a:cubicBezTo>
                    <a:pt x="0" y="417061"/>
                    <a:pt x="306" y="418469"/>
                    <a:pt x="1041" y="419632"/>
                  </a:cubicBezTo>
                  <a:cubicBezTo>
                    <a:pt x="2387" y="421774"/>
                    <a:pt x="4652" y="422999"/>
                    <a:pt x="7039" y="422999"/>
                  </a:cubicBezTo>
                  <a:lnTo>
                    <a:pt x="38440" y="422999"/>
                  </a:lnTo>
                  <a:cubicBezTo>
                    <a:pt x="42357" y="422999"/>
                    <a:pt x="45601" y="419816"/>
                    <a:pt x="45601" y="415898"/>
                  </a:cubicBezTo>
                  <a:cubicBezTo>
                    <a:pt x="45723" y="404881"/>
                    <a:pt x="48172" y="395333"/>
                    <a:pt x="52456" y="386764"/>
                  </a:cubicBezTo>
                  <a:lnTo>
                    <a:pt x="111891" y="386764"/>
                  </a:lnTo>
                  <a:cubicBezTo>
                    <a:pt x="115135" y="386764"/>
                    <a:pt x="117706" y="384132"/>
                    <a:pt x="117644" y="380827"/>
                  </a:cubicBezTo>
                  <a:cubicBezTo>
                    <a:pt x="117583" y="377644"/>
                    <a:pt x="114767" y="375196"/>
                    <a:pt x="111585" y="375196"/>
                  </a:cubicBezTo>
                  <a:lnTo>
                    <a:pt x="105770" y="375196"/>
                  </a:lnTo>
                  <a:lnTo>
                    <a:pt x="105770" y="363628"/>
                  </a:lnTo>
                  <a:lnTo>
                    <a:pt x="146963" y="363628"/>
                  </a:lnTo>
                  <a:cubicBezTo>
                    <a:pt x="150330" y="367423"/>
                    <a:pt x="153207" y="371279"/>
                    <a:pt x="155716" y="375196"/>
                  </a:cubicBezTo>
                  <a:cubicBezTo>
                    <a:pt x="152166" y="375196"/>
                    <a:pt x="140720" y="375196"/>
                    <a:pt x="140720" y="375196"/>
                  </a:cubicBezTo>
                  <a:cubicBezTo>
                    <a:pt x="137537" y="375196"/>
                    <a:pt x="134783" y="377644"/>
                    <a:pt x="134660" y="380827"/>
                  </a:cubicBezTo>
                  <a:cubicBezTo>
                    <a:pt x="134599" y="384071"/>
                    <a:pt x="137170" y="386764"/>
                    <a:pt x="140414" y="386764"/>
                  </a:cubicBezTo>
                  <a:lnTo>
                    <a:pt x="147330" y="386764"/>
                  </a:lnTo>
                  <a:cubicBezTo>
                    <a:pt x="151738" y="395517"/>
                    <a:pt x="153941" y="404881"/>
                    <a:pt x="154063" y="415225"/>
                  </a:cubicBezTo>
                  <a:cubicBezTo>
                    <a:pt x="154125" y="419081"/>
                    <a:pt x="157246" y="422203"/>
                    <a:pt x="161102" y="422203"/>
                  </a:cubicBezTo>
                  <a:lnTo>
                    <a:pt x="192196" y="422203"/>
                  </a:lnTo>
                  <a:cubicBezTo>
                    <a:pt x="193788" y="422203"/>
                    <a:pt x="195319" y="421774"/>
                    <a:pt x="196604" y="420795"/>
                  </a:cubicBezTo>
                  <a:cubicBezTo>
                    <a:pt x="198440" y="419387"/>
                    <a:pt x="199481" y="417306"/>
                    <a:pt x="199420" y="415103"/>
                  </a:cubicBezTo>
                  <a:cubicBezTo>
                    <a:pt x="199236" y="387009"/>
                    <a:pt x="189687" y="362710"/>
                    <a:pt x="170284" y="340920"/>
                  </a:cubicBezTo>
                  <a:cubicBezTo>
                    <a:pt x="161408" y="330454"/>
                    <a:pt x="150880" y="321579"/>
                    <a:pt x="139924" y="313439"/>
                  </a:cubicBezTo>
                  <a:lnTo>
                    <a:pt x="139924" y="313439"/>
                  </a:lnTo>
                  <a:close/>
                  <a:moveTo>
                    <a:pt x="148432" y="71734"/>
                  </a:moveTo>
                  <a:cubicBezTo>
                    <a:pt x="150574" y="71734"/>
                    <a:pt x="152595" y="70816"/>
                    <a:pt x="154002" y="69286"/>
                  </a:cubicBezTo>
                  <a:cubicBezTo>
                    <a:pt x="160735" y="61880"/>
                    <a:pt x="165938" y="54474"/>
                    <a:pt x="169917" y="46517"/>
                  </a:cubicBezTo>
                  <a:cubicBezTo>
                    <a:pt x="170773" y="44803"/>
                    <a:pt x="171018" y="42845"/>
                    <a:pt x="170467" y="41008"/>
                  </a:cubicBezTo>
                  <a:cubicBezTo>
                    <a:pt x="169427" y="37642"/>
                    <a:pt x="166489" y="35500"/>
                    <a:pt x="163122" y="35500"/>
                  </a:cubicBezTo>
                  <a:lnTo>
                    <a:pt x="161164" y="35500"/>
                  </a:lnTo>
                  <a:cubicBezTo>
                    <a:pt x="164102" y="28217"/>
                    <a:pt x="165877" y="20566"/>
                    <a:pt x="166489" y="12425"/>
                  </a:cubicBezTo>
                  <a:lnTo>
                    <a:pt x="187361" y="12425"/>
                  </a:lnTo>
                  <a:cubicBezTo>
                    <a:pt x="184974" y="54535"/>
                    <a:pt x="158532" y="80365"/>
                    <a:pt x="129213" y="101603"/>
                  </a:cubicBezTo>
                  <a:cubicBezTo>
                    <a:pt x="123153" y="97380"/>
                    <a:pt x="117032" y="93340"/>
                    <a:pt x="110850" y="89240"/>
                  </a:cubicBezTo>
                  <a:cubicBezTo>
                    <a:pt x="118746" y="83792"/>
                    <a:pt x="126642" y="77977"/>
                    <a:pt x="133742" y="71796"/>
                  </a:cubicBezTo>
                  <a:lnTo>
                    <a:pt x="148432" y="71796"/>
                  </a:lnTo>
                  <a:close/>
                  <a:moveTo>
                    <a:pt x="114094" y="71734"/>
                  </a:moveTo>
                  <a:cubicBezTo>
                    <a:pt x="109503" y="75162"/>
                    <a:pt x="104790" y="78467"/>
                    <a:pt x="100077" y="81711"/>
                  </a:cubicBezTo>
                  <a:cubicBezTo>
                    <a:pt x="95180" y="78344"/>
                    <a:pt x="90467" y="75101"/>
                    <a:pt x="85999" y="71734"/>
                  </a:cubicBezTo>
                  <a:lnTo>
                    <a:pt x="114094" y="71734"/>
                  </a:lnTo>
                  <a:close/>
                  <a:moveTo>
                    <a:pt x="93650" y="47803"/>
                  </a:moveTo>
                  <a:lnTo>
                    <a:pt x="93650" y="59370"/>
                  </a:lnTo>
                  <a:lnTo>
                    <a:pt x="70084" y="59370"/>
                  </a:lnTo>
                  <a:cubicBezTo>
                    <a:pt x="66106" y="55637"/>
                    <a:pt x="62495" y="51842"/>
                    <a:pt x="59312" y="47803"/>
                  </a:cubicBezTo>
                  <a:lnTo>
                    <a:pt x="93650" y="47803"/>
                  </a:lnTo>
                  <a:close/>
                  <a:moveTo>
                    <a:pt x="12976" y="12364"/>
                  </a:moveTo>
                  <a:lnTo>
                    <a:pt x="33604" y="12364"/>
                  </a:lnTo>
                  <a:cubicBezTo>
                    <a:pt x="36604" y="54046"/>
                    <a:pt x="70207" y="76386"/>
                    <a:pt x="105708" y="100012"/>
                  </a:cubicBezTo>
                  <a:cubicBezTo>
                    <a:pt x="143903" y="125473"/>
                    <a:pt x="187239" y="154302"/>
                    <a:pt x="187239" y="211041"/>
                  </a:cubicBezTo>
                  <a:cubicBezTo>
                    <a:pt x="187239" y="256578"/>
                    <a:pt x="159817" y="283754"/>
                    <a:pt x="129274" y="305911"/>
                  </a:cubicBezTo>
                  <a:cubicBezTo>
                    <a:pt x="123275" y="301748"/>
                    <a:pt x="117154" y="297709"/>
                    <a:pt x="111033" y="293608"/>
                  </a:cubicBezTo>
                  <a:cubicBezTo>
                    <a:pt x="111033" y="293608"/>
                    <a:pt x="111033" y="293608"/>
                    <a:pt x="111033" y="293608"/>
                  </a:cubicBezTo>
                  <a:cubicBezTo>
                    <a:pt x="142128" y="272063"/>
                    <a:pt x="166611" y="249723"/>
                    <a:pt x="166611" y="211041"/>
                  </a:cubicBezTo>
                  <a:cubicBezTo>
                    <a:pt x="166611" y="165319"/>
                    <a:pt x="131478" y="141938"/>
                    <a:pt x="94262" y="117210"/>
                  </a:cubicBezTo>
                  <a:cubicBezTo>
                    <a:pt x="57537" y="92667"/>
                    <a:pt x="16037" y="65063"/>
                    <a:pt x="12976" y="12364"/>
                  </a:cubicBezTo>
                  <a:lnTo>
                    <a:pt x="12976" y="12364"/>
                  </a:lnTo>
                  <a:close/>
                  <a:moveTo>
                    <a:pt x="106014" y="253089"/>
                  </a:moveTo>
                  <a:lnTo>
                    <a:pt x="140291" y="253089"/>
                  </a:lnTo>
                  <a:cubicBezTo>
                    <a:pt x="137108" y="257129"/>
                    <a:pt x="133497" y="260924"/>
                    <a:pt x="129519" y="264657"/>
                  </a:cubicBezTo>
                  <a:lnTo>
                    <a:pt x="106014" y="264657"/>
                  </a:lnTo>
                  <a:lnTo>
                    <a:pt x="106014" y="253089"/>
                  </a:lnTo>
                  <a:close/>
                  <a:moveTo>
                    <a:pt x="106014" y="205287"/>
                  </a:moveTo>
                  <a:lnTo>
                    <a:pt x="155227" y="205287"/>
                  </a:lnTo>
                  <a:cubicBezTo>
                    <a:pt x="155533" y="209082"/>
                    <a:pt x="155533" y="213060"/>
                    <a:pt x="155227" y="216855"/>
                  </a:cubicBezTo>
                  <a:lnTo>
                    <a:pt x="106014" y="216855"/>
                  </a:lnTo>
                  <a:lnTo>
                    <a:pt x="106014" y="205287"/>
                  </a:lnTo>
                  <a:close/>
                  <a:moveTo>
                    <a:pt x="106014" y="158280"/>
                  </a:moveTo>
                  <a:lnTo>
                    <a:pt x="129580" y="158280"/>
                  </a:lnTo>
                  <a:cubicBezTo>
                    <a:pt x="133558" y="162014"/>
                    <a:pt x="137170" y="165809"/>
                    <a:pt x="140353" y="169848"/>
                  </a:cubicBezTo>
                  <a:lnTo>
                    <a:pt x="106014" y="169848"/>
                  </a:lnTo>
                  <a:lnTo>
                    <a:pt x="106014" y="158280"/>
                  </a:lnTo>
                  <a:close/>
                  <a:moveTo>
                    <a:pt x="100077" y="135940"/>
                  </a:moveTo>
                  <a:cubicBezTo>
                    <a:pt x="104974" y="139306"/>
                    <a:pt x="109687" y="142550"/>
                    <a:pt x="114155" y="145917"/>
                  </a:cubicBezTo>
                  <a:lnTo>
                    <a:pt x="86060" y="145917"/>
                  </a:lnTo>
                  <a:cubicBezTo>
                    <a:pt x="90589" y="142489"/>
                    <a:pt x="95364" y="139184"/>
                    <a:pt x="100077" y="135940"/>
                  </a:cubicBezTo>
                  <a:lnTo>
                    <a:pt x="100077" y="135940"/>
                  </a:lnTo>
                  <a:close/>
                  <a:moveTo>
                    <a:pt x="52456" y="158280"/>
                  </a:moveTo>
                  <a:lnTo>
                    <a:pt x="93650" y="158280"/>
                  </a:lnTo>
                  <a:lnTo>
                    <a:pt x="93650" y="169848"/>
                  </a:lnTo>
                  <a:cubicBezTo>
                    <a:pt x="86550" y="169848"/>
                    <a:pt x="55333" y="169848"/>
                    <a:pt x="43704" y="169848"/>
                  </a:cubicBezTo>
                  <a:cubicBezTo>
                    <a:pt x="46213" y="165931"/>
                    <a:pt x="49090" y="162075"/>
                    <a:pt x="52456" y="158280"/>
                  </a:cubicBezTo>
                  <a:close/>
                  <a:moveTo>
                    <a:pt x="52518" y="182212"/>
                  </a:moveTo>
                  <a:lnTo>
                    <a:pt x="147636" y="182212"/>
                  </a:lnTo>
                  <a:cubicBezTo>
                    <a:pt x="149412" y="185884"/>
                    <a:pt x="150880" y="189679"/>
                    <a:pt x="151983" y="193780"/>
                  </a:cubicBezTo>
                  <a:lnTo>
                    <a:pt x="48172" y="193780"/>
                  </a:lnTo>
                  <a:cubicBezTo>
                    <a:pt x="49212" y="189740"/>
                    <a:pt x="50682" y="185946"/>
                    <a:pt x="52518" y="182212"/>
                  </a:cubicBezTo>
                  <a:lnTo>
                    <a:pt x="52518" y="182212"/>
                  </a:lnTo>
                  <a:close/>
                  <a:moveTo>
                    <a:pt x="31707" y="205287"/>
                  </a:moveTo>
                  <a:lnTo>
                    <a:pt x="93650" y="205287"/>
                  </a:lnTo>
                  <a:lnTo>
                    <a:pt x="93650" y="216855"/>
                  </a:lnTo>
                  <a:cubicBezTo>
                    <a:pt x="83183" y="216855"/>
                    <a:pt x="38807" y="216855"/>
                    <a:pt x="31707" y="216855"/>
                  </a:cubicBezTo>
                  <a:cubicBezTo>
                    <a:pt x="31462" y="213121"/>
                    <a:pt x="31462" y="209143"/>
                    <a:pt x="31707" y="205287"/>
                  </a:cubicBezTo>
                  <a:lnTo>
                    <a:pt x="31707" y="205287"/>
                  </a:lnTo>
                  <a:close/>
                  <a:moveTo>
                    <a:pt x="48172" y="229157"/>
                  </a:moveTo>
                  <a:lnTo>
                    <a:pt x="151983" y="229157"/>
                  </a:lnTo>
                  <a:cubicBezTo>
                    <a:pt x="150880" y="233197"/>
                    <a:pt x="149412" y="237053"/>
                    <a:pt x="147636" y="240726"/>
                  </a:cubicBezTo>
                  <a:lnTo>
                    <a:pt x="52518" y="240726"/>
                  </a:lnTo>
                  <a:cubicBezTo>
                    <a:pt x="50682" y="236992"/>
                    <a:pt x="49212" y="233136"/>
                    <a:pt x="48172" y="229157"/>
                  </a:cubicBezTo>
                  <a:close/>
                  <a:moveTo>
                    <a:pt x="43704" y="253089"/>
                  </a:moveTo>
                  <a:lnTo>
                    <a:pt x="93650" y="253089"/>
                  </a:lnTo>
                  <a:lnTo>
                    <a:pt x="93650" y="264657"/>
                  </a:lnTo>
                  <a:lnTo>
                    <a:pt x="52456" y="264657"/>
                  </a:lnTo>
                  <a:cubicBezTo>
                    <a:pt x="49090" y="260801"/>
                    <a:pt x="46213" y="257006"/>
                    <a:pt x="43704" y="253089"/>
                  </a:cubicBezTo>
                  <a:lnTo>
                    <a:pt x="43704" y="253089"/>
                  </a:lnTo>
                  <a:close/>
                  <a:moveTo>
                    <a:pt x="114094" y="276164"/>
                  </a:moveTo>
                  <a:cubicBezTo>
                    <a:pt x="109626" y="279469"/>
                    <a:pt x="104913" y="282774"/>
                    <a:pt x="100077" y="286140"/>
                  </a:cubicBezTo>
                  <a:cubicBezTo>
                    <a:pt x="95242" y="282836"/>
                    <a:pt x="90528" y="279530"/>
                    <a:pt x="86060" y="276164"/>
                  </a:cubicBezTo>
                  <a:lnTo>
                    <a:pt x="114094" y="276164"/>
                  </a:lnTo>
                  <a:close/>
                  <a:moveTo>
                    <a:pt x="85999" y="351203"/>
                  </a:moveTo>
                  <a:cubicBezTo>
                    <a:pt x="90467" y="347898"/>
                    <a:pt x="95119" y="344593"/>
                    <a:pt x="100016" y="341226"/>
                  </a:cubicBezTo>
                  <a:cubicBezTo>
                    <a:pt x="104852" y="344532"/>
                    <a:pt x="109564" y="347837"/>
                    <a:pt x="114033" y="351203"/>
                  </a:cubicBezTo>
                  <a:cubicBezTo>
                    <a:pt x="96588" y="351203"/>
                    <a:pt x="103443" y="351203"/>
                    <a:pt x="85999" y="351203"/>
                  </a:cubicBezTo>
                  <a:close/>
                  <a:moveTo>
                    <a:pt x="33665" y="409717"/>
                  </a:moveTo>
                  <a:lnTo>
                    <a:pt x="13038" y="409717"/>
                  </a:lnTo>
                  <a:cubicBezTo>
                    <a:pt x="15425" y="367851"/>
                    <a:pt x="41684" y="342206"/>
                    <a:pt x="70819" y="321028"/>
                  </a:cubicBezTo>
                  <a:cubicBezTo>
                    <a:pt x="76879" y="325252"/>
                    <a:pt x="83000" y="329291"/>
                    <a:pt x="89059" y="333331"/>
                  </a:cubicBezTo>
                  <a:cubicBezTo>
                    <a:pt x="59985" y="353468"/>
                    <a:pt x="36175" y="374584"/>
                    <a:pt x="33665" y="409717"/>
                  </a:cubicBezTo>
                  <a:close/>
                  <a:moveTo>
                    <a:pt x="70146" y="363567"/>
                  </a:moveTo>
                  <a:lnTo>
                    <a:pt x="93650" y="363567"/>
                  </a:lnTo>
                  <a:lnTo>
                    <a:pt x="93650" y="375135"/>
                  </a:lnTo>
                  <a:lnTo>
                    <a:pt x="59373" y="375135"/>
                  </a:lnTo>
                  <a:cubicBezTo>
                    <a:pt x="62556" y="371096"/>
                    <a:pt x="66167" y="367239"/>
                    <a:pt x="70146" y="363567"/>
                  </a:cubicBezTo>
                  <a:close/>
                </a:path>
              </a:pathLst>
            </a:custGeom>
            <a:solidFill>
              <a:schemeClr val="dk1"/>
            </a:solidFill>
            <a:ln w="6350">
              <a:solidFill>
                <a:schemeClr val="tx2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Rettangolo con angoli arrotondati 28">
              <a:extLst>
                <a:ext uri="{FF2B5EF4-FFF2-40B4-BE49-F238E27FC236}">
                  <a16:creationId xmlns:a16="http://schemas.microsoft.com/office/drawing/2014/main" id="{37A4076E-FF2E-0E8C-DB9C-5C0387535CBC}"/>
                </a:ext>
              </a:extLst>
            </p:cNvPr>
            <p:cNvSpPr/>
            <p:nvPr/>
          </p:nvSpPr>
          <p:spPr>
            <a:xfrm>
              <a:off x="5250468" y="2439337"/>
              <a:ext cx="2547811" cy="1873866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Google Shape;796;p43">
              <a:extLst>
                <a:ext uri="{FF2B5EF4-FFF2-40B4-BE49-F238E27FC236}">
                  <a16:creationId xmlns:a16="http://schemas.microsoft.com/office/drawing/2014/main" id="{4D98A5FE-B28E-2E61-AC65-A62531D4870F}"/>
                </a:ext>
              </a:extLst>
            </p:cNvPr>
            <p:cNvSpPr txBox="1">
              <a:spLocks/>
            </p:cNvSpPr>
            <p:nvPr/>
          </p:nvSpPr>
          <p:spPr>
            <a:xfrm>
              <a:off x="5487199" y="2571750"/>
              <a:ext cx="2074347" cy="553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7200" b="0" i="0" u="none" strike="noStrike" cap="none" spc="0">
                  <a:solidFill>
                    <a:schemeClr val="accent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pPr algn="ctr"/>
              <a:r>
                <a:rPr lang="it-IT" sz="1800" dirty="0">
                  <a:solidFill>
                    <a:srgbClr val="25384D"/>
                  </a:solidFill>
                </a:rPr>
                <a:t>Reference bank train bilanciata</a:t>
              </a:r>
            </a:p>
          </p:txBody>
        </p:sp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770876F6-6BBD-9D7E-74C1-B4C55B1C0581}"/>
                </a:ext>
              </a:extLst>
            </p:cNvPr>
            <p:cNvGrpSpPr/>
            <p:nvPr/>
          </p:nvGrpSpPr>
          <p:grpSpPr>
            <a:xfrm>
              <a:off x="5618455" y="3242111"/>
              <a:ext cx="2017958" cy="954107"/>
              <a:chOff x="4699293" y="3280309"/>
              <a:chExt cx="2017958" cy="954107"/>
            </a:xfrm>
          </p:grpSpPr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A6973156-8D8E-46BD-C7DD-564E312966EC}"/>
                  </a:ext>
                </a:extLst>
              </p:cNvPr>
              <p:cNvSpPr txBox="1"/>
              <p:nvPr/>
            </p:nvSpPr>
            <p:spPr>
              <a:xfrm>
                <a:off x="4699293" y="3280309"/>
                <a:ext cx="112445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Gastric     </a:t>
                </a:r>
              </a:p>
              <a:p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Ovarian     </a:t>
                </a:r>
              </a:p>
              <a:p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Healthy   </a:t>
                </a:r>
              </a:p>
              <a:p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…</a:t>
                </a:r>
              </a:p>
            </p:txBody>
          </p:sp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AC65CD2A-4244-121E-41B7-5416D98C3490}"/>
                  </a:ext>
                </a:extLst>
              </p:cNvPr>
              <p:cNvSpPr txBox="1"/>
              <p:nvPr/>
            </p:nvSpPr>
            <p:spPr>
              <a:xfrm>
                <a:off x="5592797" y="3280309"/>
                <a:ext cx="112445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</a:rPr>
                  <a:t>● ● ● ● ● </a:t>
                </a:r>
              </a:p>
              <a:p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</a:rPr>
                  <a:t>● ● ● ● ● </a:t>
                </a:r>
              </a:p>
              <a:p>
                <a:r>
                  <a:rPr lang="it-IT" dirty="0">
                    <a:solidFill>
                      <a:schemeClr val="tx2">
                        <a:lumMod val="50000"/>
                      </a:schemeClr>
                    </a:solidFill>
                  </a:rPr>
                  <a:t>● ● ● ● ● </a:t>
                </a:r>
                <a:endParaRPr lang="it-IT" dirty="0">
                  <a:solidFill>
                    <a:schemeClr val="tx2">
                      <a:lumMod val="50000"/>
                    </a:schemeClr>
                  </a:solidFill>
                  <a:effectLst/>
                </a:endParaRPr>
              </a:p>
            </p:txBody>
          </p:sp>
        </p:grpSp>
        <p:sp>
          <p:nvSpPr>
            <p:cNvPr id="39" name="Google Shape;1022;p54">
              <a:extLst>
                <a:ext uri="{FF2B5EF4-FFF2-40B4-BE49-F238E27FC236}">
                  <a16:creationId xmlns:a16="http://schemas.microsoft.com/office/drawing/2014/main" id="{2C5039EE-8602-A755-9889-90132E1B508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4911612" y="3152811"/>
              <a:ext cx="210955" cy="446918"/>
            </a:xfrm>
            <a:custGeom>
              <a:avLst/>
              <a:gdLst/>
              <a:ahLst/>
              <a:cxnLst/>
              <a:rect l="l" t="t" r="r" b="b"/>
              <a:pathLst>
                <a:path w="199664" h="422998" extrusionOk="0">
                  <a:moveTo>
                    <a:pt x="139924" y="313439"/>
                  </a:moveTo>
                  <a:cubicBezTo>
                    <a:pt x="152839" y="303829"/>
                    <a:pt x="167591" y="291405"/>
                    <a:pt x="178853" y="275797"/>
                  </a:cubicBezTo>
                  <a:cubicBezTo>
                    <a:pt x="192870" y="256455"/>
                    <a:pt x="199664" y="235278"/>
                    <a:pt x="199664" y="211041"/>
                  </a:cubicBezTo>
                  <a:cubicBezTo>
                    <a:pt x="199664" y="182640"/>
                    <a:pt x="190238" y="158219"/>
                    <a:pt x="170773" y="136246"/>
                  </a:cubicBezTo>
                  <a:cubicBezTo>
                    <a:pt x="161531" y="125841"/>
                    <a:pt x="151003" y="116843"/>
                    <a:pt x="139924" y="108642"/>
                  </a:cubicBezTo>
                  <a:cubicBezTo>
                    <a:pt x="152778" y="99094"/>
                    <a:pt x="167407" y="86730"/>
                    <a:pt x="178670" y="71245"/>
                  </a:cubicBezTo>
                  <a:cubicBezTo>
                    <a:pt x="192625" y="52087"/>
                    <a:pt x="199481" y="31154"/>
                    <a:pt x="199664" y="7284"/>
                  </a:cubicBezTo>
                  <a:cubicBezTo>
                    <a:pt x="199664" y="5693"/>
                    <a:pt x="199236" y="4163"/>
                    <a:pt x="198317" y="2877"/>
                  </a:cubicBezTo>
                  <a:cubicBezTo>
                    <a:pt x="196971" y="1041"/>
                    <a:pt x="194890" y="0"/>
                    <a:pt x="192625" y="0"/>
                  </a:cubicBezTo>
                  <a:lnTo>
                    <a:pt x="161347" y="0"/>
                  </a:lnTo>
                  <a:cubicBezTo>
                    <a:pt x="157491" y="0"/>
                    <a:pt x="154369" y="3122"/>
                    <a:pt x="154308" y="6978"/>
                  </a:cubicBezTo>
                  <a:cubicBezTo>
                    <a:pt x="154186" y="17383"/>
                    <a:pt x="151983" y="26686"/>
                    <a:pt x="147575" y="35439"/>
                  </a:cubicBezTo>
                  <a:lnTo>
                    <a:pt x="141271" y="35439"/>
                  </a:lnTo>
                  <a:cubicBezTo>
                    <a:pt x="138088" y="35439"/>
                    <a:pt x="135272" y="37704"/>
                    <a:pt x="134905" y="40825"/>
                  </a:cubicBezTo>
                  <a:cubicBezTo>
                    <a:pt x="134476" y="44559"/>
                    <a:pt x="137353" y="47803"/>
                    <a:pt x="141026" y="47803"/>
                  </a:cubicBezTo>
                  <a:lnTo>
                    <a:pt x="155900" y="47803"/>
                  </a:lnTo>
                  <a:cubicBezTo>
                    <a:pt x="153390" y="51720"/>
                    <a:pt x="150513" y="55514"/>
                    <a:pt x="147147" y="59370"/>
                  </a:cubicBezTo>
                  <a:cubicBezTo>
                    <a:pt x="136986" y="59370"/>
                    <a:pt x="113421" y="59370"/>
                    <a:pt x="105953" y="59370"/>
                  </a:cubicBezTo>
                  <a:lnTo>
                    <a:pt x="105953" y="47803"/>
                  </a:lnTo>
                  <a:lnTo>
                    <a:pt x="111646" y="47803"/>
                  </a:lnTo>
                  <a:cubicBezTo>
                    <a:pt x="114829" y="47803"/>
                    <a:pt x="117644" y="45538"/>
                    <a:pt x="118012" y="42417"/>
                  </a:cubicBezTo>
                  <a:cubicBezTo>
                    <a:pt x="118440" y="38683"/>
                    <a:pt x="115563" y="35439"/>
                    <a:pt x="111891" y="35439"/>
                  </a:cubicBezTo>
                  <a:lnTo>
                    <a:pt x="52395" y="35439"/>
                  </a:lnTo>
                  <a:cubicBezTo>
                    <a:pt x="48233" y="27053"/>
                    <a:pt x="45846" y="17750"/>
                    <a:pt x="45723" y="6978"/>
                  </a:cubicBezTo>
                  <a:cubicBezTo>
                    <a:pt x="45662" y="3122"/>
                    <a:pt x="42540" y="0"/>
                    <a:pt x="38684" y="0"/>
                  </a:cubicBezTo>
                  <a:lnTo>
                    <a:pt x="7590" y="0"/>
                  </a:lnTo>
                  <a:cubicBezTo>
                    <a:pt x="5999" y="0"/>
                    <a:pt x="4469" y="429"/>
                    <a:pt x="3183" y="1408"/>
                  </a:cubicBezTo>
                  <a:cubicBezTo>
                    <a:pt x="1347" y="2816"/>
                    <a:pt x="306" y="4897"/>
                    <a:pt x="368" y="7100"/>
                  </a:cubicBezTo>
                  <a:cubicBezTo>
                    <a:pt x="551" y="35194"/>
                    <a:pt x="10099" y="59493"/>
                    <a:pt x="29503" y="81344"/>
                  </a:cubicBezTo>
                  <a:cubicBezTo>
                    <a:pt x="38684" y="91688"/>
                    <a:pt x="49151" y="100563"/>
                    <a:pt x="60169" y="108703"/>
                  </a:cubicBezTo>
                  <a:cubicBezTo>
                    <a:pt x="54476" y="112926"/>
                    <a:pt x="49518" y="116904"/>
                    <a:pt x="44867" y="120944"/>
                  </a:cubicBezTo>
                  <a:cubicBezTo>
                    <a:pt x="42479" y="123025"/>
                    <a:pt x="41867" y="126637"/>
                    <a:pt x="43643" y="129268"/>
                  </a:cubicBezTo>
                  <a:cubicBezTo>
                    <a:pt x="45785" y="132390"/>
                    <a:pt x="50070" y="132818"/>
                    <a:pt x="52824" y="130431"/>
                  </a:cubicBezTo>
                  <a:cubicBezTo>
                    <a:pt x="58088" y="125841"/>
                    <a:pt x="63842" y="121311"/>
                    <a:pt x="70696" y="116292"/>
                  </a:cubicBezTo>
                  <a:cubicBezTo>
                    <a:pt x="76695" y="120455"/>
                    <a:pt x="82816" y="124494"/>
                    <a:pt x="88937" y="128595"/>
                  </a:cubicBezTo>
                  <a:cubicBezTo>
                    <a:pt x="81102" y="134042"/>
                    <a:pt x="73267" y="139796"/>
                    <a:pt x="66167" y="145978"/>
                  </a:cubicBezTo>
                  <a:lnTo>
                    <a:pt x="51600" y="145978"/>
                  </a:lnTo>
                  <a:cubicBezTo>
                    <a:pt x="49457" y="145978"/>
                    <a:pt x="47437" y="146896"/>
                    <a:pt x="45968" y="148487"/>
                  </a:cubicBezTo>
                  <a:cubicBezTo>
                    <a:pt x="39296" y="155771"/>
                    <a:pt x="34155" y="163115"/>
                    <a:pt x="30177" y="171011"/>
                  </a:cubicBezTo>
                  <a:cubicBezTo>
                    <a:pt x="29197" y="172970"/>
                    <a:pt x="28952" y="175296"/>
                    <a:pt x="29748" y="177377"/>
                  </a:cubicBezTo>
                  <a:cubicBezTo>
                    <a:pt x="30911" y="180437"/>
                    <a:pt x="33727" y="182273"/>
                    <a:pt x="36848" y="182273"/>
                  </a:cubicBezTo>
                  <a:lnTo>
                    <a:pt x="38746" y="182273"/>
                  </a:lnTo>
                  <a:cubicBezTo>
                    <a:pt x="37338" y="185762"/>
                    <a:pt x="36236" y="189312"/>
                    <a:pt x="35379" y="192985"/>
                  </a:cubicBezTo>
                  <a:lnTo>
                    <a:pt x="29136" y="192985"/>
                  </a:lnTo>
                  <a:cubicBezTo>
                    <a:pt x="25280" y="192985"/>
                    <a:pt x="22035" y="195861"/>
                    <a:pt x="21546" y="199717"/>
                  </a:cubicBezTo>
                  <a:cubicBezTo>
                    <a:pt x="20689" y="207001"/>
                    <a:pt x="20689" y="214957"/>
                    <a:pt x="21546" y="222547"/>
                  </a:cubicBezTo>
                  <a:cubicBezTo>
                    <a:pt x="21974" y="226342"/>
                    <a:pt x="25218" y="229280"/>
                    <a:pt x="29074" y="229280"/>
                  </a:cubicBezTo>
                  <a:lnTo>
                    <a:pt x="35257" y="229280"/>
                  </a:lnTo>
                  <a:cubicBezTo>
                    <a:pt x="36175" y="233258"/>
                    <a:pt x="37338" y="237053"/>
                    <a:pt x="38868" y="240848"/>
                  </a:cubicBezTo>
                  <a:lnTo>
                    <a:pt x="37031" y="240848"/>
                  </a:lnTo>
                  <a:cubicBezTo>
                    <a:pt x="34828" y="240848"/>
                    <a:pt x="32686" y="241705"/>
                    <a:pt x="31278" y="243296"/>
                  </a:cubicBezTo>
                  <a:cubicBezTo>
                    <a:pt x="29074" y="245744"/>
                    <a:pt x="28646" y="249050"/>
                    <a:pt x="30054" y="251865"/>
                  </a:cubicBezTo>
                  <a:cubicBezTo>
                    <a:pt x="34033" y="259822"/>
                    <a:pt x="39235" y="267228"/>
                    <a:pt x="45968" y="274634"/>
                  </a:cubicBezTo>
                  <a:cubicBezTo>
                    <a:pt x="47376" y="276225"/>
                    <a:pt x="49457" y="277082"/>
                    <a:pt x="51538" y="277082"/>
                  </a:cubicBezTo>
                  <a:lnTo>
                    <a:pt x="66473" y="277082"/>
                  </a:lnTo>
                  <a:cubicBezTo>
                    <a:pt x="109075" y="314234"/>
                    <a:pt x="182587" y="338840"/>
                    <a:pt x="186627" y="409778"/>
                  </a:cubicBezTo>
                  <a:lnTo>
                    <a:pt x="166244" y="409778"/>
                  </a:lnTo>
                  <a:cubicBezTo>
                    <a:pt x="165693" y="401882"/>
                    <a:pt x="163979" y="394538"/>
                    <a:pt x="161164" y="387499"/>
                  </a:cubicBezTo>
                  <a:lnTo>
                    <a:pt x="163061" y="387499"/>
                  </a:lnTo>
                  <a:cubicBezTo>
                    <a:pt x="168754" y="387499"/>
                    <a:pt x="172426" y="381562"/>
                    <a:pt x="169855" y="376482"/>
                  </a:cubicBezTo>
                  <a:cubicBezTo>
                    <a:pt x="165877" y="368525"/>
                    <a:pt x="160674" y="361118"/>
                    <a:pt x="153941" y="353713"/>
                  </a:cubicBezTo>
                  <a:cubicBezTo>
                    <a:pt x="152472" y="352122"/>
                    <a:pt x="150452" y="351203"/>
                    <a:pt x="148310" y="351203"/>
                  </a:cubicBezTo>
                  <a:lnTo>
                    <a:pt x="134048" y="351203"/>
                  </a:lnTo>
                  <a:cubicBezTo>
                    <a:pt x="89916" y="312704"/>
                    <a:pt x="12426" y="287365"/>
                    <a:pt x="12426" y="210856"/>
                  </a:cubicBezTo>
                  <a:cubicBezTo>
                    <a:pt x="12426" y="188027"/>
                    <a:pt x="19220" y="168196"/>
                    <a:pt x="33175" y="150140"/>
                  </a:cubicBezTo>
                  <a:cubicBezTo>
                    <a:pt x="34951" y="147814"/>
                    <a:pt x="35012" y="144509"/>
                    <a:pt x="33175" y="142305"/>
                  </a:cubicBezTo>
                  <a:cubicBezTo>
                    <a:pt x="30544" y="139123"/>
                    <a:pt x="25830" y="139367"/>
                    <a:pt x="23444" y="142428"/>
                  </a:cubicBezTo>
                  <a:cubicBezTo>
                    <a:pt x="7651" y="162748"/>
                    <a:pt x="0" y="185150"/>
                    <a:pt x="0" y="210856"/>
                  </a:cubicBezTo>
                  <a:cubicBezTo>
                    <a:pt x="0" y="239379"/>
                    <a:pt x="9487" y="263984"/>
                    <a:pt x="29013" y="286079"/>
                  </a:cubicBezTo>
                  <a:cubicBezTo>
                    <a:pt x="38256" y="296546"/>
                    <a:pt x="48906" y="305543"/>
                    <a:pt x="60046" y="313806"/>
                  </a:cubicBezTo>
                  <a:cubicBezTo>
                    <a:pt x="47131" y="323415"/>
                    <a:pt x="32441" y="335779"/>
                    <a:pt x="21117" y="351387"/>
                  </a:cubicBezTo>
                  <a:cubicBezTo>
                    <a:pt x="7101" y="370605"/>
                    <a:pt x="184" y="391661"/>
                    <a:pt x="0" y="415715"/>
                  </a:cubicBezTo>
                  <a:cubicBezTo>
                    <a:pt x="0" y="417061"/>
                    <a:pt x="306" y="418469"/>
                    <a:pt x="1041" y="419632"/>
                  </a:cubicBezTo>
                  <a:cubicBezTo>
                    <a:pt x="2387" y="421774"/>
                    <a:pt x="4652" y="422999"/>
                    <a:pt x="7039" y="422999"/>
                  </a:cubicBezTo>
                  <a:lnTo>
                    <a:pt x="38440" y="422999"/>
                  </a:lnTo>
                  <a:cubicBezTo>
                    <a:pt x="42357" y="422999"/>
                    <a:pt x="45601" y="419816"/>
                    <a:pt x="45601" y="415898"/>
                  </a:cubicBezTo>
                  <a:cubicBezTo>
                    <a:pt x="45723" y="404881"/>
                    <a:pt x="48172" y="395333"/>
                    <a:pt x="52456" y="386764"/>
                  </a:cubicBezTo>
                  <a:lnTo>
                    <a:pt x="111891" y="386764"/>
                  </a:lnTo>
                  <a:cubicBezTo>
                    <a:pt x="115135" y="386764"/>
                    <a:pt x="117706" y="384132"/>
                    <a:pt x="117644" y="380827"/>
                  </a:cubicBezTo>
                  <a:cubicBezTo>
                    <a:pt x="117583" y="377644"/>
                    <a:pt x="114767" y="375196"/>
                    <a:pt x="111585" y="375196"/>
                  </a:cubicBezTo>
                  <a:lnTo>
                    <a:pt x="105770" y="375196"/>
                  </a:lnTo>
                  <a:lnTo>
                    <a:pt x="105770" y="363628"/>
                  </a:lnTo>
                  <a:lnTo>
                    <a:pt x="146963" y="363628"/>
                  </a:lnTo>
                  <a:cubicBezTo>
                    <a:pt x="150330" y="367423"/>
                    <a:pt x="153207" y="371279"/>
                    <a:pt x="155716" y="375196"/>
                  </a:cubicBezTo>
                  <a:cubicBezTo>
                    <a:pt x="152166" y="375196"/>
                    <a:pt x="140720" y="375196"/>
                    <a:pt x="140720" y="375196"/>
                  </a:cubicBezTo>
                  <a:cubicBezTo>
                    <a:pt x="137537" y="375196"/>
                    <a:pt x="134783" y="377644"/>
                    <a:pt x="134660" y="380827"/>
                  </a:cubicBezTo>
                  <a:cubicBezTo>
                    <a:pt x="134599" y="384071"/>
                    <a:pt x="137170" y="386764"/>
                    <a:pt x="140414" y="386764"/>
                  </a:cubicBezTo>
                  <a:lnTo>
                    <a:pt x="147330" y="386764"/>
                  </a:lnTo>
                  <a:cubicBezTo>
                    <a:pt x="151738" y="395517"/>
                    <a:pt x="153941" y="404881"/>
                    <a:pt x="154063" y="415225"/>
                  </a:cubicBezTo>
                  <a:cubicBezTo>
                    <a:pt x="154125" y="419081"/>
                    <a:pt x="157246" y="422203"/>
                    <a:pt x="161102" y="422203"/>
                  </a:cubicBezTo>
                  <a:lnTo>
                    <a:pt x="192196" y="422203"/>
                  </a:lnTo>
                  <a:cubicBezTo>
                    <a:pt x="193788" y="422203"/>
                    <a:pt x="195319" y="421774"/>
                    <a:pt x="196604" y="420795"/>
                  </a:cubicBezTo>
                  <a:cubicBezTo>
                    <a:pt x="198440" y="419387"/>
                    <a:pt x="199481" y="417306"/>
                    <a:pt x="199420" y="415103"/>
                  </a:cubicBezTo>
                  <a:cubicBezTo>
                    <a:pt x="199236" y="387009"/>
                    <a:pt x="189687" y="362710"/>
                    <a:pt x="170284" y="340920"/>
                  </a:cubicBezTo>
                  <a:cubicBezTo>
                    <a:pt x="161408" y="330454"/>
                    <a:pt x="150880" y="321579"/>
                    <a:pt x="139924" y="313439"/>
                  </a:cubicBezTo>
                  <a:lnTo>
                    <a:pt x="139924" y="313439"/>
                  </a:lnTo>
                  <a:close/>
                  <a:moveTo>
                    <a:pt x="148432" y="71734"/>
                  </a:moveTo>
                  <a:cubicBezTo>
                    <a:pt x="150574" y="71734"/>
                    <a:pt x="152595" y="70816"/>
                    <a:pt x="154002" y="69286"/>
                  </a:cubicBezTo>
                  <a:cubicBezTo>
                    <a:pt x="160735" y="61880"/>
                    <a:pt x="165938" y="54474"/>
                    <a:pt x="169917" y="46517"/>
                  </a:cubicBezTo>
                  <a:cubicBezTo>
                    <a:pt x="170773" y="44803"/>
                    <a:pt x="171018" y="42845"/>
                    <a:pt x="170467" y="41008"/>
                  </a:cubicBezTo>
                  <a:cubicBezTo>
                    <a:pt x="169427" y="37642"/>
                    <a:pt x="166489" y="35500"/>
                    <a:pt x="163122" y="35500"/>
                  </a:cubicBezTo>
                  <a:lnTo>
                    <a:pt x="161164" y="35500"/>
                  </a:lnTo>
                  <a:cubicBezTo>
                    <a:pt x="164102" y="28217"/>
                    <a:pt x="165877" y="20566"/>
                    <a:pt x="166489" y="12425"/>
                  </a:cubicBezTo>
                  <a:lnTo>
                    <a:pt x="187361" y="12425"/>
                  </a:lnTo>
                  <a:cubicBezTo>
                    <a:pt x="184974" y="54535"/>
                    <a:pt x="158532" y="80365"/>
                    <a:pt x="129213" y="101603"/>
                  </a:cubicBezTo>
                  <a:cubicBezTo>
                    <a:pt x="123153" y="97380"/>
                    <a:pt x="117032" y="93340"/>
                    <a:pt x="110850" y="89240"/>
                  </a:cubicBezTo>
                  <a:cubicBezTo>
                    <a:pt x="118746" y="83792"/>
                    <a:pt x="126642" y="77977"/>
                    <a:pt x="133742" y="71796"/>
                  </a:cubicBezTo>
                  <a:lnTo>
                    <a:pt x="148432" y="71796"/>
                  </a:lnTo>
                  <a:close/>
                  <a:moveTo>
                    <a:pt x="114094" y="71734"/>
                  </a:moveTo>
                  <a:cubicBezTo>
                    <a:pt x="109503" y="75162"/>
                    <a:pt x="104790" y="78467"/>
                    <a:pt x="100077" y="81711"/>
                  </a:cubicBezTo>
                  <a:cubicBezTo>
                    <a:pt x="95180" y="78344"/>
                    <a:pt x="90467" y="75101"/>
                    <a:pt x="85999" y="71734"/>
                  </a:cubicBezTo>
                  <a:lnTo>
                    <a:pt x="114094" y="71734"/>
                  </a:lnTo>
                  <a:close/>
                  <a:moveTo>
                    <a:pt x="93650" y="47803"/>
                  </a:moveTo>
                  <a:lnTo>
                    <a:pt x="93650" y="59370"/>
                  </a:lnTo>
                  <a:lnTo>
                    <a:pt x="70084" y="59370"/>
                  </a:lnTo>
                  <a:cubicBezTo>
                    <a:pt x="66106" y="55637"/>
                    <a:pt x="62495" y="51842"/>
                    <a:pt x="59312" y="47803"/>
                  </a:cubicBezTo>
                  <a:lnTo>
                    <a:pt x="93650" y="47803"/>
                  </a:lnTo>
                  <a:close/>
                  <a:moveTo>
                    <a:pt x="12976" y="12364"/>
                  </a:moveTo>
                  <a:lnTo>
                    <a:pt x="33604" y="12364"/>
                  </a:lnTo>
                  <a:cubicBezTo>
                    <a:pt x="36604" y="54046"/>
                    <a:pt x="70207" y="76386"/>
                    <a:pt x="105708" y="100012"/>
                  </a:cubicBezTo>
                  <a:cubicBezTo>
                    <a:pt x="143903" y="125473"/>
                    <a:pt x="187239" y="154302"/>
                    <a:pt x="187239" y="211041"/>
                  </a:cubicBezTo>
                  <a:cubicBezTo>
                    <a:pt x="187239" y="256578"/>
                    <a:pt x="159817" y="283754"/>
                    <a:pt x="129274" y="305911"/>
                  </a:cubicBezTo>
                  <a:cubicBezTo>
                    <a:pt x="123275" y="301748"/>
                    <a:pt x="117154" y="297709"/>
                    <a:pt x="111033" y="293608"/>
                  </a:cubicBezTo>
                  <a:cubicBezTo>
                    <a:pt x="111033" y="293608"/>
                    <a:pt x="111033" y="293608"/>
                    <a:pt x="111033" y="293608"/>
                  </a:cubicBezTo>
                  <a:cubicBezTo>
                    <a:pt x="142128" y="272063"/>
                    <a:pt x="166611" y="249723"/>
                    <a:pt x="166611" y="211041"/>
                  </a:cubicBezTo>
                  <a:cubicBezTo>
                    <a:pt x="166611" y="165319"/>
                    <a:pt x="131478" y="141938"/>
                    <a:pt x="94262" y="117210"/>
                  </a:cubicBezTo>
                  <a:cubicBezTo>
                    <a:pt x="57537" y="92667"/>
                    <a:pt x="16037" y="65063"/>
                    <a:pt x="12976" y="12364"/>
                  </a:cubicBezTo>
                  <a:lnTo>
                    <a:pt x="12976" y="12364"/>
                  </a:lnTo>
                  <a:close/>
                  <a:moveTo>
                    <a:pt x="106014" y="253089"/>
                  </a:moveTo>
                  <a:lnTo>
                    <a:pt x="140291" y="253089"/>
                  </a:lnTo>
                  <a:cubicBezTo>
                    <a:pt x="137108" y="257129"/>
                    <a:pt x="133497" y="260924"/>
                    <a:pt x="129519" y="264657"/>
                  </a:cubicBezTo>
                  <a:lnTo>
                    <a:pt x="106014" y="264657"/>
                  </a:lnTo>
                  <a:lnTo>
                    <a:pt x="106014" y="253089"/>
                  </a:lnTo>
                  <a:close/>
                  <a:moveTo>
                    <a:pt x="106014" y="205287"/>
                  </a:moveTo>
                  <a:lnTo>
                    <a:pt x="155227" y="205287"/>
                  </a:lnTo>
                  <a:cubicBezTo>
                    <a:pt x="155533" y="209082"/>
                    <a:pt x="155533" y="213060"/>
                    <a:pt x="155227" y="216855"/>
                  </a:cubicBezTo>
                  <a:lnTo>
                    <a:pt x="106014" y="216855"/>
                  </a:lnTo>
                  <a:lnTo>
                    <a:pt x="106014" y="205287"/>
                  </a:lnTo>
                  <a:close/>
                  <a:moveTo>
                    <a:pt x="106014" y="158280"/>
                  </a:moveTo>
                  <a:lnTo>
                    <a:pt x="129580" y="158280"/>
                  </a:lnTo>
                  <a:cubicBezTo>
                    <a:pt x="133558" y="162014"/>
                    <a:pt x="137170" y="165809"/>
                    <a:pt x="140353" y="169848"/>
                  </a:cubicBezTo>
                  <a:lnTo>
                    <a:pt x="106014" y="169848"/>
                  </a:lnTo>
                  <a:lnTo>
                    <a:pt x="106014" y="158280"/>
                  </a:lnTo>
                  <a:close/>
                  <a:moveTo>
                    <a:pt x="100077" y="135940"/>
                  </a:moveTo>
                  <a:cubicBezTo>
                    <a:pt x="104974" y="139306"/>
                    <a:pt x="109687" y="142550"/>
                    <a:pt x="114155" y="145917"/>
                  </a:cubicBezTo>
                  <a:lnTo>
                    <a:pt x="86060" y="145917"/>
                  </a:lnTo>
                  <a:cubicBezTo>
                    <a:pt x="90589" y="142489"/>
                    <a:pt x="95364" y="139184"/>
                    <a:pt x="100077" y="135940"/>
                  </a:cubicBezTo>
                  <a:lnTo>
                    <a:pt x="100077" y="135940"/>
                  </a:lnTo>
                  <a:close/>
                  <a:moveTo>
                    <a:pt x="52456" y="158280"/>
                  </a:moveTo>
                  <a:lnTo>
                    <a:pt x="93650" y="158280"/>
                  </a:lnTo>
                  <a:lnTo>
                    <a:pt x="93650" y="169848"/>
                  </a:lnTo>
                  <a:cubicBezTo>
                    <a:pt x="86550" y="169848"/>
                    <a:pt x="55333" y="169848"/>
                    <a:pt x="43704" y="169848"/>
                  </a:cubicBezTo>
                  <a:cubicBezTo>
                    <a:pt x="46213" y="165931"/>
                    <a:pt x="49090" y="162075"/>
                    <a:pt x="52456" y="158280"/>
                  </a:cubicBezTo>
                  <a:close/>
                  <a:moveTo>
                    <a:pt x="52518" y="182212"/>
                  </a:moveTo>
                  <a:lnTo>
                    <a:pt x="147636" y="182212"/>
                  </a:lnTo>
                  <a:cubicBezTo>
                    <a:pt x="149412" y="185884"/>
                    <a:pt x="150880" y="189679"/>
                    <a:pt x="151983" y="193780"/>
                  </a:cubicBezTo>
                  <a:lnTo>
                    <a:pt x="48172" y="193780"/>
                  </a:lnTo>
                  <a:cubicBezTo>
                    <a:pt x="49212" y="189740"/>
                    <a:pt x="50682" y="185946"/>
                    <a:pt x="52518" y="182212"/>
                  </a:cubicBezTo>
                  <a:lnTo>
                    <a:pt x="52518" y="182212"/>
                  </a:lnTo>
                  <a:close/>
                  <a:moveTo>
                    <a:pt x="31707" y="205287"/>
                  </a:moveTo>
                  <a:lnTo>
                    <a:pt x="93650" y="205287"/>
                  </a:lnTo>
                  <a:lnTo>
                    <a:pt x="93650" y="216855"/>
                  </a:lnTo>
                  <a:cubicBezTo>
                    <a:pt x="83183" y="216855"/>
                    <a:pt x="38807" y="216855"/>
                    <a:pt x="31707" y="216855"/>
                  </a:cubicBezTo>
                  <a:cubicBezTo>
                    <a:pt x="31462" y="213121"/>
                    <a:pt x="31462" y="209143"/>
                    <a:pt x="31707" y="205287"/>
                  </a:cubicBezTo>
                  <a:lnTo>
                    <a:pt x="31707" y="205287"/>
                  </a:lnTo>
                  <a:close/>
                  <a:moveTo>
                    <a:pt x="48172" y="229157"/>
                  </a:moveTo>
                  <a:lnTo>
                    <a:pt x="151983" y="229157"/>
                  </a:lnTo>
                  <a:cubicBezTo>
                    <a:pt x="150880" y="233197"/>
                    <a:pt x="149412" y="237053"/>
                    <a:pt x="147636" y="240726"/>
                  </a:cubicBezTo>
                  <a:lnTo>
                    <a:pt x="52518" y="240726"/>
                  </a:lnTo>
                  <a:cubicBezTo>
                    <a:pt x="50682" y="236992"/>
                    <a:pt x="49212" y="233136"/>
                    <a:pt x="48172" y="229157"/>
                  </a:cubicBezTo>
                  <a:close/>
                  <a:moveTo>
                    <a:pt x="43704" y="253089"/>
                  </a:moveTo>
                  <a:lnTo>
                    <a:pt x="93650" y="253089"/>
                  </a:lnTo>
                  <a:lnTo>
                    <a:pt x="93650" y="264657"/>
                  </a:lnTo>
                  <a:lnTo>
                    <a:pt x="52456" y="264657"/>
                  </a:lnTo>
                  <a:cubicBezTo>
                    <a:pt x="49090" y="260801"/>
                    <a:pt x="46213" y="257006"/>
                    <a:pt x="43704" y="253089"/>
                  </a:cubicBezTo>
                  <a:lnTo>
                    <a:pt x="43704" y="253089"/>
                  </a:lnTo>
                  <a:close/>
                  <a:moveTo>
                    <a:pt x="114094" y="276164"/>
                  </a:moveTo>
                  <a:cubicBezTo>
                    <a:pt x="109626" y="279469"/>
                    <a:pt x="104913" y="282774"/>
                    <a:pt x="100077" y="286140"/>
                  </a:cubicBezTo>
                  <a:cubicBezTo>
                    <a:pt x="95242" y="282836"/>
                    <a:pt x="90528" y="279530"/>
                    <a:pt x="86060" y="276164"/>
                  </a:cubicBezTo>
                  <a:lnTo>
                    <a:pt x="114094" y="276164"/>
                  </a:lnTo>
                  <a:close/>
                  <a:moveTo>
                    <a:pt x="85999" y="351203"/>
                  </a:moveTo>
                  <a:cubicBezTo>
                    <a:pt x="90467" y="347898"/>
                    <a:pt x="95119" y="344593"/>
                    <a:pt x="100016" y="341226"/>
                  </a:cubicBezTo>
                  <a:cubicBezTo>
                    <a:pt x="104852" y="344532"/>
                    <a:pt x="109564" y="347837"/>
                    <a:pt x="114033" y="351203"/>
                  </a:cubicBezTo>
                  <a:cubicBezTo>
                    <a:pt x="96588" y="351203"/>
                    <a:pt x="103443" y="351203"/>
                    <a:pt x="85999" y="351203"/>
                  </a:cubicBezTo>
                  <a:close/>
                  <a:moveTo>
                    <a:pt x="33665" y="409717"/>
                  </a:moveTo>
                  <a:lnTo>
                    <a:pt x="13038" y="409717"/>
                  </a:lnTo>
                  <a:cubicBezTo>
                    <a:pt x="15425" y="367851"/>
                    <a:pt x="41684" y="342206"/>
                    <a:pt x="70819" y="321028"/>
                  </a:cubicBezTo>
                  <a:cubicBezTo>
                    <a:pt x="76879" y="325252"/>
                    <a:pt x="83000" y="329291"/>
                    <a:pt x="89059" y="333331"/>
                  </a:cubicBezTo>
                  <a:cubicBezTo>
                    <a:pt x="59985" y="353468"/>
                    <a:pt x="36175" y="374584"/>
                    <a:pt x="33665" y="409717"/>
                  </a:cubicBezTo>
                  <a:close/>
                  <a:moveTo>
                    <a:pt x="70146" y="363567"/>
                  </a:moveTo>
                  <a:lnTo>
                    <a:pt x="93650" y="363567"/>
                  </a:lnTo>
                  <a:lnTo>
                    <a:pt x="93650" y="375135"/>
                  </a:lnTo>
                  <a:lnTo>
                    <a:pt x="59373" y="375135"/>
                  </a:lnTo>
                  <a:cubicBezTo>
                    <a:pt x="62556" y="371096"/>
                    <a:pt x="66167" y="367239"/>
                    <a:pt x="70146" y="363567"/>
                  </a:cubicBezTo>
                  <a:close/>
                </a:path>
              </a:pathLst>
            </a:custGeom>
            <a:solidFill>
              <a:schemeClr val="dk1"/>
            </a:solidFill>
            <a:ln w="6350">
              <a:solidFill>
                <a:schemeClr val="tx2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Rettangolo con angoli arrotondati 40">
              <a:extLst>
                <a:ext uri="{FF2B5EF4-FFF2-40B4-BE49-F238E27FC236}">
                  <a16:creationId xmlns:a16="http://schemas.microsoft.com/office/drawing/2014/main" id="{1B3EBA04-185C-124C-0E30-0A8003BC64CC}"/>
                </a:ext>
              </a:extLst>
            </p:cNvPr>
            <p:cNvSpPr/>
            <p:nvPr/>
          </p:nvSpPr>
          <p:spPr>
            <a:xfrm>
              <a:off x="2771809" y="2957976"/>
              <a:ext cx="2021822" cy="836588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3" name="Google Shape;796;p43">
              <a:extLst>
                <a:ext uri="{FF2B5EF4-FFF2-40B4-BE49-F238E27FC236}">
                  <a16:creationId xmlns:a16="http://schemas.microsoft.com/office/drawing/2014/main" id="{A58B7739-74D3-39FA-AE4F-B339AC5D7884}"/>
                </a:ext>
              </a:extLst>
            </p:cNvPr>
            <p:cNvSpPr txBox="1">
              <a:spLocks/>
            </p:cNvSpPr>
            <p:nvPr/>
          </p:nvSpPr>
          <p:spPr>
            <a:xfrm>
              <a:off x="2771809" y="2994851"/>
              <a:ext cx="2056328" cy="553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7200" b="0" i="0" u="none" strike="noStrike" cap="none" spc="0">
                  <a:solidFill>
                    <a:schemeClr val="accent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600"/>
                <a:buFont typeface="Gotu"/>
                <a:buNone/>
                <a:defRPr sz="96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pPr algn="ctr"/>
              <a:r>
                <a:rPr lang="it-IT" sz="1800" dirty="0">
                  <a:solidFill>
                    <a:srgbClr val="25384D"/>
                  </a:solidFill>
                </a:rPr>
                <a:t>Cosine similarity</a:t>
              </a:r>
            </a:p>
          </p:txBody>
        </p:sp>
        <p:sp>
          <p:nvSpPr>
            <p:cNvPr id="45" name="CasellaDiTesto 44">
              <a:extLst>
                <a:ext uri="{FF2B5EF4-FFF2-40B4-BE49-F238E27FC236}">
                  <a16:creationId xmlns:a16="http://schemas.microsoft.com/office/drawing/2014/main" id="{B77DFF1D-7A55-DB47-627A-B84FEAA6154B}"/>
                </a:ext>
              </a:extLst>
            </p:cNvPr>
            <p:cNvSpPr txBox="1"/>
            <p:nvPr/>
          </p:nvSpPr>
          <p:spPr>
            <a:xfrm>
              <a:off x="2987869" y="3411387"/>
              <a:ext cx="16217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Top 20 per classe</a:t>
              </a:r>
            </a:p>
          </p:txBody>
        </p:sp>
        <p:sp>
          <p:nvSpPr>
            <p:cNvPr id="47" name="Google Shape;1022;p54">
              <a:extLst>
                <a:ext uri="{FF2B5EF4-FFF2-40B4-BE49-F238E27FC236}">
                  <a16:creationId xmlns:a16="http://schemas.microsoft.com/office/drawing/2014/main" id="{25EAF15E-6B84-C2BB-7833-7939843AD642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2447767" y="3152811"/>
              <a:ext cx="210955" cy="446918"/>
            </a:xfrm>
            <a:custGeom>
              <a:avLst/>
              <a:gdLst/>
              <a:ahLst/>
              <a:cxnLst/>
              <a:rect l="l" t="t" r="r" b="b"/>
              <a:pathLst>
                <a:path w="199664" h="422998" extrusionOk="0">
                  <a:moveTo>
                    <a:pt x="139924" y="313439"/>
                  </a:moveTo>
                  <a:cubicBezTo>
                    <a:pt x="152839" y="303829"/>
                    <a:pt x="167591" y="291405"/>
                    <a:pt x="178853" y="275797"/>
                  </a:cubicBezTo>
                  <a:cubicBezTo>
                    <a:pt x="192870" y="256455"/>
                    <a:pt x="199664" y="235278"/>
                    <a:pt x="199664" y="211041"/>
                  </a:cubicBezTo>
                  <a:cubicBezTo>
                    <a:pt x="199664" y="182640"/>
                    <a:pt x="190238" y="158219"/>
                    <a:pt x="170773" y="136246"/>
                  </a:cubicBezTo>
                  <a:cubicBezTo>
                    <a:pt x="161531" y="125841"/>
                    <a:pt x="151003" y="116843"/>
                    <a:pt x="139924" y="108642"/>
                  </a:cubicBezTo>
                  <a:cubicBezTo>
                    <a:pt x="152778" y="99094"/>
                    <a:pt x="167407" y="86730"/>
                    <a:pt x="178670" y="71245"/>
                  </a:cubicBezTo>
                  <a:cubicBezTo>
                    <a:pt x="192625" y="52087"/>
                    <a:pt x="199481" y="31154"/>
                    <a:pt x="199664" y="7284"/>
                  </a:cubicBezTo>
                  <a:cubicBezTo>
                    <a:pt x="199664" y="5693"/>
                    <a:pt x="199236" y="4163"/>
                    <a:pt x="198317" y="2877"/>
                  </a:cubicBezTo>
                  <a:cubicBezTo>
                    <a:pt x="196971" y="1041"/>
                    <a:pt x="194890" y="0"/>
                    <a:pt x="192625" y="0"/>
                  </a:cubicBezTo>
                  <a:lnTo>
                    <a:pt x="161347" y="0"/>
                  </a:lnTo>
                  <a:cubicBezTo>
                    <a:pt x="157491" y="0"/>
                    <a:pt x="154369" y="3122"/>
                    <a:pt x="154308" y="6978"/>
                  </a:cubicBezTo>
                  <a:cubicBezTo>
                    <a:pt x="154186" y="17383"/>
                    <a:pt x="151983" y="26686"/>
                    <a:pt x="147575" y="35439"/>
                  </a:cubicBezTo>
                  <a:lnTo>
                    <a:pt x="141271" y="35439"/>
                  </a:lnTo>
                  <a:cubicBezTo>
                    <a:pt x="138088" y="35439"/>
                    <a:pt x="135272" y="37704"/>
                    <a:pt x="134905" y="40825"/>
                  </a:cubicBezTo>
                  <a:cubicBezTo>
                    <a:pt x="134476" y="44559"/>
                    <a:pt x="137353" y="47803"/>
                    <a:pt x="141026" y="47803"/>
                  </a:cubicBezTo>
                  <a:lnTo>
                    <a:pt x="155900" y="47803"/>
                  </a:lnTo>
                  <a:cubicBezTo>
                    <a:pt x="153390" y="51720"/>
                    <a:pt x="150513" y="55514"/>
                    <a:pt x="147147" y="59370"/>
                  </a:cubicBezTo>
                  <a:cubicBezTo>
                    <a:pt x="136986" y="59370"/>
                    <a:pt x="113421" y="59370"/>
                    <a:pt x="105953" y="59370"/>
                  </a:cubicBezTo>
                  <a:lnTo>
                    <a:pt x="105953" y="47803"/>
                  </a:lnTo>
                  <a:lnTo>
                    <a:pt x="111646" y="47803"/>
                  </a:lnTo>
                  <a:cubicBezTo>
                    <a:pt x="114829" y="47803"/>
                    <a:pt x="117644" y="45538"/>
                    <a:pt x="118012" y="42417"/>
                  </a:cubicBezTo>
                  <a:cubicBezTo>
                    <a:pt x="118440" y="38683"/>
                    <a:pt x="115563" y="35439"/>
                    <a:pt x="111891" y="35439"/>
                  </a:cubicBezTo>
                  <a:lnTo>
                    <a:pt x="52395" y="35439"/>
                  </a:lnTo>
                  <a:cubicBezTo>
                    <a:pt x="48233" y="27053"/>
                    <a:pt x="45846" y="17750"/>
                    <a:pt x="45723" y="6978"/>
                  </a:cubicBezTo>
                  <a:cubicBezTo>
                    <a:pt x="45662" y="3122"/>
                    <a:pt x="42540" y="0"/>
                    <a:pt x="38684" y="0"/>
                  </a:cubicBezTo>
                  <a:lnTo>
                    <a:pt x="7590" y="0"/>
                  </a:lnTo>
                  <a:cubicBezTo>
                    <a:pt x="5999" y="0"/>
                    <a:pt x="4469" y="429"/>
                    <a:pt x="3183" y="1408"/>
                  </a:cubicBezTo>
                  <a:cubicBezTo>
                    <a:pt x="1347" y="2816"/>
                    <a:pt x="306" y="4897"/>
                    <a:pt x="368" y="7100"/>
                  </a:cubicBezTo>
                  <a:cubicBezTo>
                    <a:pt x="551" y="35194"/>
                    <a:pt x="10099" y="59493"/>
                    <a:pt x="29503" y="81344"/>
                  </a:cubicBezTo>
                  <a:cubicBezTo>
                    <a:pt x="38684" y="91688"/>
                    <a:pt x="49151" y="100563"/>
                    <a:pt x="60169" y="108703"/>
                  </a:cubicBezTo>
                  <a:cubicBezTo>
                    <a:pt x="54476" y="112926"/>
                    <a:pt x="49518" y="116904"/>
                    <a:pt x="44867" y="120944"/>
                  </a:cubicBezTo>
                  <a:cubicBezTo>
                    <a:pt x="42479" y="123025"/>
                    <a:pt x="41867" y="126637"/>
                    <a:pt x="43643" y="129268"/>
                  </a:cubicBezTo>
                  <a:cubicBezTo>
                    <a:pt x="45785" y="132390"/>
                    <a:pt x="50070" y="132818"/>
                    <a:pt x="52824" y="130431"/>
                  </a:cubicBezTo>
                  <a:cubicBezTo>
                    <a:pt x="58088" y="125841"/>
                    <a:pt x="63842" y="121311"/>
                    <a:pt x="70696" y="116292"/>
                  </a:cubicBezTo>
                  <a:cubicBezTo>
                    <a:pt x="76695" y="120455"/>
                    <a:pt x="82816" y="124494"/>
                    <a:pt x="88937" y="128595"/>
                  </a:cubicBezTo>
                  <a:cubicBezTo>
                    <a:pt x="81102" y="134042"/>
                    <a:pt x="73267" y="139796"/>
                    <a:pt x="66167" y="145978"/>
                  </a:cubicBezTo>
                  <a:lnTo>
                    <a:pt x="51600" y="145978"/>
                  </a:lnTo>
                  <a:cubicBezTo>
                    <a:pt x="49457" y="145978"/>
                    <a:pt x="47437" y="146896"/>
                    <a:pt x="45968" y="148487"/>
                  </a:cubicBezTo>
                  <a:cubicBezTo>
                    <a:pt x="39296" y="155771"/>
                    <a:pt x="34155" y="163115"/>
                    <a:pt x="30177" y="171011"/>
                  </a:cubicBezTo>
                  <a:cubicBezTo>
                    <a:pt x="29197" y="172970"/>
                    <a:pt x="28952" y="175296"/>
                    <a:pt x="29748" y="177377"/>
                  </a:cubicBezTo>
                  <a:cubicBezTo>
                    <a:pt x="30911" y="180437"/>
                    <a:pt x="33727" y="182273"/>
                    <a:pt x="36848" y="182273"/>
                  </a:cubicBezTo>
                  <a:lnTo>
                    <a:pt x="38746" y="182273"/>
                  </a:lnTo>
                  <a:cubicBezTo>
                    <a:pt x="37338" y="185762"/>
                    <a:pt x="36236" y="189312"/>
                    <a:pt x="35379" y="192985"/>
                  </a:cubicBezTo>
                  <a:lnTo>
                    <a:pt x="29136" y="192985"/>
                  </a:lnTo>
                  <a:cubicBezTo>
                    <a:pt x="25280" y="192985"/>
                    <a:pt x="22035" y="195861"/>
                    <a:pt x="21546" y="199717"/>
                  </a:cubicBezTo>
                  <a:cubicBezTo>
                    <a:pt x="20689" y="207001"/>
                    <a:pt x="20689" y="214957"/>
                    <a:pt x="21546" y="222547"/>
                  </a:cubicBezTo>
                  <a:cubicBezTo>
                    <a:pt x="21974" y="226342"/>
                    <a:pt x="25218" y="229280"/>
                    <a:pt x="29074" y="229280"/>
                  </a:cubicBezTo>
                  <a:lnTo>
                    <a:pt x="35257" y="229280"/>
                  </a:lnTo>
                  <a:cubicBezTo>
                    <a:pt x="36175" y="233258"/>
                    <a:pt x="37338" y="237053"/>
                    <a:pt x="38868" y="240848"/>
                  </a:cubicBezTo>
                  <a:lnTo>
                    <a:pt x="37031" y="240848"/>
                  </a:lnTo>
                  <a:cubicBezTo>
                    <a:pt x="34828" y="240848"/>
                    <a:pt x="32686" y="241705"/>
                    <a:pt x="31278" y="243296"/>
                  </a:cubicBezTo>
                  <a:cubicBezTo>
                    <a:pt x="29074" y="245744"/>
                    <a:pt x="28646" y="249050"/>
                    <a:pt x="30054" y="251865"/>
                  </a:cubicBezTo>
                  <a:cubicBezTo>
                    <a:pt x="34033" y="259822"/>
                    <a:pt x="39235" y="267228"/>
                    <a:pt x="45968" y="274634"/>
                  </a:cubicBezTo>
                  <a:cubicBezTo>
                    <a:pt x="47376" y="276225"/>
                    <a:pt x="49457" y="277082"/>
                    <a:pt x="51538" y="277082"/>
                  </a:cubicBezTo>
                  <a:lnTo>
                    <a:pt x="66473" y="277082"/>
                  </a:lnTo>
                  <a:cubicBezTo>
                    <a:pt x="109075" y="314234"/>
                    <a:pt x="182587" y="338840"/>
                    <a:pt x="186627" y="409778"/>
                  </a:cubicBezTo>
                  <a:lnTo>
                    <a:pt x="166244" y="409778"/>
                  </a:lnTo>
                  <a:cubicBezTo>
                    <a:pt x="165693" y="401882"/>
                    <a:pt x="163979" y="394538"/>
                    <a:pt x="161164" y="387499"/>
                  </a:cubicBezTo>
                  <a:lnTo>
                    <a:pt x="163061" y="387499"/>
                  </a:lnTo>
                  <a:cubicBezTo>
                    <a:pt x="168754" y="387499"/>
                    <a:pt x="172426" y="381562"/>
                    <a:pt x="169855" y="376482"/>
                  </a:cubicBezTo>
                  <a:cubicBezTo>
                    <a:pt x="165877" y="368525"/>
                    <a:pt x="160674" y="361118"/>
                    <a:pt x="153941" y="353713"/>
                  </a:cubicBezTo>
                  <a:cubicBezTo>
                    <a:pt x="152472" y="352122"/>
                    <a:pt x="150452" y="351203"/>
                    <a:pt x="148310" y="351203"/>
                  </a:cubicBezTo>
                  <a:lnTo>
                    <a:pt x="134048" y="351203"/>
                  </a:lnTo>
                  <a:cubicBezTo>
                    <a:pt x="89916" y="312704"/>
                    <a:pt x="12426" y="287365"/>
                    <a:pt x="12426" y="210856"/>
                  </a:cubicBezTo>
                  <a:cubicBezTo>
                    <a:pt x="12426" y="188027"/>
                    <a:pt x="19220" y="168196"/>
                    <a:pt x="33175" y="150140"/>
                  </a:cubicBezTo>
                  <a:cubicBezTo>
                    <a:pt x="34951" y="147814"/>
                    <a:pt x="35012" y="144509"/>
                    <a:pt x="33175" y="142305"/>
                  </a:cubicBezTo>
                  <a:cubicBezTo>
                    <a:pt x="30544" y="139123"/>
                    <a:pt x="25830" y="139367"/>
                    <a:pt x="23444" y="142428"/>
                  </a:cubicBezTo>
                  <a:cubicBezTo>
                    <a:pt x="7651" y="162748"/>
                    <a:pt x="0" y="185150"/>
                    <a:pt x="0" y="210856"/>
                  </a:cubicBezTo>
                  <a:cubicBezTo>
                    <a:pt x="0" y="239379"/>
                    <a:pt x="9487" y="263984"/>
                    <a:pt x="29013" y="286079"/>
                  </a:cubicBezTo>
                  <a:cubicBezTo>
                    <a:pt x="38256" y="296546"/>
                    <a:pt x="48906" y="305543"/>
                    <a:pt x="60046" y="313806"/>
                  </a:cubicBezTo>
                  <a:cubicBezTo>
                    <a:pt x="47131" y="323415"/>
                    <a:pt x="32441" y="335779"/>
                    <a:pt x="21117" y="351387"/>
                  </a:cubicBezTo>
                  <a:cubicBezTo>
                    <a:pt x="7101" y="370605"/>
                    <a:pt x="184" y="391661"/>
                    <a:pt x="0" y="415715"/>
                  </a:cubicBezTo>
                  <a:cubicBezTo>
                    <a:pt x="0" y="417061"/>
                    <a:pt x="306" y="418469"/>
                    <a:pt x="1041" y="419632"/>
                  </a:cubicBezTo>
                  <a:cubicBezTo>
                    <a:pt x="2387" y="421774"/>
                    <a:pt x="4652" y="422999"/>
                    <a:pt x="7039" y="422999"/>
                  </a:cubicBezTo>
                  <a:lnTo>
                    <a:pt x="38440" y="422999"/>
                  </a:lnTo>
                  <a:cubicBezTo>
                    <a:pt x="42357" y="422999"/>
                    <a:pt x="45601" y="419816"/>
                    <a:pt x="45601" y="415898"/>
                  </a:cubicBezTo>
                  <a:cubicBezTo>
                    <a:pt x="45723" y="404881"/>
                    <a:pt x="48172" y="395333"/>
                    <a:pt x="52456" y="386764"/>
                  </a:cubicBezTo>
                  <a:lnTo>
                    <a:pt x="111891" y="386764"/>
                  </a:lnTo>
                  <a:cubicBezTo>
                    <a:pt x="115135" y="386764"/>
                    <a:pt x="117706" y="384132"/>
                    <a:pt x="117644" y="380827"/>
                  </a:cubicBezTo>
                  <a:cubicBezTo>
                    <a:pt x="117583" y="377644"/>
                    <a:pt x="114767" y="375196"/>
                    <a:pt x="111585" y="375196"/>
                  </a:cubicBezTo>
                  <a:lnTo>
                    <a:pt x="105770" y="375196"/>
                  </a:lnTo>
                  <a:lnTo>
                    <a:pt x="105770" y="363628"/>
                  </a:lnTo>
                  <a:lnTo>
                    <a:pt x="146963" y="363628"/>
                  </a:lnTo>
                  <a:cubicBezTo>
                    <a:pt x="150330" y="367423"/>
                    <a:pt x="153207" y="371279"/>
                    <a:pt x="155716" y="375196"/>
                  </a:cubicBezTo>
                  <a:cubicBezTo>
                    <a:pt x="152166" y="375196"/>
                    <a:pt x="140720" y="375196"/>
                    <a:pt x="140720" y="375196"/>
                  </a:cubicBezTo>
                  <a:cubicBezTo>
                    <a:pt x="137537" y="375196"/>
                    <a:pt x="134783" y="377644"/>
                    <a:pt x="134660" y="380827"/>
                  </a:cubicBezTo>
                  <a:cubicBezTo>
                    <a:pt x="134599" y="384071"/>
                    <a:pt x="137170" y="386764"/>
                    <a:pt x="140414" y="386764"/>
                  </a:cubicBezTo>
                  <a:lnTo>
                    <a:pt x="147330" y="386764"/>
                  </a:lnTo>
                  <a:cubicBezTo>
                    <a:pt x="151738" y="395517"/>
                    <a:pt x="153941" y="404881"/>
                    <a:pt x="154063" y="415225"/>
                  </a:cubicBezTo>
                  <a:cubicBezTo>
                    <a:pt x="154125" y="419081"/>
                    <a:pt x="157246" y="422203"/>
                    <a:pt x="161102" y="422203"/>
                  </a:cubicBezTo>
                  <a:lnTo>
                    <a:pt x="192196" y="422203"/>
                  </a:lnTo>
                  <a:cubicBezTo>
                    <a:pt x="193788" y="422203"/>
                    <a:pt x="195319" y="421774"/>
                    <a:pt x="196604" y="420795"/>
                  </a:cubicBezTo>
                  <a:cubicBezTo>
                    <a:pt x="198440" y="419387"/>
                    <a:pt x="199481" y="417306"/>
                    <a:pt x="199420" y="415103"/>
                  </a:cubicBezTo>
                  <a:cubicBezTo>
                    <a:pt x="199236" y="387009"/>
                    <a:pt x="189687" y="362710"/>
                    <a:pt x="170284" y="340920"/>
                  </a:cubicBezTo>
                  <a:cubicBezTo>
                    <a:pt x="161408" y="330454"/>
                    <a:pt x="150880" y="321579"/>
                    <a:pt x="139924" y="313439"/>
                  </a:cubicBezTo>
                  <a:lnTo>
                    <a:pt x="139924" y="313439"/>
                  </a:lnTo>
                  <a:close/>
                  <a:moveTo>
                    <a:pt x="148432" y="71734"/>
                  </a:moveTo>
                  <a:cubicBezTo>
                    <a:pt x="150574" y="71734"/>
                    <a:pt x="152595" y="70816"/>
                    <a:pt x="154002" y="69286"/>
                  </a:cubicBezTo>
                  <a:cubicBezTo>
                    <a:pt x="160735" y="61880"/>
                    <a:pt x="165938" y="54474"/>
                    <a:pt x="169917" y="46517"/>
                  </a:cubicBezTo>
                  <a:cubicBezTo>
                    <a:pt x="170773" y="44803"/>
                    <a:pt x="171018" y="42845"/>
                    <a:pt x="170467" y="41008"/>
                  </a:cubicBezTo>
                  <a:cubicBezTo>
                    <a:pt x="169427" y="37642"/>
                    <a:pt x="166489" y="35500"/>
                    <a:pt x="163122" y="35500"/>
                  </a:cubicBezTo>
                  <a:lnTo>
                    <a:pt x="161164" y="35500"/>
                  </a:lnTo>
                  <a:cubicBezTo>
                    <a:pt x="164102" y="28217"/>
                    <a:pt x="165877" y="20566"/>
                    <a:pt x="166489" y="12425"/>
                  </a:cubicBezTo>
                  <a:lnTo>
                    <a:pt x="187361" y="12425"/>
                  </a:lnTo>
                  <a:cubicBezTo>
                    <a:pt x="184974" y="54535"/>
                    <a:pt x="158532" y="80365"/>
                    <a:pt x="129213" y="101603"/>
                  </a:cubicBezTo>
                  <a:cubicBezTo>
                    <a:pt x="123153" y="97380"/>
                    <a:pt x="117032" y="93340"/>
                    <a:pt x="110850" y="89240"/>
                  </a:cubicBezTo>
                  <a:cubicBezTo>
                    <a:pt x="118746" y="83792"/>
                    <a:pt x="126642" y="77977"/>
                    <a:pt x="133742" y="71796"/>
                  </a:cubicBezTo>
                  <a:lnTo>
                    <a:pt x="148432" y="71796"/>
                  </a:lnTo>
                  <a:close/>
                  <a:moveTo>
                    <a:pt x="114094" y="71734"/>
                  </a:moveTo>
                  <a:cubicBezTo>
                    <a:pt x="109503" y="75162"/>
                    <a:pt x="104790" y="78467"/>
                    <a:pt x="100077" y="81711"/>
                  </a:cubicBezTo>
                  <a:cubicBezTo>
                    <a:pt x="95180" y="78344"/>
                    <a:pt x="90467" y="75101"/>
                    <a:pt x="85999" y="71734"/>
                  </a:cubicBezTo>
                  <a:lnTo>
                    <a:pt x="114094" y="71734"/>
                  </a:lnTo>
                  <a:close/>
                  <a:moveTo>
                    <a:pt x="93650" y="47803"/>
                  </a:moveTo>
                  <a:lnTo>
                    <a:pt x="93650" y="59370"/>
                  </a:lnTo>
                  <a:lnTo>
                    <a:pt x="70084" y="59370"/>
                  </a:lnTo>
                  <a:cubicBezTo>
                    <a:pt x="66106" y="55637"/>
                    <a:pt x="62495" y="51842"/>
                    <a:pt x="59312" y="47803"/>
                  </a:cubicBezTo>
                  <a:lnTo>
                    <a:pt x="93650" y="47803"/>
                  </a:lnTo>
                  <a:close/>
                  <a:moveTo>
                    <a:pt x="12976" y="12364"/>
                  </a:moveTo>
                  <a:lnTo>
                    <a:pt x="33604" y="12364"/>
                  </a:lnTo>
                  <a:cubicBezTo>
                    <a:pt x="36604" y="54046"/>
                    <a:pt x="70207" y="76386"/>
                    <a:pt x="105708" y="100012"/>
                  </a:cubicBezTo>
                  <a:cubicBezTo>
                    <a:pt x="143903" y="125473"/>
                    <a:pt x="187239" y="154302"/>
                    <a:pt x="187239" y="211041"/>
                  </a:cubicBezTo>
                  <a:cubicBezTo>
                    <a:pt x="187239" y="256578"/>
                    <a:pt x="159817" y="283754"/>
                    <a:pt x="129274" y="305911"/>
                  </a:cubicBezTo>
                  <a:cubicBezTo>
                    <a:pt x="123275" y="301748"/>
                    <a:pt x="117154" y="297709"/>
                    <a:pt x="111033" y="293608"/>
                  </a:cubicBezTo>
                  <a:cubicBezTo>
                    <a:pt x="111033" y="293608"/>
                    <a:pt x="111033" y="293608"/>
                    <a:pt x="111033" y="293608"/>
                  </a:cubicBezTo>
                  <a:cubicBezTo>
                    <a:pt x="142128" y="272063"/>
                    <a:pt x="166611" y="249723"/>
                    <a:pt x="166611" y="211041"/>
                  </a:cubicBezTo>
                  <a:cubicBezTo>
                    <a:pt x="166611" y="165319"/>
                    <a:pt x="131478" y="141938"/>
                    <a:pt x="94262" y="117210"/>
                  </a:cubicBezTo>
                  <a:cubicBezTo>
                    <a:pt x="57537" y="92667"/>
                    <a:pt x="16037" y="65063"/>
                    <a:pt x="12976" y="12364"/>
                  </a:cubicBezTo>
                  <a:lnTo>
                    <a:pt x="12976" y="12364"/>
                  </a:lnTo>
                  <a:close/>
                  <a:moveTo>
                    <a:pt x="106014" y="253089"/>
                  </a:moveTo>
                  <a:lnTo>
                    <a:pt x="140291" y="253089"/>
                  </a:lnTo>
                  <a:cubicBezTo>
                    <a:pt x="137108" y="257129"/>
                    <a:pt x="133497" y="260924"/>
                    <a:pt x="129519" y="264657"/>
                  </a:cubicBezTo>
                  <a:lnTo>
                    <a:pt x="106014" y="264657"/>
                  </a:lnTo>
                  <a:lnTo>
                    <a:pt x="106014" y="253089"/>
                  </a:lnTo>
                  <a:close/>
                  <a:moveTo>
                    <a:pt x="106014" y="205287"/>
                  </a:moveTo>
                  <a:lnTo>
                    <a:pt x="155227" y="205287"/>
                  </a:lnTo>
                  <a:cubicBezTo>
                    <a:pt x="155533" y="209082"/>
                    <a:pt x="155533" y="213060"/>
                    <a:pt x="155227" y="216855"/>
                  </a:cubicBezTo>
                  <a:lnTo>
                    <a:pt x="106014" y="216855"/>
                  </a:lnTo>
                  <a:lnTo>
                    <a:pt x="106014" y="205287"/>
                  </a:lnTo>
                  <a:close/>
                  <a:moveTo>
                    <a:pt x="106014" y="158280"/>
                  </a:moveTo>
                  <a:lnTo>
                    <a:pt x="129580" y="158280"/>
                  </a:lnTo>
                  <a:cubicBezTo>
                    <a:pt x="133558" y="162014"/>
                    <a:pt x="137170" y="165809"/>
                    <a:pt x="140353" y="169848"/>
                  </a:cubicBezTo>
                  <a:lnTo>
                    <a:pt x="106014" y="169848"/>
                  </a:lnTo>
                  <a:lnTo>
                    <a:pt x="106014" y="158280"/>
                  </a:lnTo>
                  <a:close/>
                  <a:moveTo>
                    <a:pt x="100077" y="135940"/>
                  </a:moveTo>
                  <a:cubicBezTo>
                    <a:pt x="104974" y="139306"/>
                    <a:pt x="109687" y="142550"/>
                    <a:pt x="114155" y="145917"/>
                  </a:cubicBezTo>
                  <a:lnTo>
                    <a:pt x="86060" y="145917"/>
                  </a:lnTo>
                  <a:cubicBezTo>
                    <a:pt x="90589" y="142489"/>
                    <a:pt x="95364" y="139184"/>
                    <a:pt x="100077" y="135940"/>
                  </a:cubicBezTo>
                  <a:lnTo>
                    <a:pt x="100077" y="135940"/>
                  </a:lnTo>
                  <a:close/>
                  <a:moveTo>
                    <a:pt x="52456" y="158280"/>
                  </a:moveTo>
                  <a:lnTo>
                    <a:pt x="93650" y="158280"/>
                  </a:lnTo>
                  <a:lnTo>
                    <a:pt x="93650" y="169848"/>
                  </a:lnTo>
                  <a:cubicBezTo>
                    <a:pt x="86550" y="169848"/>
                    <a:pt x="55333" y="169848"/>
                    <a:pt x="43704" y="169848"/>
                  </a:cubicBezTo>
                  <a:cubicBezTo>
                    <a:pt x="46213" y="165931"/>
                    <a:pt x="49090" y="162075"/>
                    <a:pt x="52456" y="158280"/>
                  </a:cubicBezTo>
                  <a:close/>
                  <a:moveTo>
                    <a:pt x="52518" y="182212"/>
                  </a:moveTo>
                  <a:lnTo>
                    <a:pt x="147636" y="182212"/>
                  </a:lnTo>
                  <a:cubicBezTo>
                    <a:pt x="149412" y="185884"/>
                    <a:pt x="150880" y="189679"/>
                    <a:pt x="151983" y="193780"/>
                  </a:cubicBezTo>
                  <a:lnTo>
                    <a:pt x="48172" y="193780"/>
                  </a:lnTo>
                  <a:cubicBezTo>
                    <a:pt x="49212" y="189740"/>
                    <a:pt x="50682" y="185946"/>
                    <a:pt x="52518" y="182212"/>
                  </a:cubicBezTo>
                  <a:lnTo>
                    <a:pt x="52518" y="182212"/>
                  </a:lnTo>
                  <a:close/>
                  <a:moveTo>
                    <a:pt x="31707" y="205287"/>
                  </a:moveTo>
                  <a:lnTo>
                    <a:pt x="93650" y="205287"/>
                  </a:lnTo>
                  <a:lnTo>
                    <a:pt x="93650" y="216855"/>
                  </a:lnTo>
                  <a:cubicBezTo>
                    <a:pt x="83183" y="216855"/>
                    <a:pt x="38807" y="216855"/>
                    <a:pt x="31707" y="216855"/>
                  </a:cubicBezTo>
                  <a:cubicBezTo>
                    <a:pt x="31462" y="213121"/>
                    <a:pt x="31462" y="209143"/>
                    <a:pt x="31707" y="205287"/>
                  </a:cubicBezTo>
                  <a:lnTo>
                    <a:pt x="31707" y="205287"/>
                  </a:lnTo>
                  <a:close/>
                  <a:moveTo>
                    <a:pt x="48172" y="229157"/>
                  </a:moveTo>
                  <a:lnTo>
                    <a:pt x="151983" y="229157"/>
                  </a:lnTo>
                  <a:cubicBezTo>
                    <a:pt x="150880" y="233197"/>
                    <a:pt x="149412" y="237053"/>
                    <a:pt x="147636" y="240726"/>
                  </a:cubicBezTo>
                  <a:lnTo>
                    <a:pt x="52518" y="240726"/>
                  </a:lnTo>
                  <a:cubicBezTo>
                    <a:pt x="50682" y="236992"/>
                    <a:pt x="49212" y="233136"/>
                    <a:pt x="48172" y="229157"/>
                  </a:cubicBezTo>
                  <a:close/>
                  <a:moveTo>
                    <a:pt x="43704" y="253089"/>
                  </a:moveTo>
                  <a:lnTo>
                    <a:pt x="93650" y="253089"/>
                  </a:lnTo>
                  <a:lnTo>
                    <a:pt x="93650" y="264657"/>
                  </a:lnTo>
                  <a:lnTo>
                    <a:pt x="52456" y="264657"/>
                  </a:lnTo>
                  <a:cubicBezTo>
                    <a:pt x="49090" y="260801"/>
                    <a:pt x="46213" y="257006"/>
                    <a:pt x="43704" y="253089"/>
                  </a:cubicBezTo>
                  <a:lnTo>
                    <a:pt x="43704" y="253089"/>
                  </a:lnTo>
                  <a:close/>
                  <a:moveTo>
                    <a:pt x="114094" y="276164"/>
                  </a:moveTo>
                  <a:cubicBezTo>
                    <a:pt x="109626" y="279469"/>
                    <a:pt x="104913" y="282774"/>
                    <a:pt x="100077" y="286140"/>
                  </a:cubicBezTo>
                  <a:cubicBezTo>
                    <a:pt x="95242" y="282836"/>
                    <a:pt x="90528" y="279530"/>
                    <a:pt x="86060" y="276164"/>
                  </a:cubicBezTo>
                  <a:lnTo>
                    <a:pt x="114094" y="276164"/>
                  </a:lnTo>
                  <a:close/>
                  <a:moveTo>
                    <a:pt x="85999" y="351203"/>
                  </a:moveTo>
                  <a:cubicBezTo>
                    <a:pt x="90467" y="347898"/>
                    <a:pt x="95119" y="344593"/>
                    <a:pt x="100016" y="341226"/>
                  </a:cubicBezTo>
                  <a:cubicBezTo>
                    <a:pt x="104852" y="344532"/>
                    <a:pt x="109564" y="347837"/>
                    <a:pt x="114033" y="351203"/>
                  </a:cubicBezTo>
                  <a:cubicBezTo>
                    <a:pt x="96588" y="351203"/>
                    <a:pt x="103443" y="351203"/>
                    <a:pt x="85999" y="351203"/>
                  </a:cubicBezTo>
                  <a:close/>
                  <a:moveTo>
                    <a:pt x="33665" y="409717"/>
                  </a:moveTo>
                  <a:lnTo>
                    <a:pt x="13038" y="409717"/>
                  </a:lnTo>
                  <a:cubicBezTo>
                    <a:pt x="15425" y="367851"/>
                    <a:pt x="41684" y="342206"/>
                    <a:pt x="70819" y="321028"/>
                  </a:cubicBezTo>
                  <a:cubicBezTo>
                    <a:pt x="76879" y="325252"/>
                    <a:pt x="83000" y="329291"/>
                    <a:pt x="89059" y="333331"/>
                  </a:cubicBezTo>
                  <a:cubicBezTo>
                    <a:pt x="59985" y="353468"/>
                    <a:pt x="36175" y="374584"/>
                    <a:pt x="33665" y="409717"/>
                  </a:cubicBezTo>
                  <a:close/>
                  <a:moveTo>
                    <a:pt x="70146" y="363567"/>
                  </a:moveTo>
                  <a:lnTo>
                    <a:pt x="93650" y="363567"/>
                  </a:lnTo>
                  <a:lnTo>
                    <a:pt x="93650" y="375135"/>
                  </a:lnTo>
                  <a:lnTo>
                    <a:pt x="59373" y="375135"/>
                  </a:lnTo>
                  <a:cubicBezTo>
                    <a:pt x="62556" y="371096"/>
                    <a:pt x="66167" y="367239"/>
                    <a:pt x="70146" y="363567"/>
                  </a:cubicBezTo>
                  <a:close/>
                </a:path>
              </a:pathLst>
            </a:custGeom>
            <a:solidFill>
              <a:schemeClr val="dk1"/>
            </a:solidFill>
            <a:ln w="6350">
              <a:solidFill>
                <a:schemeClr val="tx2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Rettangolo con angoli arrotondati 48">
              <a:extLst>
                <a:ext uri="{FF2B5EF4-FFF2-40B4-BE49-F238E27FC236}">
                  <a16:creationId xmlns:a16="http://schemas.microsoft.com/office/drawing/2014/main" id="{6C0305E1-A4A0-1893-8D71-BF984D96080C}"/>
                </a:ext>
              </a:extLst>
            </p:cNvPr>
            <p:cNvSpPr/>
            <p:nvPr/>
          </p:nvSpPr>
          <p:spPr>
            <a:xfrm>
              <a:off x="586956" y="2836329"/>
              <a:ext cx="1742828" cy="1079881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167B8816-DF50-25FF-F8D3-0629C3EDF4D2}"/>
                </a:ext>
              </a:extLst>
            </p:cNvPr>
            <p:cNvSpPr txBox="1"/>
            <p:nvPr/>
          </p:nvSpPr>
          <p:spPr>
            <a:xfrm>
              <a:off x="647486" y="2899215"/>
              <a:ext cx="162176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tx2">
                    <a:lumMod val="50000"/>
                  </a:schemeClr>
                </a:buClr>
                <a:buFont typeface="+mj-lt"/>
                <a:buAutoNum type="arabicPeriod"/>
              </a:pPr>
              <a:r>
                <a:rPr lang="it-IT" dirty="0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Ovarian</a:t>
              </a:r>
            </a:p>
            <a:p>
              <a:pPr marL="342900" indent="-342900">
                <a:buClr>
                  <a:schemeClr val="tx2">
                    <a:lumMod val="50000"/>
                  </a:schemeClr>
                </a:buClr>
                <a:buFont typeface="+mj-lt"/>
                <a:buAutoNum type="arabicPeriod"/>
              </a:pPr>
              <a:r>
                <a:rPr lang="it-IT" dirty="0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Gastric</a:t>
              </a:r>
            </a:p>
            <a:p>
              <a:pPr marL="342900" indent="-342900">
                <a:buClr>
                  <a:schemeClr val="tx2">
                    <a:lumMod val="50000"/>
                  </a:schemeClr>
                </a:buClr>
                <a:buFont typeface="+mj-lt"/>
                <a:buAutoNum type="arabicPeriod"/>
              </a:pPr>
              <a:r>
                <a:rPr lang="it-IT" dirty="0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Lymphoma</a:t>
              </a:r>
            </a:p>
            <a:p>
              <a:pPr marL="342900" indent="-342900">
                <a:buClr>
                  <a:schemeClr val="tx2">
                    <a:lumMod val="50000"/>
                  </a:schemeClr>
                </a:buClr>
                <a:buFont typeface="+mj-lt"/>
                <a:buAutoNum type="arabicPeriod"/>
              </a:pPr>
              <a:r>
                <a:rPr lang="it-IT" dirty="0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…</a:t>
              </a:r>
            </a:p>
          </p:txBody>
        </p:sp>
      </p:grpSp>
      <p:sp>
        <p:nvSpPr>
          <p:cNvPr id="53" name="Sottotitolo 2">
            <a:extLst>
              <a:ext uri="{FF2B5EF4-FFF2-40B4-BE49-F238E27FC236}">
                <a16:creationId xmlns:a16="http://schemas.microsoft.com/office/drawing/2014/main" id="{6028F362-5807-7247-ADAE-16E8D8956980}"/>
              </a:ext>
            </a:extLst>
          </p:cNvPr>
          <p:cNvSpPr txBox="1">
            <a:spLocks/>
          </p:cNvSpPr>
          <p:nvPr/>
        </p:nvSpPr>
        <p:spPr>
          <a:xfrm>
            <a:off x="497165" y="4535642"/>
            <a:ext cx="7674926" cy="554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La Siamese non produce direttamente una classe: la predizione deriva dalla similarità con gli embedding del training.</a:t>
            </a:r>
          </a:p>
        </p:txBody>
      </p:sp>
    </p:spTree>
    <p:extLst>
      <p:ext uri="{BB962C8B-B14F-4D97-AF65-F5344CB8AC3E}">
        <p14:creationId xmlns:p14="http://schemas.microsoft.com/office/powerpoint/2010/main" val="3083790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AE949735-62E3-881F-4485-4D67F6D52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8">
            <a:extLst>
              <a:ext uri="{FF2B5EF4-FFF2-40B4-BE49-F238E27FC236}">
                <a16:creationId xmlns:a16="http://schemas.microsoft.com/office/drawing/2014/main" id="{35FB9274-F110-BD00-8B63-EB8C40EC4A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9911" y="161465"/>
            <a:ext cx="4956181" cy="6097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CNN multiclass diretta</a:t>
            </a:r>
            <a:endParaRPr dirty="0"/>
          </a:p>
        </p:txBody>
      </p: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D5115CEF-1CCB-FE7A-2BFE-9B86A170CE24}"/>
              </a:ext>
            </a:extLst>
          </p:cNvPr>
          <p:cNvGrpSpPr/>
          <p:nvPr/>
        </p:nvGrpSpPr>
        <p:grpSpPr>
          <a:xfrm>
            <a:off x="380858" y="1174823"/>
            <a:ext cx="6833368" cy="3478430"/>
            <a:chOff x="337726" y="1114438"/>
            <a:chExt cx="6833368" cy="3478430"/>
          </a:xfrm>
        </p:grpSpPr>
        <p:sp>
          <p:nvSpPr>
            <p:cNvPr id="16" name="Google Shape;712;p38">
              <a:extLst>
                <a:ext uri="{FF2B5EF4-FFF2-40B4-BE49-F238E27FC236}">
                  <a16:creationId xmlns:a16="http://schemas.microsoft.com/office/drawing/2014/main" id="{19637AC9-53BF-84CE-5E21-F70F6A2031C9}"/>
                </a:ext>
              </a:extLst>
            </p:cNvPr>
            <p:cNvSpPr txBox="1">
              <a:spLocks/>
            </p:cNvSpPr>
            <p:nvPr/>
          </p:nvSpPr>
          <p:spPr>
            <a:xfrm>
              <a:off x="792190" y="1219965"/>
              <a:ext cx="748878" cy="4037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Gotu"/>
                <a:buNone/>
                <a:defRPr sz="30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r>
                <a:rPr lang="it-IT" sz="1600" dirty="0"/>
                <a:t>FCGR</a:t>
              </a:r>
            </a:p>
          </p:txBody>
        </p:sp>
        <p:sp>
          <p:nvSpPr>
            <p:cNvPr id="3" name="Rettangolo con angoli arrotondati 2">
              <a:extLst>
                <a:ext uri="{FF2B5EF4-FFF2-40B4-BE49-F238E27FC236}">
                  <a16:creationId xmlns:a16="http://schemas.microsoft.com/office/drawing/2014/main" id="{9CC6DCF2-B88A-E38F-41CB-44CFA8EDB2D0}"/>
                </a:ext>
              </a:extLst>
            </p:cNvPr>
            <p:cNvSpPr/>
            <p:nvPr/>
          </p:nvSpPr>
          <p:spPr>
            <a:xfrm>
              <a:off x="457643" y="1114438"/>
              <a:ext cx="1417973" cy="609756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Rettangolo con angoli arrotondati 4">
              <a:extLst>
                <a:ext uri="{FF2B5EF4-FFF2-40B4-BE49-F238E27FC236}">
                  <a16:creationId xmlns:a16="http://schemas.microsoft.com/office/drawing/2014/main" id="{09C752C5-CDB9-8CAD-FC4A-89693087B658}"/>
                </a:ext>
              </a:extLst>
            </p:cNvPr>
            <p:cNvSpPr/>
            <p:nvPr/>
          </p:nvSpPr>
          <p:spPr>
            <a:xfrm>
              <a:off x="457645" y="2072341"/>
              <a:ext cx="1417973" cy="609756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Rettangolo con angoli arrotondati 7">
              <a:extLst>
                <a:ext uri="{FF2B5EF4-FFF2-40B4-BE49-F238E27FC236}">
                  <a16:creationId xmlns:a16="http://schemas.microsoft.com/office/drawing/2014/main" id="{AAAB55A8-51D7-3CBD-0659-5777EFAACDD9}"/>
                </a:ext>
              </a:extLst>
            </p:cNvPr>
            <p:cNvSpPr/>
            <p:nvPr/>
          </p:nvSpPr>
          <p:spPr>
            <a:xfrm>
              <a:off x="457644" y="3025209"/>
              <a:ext cx="1417973" cy="609756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32A716C1-74C8-9EC3-D4B7-453756A3E296}"/>
                </a:ext>
              </a:extLst>
            </p:cNvPr>
            <p:cNvSpPr/>
            <p:nvPr/>
          </p:nvSpPr>
          <p:spPr>
            <a:xfrm>
              <a:off x="457644" y="3983112"/>
              <a:ext cx="1417973" cy="609756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Rettangolo con angoli arrotondati 11">
              <a:extLst>
                <a:ext uri="{FF2B5EF4-FFF2-40B4-BE49-F238E27FC236}">
                  <a16:creationId xmlns:a16="http://schemas.microsoft.com/office/drawing/2014/main" id="{72AA8CFE-36C9-D561-E993-306D69F02B60}"/>
                </a:ext>
              </a:extLst>
            </p:cNvPr>
            <p:cNvSpPr/>
            <p:nvPr/>
          </p:nvSpPr>
          <p:spPr>
            <a:xfrm>
              <a:off x="2218189" y="3980675"/>
              <a:ext cx="1417973" cy="609756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Rettangolo con angoli arrotondati 14">
              <a:extLst>
                <a:ext uri="{FF2B5EF4-FFF2-40B4-BE49-F238E27FC236}">
                  <a16:creationId xmlns:a16="http://schemas.microsoft.com/office/drawing/2014/main" id="{FA665F68-4034-30BB-FC2B-FA8FE2475CB9}"/>
                </a:ext>
              </a:extLst>
            </p:cNvPr>
            <p:cNvSpPr/>
            <p:nvPr/>
          </p:nvSpPr>
          <p:spPr>
            <a:xfrm>
              <a:off x="3985655" y="3983112"/>
              <a:ext cx="1417973" cy="609756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Rettangolo con angoli arrotondati 17">
              <a:extLst>
                <a:ext uri="{FF2B5EF4-FFF2-40B4-BE49-F238E27FC236}">
                  <a16:creationId xmlns:a16="http://schemas.microsoft.com/office/drawing/2014/main" id="{BC06076B-CC49-3710-7251-C4342CEB2851}"/>
                </a:ext>
              </a:extLst>
            </p:cNvPr>
            <p:cNvSpPr/>
            <p:nvPr/>
          </p:nvSpPr>
          <p:spPr>
            <a:xfrm>
              <a:off x="5753121" y="3980675"/>
              <a:ext cx="1417973" cy="609756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Google Shape;712;p38">
              <a:extLst>
                <a:ext uri="{FF2B5EF4-FFF2-40B4-BE49-F238E27FC236}">
                  <a16:creationId xmlns:a16="http://schemas.microsoft.com/office/drawing/2014/main" id="{BB171FDF-329B-E5B3-5DED-201EEF09E1DC}"/>
                </a:ext>
              </a:extLst>
            </p:cNvPr>
            <p:cNvSpPr txBox="1">
              <a:spLocks/>
            </p:cNvSpPr>
            <p:nvPr/>
          </p:nvSpPr>
          <p:spPr>
            <a:xfrm>
              <a:off x="674203" y="2175350"/>
              <a:ext cx="984852" cy="4037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Gotu"/>
                <a:buNone/>
                <a:defRPr sz="30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r>
                <a:rPr lang="it-IT" sz="1600" dirty="0"/>
                <a:t>CNN V3</a:t>
              </a:r>
            </a:p>
          </p:txBody>
        </p:sp>
        <p:sp>
          <p:nvSpPr>
            <p:cNvPr id="23" name="Google Shape;712;p38">
              <a:extLst>
                <a:ext uri="{FF2B5EF4-FFF2-40B4-BE49-F238E27FC236}">
                  <a16:creationId xmlns:a16="http://schemas.microsoft.com/office/drawing/2014/main" id="{D3D061A4-B2A1-75D1-737D-4F15C11D63B4}"/>
                </a:ext>
              </a:extLst>
            </p:cNvPr>
            <p:cNvSpPr txBox="1">
              <a:spLocks/>
            </p:cNvSpPr>
            <p:nvPr/>
          </p:nvSpPr>
          <p:spPr>
            <a:xfrm>
              <a:off x="337726" y="3035380"/>
              <a:ext cx="1657805" cy="5944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Gotu"/>
                <a:buNone/>
                <a:defRPr sz="30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pPr algn="ctr"/>
              <a:r>
                <a:rPr lang="it-IT" sz="1600" dirty="0"/>
                <a:t>Feature vector 128D</a:t>
              </a:r>
            </a:p>
          </p:txBody>
        </p:sp>
        <p:sp>
          <p:nvSpPr>
            <p:cNvPr id="27" name="Google Shape;712;p38">
              <a:extLst>
                <a:ext uri="{FF2B5EF4-FFF2-40B4-BE49-F238E27FC236}">
                  <a16:creationId xmlns:a16="http://schemas.microsoft.com/office/drawing/2014/main" id="{3BF11B09-459F-A787-31FB-4C04C4600092}"/>
                </a:ext>
              </a:extLst>
            </p:cNvPr>
            <p:cNvSpPr txBox="1">
              <a:spLocks/>
            </p:cNvSpPr>
            <p:nvPr/>
          </p:nvSpPr>
          <p:spPr>
            <a:xfrm>
              <a:off x="582163" y="3998419"/>
              <a:ext cx="1168929" cy="5944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Gotu"/>
                <a:buNone/>
                <a:defRPr sz="30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pPr algn="ctr"/>
              <a:r>
                <a:rPr lang="it-IT" sz="1600" dirty="0"/>
                <a:t>Linear 128 → 12</a:t>
              </a:r>
            </a:p>
          </p:txBody>
        </p:sp>
        <p:sp>
          <p:nvSpPr>
            <p:cNvPr id="32" name="Google Shape;712;p38">
              <a:extLst>
                <a:ext uri="{FF2B5EF4-FFF2-40B4-BE49-F238E27FC236}">
                  <a16:creationId xmlns:a16="http://schemas.microsoft.com/office/drawing/2014/main" id="{0A909F55-91BC-1E79-B73E-64C4E77C9E44}"/>
                </a:ext>
              </a:extLst>
            </p:cNvPr>
            <p:cNvSpPr txBox="1">
              <a:spLocks/>
            </p:cNvSpPr>
            <p:nvPr/>
          </p:nvSpPr>
          <p:spPr>
            <a:xfrm>
              <a:off x="2342711" y="4075562"/>
              <a:ext cx="1168929" cy="407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Gotu"/>
                <a:buNone/>
                <a:defRPr sz="30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pPr algn="ctr"/>
              <a:r>
                <a:rPr lang="it-IT" sz="1600" dirty="0"/>
                <a:t>12 logits</a:t>
              </a:r>
            </a:p>
          </p:txBody>
        </p:sp>
        <p:sp>
          <p:nvSpPr>
            <p:cNvPr id="34" name="Google Shape;712;p38">
              <a:extLst>
                <a:ext uri="{FF2B5EF4-FFF2-40B4-BE49-F238E27FC236}">
                  <a16:creationId xmlns:a16="http://schemas.microsoft.com/office/drawing/2014/main" id="{9CE11131-75A1-0F97-16AC-9115245183F0}"/>
                </a:ext>
              </a:extLst>
            </p:cNvPr>
            <p:cNvSpPr txBox="1">
              <a:spLocks/>
            </p:cNvSpPr>
            <p:nvPr/>
          </p:nvSpPr>
          <p:spPr>
            <a:xfrm>
              <a:off x="4110180" y="4091776"/>
              <a:ext cx="1168929" cy="407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Gotu"/>
                <a:buNone/>
                <a:defRPr sz="30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pPr algn="ctr"/>
              <a:r>
                <a:rPr lang="it-IT" sz="1600" dirty="0"/>
                <a:t>Softmax</a:t>
              </a:r>
            </a:p>
          </p:txBody>
        </p:sp>
        <p:sp>
          <p:nvSpPr>
            <p:cNvPr id="36" name="Google Shape;712;p38">
              <a:extLst>
                <a:ext uri="{FF2B5EF4-FFF2-40B4-BE49-F238E27FC236}">
                  <a16:creationId xmlns:a16="http://schemas.microsoft.com/office/drawing/2014/main" id="{E43710FE-8029-2DBF-E9CC-5AC2FD866CDE}"/>
                </a:ext>
              </a:extLst>
            </p:cNvPr>
            <p:cNvSpPr txBox="1">
              <a:spLocks/>
            </p:cNvSpPr>
            <p:nvPr/>
          </p:nvSpPr>
          <p:spPr>
            <a:xfrm>
              <a:off x="5829320" y="3995982"/>
              <a:ext cx="1265573" cy="407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Gotu"/>
                <a:buNone/>
                <a:defRPr sz="30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Gotu"/>
                <a:buNone/>
                <a:defRPr sz="3500" b="0" i="0" u="none" strike="noStrike" cap="none" spc="0">
                  <a:solidFill>
                    <a:schemeClr val="dk1"/>
                  </a:solidFill>
                  <a:latin typeface="Gotu"/>
                  <a:ea typeface="Gotu"/>
                  <a:cs typeface="Gotu"/>
                  <a:sym typeface="Gotu"/>
                </a:defRPr>
              </a:lvl9pPr>
            </a:lstStyle>
            <a:p>
              <a:pPr algn="ctr"/>
              <a:r>
                <a:rPr lang="it-IT" sz="1600" dirty="0"/>
                <a:t>Predizione classe</a:t>
              </a:r>
            </a:p>
          </p:txBody>
        </p:sp>
        <p:sp>
          <p:nvSpPr>
            <p:cNvPr id="38" name="Google Shape;1022;p54">
              <a:extLst>
                <a:ext uri="{FF2B5EF4-FFF2-40B4-BE49-F238E27FC236}">
                  <a16:creationId xmlns:a16="http://schemas.microsoft.com/office/drawing/2014/main" id="{211ADD34-661B-3D88-8A08-FFC9E767F4E9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096803" y="1723931"/>
              <a:ext cx="162033" cy="343274"/>
            </a:xfrm>
            <a:custGeom>
              <a:avLst/>
              <a:gdLst/>
              <a:ahLst/>
              <a:cxnLst/>
              <a:rect l="l" t="t" r="r" b="b"/>
              <a:pathLst>
                <a:path w="199664" h="422998" extrusionOk="0">
                  <a:moveTo>
                    <a:pt x="139924" y="313439"/>
                  </a:moveTo>
                  <a:cubicBezTo>
                    <a:pt x="152839" y="303829"/>
                    <a:pt x="167591" y="291405"/>
                    <a:pt x="178853" y="275797"/>
                  </a:cubicBezTo>
                  <a:cubicBezTo>
                    <a:pt x="192870" y="256455"/>
                    <a:pt x="199664" y="235278"/>
                    <a:pt x="199664" y="211041"/>
                  </a:cubicBezTo>
                  <a:cubicBezTo>
                    <a:pt x="199664" y="182640"/>
                    <a:pt x="190238" y="158219"/>
                    <a:pt x="170773" y="136246"/>
                  </a:cubicBezTo>
                  <a:cubicBezTo>
                    <a:pt x="161531" y="125841"/>
                    <a:pt x="151003" y="116843"/>
                    <a:pt x="139924" y="108642"/>
                  </a:cubicBezTo>
                  <a:cubicBezTo>
                    <a:pt x="152778" y="99094"/>
                    <a:pt x="167407" y="86730"/>
                    <a:pt x="178670" y="71245"/>
                  </a:cubicBezTo>
                  <a:cubicBezTo>
                    <a:pt x="192625" y="52087"/>
                    <a:pt x="199481" y="31154"/>
                    <a:pt x="199664" y="7284"/>
                  </a:cubicBezTo>
                  <a:cubicBezTo>
                    <a:pt x="199664" y="5693"/>
                    <a:pt x="199236" y="4163"/>
                    <a:pt x="198317" y="2877"/>
                  </a:cubicBezTo>
                  <a:cubicBezTo>
                    <a:pt x="196971" y="1041"/>
                    <a:pt x="194890" y="0"/>
                    <a:pt x="192625" y="0"/>
                  </a:cubicBezTo>
                  <a:lnTo>
                    <a:pt x="161347" y="0"/>
                  </a:lnTo>
                  <a:cubicBezTo>
                    <a:pt x="157491" y="0"/>
                    <a:pt x="154369" y="3122"/>
                    <a:pt x="154308" y="6978"/>
                  </a:cubicBezTo>
                  <a:cubicBezTo>
                    <a:pt x="154186" y="17383"/>
                    <a:pt x="151983" y="26686"/>
                    <a:pt x="147575" y="35439"/>
                  </a:cubicBezTo>
                  <a:lnTo>
                    <a:pt x="141271" y="35439"/>
                  </a:lnTo>
                  <a:cubicBezTo>
                    <a:pt x="138088" y="35439"/>
                    <a:pt x="135272" y="37704"/>
                    <a:pt x="134905" y="40825"/>
                  </a:cubicBezTo>
                  <a:cubicBezTo>
                    <a:pt x="134476" y="44559"/>
                    <a:pt x="137353" y="47803"/>
                    <a:pt x="141026" y="47803"/>
                  </a:cubicBezTo>
                  <a:lnTo>
                    <a:pt x="155900" y="47803"/>
                  </a:lnTo>
                  <a:cubicBezTo>
                    <a:pt x="153390" y="51720"/>
                    <a:pt x="150513" y="55514"/>
                    <a:pt x="147147" y="59370"/>
                  </a:cubicBezTo>
                  <a:cubicBezTo>
                    <a:pt x="136986" y="59370"/>
                    <a:pt x="113421" y="59370"/>
                    <a:pt x="105953" y="59370"/>
                  </a:cubicBezTo>
                  <a:lnTo>
                    <a:pt x="105953" y="47803"/>
                  </a:lnTo>
                  <a:lnTo>
                    <a:pt x="111646" y="47803"/>
                  </a:lnTo>
                  <a:cubicBezTo>
                    <a:pt x="114829" y="47803"/>
                    <a:pt x="117644" y="45538"/>
                    <a:pt x="118012" y="42417"/>
                  </a:cubicBezTo>
                  <a:cubicBezTo>
                    <a:pt x="118440" y="38683"/>
                    <a:pt x="115563" y="35439"/>
                    <a:pt x="111891" y="35439"/>
                  </a:cubicBezTo>
                  <a:lnTo>
                    <a:pt x="52395" y="35439"/>
                  </a:lnTo>
                  <a:cubicBezTo>
                    <a:pt x="48233" y="27053"/>
                    <a:pt x="45846" y="17750"/>
                    <a:pt x="45723" y="6978"/>
                  </a:cubicBezTo>
                  <a:cubicBezTo>
                    <a:pt x="45662" y="3122"/>
                    <a:pt x="42540" y="0"/>
                    <a:pt x="38684" y="0"/>
                  </a:cubicBezTo>
                  <a:lnTo>
                    <a:pt x="7590" y="0"/>
                  </a:lnTo>
                  <a:cubicBezTo>
                    <a:pt x="5999" y="0"/>
                    <a:pt x="4469" y="429"/>
                    <a:pt x="3183" y="1408"/>
                  </a:cubicBezTo>
                  <a:cubicBezTo>
                    <a:pt x="1347" y="2816"/>
                    <a:pt x="306" y="4897"/>
                    <a:pt x="368" y="7100"/>
                  </a:cubicBezTo>
                  <a:cubicBezTo>
                    <a:pt x="551" y="35194"/>
                    <a:pt x="10099" y="59493"/>
                    <a:pt x="29503" y="81344"/>
                  </a:cubicBezTo>
                  <a:cubicBezTo>
                    <a:pt x="38684" y="91688"/>
                    <a:pt x="49151" y="100563"/>
                    <a:pt x="60169" y="108703"/>
                  </a:cubicBezTo>
                  <a:cubicBezTo>
                    <a:pt x="54476" y="112926"/>
                    <a:pt x="49518" y="116904"/>
                    <a:pt x="44867" y="120944"/>
                  </a:cubicBezTo>
                  <a:cubicBezTo>
                    <a:pt x="42479" y="123025"/>
                    <a:pt x="41867" y="126637"/>
                    <a:pt x="43643" y="129268"/>
                  </a:cubicBezTo>
                  <a:cubicBezTo>
                    <a:pt x="45785" y="132390"/>
                    <a:pt x="50070" y="132818"/>
                    <a:pt x="52824" y="130431"/>
                  </a:cubicBezTo>
                  <a:cubicBezTo>
                    <a:pt x="58088" y="125841"/>
                    <a:pt x="63842" y="121311"/>
                    <a:pt x="70696" y="116292"/>
                  </a:cubicBezTo>
                  <a:cubicBezTo>
                    <a:pt x="76695" y="120455"/>
                    <a:pt x="82816" y="124494"/>
                    <a:pt x="88937" y="128595"/>
                  </a:cubicBezTo>
                  <a:cubicBezTo>
                    <a:pt x="81102" y="134042"/>
                    <a:pt x="73267" y="139796"/>
                    <a:pt x="66167" y="145978"/>
                  </a:cubicBezTo>
                  <a:lnTo>
                    <a:pt x="51600" y="145978"/>
                  </a:lnTo>
                  <a:cubicBezTo>
                    <a:pt x="49457" y="145978"/>
                    <a:pt x="47437" y="146896"/>
                    <a:pt x="45968" y="148487"/>
                  </a:cubicBezTo>
                  <a:cubicBezTo>
                    <a:pt x="39296" y="155771"/>
                    <a:pt x="34155" y="163115"/>
                    <a:pt x="30177" y="171011"/>
                  </a:cubicBezTo>
                  <a:cubicBezTo>
                    <a:pt x="29197" y="172970"/>
                    <a:pt x="28952" y="175296"/>
                    <a:pt x="29748" y="177377"/>
                  </a:cubicBezTo>
                  <a:cubicBezTo>
                    <a:pt x="30911" y="180437"/>
                    <a:pt x="33727" y="182273"/>
                    <a:pt x="36848" y="182273"/>
                  </a:cubicBezTo>
                  <a:lnTo>
                    <a:pt x="38746" y="182273"/>
                  </a:lnTo>
                  <a:cubicBezTo>
                    <a:pt x="37338" y="185762"/>
                    <a:pt x="36236" y="189312"/>
                    <a:pt x="35379" y="192985"/>
                  </a:cubicBezTo>
                  <a:lnTo>
                    <a:pt x="29136" y="192985"/>
                  </a:lnTo>
                  <a:cubicBezTo>
                    <a:pt x="25280" y="192985"/>
                    <a:pt x="22035" y="195861"/>
                    <a:pt x="21546" y="199717"/>
                  </a:cubicBezTo>
                  <a:cubicBezTo>
                    <a:pt x="20689" y="207001"/>
                    <a:pt x="20689" y="214957"/>
                    <a:pt x="21546" y="222547"/>
                  </a:cubicBezTo>
                  <a:cubicBezTo>
                    <a:pt x="21974" y="226342"/>
                    <a:pt x="25218" y="229280"/>
                    <a:pt x="29074" y="229280"/>
                  </a:cubicBezTo>
                  <a:lnTo>
                    <a:pt x="35257" y="229280"/>
                  </a:lnTo>
                  <a:cubicBezTo>
                    <a:pt x="36175" y="233258"/>
                    <a:pt x="37338" y="237053"/>
                    <a:pt x="38868" y="240848"/>
                  </a:cubicBezTo>
                  <a:lnTo>
                    <a:pt x="37031" y="240848"/>
                  </a:lnTo>
                  <a:cubicBezTo>
                    <a:pt x="34828" y="240848"/>
                    <a:pt x="32686" y="241705"/>
                    <a:pt x="31278" y="243296"/>
                  </a:cubicBezTo>
                  <a:cubicBezTo>
                    <a:pt x="29074" y="245744"/>
                    <a:pt x="28646" y="249050"/>
                    <a:pt x="30054" y="251865"/>
                  </a:cubicBezTo>
                  <a:cubicBezTo>
                    <a:pt x="34033" y="259822"/>
                    <a:pt x="39235" y="267228"/>
                    <a:pt x="45968" y="274634"/>
                  </a:cubicBezTo>
                  <a:cubicBezTo>
                    <a:pt x="47376" y="276225"/>
                    <a:pt x="49457" y="277082"/>
                    <a:pt x="51538" y="277082"/>
                  </a:cubicBezTo>
                  <a:lnTo>
                    <a:pt x="66473" y="277082"/>
                  </a:lnTo>
                  <a:cubicBezTo>
                    <a:pt x="109075" y="314234"/>
                    <a:pt x="182587" y="338840"/>
                    <a:pt x="186627" y="409778"/>
                  </a:cubicBezTo>
                  <a:lnTo>
                    <a:pt x="166244" y="409778"/>
                  </a:lnTo>
                  <a:cubicBezTo>
                    <a:pt x="165693" y="401882"/>
                    <a:pt x="163979" y="394538"/>
                    <a:pt x="161164" y="387499"/>
                  </a:cubicBezTo>
                  <a:lnTo>
                    <a:pt x="163061" y="387499"/>
                  </a:lnTo>
                  <a:cubicBezTo>
                    <a:pt x="168754" y="387499"/>
                    <a:pt x="172426" y="381562"/>
                    <a:pt x="169855" y="376482"/>
                  </a:cubicBezTo>
                  <a:cubicBezTo>
                    <a:pt x="165877" y="368525"/>
                    <a:pt x="160674" y="361118"/>
                    <a:pt x="153941" y="353713"/>
                  </a:cubicBezTo>
                  <a:cubicBezTo>
                    <a:pt x="152472" y="352122"/>
                    <a:pt x="150452" y="351203"/>
                    <a:pt x="148310" y="351203"/>
                  </a:cubicBezTo>
                  <a:lnTo>
                    <a:pt x="134048" y="351203"/>
                  </a:lnTo>
                  <a:cubicBezTo>
                    <a:pt x="89916" y="312704"/>
                    <a:pt x="12426" y="287365"/>
                    <a:pt x="12426" y="210856"/>
                  </a:cubicBezTo>
                  <a:cubicBezTo>
                    <a:pt x="12426" y="188027"/>
                    <a:pt x="19220" y="168196"/>
                    <a:pt x="33175" y="150140"/>
                  </a:cubicBezTo>
                  <a:cubicBezTo>
                    <a:pt x="34951" y="147814"/>
                    <a:pt x="35012" y="144509"/>
                    <a:pt x="33175" y="142305"/>
                  </a:cubicBezTo>
                  <a:cubicBezTo>
                    <a:pt x="30544" y="139123"/>
                    <a:pt x="25830" y="139367"/>
                    <a:pt x="23444" y="142428"/>
                  </a:cubicBezTo>
                  <a:cubicBezTo>
                    <a:pt x="7651" y="162748"/>
                    <a:pt x="0" y="185150"/>
                    <a:pt x="0" y="210856"/>
                  </a:cubicBezTo>
                  <a:cubicBezTo>
                    <a:pt x="0" y="239379"/>
                    <a:pt x="9487" y="263984"/>
                    <a:pt x="29013" y="286079"/>
                  </a:cubicBezTo>
                  <a:cubicBezTo>
                    <a:pt x="38256" y="296546"/>
                    <a:pt x="48906" y="305543"/>
                    <a:pt x="60046" y="313806"/>
                  </a:cubicBezTo>
                  <a:cubicBezTo>
                    <a:pt x="47131" y="323415"/>
                    <a:pt x="32441" y="335779"/>
                    <a:pt x="21117" y="351387"/>
                  </a:cubicBezTo>
                  <a:cubicBezTo>
                    <a:pt x="7101" y="370605"/>
                    <a:pt x="184" y="391661"/>
                    <a:pt x="0" y="415715"/>
                  </a:cubicBezTo>
                  <a:cubicBezTo>
                    <a:pt x="0" y="417061"/>
                    <a:pt x="306" y="418469"/>
                    <a:pt x="1041" y="419632"/>
                  </a:cubicBezTo>
                  <a:cubicBezTo>
                    <a:pt x="2387" y="421774"/>
                    <a:pt x="4652" y="422999"/>
                    <a:pt x="7039" y="422999"/>
                  </a:cubicBezTo>
                  <a:lnTo>
                    <a:pt x="38440" y="422999"/>
                  </a:lnTo>
                  <a:cubicBezTo>
                    <a:pt x="42357" y="422999"/>
                    <a:pt x="45601" y="419816"/>
                    <a:pt x="45601" y="415898"/>
                  </a:cubicBezTo>
                  <a:cubicBezTo>
                    <a:pt x="45723" y="404881"/>
                    <a:pt x="48172" y="395333"/>
                    <a:pt x="52456" y="386764"/>
                  </a:cubicBezTo>
                  <a:lnTo>
                    <a:pt x="111891" y="386764"/>
                  </a:lnTo>
                  <a:cubicBezTo>
                    <a:pt x="115135" y="386764"/>
                    <a:pt x="117706" y="384132"/>
                    <a:pt x="117644" y="380827"/>
                  </a:cubicBezTo>
                  <a:cubicBezTo>
                    <a:pt x="117583" y="377644"/>
                    <a:pt x="114767" y="375196"/>
                    <a:pt x="111585" y="375196"/>
                  </a:cubicBezTo>
                  <a:lnTo>
                    <a:pt x="105770" y="375196"/>
                  </a:lnTo>
                  <a:lnTo>
                    <a:pt x="105770" y="363628"/>
                  </a:lnTo>
                  <a:lnTo>
                    <a:pt x="146963" y="363628"/>
                  </a:lnTo>
                  <a:cubicBezTo>
                    <a:pt x="150330" y="367423"/>
                    <a:pt x="153207" y="371279"/>
                    <a:pt x="155716" y="375196"/>
                  </a:cubicBezTo>
                  <a:cubicBezTo>
                    <a:pt x="152166" y="375196"/>
                    <a:pt x="140720" y="375196"/>
                    <a:pt x="140720" y="375196"/>
                  </a:cubicBezTo>
                  <a:cubicBezTo>
                    <a:pt x="137537" y="375196"/>
                    <a:pt x="134783" y="377644"/>
                    <a:pt x="134660" y="380827"/>
                  </a:cubicBezTo>
                  <a:cubicBezTo>
                    <a:pt x="134599" y="384071"/>
                    <a:pt x="137170" y="386764"/>
                    <a:pt x="140414" y="386764"/>
                  </a:cubicBezTo>
                  <a:lnTo>
                    <a:pt x="147330" y="386764"/>
                  </a:lnTo>
                  <a:cubicBezTo>
                    <a:pt x="151738" y="395517"/>
                    <a:pt x="153941" y="404881"/>
                    <a:pt x="154063" y="415225"/>
                  </a:cubicBezTo>
                  <a:cubicBezTo>
                    <a:pt x="154125" y="419081"/>
                    <a:pt x="157246" y="422203"/>
                    <a:pt x="161102" y="422203"/>
                  </a:cubicBezTo>
                  <a:lnTo>
                    <a:pt x="192196" y="422203"/>
                  </a:lnTo>
                  <a:cubicBezTo>
                    <a:pt x="193788" y="422203"/>
                    <a:pt x="195319" y="421774"/>
                    <a:pt x="196604" y="420795"/>
                  </a:cubicBezTo>
                  <a:cubicBezTo>
                    <a:pt x="198440" y="419387"/>
                    <a:pt x="199481" y="417306"/>
                    <a:pt x="199420" y="415103"/>
                  </a:cubicBezTo>
                  <a:cubicBezTo>
                    <a:pt x="199236" y="387009"/>
                    <a:pt x="189687" y="362710"/>
                    <a:pt x="170284" y="340920"/>
                  </a:cubicBezTo>
                  <a:cubicBezTo>
                    <a:pt x="161408" y="330454"/>
                    <a:pt x="150880" y="321579"/>
                    <a:pt x="139924" y="313439"/>
                  </a:cubicBezTo>
                  <a:lnTo>
                    <a:pt x="139924" y="313439"/>
                  </a:lnTo>
                  <a:close/>
                  <a:moveTo>
                    <a:pt x="148432" y="71734"/>
                  </a:moveTo>
                  <a:cubicBezTo>
                    <a:pt x="150574" y="71734"/>
                    <a:pt x="152595" y="70816"/>
                    <a:pt x="154002" y="69286"/>
                  </a:cubicBezTo>
                  <a:cubicBezTo>
                    <a:pt x="160735" y="61880"/>
                    <a:pt x="165938" y="54474"/>
                    <a:pt x="169917" y="46517"/>
                  </a:cubicBezTo>
                  <a:cubicBezTo>
                    <a:pt x="170773" y="44803"/>
                    <a:pt x="171018" y="42845"/>
                    <a:pt x="170467" y="41008"/>
                  </a:cubicBezTo>
                  <a:cubicBezTo>
                    <a:pt x="169427" y="37642"/>
                    <a:pt x="166489" y="35500"/>
                    <a:pt x="163122" y="35500"/>
                  </a:cubicBezTo>
                  <a:lnTo>
                    <a:pt x="161164" y="35500"/>
                  </a:lnTo>
                  <a:cubicBezTo>
                    <a:pt x="164102" y="28217"/>
                    <a:pt x="165877" y="20566"/>
                    <a:pt x="166489" y="12425"/>
                  </a:cubicBezTo>
                  <a:lnTo>
                    <a:pt x="187361" y="12425"/>
                  </a:lnTo>
                  <a:cubicBezTo>
                    <a:pt x="184974" y="54535"/>
                    <a:pt x="158532" y="80365"/>
                    <a:pt x="129213" y="101603"/>
                  </a:cubicBezTo>
                  <a:cubicBezTo>
                    <a:pt x="123153" y="97380"/>
                    <a:pt x="117032" y="93340"/>
                    <a:pt x="110850" y="89240"/>
                  </a:cubicBezTo>
                  <a:cubicBezTo>
                    <a:pt x="118746" y="83792"/>
                    <a:pt x="126642" y="77977"/>
                    <a:pt x="133742" y="71796"/>
                  </a:cubicBezTo>
                  <a:lnTo>
                    <a:pt x="148432" y="71796"/>
                  </a:lnTo>
                  <a:close/>
                  <a:moveTo>
                    <a:pt x="114094" y="71734"/>
                  </a:moveTo>
                  <a:cubicBezTo>
                    <a:pt x="109503" y="75162"/>
                    <a:pt x="104790" y="78467"/>
                    <a:pt x="100077" y="81711"/>
                  </a:cubicBezTo>
                  <a:cubicBezTo>
                    <a:pt x="95180" y="78344"/>
                    <a:pt x="90467" y="75101"/>
                    <a:pt x="85999" y="71734"/>
                  </a:cubicBezTo>
                  <a:lnTo>
                    <a:pt x="114094" y="71734"/>
                  </a:lnTo>
                  <a:close/>
                  <a:moveTo>
                    <a:pt x="93650" y="47803"/>
                  </a:moveTo>
                  <a:lnTo>
                    <a:pt x="93650" y="59370"/>
                  </a:lnTo>
                  <a:lnTo>
                    <a:pt x="70084" y="59370"/>
                  </a:lnTo>
                  <a:cubicBezTo>
                    <a:pt x="66106" y="55637"/>
                    <a:pt x="62495" y="51842"/>
                    <a:pt x="59312" y="47803"/>
                  </a:cubicBezTo>
                  <a:lnTo>
                    <a:pt x="93650" y="47803"/>
                  </a:lnTo>
                  <a:close/>
                  <a:moveTo>
                    <a:pt x="12976" y="12364"/>
                  </a:moveTo>
                  <a:lnTo>
                    <a:pt x="33604" y="12364"/>
                  </a:lnTo>
                  <a:cubicBezTo>
                    <a:pt x="36604" y="54046"/>
                    <a:pt x="70207" y="76386"/>
                    <a:pt x="105708" y="100012"/>
                  </a:cubicBezTo>
                  <a:cubicBezTo>
                    <a:pt x="143903" y="125473"/>
                    <a:pt x="187239" y="154302"/>
                    <a:pt x="187239" y="211041"/>
                  </a:cubicBezTo>
                  <a:cubicBezTo>
                    <a:pt x="187239" y="256578"/>
                    <a:pt x="159817" y="283754"/>
                    <a:pt x="129274" y="305911"/>
                  </a:cubicBezTo>
                  <a:cubicBezTo>
                    <a:pt x="123275" y="301748"/>
                    <a:pt x="117154" y="297709"/>
                    <a:pt x="111033" y="293608"/>
                  </a:cubicBezTo>
                  <a:cubicBezTo>
                    <a:pt x="111033" y="293608"/>
                    <a:pt x="111033" y="293608"/>
                    <a:pt x="111033" y="293608"/>
                  </a:cubicBezTo>
                  <a:cubicBezTo>
                    <a:pt x="142128" y="272063"/>
                    <a:pt x="166611" y="249723"/>
                    <a:pt x="166611" y="211041"/>
                  </a:cubicBezTo>
                  <a:cubicBezTo>
                    <a:pt x="166611" y="165319"/>
                    <a:pt x="131478" y="141938"/>
                    <a:pt x="94262" y="117210"/>
                  </a:cubicBezTo>
                  <a:cubicBezTo>
                    <a:pt x="57537" y="92667"/>
                    <a:pt x="16037" y="65063"/>
                    <a:pt x="12976" y="12364"/>
                  </a:cubicBezTo>
                  <a:lnTo>
                    <a:pt x="12976" y="12364"/>
                  </a:lnTo>
                  <a:close/>
                  <a:moveTo>
                    <a:pt x="106014" y="253089"/>
                  </a:moveTo>
                  <a:lnTo>
                    <a:pt x="140291" y="253089"/>
                  </a:lnTo>
                  <a:cubicBezTo>
                    <a:pt x="137108" y="257129"/>
                    <a:pt x="133497" y="260924"/>
                    <a:pt x="129519" y="264657"/>
                  </a:cubicBezTo>
                  <a:lnTo>
                    <a:pt x="106014" y="264657"/>
                  </a:lnTo>
                  <a:lnTo>
                    <a:pt x="106014" y="253089"/>
                  </a:lnTo>
                  <a:close/>
                  <a:moveTo>
                    <a:pt x="106014" y="205287"/>
                  </a:moveTo>
                  <a:lnTo>
                    <a:pt x="155227" y="205287"/>
                  </a:lnTo>
                  <a:cubicBezTo>
                    <a:pt x="155533" y="209082"/>
                    <a:pt x="155533" y="213060"/>
                    <a:pt x="155227" y="216855"/>
                  </a:cubicBezTo>
                  <a:lnTo>
                    <a:pt x="106014" y="216855"/>
                  </a:lnTo>
                  <a:lnTo>
                    <a:pt x="106014" y="205287"/>
                  </a:lnTo>
                  <a:close/>
                  <a:moveTo>
                    <a:pt x="106014" y="158280"/>
                  </a:moveTo>
                  <a:lnTo>
                    <a:pt x="129580" y="158280"/>
                  </a:lnTo>
                  <a:cubicBezTo>
                    <a:pt x="133558" y="162014"/>
                    <a:pt x="137170" y="165809"/>
                    <a:pt x="140353" y="169848"/>
                  </a:cubicBezTo>
                  <a:lnTo>
                    <a:pt x="106014" y="169848"/>
                  </a:lnTo>
                  <a:lnTo>
                    <a:pt x="106014" y="158280"/>
                  </a:lnTo>
                  <a:close/>
                  <a:moveTo>
                    <a:pt x="100077" y="135940"/>
                  </a:moveTo>
                  <a:cubicBezTo>
                    <a:pt x="104974" y="139306"/>
                    <a:pt x="109687" y="142550"/>
                    <a:pt x="114155" y="145917"/>
                  </a:cubicBezTo>
                  <a:lnTo>
                    <a:pt x="86060" y="145917"/>
                  </a:lnTo>
                  <a:cubicBezTo>
                    <a:pt x="90589" y="142489"/>
                    <a:pt x="95364" y="139184"/>
                    <a:pt x="100077" y="135940"/>
                  </a:cubicBezTo>
                  <a:lnTo>
                    <a:pt x="100077" y="135940"/>
                  </a:lnTo>
                  <a:close/>
                  <a:moveTo>
                    <a:pt x="52456" y="158280"/>
                  </a:moveTo>
                  <a:lnTo>
                    <a:pt x="93650" y="158280"/>
                  </a:lnTo>
                  <a:lnTo>
                    <a:pt x="93650" y="169848"/>
                  </a:lnTo>
                  <a:cubicBezTo>
                    <a:pt x="86550" y="169848"/>
                    <a:pt x="55333" y="169848"/>
                    <a:pt x="43704" y="169848"/>
                  </a:cubicBezTo>
                  <a:cubicBezTo>
                    <a:pt x="46213" y="165931"/>
                    <a:pt x="49090" y="162075"/>
                    <a:pt x="52456" y="158280"/>
                  </a:cubicBezTo>
                  <a:close/>
                  <a:moveTo>
                    <a:pt x="52518" y="182212"/>
                  </a:moveTo>
                  <a:lnTo>
                    <a:pt x="147636" y="182212"/>
                  </a:lnTo>
                  <a:cubicBezTo>
                    <a:pt x="149412" y="185884"/>
                    <a:pt x="150880" y="189679"/>
                    <a:pt x="151983" y="193780"/>
                  </a:cubicBezTo>
                  <a:lnTo>
                    <a:pt x="48172" y="193780"/>
                  </a:lnTo>
                  <a:cubicBezTo>
                    <a:pt x="49212" y="189740"/>
                    <a:pt x="50682" y="185946"/>
                    <a:pt x="52518" y="182212"/>
                  </a:cubicBezTo>
                  <a:lnTo>
                    <a:pt x="52518" y="182212"/>
                  </a:lnTo>
                  <a:close/>
                  <a:moveTo>
                    <a:pt x="31707" y="205287"/>
                  </a:moveTo>
                  <a:lnTo>
                    <a:pt x="93650" y="205287"/>
                  </a:lnTo>
                  <a:lnTo>
                    <a:pt x="93650" y="216855"/>
                  </a:lnTo>
                  <a:cubicBezTo>
                    <a:pt x="83183" y="216855"/>
                    <a:pt x="38807" y="216855"/>
                    <a:pt x="31707" y="216855"/>
                  </a:cubicBezTo>
                  <a:cubicBezTo>
                    <a:pt x="31462" y="213121"/>
                    <a:pt x="31462" y="209143"/>
                    <a:pt x="31707" y="205287"/>
                  </a:cubicBezTo>
                  <a:lnTo>
                    <a:pt x="31707" y="205287"/>
                  </a:lnTo>
                  <a:close/>
                  <a:moveTo>
                    <a:pt x="48172" y="229157"/>
                  </a:moveTo>
                  <a:lnTo>
                    <a:pt x="151983" y="229157"/>
                  </a:lnTo>
                  <a:cubicBezTo>
                    <a:pt x="150880" y="233197"/>
                    <a:pt x="149412" y="237053"/>
                    <a:pt x="147636" y="240726"/>
                  </a:cubicBezTo>
                  <a:lnTo>
                    <a:pt x="52518" y="240726"/>
                  </a:lnTo>
                  <a:cubicBezTo>
                    <a:pt x="50682" y="236992"/>
                    <a:pt x="49212" y="233136"/>
                    <a:pt x="48172" y="229157"/>
                  </a:cubicBezTo>
                  <a:close/>
                  <a:moveTo>
                    <a:pt x="43704" y="253089"/>
                  </a:moveTo>
                  <a:lnTo>
                    <a:pt x="93650" y="253089"/>
                  </a:lnTo>
                  <a:lnTo>
                    <a:pt x="93650" y="264657"/>
                  </a:lnTo>
                  <a:lnTo>
                    <a:pt x="52456" y="264657"/>
                  </a:lnTo>
                  <a:cubicBezTo>
                    <a:pt x="49090" y="260801"/>
                    <a:pt x="46213" y="257006"/>
                    <a:pt x="43704" y="253089"/>
                  </a:cubicBezTo>
                  <a:lnTo>
                    <a:pt x="43704" y="253089"/>
                  </a:lnTo>
                  <a:close/>
                  <a:moveTo>
                    <a:pt x="114094" y="276164"/>
                  </a:moveTo>
                  <a:cubicBezTo>
                    <a:pt x="109626" y="279469"/>
                    <a:pt x="104913" y="282774"/>
                    <a:pt x="100077" y="286140"/>
                  </a:cubicBezTo>
                  <a:cubicBezTo>
                    <a:pt x="95242" y="282836"/>
                    <a:pt x="90528" y="279530"/>
                    <a:pt x="86060" y="276164"/>
                  </a:cubicBezTo>
                  <a:lnTo>
                    <a:pt x="114094" y="276164"/>
                  </a:lnTo>
                  <a:close/>
                  <a:moveTo>
                    <a:pt x="85999" y="351203"/>
                  </a:moveTo>
                  <a:cubicBezTo>
                    <a:pt x="90467" y="347898"/>
                    <a:pt x="95119" y="344593"/>
                    <a:pt x="100016" y="341226"/>
                  </a:cubicBezTo>
                  <a:cubicBezTo>
                    <a:pt x="104852" y="344532"/>
                    <a:pt x="109564" y="347837"/>
                    <a:pt x="114033" y="351203"/>
                  </a:cubicBezTo>
                  <a:cubicBezTo>
                    <a:pt x="96588" y="351203"/>
                    <a:pt x="103443" y="351203"/>
                    <a:pt x="85999" y="351203"/>
                  </a:cubicBezTo>
                  <a:close/>
                  <a:moveTo>
                    <a:pt x="33665" y="409717"/>
                  </a:moveTo>
                  <a:lnTo>
                    <a:pt x="13038" y="409717"/>
                  </a:lnTo>
                  <a:cubicBezTo>
                    <a:pt x="15425" y="367851"/>
                    <a:pt x="41684" y="342206"/>
                    <a:pt x="70819" y="321028"/>
                  </a:cubicBezTo>
                  <a:cubicBezTo>
                    <a:pt x="76879" y="325252"/>
                    <a:pt x="83000" y="329291"/>
                    <a:pt x="89059" y="333331"/>
                  </a:cubicBezTo>
                  <a:cubicBezTo>
                    <a:pt x="59985" y="353468"/>
                    <a:pt x="36175" y="374584"/>
                    <a:pt x="33665" y="409717"/>
                  </a:cubicBezTo>
                  <a:close/>
                  <a:moveTo>
                    <a:pt x="70146" y="363567"/>
                  </a:moveTo>
                  <a:lnTo>
                    <a:pt x="93650" y="363567"/>
                  </a:lnTo>
                  <a:lnTo>
                    <a:pt x="93650" y="375135"/>
                  </a:lnTo>
                  <a:lnTo>
                    <a:pt x="59373" y="375135"/>
                  </a:lnTo>
                  <a:cubicBezTo>
                    <a:pt x="62556" y="371096"/>
                    <a:pt x="66167" y="367239"/>
                    <a:pt x="70146" y="363567"/>
                  </a:cubicBezTo>
                  <a:close/>
                </a:path>
              </a:pathLst>
            </a:custGeom>
            <a:solidFill>
              <a:schemeClr val="dk1"/>
            </a:solidFill>
            <a:ln w="6350">
              <a:solidFill>
                <a:schemeClr val="tx2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1022;p54">
              <a:extLst>
                <a:ext uri="{FF2B5EF4-FFF2-40B4-BE49-F238E27FC236}">
                  <a16:creationId xmlns:a16="http://schemas.microsoft.com/office/drawing/2014/main" id="{4CACEEB2-FA3A-FACA-D5C7-D42C246FD98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096802" y="2677062"/>
              <a:ext cx="162033" cy="343274"/>
            </a:xfrm>
            <a:custGeom>
              <a:avLst/>
              <a:gdLst/>
              <a:ahLst/>
              <a:cxnLst/>
              <a:rect l="l" t="t" r="r" b="b"/>
              <a:pathLst>
                <a:path w="199664" h="422998" extrusionOk="0">
                  <a:moveTo>
                    <a:pt x="139924" y="313439"/>
                  </a:moveTo>
                  <a:cubicBezTo>
                    <a:pt x="152839" y="303829"/>
                    <a:pt x="167591" y="291405"/>
                    <a:pt x="178853" y="275797"/>
                  </a:cubicBezTo>
                  <a:cubicBezTo>
                    <a:pt x="192870" y="256455"/>
                    <a:pt x="199664" y="235278"/>
                    <a:pt x="199664" y="211041"/>
                  </a:cubicBezTo>
                  <a:cubicBezTo>
                    <a:pt x="199664" y="182640"/>
                    <a:pt x="190238" y="158219"/>
                    <a:pt x="170773" y="136246"/>
                  </a:cubicBezTo>
                  <a:cubicBezTo>
                    <a:pt x="161531" y="125841"/>
                    <a:pt x="151003" y="116843"/>
                    <a:pt x="139924" y="108642"/>
                  </a:cubicBezTo>
                  <a:cubicBezTo>
                    <a:pt x="152778" y="99094"/>
                    <a:pt x="167407" y="86730"/>
                    <a:pt x="178670" y="71245"/>
                  </a:cubicBezTo>
                  <a:cubicBezTo>
                    <a:pt x="192625" y="52087"/>
                    <a:pt x="199481" y="31154"/>
                    <a:pt x="199664" y="7284"/>
                  </a:cubicBezTo>
                  <a:cubicBezTo>
                    <a:pt x="199664" y="5693"/>
                    <a:pt x="199236" y="4163"/>
                    <a:pt x="198317" y="2877"/>
                  </a:cubicBezTo>
                  <a:cubicBezTo>
                    <a:pt x="196971" y="1041"/>
                    <a:pt x="194890" y="0"/>
                    <a:pt x="192625" y="0"/>
                  </a:cubicBezTo>
                  <a:lnTo>
                    <a:pt x="161347" y="0"/>
                  </a:lnTo>
                  <a:cubicBezTo>
                    <a:pt x="157491" y="0"/>
                    <a:pt x="154369" y="3122"/>
                    <a:pt x="154308" y="6978"/>
                  </a:cubicBezTo>
                  <a:cubicBezTo>
                    <a:pt x="154186" y="17383"/>
                    <a:pt x="151983" y="26686"/>
                    <a:pt x="147575" y="35439"/>
                  </a:cubicBezTo>
                  <a:lnTo>
                    <a:pt x="141271" y="35439"/>
                  </a:lnTo>
                  <a:cubicBezTo>
                    <a:pt x="138088" y="35439"/>
                    <a:pt x="135272" y="37704"/>
                    <a:pt x="134905" y="40825"/>
                  </a:cubicBezTo>
                  <a:cubicBezTo>
                    <a:pt x="134476" y="44559"/>
                    <a:pt x="137353" y="47803"/>
                    <a:pt x="141026" y="47803"/>
                  </a:cubicBezTo>
                  <a:lnTo>
                    <a:pt x="155900" y="47803"/>
                  </a:lnTo>
                  <a:cubicBezTo>
                    <a:pt x="153390" y="51720"/>
                    <a:pt x="150513" y="55514"/>
                    <a:pt x="147147" y="59370"/>
                  </a:cubicBezTo>
                  <a:cubicBezTo>
                    <a:pt x="136986" y="59370"/>
                    <a:pt x="113421" y="59370"/>
                    <a:pt x="105953" y="59370"/>
                  </a:cubicBezTo>
                  <a:lnTo>
                    <a:pt x="105953" y="47803"/>
                  </a:lnTo>
                  <a:lnTo>
                    <a:pt x="111646" y="47803"/>
                  </a:lnTo>
                  <a:cubicBezTo>
                    <a:pt x="114829" y="47803"/>
                    <a:pt x="117644" y="45538"/>
                    <a:pt x="118012" y="42417"/>
                  </a:cubicBezTo>
                  <a:cubicBezTo>
                    <a:pt x="118440" y="38683"/>
                    <a:pt x="115563" y="35439"/>
                    <a:pt x="111891" y="35439"/>
                  </a:cubicBezTo>
                  <a:lnTo>
                    <a:pt x="52395" y="35439"/>
                  </a:lnTo>
                  <a:cubicBezTo>
                    <a:pt x="48233" y="27053"/>
                    <a:pt x="45846" y="17750"/>
                    <a:pt x="45723" y="6978"/>
                  </a:cubicBezTo>
                  <a:cubicBezTo>
                    <a:pt x="45662" y="3122"/>
                    <a:pt x="42540" y="0"/>
                    <a:pt x="38684" y="0"/>
                  </a:cubicBezTo>
                  <a:lnTo>
                    <a:pt x="7590" y="0"/>
                  </a:lnTo>
                  <a:cubicBezTo>
                    <a:pt x="5999" y="0"/>
                    <a:pt x="4469" y="429"/>
                    <a:pt x="3183" y="1408"/>
                  </a:cubicBezTo>
                  <a:cubicBezTo>
                    <a:pt x="1347" y="2816"/>
                    <a:pt x="306" y="4897"/>
                    <a:pt x="368" y="7100"/>
                  </a:cubicBezTo>
                  <a:cubicBezTo>
                    <a:pt x="551" y="35194"/>
                    <a:pt x="10099" y="59493"/>
                    <a:pt x="29503" y="81344"/>
                  </a:cubicBezTo>
                  <a:cubicBezTo>
                    <a:pt x="38684" y="91688"/>
                    <a:pt x="49151" y="100563"/>
                    <a:pt x="60169" y="108703"/>
                  </a:cubicBezTo>
                  <a:cubicBezTo>
                    <a:pt x="54476" y="112926"/>
                    <a:pt x="49518" y="116904"/>
                    <a:pt x="44867" y="120944"/>
                  </a:cubicBezTo>
                  <a:cubicBezTo>
                    <a:pt x="42479" y="123025"/>
                    <a:pt x="41867" y="126637"/>
                    <a:pt x="43643" y="129268"/>
                  </a:cubicBezTo>
                  <a:cubicBezTo>
                    <a:pt x="45785" y="132390"/>
                    <a:pt x="50070" y="132818"/>
                    <a:pt x="52824" y="130431"/>
                  </a:cubicBezTo>
                  <a:cubicBezTo>
                    <a:pt x="58088" y="125841"/>
                    <a:pt x="63842" y="121311"/>
                    <a:pt x="70696" y="116292"/>
                  </a:cubicBezTo>
                  <a:cubicBezTo>
                    <a:pt x="76695" y="120455"/>
                    <a:pt x="82816" y="124494"/>
                    <a:pt x="88937" y="128595"/>
                  </a:cubicBezTo>
                  <a:cubicBezTo>
                    <a:pt x="81102" y="134042"/>
                    <a:pt x="73267" y="139796"/>
                    <a:pt x="66167" y="145978"/>
                  </a:cubicBezTo>
                  <a:lnTo>
                    <a:pt x="51600" y="145978"/>
                  </a:lnTo>
                  <a:cubicBezTo>
                    <a:pt x="49457" y="145978"/>
                    <a:pt x="47437" y="146896"/>
                    <a:pt x="45968" y="148487"/>
                  </a:cubicBezTo>
                  <a:cubicBezTo>
                    <a:pt x="39296" y="155771"/>
                    <a:pt x="34155" y="163115"/>
                    <a:pt x="30177" y="171011"/>
                  </a:cubicBezTo>
                  <a:cubicBezTo>
                    <a:pt x="29197" y="172970"/>
                    <a:pt x="28952" y="175296"/>
                    <a:pt x="29748" y="177377"/>
                  </a:cubicBezTo>
                  <a:cubicBezTo>
                    <a:pt x="30911" y="180437"/>
                    <a:pt x="33727" y="182273"/>
                    <a:pt x="36848" y="182273"/>
                  </a:cubicBezTo>
                  <a:lnTo>
                    <a:pt x="38746" y="182273"/>
                  </a:lnTo>
                  <a:cubicBezTo>
                    <a:pt x="37338" y="185762"/>
                    <a:pt x="36236" y="189312"/>
                    <a:pt x="35379" y="192985"/>
                  </a:cubicBezTo>
                  <a:lnTo>
                    <a:pt x="29136" y="192985"/>
                  </a:lnTo>
                  <a:cubicBezTo>
                    <a:pt x="25280" y="192985"/>
                    <a:pt x="22035" y="195861"/>
                    <a:pt x="21546" y="199717"/>
                  </a:cubicBezTo>
                  <a:cubicBezTo>
                    <a:pt x="20689" y="207001"/>
                    <a:pt x="20689" y="214957"/>
                    <a:pt x="21546" y="222547"/>
                  </a:cubicBezTo>
                  <a:cubicBezTo>
                    <a:pt x="21974" y="226342"/>
                    <a:pt x="25218" y="229280"/>
                    <a:pt x="29074" y="229280"/>
                  </a:cubicBezTo>
                  <a:lnTo>
                    <a:pt x="35257" y="229280"/>
                  </a:lnTo>
                  <a:cubicBezTo>
                    <a:pt x="36175" y="233258"/>
                    <a:pt x="37338" y="237053"/>
                    <a:pt x="38868" y="240848"/>
                  </a:cubicBezTo>
                  <a:lnTo>
                    <a:pt x="37031" y="240848"/>
                  </a:lnTo>
                  <a:cubicBezTo>
                    <a:pt x="34828" y="240848"/>
                    <a:pt x="32686" y="241705"/>
                    <a:pt x="31278" y="243296"/>
                  </a:cubicBezTo>
                  <a:cubicBezTo>
                    <a:pt x="29074" y="245744"/>
                    <a:pt x="28646" y="249050"/>
                    <a:pt x="30054" y="251865"/>
                  </a:cubicBezTo>
                  <a:cubicBezTo>
                    <a:pt x="34033" y="259822"/>
                    <a:pt x="39235" y="267228"/>
                    <a:pt x="45968" y="274634"/>
                  </a:cubicBezTo>
                  <a:cubicBezTo>
                    <a:pt x="47376" y="276225"/>
                    <a:pt x="49457" y="277082"/>
                    <a:pt x="51538" y="277082"/>
                  </a:cubicBezTo>
                  <a:lnTo>
                    <a:pt x="66473" y="277082"/>
                  </a:lnTo>
                  <a:cubicBezTo>
                    <a:pt x="109075" y="314234"/>
                    <a:pt x="182587" y="338840"/>
                    <a:pt x="186627" y="409778"/>
                  </a:cubicBezTo>
                  <a:lnTo>
                    <a:pt x="166244" y="409778"/>
                  </a:lnTo>
                  <a:cubicBezTo>
                    <a:pt x="165693" y="401882"/>
                    <a:pt x="163979" y="394538"/>
                    <a:pt x="161164" y="387499"/>
                  </a:cubicBezTo>
                  <a:lnTo>
                    <a:pt x="163061" y="387499"/>
                  </a:lnTo>
                  <a:cubicBezTo>
                    <a:pt x="168754" y="387499"/>
                    <a:pt x="172426" y="381562"/>
                    <a:pt x="169855" y="376482"/>
                  </a:cubicBezTo>
                  <a:cubicBezTo>
                    <a:pt x="165877" y="368525"/>
                    <a:pt x="160674" y="361118"/>
                    <a:pt x="153941" y="353713"/>
                  </a:cubicBezTo>
                  <a:cubicBezTo>
                    <a:pt x="152472" y="352122"/>
                    <a:pt x="150452" y="351203"/>
                    <a:pt x="148310" y="351203"/>
                  </a:cubicBezTo>
                  <a:lnTo>
                    <a:pt x="134048" y="351203"/>
                  </a:lnTo>
                  <a:cubicBezTo>
                    <a:pt x="89916" y="312704"/>
                    <a:pt x="12426" y="287365"/>
                    <a:pt x="12426" y="210856"/>
                  </a:cubicBezTo>
                  <a:cubicBezTo>
                    <a:pt x="12426" y="188027"/>
                    <a:pt x="19220" y="168196"/>
                    <a:pt x="33175" y="150140"/>
                  </a:cubicBezTo>
                  <a:cubicBezTo>
                    <a:pt x="34951" y="147814"/>
                    <a:pt x="35012" y="144509"/>
                    <a:pt x="33175" y="142305"/>
                  </a:cubicBezTo>
                  <a:cubicBezTo>
                    <a:pt x="30544" y="139123"/>
                    <a:pt x="25830" y="139367"/>
                    <a:pt x="23444" y="142428"/>
                  </a:cubicBezTo>
                  <a:cubicBezTo>
                    <a:pt x="7651" y="162748"/>
                    <a:pt x="0" y="185150"/>
                    <a:pt x="0" y="210856"/>
                  </a:cubicBezTo>
                  <a:cubicBezTo>
                    <a:pt x="0" y="239379"/>
                    <a:pt x="9487" y="263984"/>
                    <a:pt x="29013" y="286079"/>
                  </a:cubicBezTo>
                  <a:cubicBezTo>
                    <a:pt x="38256" y="296546"/>
                    <a:pt x="48906" y="305543"/>
                    <a:pt x="60046" y="313806"/>
                  </a:cubicBezTo>
                  <a:cubicBezTo>
                    <a:pt x="47131" y="323415"/>
                    <a:pt x="32441" y="335779"/>
                    <a:pt x="21117" y="351387"/>
                  </a:cubicBezTo>
                  <a:cubicBezTo>
                    <a:pt x="7101" y="370605"/>
                    <a:pt x="184" y="391661"/>
                    <a:pt x="0" y="415715"/>
                  </a:cubicBezTo>
                  <a:cubicBezTo>
                    <a:pt x="0" y="417061"/>
                    <a:pt x="306" y="418469"/>
                    <a:pt x="1041" y="419632"/>
                  </a:cubicBezTo>
                  <a:cubicBezTo>
                    <a:pt x="2387" y="421774"/>
                    <a:pt x="4652" y="422999"/>
                    <a:pt x="7039" y="422999"/>
                  </a:cubicBezTo>
                  <a:lnTo>
                    <a:pt x="38440" y="422999"/>
                  </a:lnTo>
                  <a:cubicBezTo>
                    <a:pt x="42357" y="422999"/>
                    <a:pt x="45601" y="419816"/>
                    <a:pt x="45601" y="415898"/>
                  </a:cubicBezTo>
                  <a:cubicBezTo>
                    <a:pt x="45723" y="404881"/>
                    <a:pt x="48172" y="395333"/>
                    <a:pt x="52456" y="386764"/>
                  </a:cubicBezTo>
                  <a:lnTo>
                    <a:pt x="111891" y="386764"/>
                  </a:lnTo>
                  <a:cubicBezTo>
                    <a:pt x="115135" y="386764"/>
                    <a:pt x="117706" y="384132"/>
                    <a:pt x="117644" y="380827"/>
                  </a:cubicBezTo>
                  <a:cubicBezTo>
                    <a:pt x="117583" y="377644"/>
                    <a:pt x="114767" y="375196"/>
                    <a:pt x="111585" y="375196"/>
                  </a:cubicBezTo>
                  <a:lnTo>
                    <a:pt x="105770" y="375196"/>
                  </a:lnTo>
                  <a:lnTo>
                    <a:pt x="105770" y="363628"/>
                  </a:lnTo>
                  <a:lnTo>
                    <a:pt x="146963" y="363628"/>
                  </a:lnTo>
                  <a:cubicBezTo>
                    <a:pt x="150330" y="367423"/>
                    <a:pt x="153207" y="371279"/>
                    <a:pt x="155716" y="375196"/>
                  </a:cubicBezTo>
                  <a:cubicBezTo>
                    <a:pt x="152166" y="375196"/>
                    <a:pt x="140720" y="375196"/>
                    <a:pt x="140720" y="375196"/>
                  </a:cubicBezTo>
                  <a:cubicBezTo>
                    <a:pt x="137537" y="375196"/>
                    <a:pt x="134783" y="377644"/>
                    <a:pt x="134660" y="380827"/>
                  </a:cubicBezTo>
                  <a:cubicBezTo>
                    <a:pt x="134599" y="384071"/>
                    <a:pt x="137170" y="386764"/>
                    <a:pt x="140414" y="386764"/>
                  </a:cubicBezTo>
                  <a:lnTo>
                    <a:pt x="147330" y="386764"/>
                  </a:lnTo>
                  <a:cubicBezTo>
                    <a:pt x="151738" y="395517"/>
                    <a:pt x="153941" y="404881"/>
                    <a:pt x="154063" y="415225"/>
                  </a:cubicBezTo>
                  <a:cubicBezTo>
                    <a:pt x="154125" y="419081"/>
                    <a:pt x="157246" y="422203"/>
                    <a:pt x="161102" y="422203"/>
                  </a:cubicBezTo>
                  <a:lnTo>
                    <a:pt x="192196" y="422203"/>
                  </a:lnTo>
                  <a:cubicBezTo>
                    <a:pt x="193788" y="422203"/>
                    <a:pt x="195319" y="421774"/>
                    <a:pt x="196604" y="420795"/>
                  </a:cubicBezTo>
                  <a:cubicBezTo>
                    <a:pt x="198440" y="419387"/>
                    <a:pt x="199481" y="417306"/>
                    <a:pt x="199420" y="415103"/>
                  </a:cubicBezTo>
                  <a:cubicBezTo>
                    <a:pt x="199236" y="387009"/>
                    <a:pt x="189687" y="362710"/>
                    <a:pt x="170284" y="340920"/>
                  </a:cubicBezTo>
                  <a:cubicBezTo>
                    <a:pt x="161408" y="330454"/>
                    <a:pt x="150880" y="321579"/>
                    <a:pt x="139924" y="313439"/>
                  </a:cubicBezTo>
                  <a:lnTo>
                    <a:pt x="139924" y="313439"/>
                  </a:lnTo>
                  <a:close/>
                  <a:moveTo>
                    <a:pt x="148432" y="71734"/>
                  </a:moveTo>
                  <a:cubicBezTo>
                    <a:pt x="150574" y="71734"/>
                    <a:pt x="152595" y="70816"/>
                    <a:pt x="154002" y="69286"/>
                  </a:cubicBezTo>
                  <a:cubicBezTo>
                    <a:pt x="160735" y="61880"/>
                    <a:pt x="165938" y="54474"/>
                    <a:pt x="169917" y="46517"/>
                  </a:cubicBezTo>
                  <a:cubicBezTo>
                    <a:pt x="170773" y="44803"/>
                    <a:pt x="171018" y="42845"/>
                    <a:pt x="170467" y="41008"/>
                  </a:cubicBezTo>
                  <a:cubicBezTo>
                    <a:pt x="169427" y="37642"/>
                    <a:pt x="166489" y="35500"/>
                    <a:pt x="163122" y="35500"/>
                  </a:cubicBezTo>
                  <a:lnTo>
                    <a:pt x="161164" y="35500"/>
                  </a:lnTo>
                  <a:cubicBezTo>
                    <a:pt x="164102" y="28217"/>
                    <a:pt x="165877" y="20566"/>
                    <a:pt x="166489" y="12425"/>
                  </a:cubicBezTo>
                  <a:lnTo>
                    <a:pt x="187361" y="12425"/>
                  </a:lnTo>
                  <a:cubicBezTo>
                    <a:pt x="184974" y="54535"/>
                    <a:pt x="158532" y="80365"/>
                    <a:pt x="129213" y="101603"/>
                  </a:cubicBezTo>
                  <a:cubicBezTo>
                    <a:pt x="123153" y="97380"/>
                    <a:pt x="117032" y="93340"/>
                    <a:pt x="110850" y="89240"/>
                  </a:cubicBezTo>
                  <a:cubicBezTo>
                    <a:pt x="118746" y="83792"/>
                    <a:pt x="126642" y="77977"/>
                    <a:pt x="133742" y="71796"/>
                  </a:cubicBezTo>
                  <a:lnTo>
                    <a:pt x="148432" y="71796"/>
                  </a:lnTo>
                  <a:close/>
                  <a:moveTo>
                    <a:pt x="114094" y="71734"/>
                  </a:moveTo>
                  <a:cubicBezTo>
                    <a:pt x="109503" y="75162"/>
                    <a:pt x="104790" y="78467"/>
                    <a:pt x="100077" y="81711"/>
                  </a:cubicBezTo>
                  <a:cubicBezTo>
                    <a:pt x="95180" y="78344"/>
                    <a:pt x="90467" y="75101"/>
                    <a:pt x="85999" y="71734"/>
                  </a:cubicBezTo>
                  <a:lnTo>
                    <a:pt x="114094" y="71734"/>
                  </a:lnTo>
                  <a:close/>
                  <a:moveTo>
                    <a:pt x="93650" y="47803"/>
                  </a:moveTo>
                  <a:lnTo>
                    <a:pt x="93650" y="59370"/>
                  </a:lnTo>
                  <a:lnTo>
                    <a:pt x="70084" y="59370"/>
                  </a:lnTo>
                  <a:cubicBezTo>
                    <a:pt x="66106" y="55637"/>
                    <a:pt x="62495" y="51842"/>
                    <a:pt x="59312" y="47803"/>
                  </a:cubicBezTo>
                  <a:lnTo>
                    <a:pt x="93650" y="47803"/>
                  </a:lnTo>
                  <a:close/>
                  <a:moveTo>
                    <a:pt x="12976" y="12364"/>
                  </a:moveTo>
                  <a:lnTo>
                    <a:pt x="33604" y="12364"/>
                  </a:lnTo>
                  <a:cubicBezTo>
                    <a:pt x="36604" y="54046"/>
                    <a:pt x="70207" y="76386"/>
                    <a:pt x="105708" y="100012"/>
                  </a:cubicBezTo>
                  <a:cubicBezTo>
                    <a:pt x="143903" y="125473"/>
                    <a:pt x="187239" y="154302"/>
                    <a:pt x="187239" y="211041"/>
                  </a:cubicBezTo>
                  <a:cubicBezTo>
                    <a:pt x="187239" y="256578"/>
                    <a:pt x="159817" y="283754"/>
                    <a:pt x="129274" y="305911"/>
                  </a:cubicBezTo>
                  <a:cubicBezTo>
                    <a:pt x="123275" y="301748"/>
                    <a:pt x="117154" y="297709"/>
                    <a:pt x="111033" y="293608"/>
                  </a:cubicBezTo>
                  <a:cubicBezTo>
                    <a:pt x="111033" y="293608"/>
                    <a:pt x="111033" y="293608"/>
                    <a:pt x="111033" y="293608"/>
                  </a:cubicBezTo>
                  <a:cubicBezTo>
                    <a:pt x="142128" y="272063"/>
                    <a:pt x="166611" y="249723"/>
                    <a:pt x="166611" y="211041"/>
                  </a:cubicBezTo>
                  <a:cubicBezTo>
                    <a:pt x="166611" y="165319"/>
                    <a:pt x="131478" y="141938"/>
                    <a:pt x="94262" y="117210"/>
                  </a:cubicBezTo>
                  <a:cubicBezTo>
                    <a:pt x="57537" y="92667"/>
                    <a:pt x="16037" y="65063"/>
                    <a:pt x="12976" y="12364"/>
                  </a:cubicBezTo>
                  <a:lnTo>
                    <a:pt x="12976" y="12364"/>
                  </a:lnTo>
                  <a:close/>
                  <a:moveTo>
                    <a:pt x="106014" y="253089"/>
                  </a:moveTo>
                  <a:lnTo>
                    <a:pt x="140291" y="253089"/>
                  </a:lnTo>
                  <a:cubicBezTo>
                    <a:pt x="137108" y="257129"/>
                    <a:pt x="133497" y="260924"/>
                    <a:pt x="129519" y="264657"/>
                  </a:cubicBezTo>
                  <a:lnTo>
                    <a:pt x="106014" y="264657"/>
                  </a:lnTo>
                  <a:lnTo>
                    <a:pt x="106014" y="253089"/>
                  </a:lnTo>
                  <a:close/>
                  <a:moveTo>
                    <a:pt x="106014" y="205287"/>
                  </a:moveTo>
                  <a:lnTo>
                    <a:pt x="155227" y="205287"/>
                  </a:lnTo>
                  <a:cubicBezTo>
                    <a:pt x="155533" y="209082"/>
                    <a:pt x="155533" y="213060"/>
                    <a:pt x="155227" y="216855"/>
                  </a:cubicBezTo>
                  <a:lnTo>
                    <a:pt x="106014" y="216855"/>
                  </a:lnTo>
                  <a:lnTo>
                    <a:pt x="106014" y="205287"/>
                  </a:lnTo>
                  <a:close/>
                  <a:moveTo>
                    <a:pt x="106014" y="158280"/>
                  </a:moveTo>
                  <a:lnTo>
                    <a:pt x="129580" y="158280"/>
                  </a:lnTo>
                  <a:cubicBezTo>
                    <a:pt x="133558" y="162014"/>
                    <a:pt x="137170" y="165809"/>
                    <a:pt x="140353" y="169848"/>
                  </a:cubicBezTo>
                  <a:lnTo>
                    <a:pt x="106014" y="169848"/>
                  </a:lnTo>
                  <a:lnTo>
                    <a:pt x="106014" y="158280"/>
                  </a:lnTo>
                  <a:close/>
                  <a:moveTo>
                    <a:pt x="100077" y="135940"/>
                  </a:moveTo>
                  <a:cubicBezTo>
                    <a:pt x="104974" y="139306"/>
                    <a:pt x="109687" y="142550"/>
                    <a:pt x="114155" y="145917"/>
                  </a:cubicBezTo>
                  <a:lnTo>
                    <a:pt x="86060" y="145917"/>
                  </a:lnTo>
                  <a:cubicBezTo>
                    <a:pt x="90589" y="142489"/>
                    <a:pt x="95364" y="139184"/>
                    <a:pt x="100077" y="135940"/>
                  </a:cubicBezTo>
                  <a:lnTo>
                    <a:pt x="100077" y="135940"/>
                  </a:lnTo>
                  <a:close/>
                  <a:moveTo>
                    <a:pt x="52456" y="158280"/>
                  </a:moveTo>
                  <a:lnTo>
                    <a:pt x="93650" y="158280"/>
                  </a:lnTo>
                  <a:lnTo>
                    <a:pt x="93650" y="169848"/>
                  </a:lnTo>
                  <a:cubicBezTo>
                    <a:pt x="86550" y="169848"/>
                    <a:pt x="55333" y="169848"/>
                    <a:pt x="43704" y="169848"/>
                  </a:cubicBezTo>
                  <a:cubicBezTo>
                    <a:pt x="46213" y="165931"/>
                    <a:pt x="49090" y="162075"/>
                    <a:pt x="52456" y="158280"/>
                  </a:cubicBezTo>
                  <a:close/>
                  <a:moveTo>
                    <a:pt x="52518" y="182212"/>
                  </a:moveTo>
                  <a:lnTo>
                    <a:pt x="147636" y="182212"/>
                  </a:lnTo>
                  <a:cubicBezTo>
                    <a:pt x="149412" y="185884"/>
                    <a:pt x="150880" y="189679"/>
                    <a:pt x="151983" y="193780"/>
                  </a:cubicBezTo>
                  <a:lnTo>
                    <a:pt x="48172" y="193780"/>
                  </a:lnTo>
                  <a:cubicBezTo>
                    <a:pt x="49212" y="189740"/>
                    <a:pt x="50682" y="185946"/>
                    <a:pt x="52518" y="182212"/>
                  </a:cubicBezTo>
                  <a:lnTo>
                    <a:pt x="52518" y="182212"/>
                  </a:lnTo>
                  <a:close/>
                  <a:moveTo>
                    <a:pt x="31707" y="205287"/>
                  </a:moveTo>
                  <a:lnTo>
                    <a:pt x="93650" y="205287"/>
                  </a:lnTo>
                  <a:lnTo>
                    <a:pt x="93650" y="216855"/>
                  </a:lnTo>
                  <a:cubicBezTo>
                    <a:pt x="83183" y="216855"/>
                    <a:pt x="38807" y="216855"/>
                    <a:pt x="31707" y="216855"/>
                  </a:cubicBezTo>
                  <a:cubicBezTo>
                    <a:pt x="31462" y="213121"/>
                    <a:pt x="31462" y="209143"/>
                    <a:pt x="31707" y="205287"/>
                  </a:cubicBezTo>
                  <a:lnTo>
                    <a:pt x="31707" y="205287"/>
                  </a:lnTo>
                  <a:close/>
                  <a:moveTo>
                    <a:pt x="48172" y="229157"/>
                  </a:moveTo>
                  <a:lnTo>
                    <a:pt x="151983" y="229157"/>
                  </a:lnTo>
                  <a:cubicBezTo>
                    <a:pt x="150880" y="233197"/>
                    <a:pt x="149412" y="237053"/>
                    <a:pt x="147636" y="240726"/>
                  </a:cubicBezTo>
                  <a:lnTo>
                    <a:pt x="52518" y="240726"/>
                  </a:lnTo>
                  <a:cubicBezTo>
                    <a:pt x="50682" y="236992"/>
                    <a:pt x="49212" y="233136"/>
                    <a:pt x="48172" y="229157"/>
                  </a:cubicBezTo>
                  <a:close/>
                  <a:moveTo>
                    <a:pt x="43704" y="253089"/>
                  </a:moveTo>
                  <a:lnTo>
                    <a:pt x="93650" y="253089"/>
                  </a:lnTo>
                  <a:lnTo>
                    <a:pt x="93650" y="264657"/>
                  </a:lnTo>
                  <a:lnTo>
                    <a:pt x="52456" y="264657"/>
                  </a:lnTo>
                  <a:cubicBezTo>
                    <a:pt x="49090" y="260801"/>
                    <a:pt x="46213" y="257006"/>
                    <a:pt x="43704" y="253089"/>
                  </a:cubicBezTo>
                  <a:lnTo>
                    <a:pt x="43704" y="253089"/>
                  </a:lnTo>
                  <a:close/>
                  <a:moveTo>
                    <a:pt x="114094" y="276164"/>
                  </a:moveTo>
                  <a:cubicBezTo>
                    <a:pt x="109626" y="279469"/>
                    <a:pt x="104913" y="282774"/>
                    <a:pt x="100077" y="286140"/>
                  </a:cubicBezTo>
                  <a:cubicBezTo>
                    <a:pt x="95242" y="282836"/>
                    <a:pt x="90528" y="279530"/>
                    <a:pt x="86060" y="276164"/>
                  </a:cubicBezTo>
                  <a:lnTo>
                    <a:pt x="114094" y="276164"/>
                  </a:lnTo>
                  <a:close/>
                  <a:moveTo>
                    <a:pt x="85999" y="351203"/>
                  </a:moveTo>
                  <a:cubicBezTo>
                    <a:pt x="90467" y="347898"/>
                    <a:pt x="95119" y="344593"/>
                    <a:pt x="100016" y="341226"/>
                  </a:cubicBezTo>
                  <a:cubicBezTo>
                    <a:pt x="104852" y="344532"/>
                    <a:pt x="109564" y="347837"/>
                    <a:pt x="114033" y="351203"/>
                  </a:cubicBezTo>
                  <a:cubicBezTo>
                    <a:pt x="96588" y="351203"/>
                    <a:pt x="103443" y="351203"/>
                    <a:pt x="85999" y="351203"/>
                  </a:cubicBezTo>
                  <a:close/>
                  <a:moveTo>
                    <a:pt x="33665" y="409717"/>
                  </a:moveTo>
                  <a:lnTo>
                    <a:pt x="13038" y="409717"/>
                  </a:lnTo>
                  <a:cubicBezTo>
                    <a:pt x="15425" y="367851"/>
                    <a:pt x="41684" y="342206"/>
                    <a:pt x="70819" y="321028"/>
                  </a:cubicBezTo>
                  <a:cubicBezTo>
                    <a:pt x="76879" y="325252"/>
                    <a:pt x="83000" y="329291"/>
                    <a:pt x="89059" y="333331"/>
                  </a:cubicBezTo>
                  <a:cubicBezTo>
                    <a:pt x="59985" y="353468"/>
                    <a:pt x="36175" y="374584"/>
                    <a:pt x="33665" y="409717"/>
                  </a:cubicBezTo>
                  <a:close/>
                  <a:moveTo>
                    <a:pt x="70146" y="363567"/>
                  </a:moveTo>
                  <a:lnTo>
                    <a:pt x="93650" y="363567"/>
                  </a:lnTo>
                  <a:lnTo>
                    <a:pt x="93650" y="375135"/>
                  </a:lnTo>
                  <a:lnTo>
                    <a:pt x="59373" y="375135"/>
                  </a:lnTo>
                  <a:cubicBezTo>
                    <a:pt x="62556" y="371096"/>
                    <a:pt x="66167" y="367239"/>
                    <a:pt x="70146" y="363567"/>
                  </a:cubicBezTo>
                  <a:close/>
                </a:path>
              </a:pathLst>
            </a:custGeom>
            <a:solidFill>
              <a:schemeClr val="dk1"/>
            </a:solidFill>
            <a:ln w="6350">
              <a:solidFill>
                <a:schemeClr val="tx2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1022;p54">
              <a:extLst>
                <a:ext uri="{FF2B5EF4-FFF2-40B4-BE49-F238E27FC236}">
                  <a16:creationId xmlns:a16="http://schemas.microsoft.com/office/drawing/2014/main" id="{26FC4EDB-56CE-4F0E-D2A8-CE6927193800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085610" y="3637401"/>
              <a:ext cx="162033" cy="343274"/>
            </a:xfrm>
            <a:custGeom>
              <a:avLst/>
              <a:gdLst/>
              <a:ahLst/>
              <a:cxnLst/>
              <a:rect l="l" t="t" r="r" b="b"/>
              <a:pathLst>
                <a:path w="199664" h="422998" extrusionOk="0">
                  <a:moveTo>
                    <a:pt x="139924" y="313439"/>
                  </a:moveTo>
                  <a:cubicBezTo>
                    <a:pt x="152839" y="303829"/>
                    <a:pt x="167591" y="291405"/>
                    <a:pt x="178853" y="275797"/>
                  </a:cubicBezTo>
                  <a:cubicBezTo>
                    <a:pt x="192870" y="256455"/>
                    <a:pt x="199664" y="235278"/>
                    <a:pt x="199664" y="211041"/>
                  </a:cubicBezTo>
                  <a:cubicBezTo>
                    <a:pt x="199664" y="182640"/>
                    <a:pt x="190238" y="158219"/>
                    <a:pt x="170773" y="136246"/>
                  </a:cubicBezTo>
                  <a:cubicBezTo>
                    <a:pt x="161531" y="125841"/>
                    <a:pt x="151003" y="116843"/>
                    <a:pt x="139924" y="108642"/>
                  </a:cubicBezTo>
                  <a:cubicBezTo>
                    <a:pt x="152778" y="99094"/>
                    <a:pt x="167407" y="86730"/>
                    <a:pt x="178670" y="71245"/>
                  </a:cubicBezTo>
                  <a:cubicBezTo>
                    <a:pt x="192625" y="52087"/>
                    <a:pt x="199481" y="31154"/>
                    <a:pt x="199664" y="7284"/>
                  </a:cubicBezTo>
                  <a:cubicBezTo>
                    <a:pt x="199664" y="5693"/>
                    <a:pt x="199236" y="4163"/>
                    <a:pt x="198317" y="2877"/>
                  </a:cubicBezTo>
                  <a:cubicBezTo>
                    <a:pt x="196971" y="1041"/>
                    <a:pt x="194890" y="0"/>
                    <a:pt x="192625" y="0"/>
                  </a:cubicBezTo>
                  <a:lnTo>
                    <a:pt x="161347" y="0"/>
                  </a:lnTo>
                  <a:cubicBezTo>
                    <a:pt x="157491" y="0"/>
                    <a:pt x="154369" y="3122"/>
                    <a:pt x="154308" y="6978"/>
                  </a:cubicBezTo>
                  <a:cubicBezTo>
                    <a:pt x="154186" y="17383"/>
                    <a:pt x="151983" y="26686"/>
                    <a:pt x="147575" y="35439"/>
                  </a:cubicBezTo>
                  <a:lnTo>
                    <a:pt x="141271" y="35439"/>
                  </a:lnTo>
                  <a:cubicBezTo>
                    <a:pt x="138088" y="35439"/>
                    <a:pt x="135272" y="37704"/>
                    <a:pt x="134905" y="40825"/>
                  </a:cubicBezTo>
                  <a:cubicBezTo>
                    <a:pt x="134476" y="44559"/>
                    <a:pt x="137353" y="47803"/>
                    <a:pt x="141026" y="47803"/>
                  </a:cubicBezTo>
                  <a:lnTo>
                    <a:pt x="155900" y="47803"/>
                  </a:lnTo>
                  <a:cubicBezTo>
                    <a:pt x="153390" y="51720"/>
                    <a:pt x="150513" y="55514"/>
                    <a:pt x="147147" y="59370"/>
                  </a:cubicBezTo>
                  <a:cubicBezTo>
                    <a:pt x="136986" y="59370"/>
                    <a:pt x="113421" y="59370"/>
                    <a:pt x="105953" y="59370"/>
                  </a:cubicBezTo>
                  <a:lnTo>
                    <a:pt x="105953" y="47803"/>
                  </a:lnTo>
                  <a:lnTo>
                    <a:pt x="111646" y="47803"/>
                  </a:lnTo>
                  <a:cubicBezTo>
                    <a:pt x="114829" y="47803"/>
                    <a:pt x="117644" y="45538"/>
                    <a:pt x="118012" y="42417"/>
                  </a:cubicBezTo>
                  <a:cubicBezTo>
                    <a:pt x="118440" y="38683"/>
                    <a:pt x="115563" y="35439"/>
                    <a:pt x="111891" y="35439"/>
                  </a:cubicBezTo>
                  <a:lnTo>
                    <a:pt x="52395" y="35439"/>
                  </a:lnTo>
                  <a:cubicBezTo>
                    <a:pt x="48233" y="27053"/>
                    <a:pt x="45846" y="17750"/>
                    <a:pt x="45723" y="6978"/>
                  </a:cubicBezTo>
                  <a:cubicBezTo>
                    <a:pt x="45662" y="3122"/>
                    <a:pt x="42540" y="0"/>
                    <a:pt x="38684" y="0"/>
                  </a:cubicBezTo>
                  <a:lnTo>
                    <a:pt x="7590" y="0"/>
                  </a:lnTo>
                  <a:cubicBezTo>
                    <a:pt x="5999" y="0"/>
                    <a:pt x="4469" y="429"/>
                    <a:pt x="3183" y="1408"/>
                  </a:cubicBezTo>
                  <a:cubicBezTo>
                    <a:pt x="1347" y="2816"/>
                    <a:pt x="306" y="4897"/>
                    <a:pt x="368" y="7100"/>
                  </a:cubicBezTo>
                  <a:cubicBezTo>
                    <a:pt x="551" y="35194"/>
                    <a:pt x="10099" y="59493"/>
                    <a:pt x="29503" y="81344"/>
                  </a:cubicBezTo>
                  <a:cubicBezTo>
                    <a:pt x="38684" y="91688"/>
                    <a:pt x="49151" y="100563"/>
                    <a:pt x="60169" y="108703"/>
                  </a:cubicBezTo>
                  <a:cubicBezTo>
                    <a:pt x="54476" y="112926"/>
                    <a:pt x="49518" y="116904"/>
                    <a:pt x="44867" y="120944"/>
                  </a:cubicBezTo>
                  <a:cubicBezTo>
                    <a:pt x="42479" y="123025"/>
                    <a:pt x="41867" y="126637"/>
                    <a:pt x="43643" y="129268"/>
                  </a:cubicBezTo>
                  <a:cubicBezTo>
                    <a:pt x="45785" y="132390"/>
                    <a:pt x="50070" y="132818"/>
                    <a:pt x="52824" y="130431"/>
                  </a:cubicBezTo>
                  <a:cubicBezTo>
                    <a:pt x="58088" y="125841"/>
                    <a:pt x="63842" y="121311"/>
                    <a:pt x="70696" y="116292"/>
                  </a:cubicBezTo>
                  <a:cubicBezTo>
                    <a:pt x="76695" y="120455"/>
                    <a:pt x="82816" y="124494"/>
                    <a:pt x="88937" y="128595"/>
                  </a:cubicBezTo>
                  <a:cubicBezTo>
                    <a:pt x="81102" y="134042"/>
                    <a:pt x="73267" y="139796"/>
                    <a:pt x="66167" y="145978"/>
                  </a:cubicBezTo>
                  <a:lnTo>
                    <a:pt x="51600" y="145978"/>
                  </a:lnTo>
                  <a:cubicBezTo>
                    <a:pt x="49457" y="145978"/>
                    <a:pt x="47437" y="146896"/>
                    <a:pt x="45968" y="148487"/>
                  </a:cubicBezTo>
                  <a:cubicBezTo>
                    <a:pt x="39296" y="155771"/>
                    <a:pt x="34155" y="163115"/>
                    <a:pt x="30177" y="171011"/>
                  </a:cubicBezTo>
                  <a:cubicBezTo>
                    <a:pt x="29197" y="172970"/>
                    <a:pt x="28952" y="175296"/>
                    <a:pt x="29748" y="177377"/>
                  </a:cubicBezTo>
                  <a:cubicBezTo>
                    <a:pt x="30911" y="180437"/>
                    <a:pt x="33727" y="182273"/>
                    <a:pt x="36848" y="182273"/>
                  </a:cubicBezTo>
                  <a:lnTo>
                    <a:pt x="38746" y="182273"/>
                  </a:lnTo>
                  <a:cubicBezTo>
                    <a:pt x="37338" y="185762"/>
                    <a:pt x="36236" y="189312"/>
                    <a:pt x="35379" y="192985"/>
                  </a:cubicBezTo>
                  <a:lnTo>
                    <a:pt x="29136" y="192985"/>
                  </a:lnTo>
                  <a:cubicBezTo>
                    <a:pt x="25280" y="192985"/>
                    <a:pt x="22035" y="195861"/>
                    <a:pt x="21546" y="199717"/>
                  </a:cubicBezTo>
                  <a:cubicBezTo>
                    <a:pt x="20689" y="207001"/>
                    <a:pt x="20689" y="214957"/>
                    <a:pt x="21546" y="222547"/>
                  </a:cubicBezTo>
                  <a:cubicBezTo>
                    <a:pt x="21974" y="226342"/>
                    <a:pt x="25218" y="229280"/>
                    <a:pt x="29074" y="229280"/>
                  </a:cubicBezTo>
                  <a:lnTo>
                    <a:pt x="35257" y="229280"/>
                  </a:lnTo>
                  <a:cubicBezTo>
                    <a:pt x="36175" y="233258"/>
                    <a:pt x="37338" y="237053"/>
                    <a:pt x="38868" y="240848"/>
                  </a:cubicBezTo>
                  <a:lnTo>
                    <a:pt x="37031" y="240848"/>
                  </a:lnTo>
                  <a:cubicBezTo>
                    <a:pt x="34828" y="240848"/>
                    <a:pt x="32686" y="241705"/>
                    <a:pt x="31278" y="243296"/>
                  </a:cubicBezTo>
                  <a:cubicBezTo>
                    <a:pt x="29074" y="245744"/>
                    <a:pt x="28646" y="249050"/>
                    <a:pt x="30054" y="251865"/>
                  </a:cubicBezTo>
                  <a:cubicBezTo>
                    <a:pt x="34033" y="259822"/>
                    <a:pt x="39235" y="267228"/>
                    <a:pt x="45968" y="274634"/>
                  </a:cubicBezTo>
                  <a:cubicBezTo>
                    <a:pt x="47376" y="276225"/>
                    <a:pt x="49457" y="277082"/>
                    <a:pt x="51538" y="277082"/>
                  </a:cubicBezTo>
                  <a:lnTo>
                    <a:pt x="66473" y="277082"/>
                  </a:lnTo>
                  <a:cubicBezTo>
                    <a:pt x="109075" y="314234"/>
                    <a:pt x="182587" y="338840"/>
                    <a:pt x="186627" y="409778"/>
                  </a:cubicBezTo>
                  <a:lnTo>
                    <a:pt x="166244" y="409778"/>
                  </a:lnTo>
                  <a:cubicBezTo>
                    <a:pt x="165693" y="401882"/>
                    <a:pt x="163979" y="394538"/>
                    <a:pt x="161164" y="387499"/>
                  </a:cubicBezTo>
                  <a:lnTo>
                    <a:pt x="163061" y="387499"/>
                  </a:lnTo>
                  <a:cubicBezTo>
                    <a:pt x="168754" y="387499"/>
                    <a:pt x="172426" y="381562"/>
                    <a:pt x="169855" y="376482"/>
                  </a:cubicBezTo>
                  <a:cubicBezTo>
                    <a:pt x="165877" y="368525"/>
                    <a:pt x="160674" y="361118"/>
                    <a:pt x="153941" y="353713"/>
                  </a:cubicBezTo>
                  <a:cubicBezTo>
                    <a:pt x="152472" y="352122"/>
                    <a:pt x="150452" y="351203"/>
                    <a:pt x="148310" y="351203"/>
                  </a:cubicBezTo>
                  <a:lnTo>
                    <a:pt x="134048" y="351203"/>
                  </a:lnTo>
                  <a:cubicBezTo>
                    <a:pt x="89916" y="312704"/>
                    <a:pt x="12426" y="287365"/>
                    <a:pt x="12426" y="210856"/>
                  </a:cubicBezTo>
                  <a:cubicBezTo>
                    <a:pt x="12426" y="188027"/>
                    <a:pt x="19220" y="168196"/>
                    <a:pt x="33175" y="150140"/>
                  </a:cubicBezTo>
                  <a:cubicBezTo>
                    <a:pt x="34951" y="147814"/>
                    <a:pt x="35012" y="144509"/>
                    <a:pt x="33175" y="142305"/>
                  </a:cubicBezTo>
                  <a:cubicBezTo>
                    <a:pt x="30544" y="139123"/>
                    <a:pt x="25830" y="139367"/>
                    <a:pt x="23444" y="142428"/>
                  </a:cubicBezTo>
                  <a:cubicBezTo>
                    <a:pt x="7651" y="162748"/>
                    <a:pt x="0" y="185150"/>
                    <a:pt x="0" y="210856"/>
                  </a:cubicBezTo>
                  <a:cubicBezTo>
                    <a:pt x="0" y="239379"/>
                    <a:pt x="9487" y="263984"/>
                    <a:pt x="29013" y="286079"/>
                  </a:cubicBezTo>
                  <a:cubicBezTo>
                    <a:pt x="38256" y="296546"/>
                    <a:pt x="48906" y="305543"/>
                    <a:pt x="60046" y="313806"/>
                  </a:cubicBezTo>
                  <a:cubicBezTo>
                    <a:pt x="47131" y="323415"/>
                    <a:pt x="32441" y="335779"/>
                    <a:pt x="21117" y="351387"/>
                  </a:cubicBezTo>
                  <a:cubicBezTo>
                    <a:pt x="7101" y="370605"/>
                    <a:pt x="184" y="391661"/>
                    <a:pt x="0" y="415715"/>
                  </a:cubicBezTo>
                  <a:cubicBezTo>
                    <a:pt x="0" y="417061"/>
                    <a:pt x="306" y="418469"/>
                    <a:pt x="1041" y="419632"/>
                  </a:cubicBezTo>
                  <a:cubicBezTo>
                    <a:pt x="2387" y="421774"/>
                    <a:pt x="4652" y="422999"/>
                    <a:pt x="7039" y="422999"/>
                  </a:cubicBezTo>
                  <a:lnTo>
                    <a:pt x="38440" y="422999"/>
                  </a:lnTo>
                  <a:cubicBezTo>
                    <a:pt x="42357" y="422999"/>
                    <a:pt x="45601" y="419816"/>
                    <a:pt x="45601" y="415898"/>
                  </a:cubicBezTo>
                  <a:cubicBezTo>
                    <a:pt x="45723" y="404881"/>
                    <a:pt x="48172" y="395333"/>
                    <a:pt x="52456" y="386764"/>
                  </a:cubicBezTo>
                  <a:lnTo>
                    <a:pt x="111891" y="386764"/>
                  </a:lnTo>
                  <a:cubicBezTo>
                    <a:pt x="115135" y="386764"/>
                    <a:pt x="117706" y="384132"/>
                    <a:pt x="117644" y="380827"/>
                  </a:cubicBezTo>
                  <a:cubicBezTo>
                    <a:pt x="117583" y="377644"/>
                    <a:pt x="114767" y="375196"/>
                    <a:pt x="111585" y="375196"/>
                  </a:cubicBezTo>
                  <a:lnTo>
                    <a:pt x="105770" y="375196"/>
                  </a:lnTo>
                  <a:lnTo>
                    <a:pt x="105770" y="363628"/>
                  </a:lnTo>
                  <a:lnTo>
                    <a:pt x="146963" y="363628"/>
                  </a:lnTo>
                  <a:cubicBezTo>
                    <a:pt x="150330" y="367423"/>
                    <a:pt x="153207" y="371279"/>
                    <a:pt x="155716" y="375196"/>
                  </a:cubicBezTo>
                  <a:cubicBezTo>
                    <a:pt x="152166" y="375196"/>
                    <a:pt x="140720" y="375196"/>
                    <a:pt x="140720" y="375196"/>
                  </a:cubicBezTo>
                  <a:cubicBezTo>
                    <a:pt x="137537" y="375196"/>
                    <a:pt x="134783" y="377644"/>
                    <a:pt x="134660" y="380827"/>
                  </a:cubicBezTo>
                  <a:cubicBezTo>
                    <a:pt x="134599" y="384071"/>
                    <a:pt x="137170" y="386764"/>
                    <a:pt x="140414" y="386764"/>
                  </a:cubicBezTo>
                  <a:lnTo>
                    <a:pt x="147330" y="386764"/>
                  </a:lnTo>
                  <a:cubicBezTo>
                    <a:pt x="151738" y="395517"/>
                    <a:pt x="153941" y="404881"/>
                    <a:pt x="154063" y="415225"/>
                  </a:cubicBezTo>
                  <a:cubicBezTo>
                    <a:pt x="154125" y="419081"/>
                    <a:pt x="157246" y="422203"/>
                    <a:pt x="161102" y="422203"/>
                  </a:cubicBezTo>
                  <a:lnTo>
                    <a:pt x="192196" y="422203"/>
                  </a:lnTo>
                  <a:cubicBezTo>
                    <a:pt x="193788" y="422203"/>
                    <a:pt x="195319" y="421774"/>
                    <a:pt x="196604" y="420795"/>
                  </a:cubicBezTo>
                  <a:cubicBezTo>
                    <a:pt x="198440" y="419387"/>
                    <a:pt x="199481" y="417306"/>
                    <a:pt x="199420" y="415103"/>
                  </a:cubicBezTo>
                  <a:cubicBezTo>
                    <a:pt x="199236" y="387009"/>
                    <a:pt x="189687" y="362710"/>
                    <a:pt x="170284" y="340920"/>
                  </a:cubicBezTo>
                  <a:cubicBezTo>
                    <a:pt x="161408" y="330454"/>
                    <a:pt x="150880" y="321579"/>
                    <a:pt x="139924" y="313439"/>
                  </a:cubicBezTo>
                  <a:lnTo>
                    <a:pt x="139924" y="313439"/>
                  </a:lnTo>
                  <a:close/>
                  <a:moveTo>
                    <a:pt x="148432" y="71734"/>
                  </a:moveTo>
                  <a:cubicBezTo>
                    <a:pt x="150574" y="71734"/>
                    <a:pt x="152595" y="70816"/>
                    <a:pt x="154002" y="69286"/>
                  </a:cubicBezTo>
                  <a:cubicBezTo>
                    <a:pt x="160735" y="61880"/>
                    <a:pt x="165938" y="54474"/>
                    <a:pt x="169917" y="46517"/>
                  </a:cubicBezTo>
                  <a:cubicBezTo>
                    <a:pt x="170773" y="44803"/>
                    <a:pt x="171018" y="42845"/>
                    <a:pt x="170467" y="41008"/>
                  </a:cubicBezTo>
                  <a:cubicBezTo>
                    <a:pt x="169427" y="37642"/>
                    <a:pt x="166489" y="35500"/>
                    <a:pt x="163122" y="35500"/>
                  </a:cubicBezTo>
                  <a:lnTo>
                    <a:pt x="161164" y="35500"/>
                  </a:lnTo>
                  <a:cubicBezTo>
                    <a:pt x="164102" y="28217"/>
                    <a:pt x="165877" y="20566"/>
                    <a:pt x="166489" y="12425"/>
                  </a:cubicBezTo>
                  <a:lnTo>
                    <a:pt x="187361" y="12425"/>
                  </a:lnTo>
                  <a:cubicBezTo>
                    <a:pt x="184974" y="54535"/>
                    <a:pt x="158532" y="80365"/>
                    <a:pt x="129213" y="101603"/>
                  </a:cubicBezTo>
                  <a:cubicBezTo>
                    <a:pt x="123153" y="97380"/>
                    <a:pt x="117032" y="93340"/>
                    <a:pt x="110850" y="89240"/>
                  </a:cubicBezTo>
                  <a:cubicBezTo>
                    <a:pt x="118746" y="83792"/>
                    <a:pt x="126642" y="77977"/>
                    <a:pt x="133742" y="71796"/>
                  </a:cubicBezTo>
                  <a:lnTo>
                    <a:pt x="148432" y="71796"/>
                  </a:lnTo>
                  <a:close/>
                  <a:moveTo>
                    <a:pt x="114094" y="71734"/>
                  </a:moveTo>
                  <a:cubicBezTo>
                    <a:pt x="109503" y="75162"/>
                    <a:pt x="104790" y="78467"/>
                    <a:pt x="100077" y="81711"/>
                  </a:cubicBezTo>
                  <a:cubicBezTo>
                    <a:pt x="95180" y="78344"/>
                    <a:pt x="90467" y="75101"/>
                    <a:pt x="85999" y="71734"/>
                  </a:cubicBezTo>
                  <a:lnTo>
                    <a:pt x="114094" y="71734"/>
                  </a:lnTo>
                  <a:close/>
                  <a:moveTo>
                    <a:pt x="93650" y="47803"/>
                  </a:moveTo>
                  <a:lnTo>
                    <a:pt x="93650" y="59370"/>
                  </a:lnTo>
                  <a:lnTo>
                    <a:pt x="70084" y="59370"/>
                  </a:lnTo>
                  <a:cubicBezTo>
                    <a:pt x="66106" y="55637"/>
                    <a:pt x="62495" y="51842"/>
                    <a:pt x="59312" y="47803"/>
                  </a:cubicBezTo>
                  <a:lnTo>
                    <a:pt x="93650" y="47803"/>
                  </a:lnTo>
                  <a:close/>
                  <a:moveTo>
                    <a:pt x="12976" y="12364"/>
                  </a:moveTo>
                  <a:lnTo>
                    <a:pt x="33604" y="12364"/>
                  </a:lnTo>
                  <a:cubicBezTo>
                    <a:pt x="36604" y="54046"/>
                    <a:pt x="70207" y="76386"/>
                    <a:pt x="105708" y="100012"/>
                  </a:cubicBezTo>
                  <a:cubicBezTo>
                    <a:pt x="143903" y="125473"/>
                    <a:pt x="187239" y="154302"/>
                    <a:pt x="187239" y="211041"/>
                  </a:cubicBezTo>
                  <a:cubicBezTo>
                    <a:pt x="187239" y="256578"/>
                    <a:pt x="159817" y="283754"/>
                    <a:pt x="129274" y="305911"/>
                  </a:cubicBezTo>
                  <a:cubicBezTo>
                    <a:pt x="123275" y="301748"/>
                    <a:pt x="117154" y="297709"/>
                    <a:pt x="111033" y="293608"/>
                  </a:cubicBezTo>
                  <a:cubicBezTo>
                    <a:pt x="111033" y="293608"/>
                    <a:pt x="111033" y="293608"/>
                    <a:pt x="111033" y="293608"/>
                  </a:cubicBezTo>
                  <a:cubicBezTo>
                    <a:pt x="142128" y="272063"/>
                    <a:pt x="166611" y="249723"/>
                    <a:pt x="166611" y="211041"/>
                  </a:cubicBezTo>
                  <a:cubicBezTo>
                    <a:pt x="166611" y="165319"/>
                    <a:pt x="131478" y="141938"/>
                    <a:pt x="94262" y="117210"/>
                  </a:cubicBezTo>
                  <a:cubicBezTo>
                    <a:pt x="57537" y="92667"/>
                    <a:pt x="16037" y="65063"/>
                    <a:pt x="12976" y="12364"/>
                  </a:cubicBezTo>
                  <a:lnTo>
                    <a:pt x="12976" y="12364"/>
                  </a:lnTo>
                  <a:close/>
                  <a:moveTo>
                    <a:pt x="106014" y="253089"/>
                  </a:moveTo>
                  <a:lnTo>
                    <a:pt x="140291" y="253089"/>
                  </a:lnTo>
                  <a:cubicBezTo>
                    <a:pt x="137108" y="257129"/>
                    <a:pt x="133497" y="260924"/>
                    <a:pt x="129519" y="264657"/>
                  </a:cubicBezTo>
                  <a:lnTo>
                    <a:pt x="106014" y="264657"/>
                  </a:lnTo>
                  <a:lnTo>
                    <a:pt x="106014" y="253089"/>
                  </a:lnTo>
                  <a:close/>
                  <a:moveTo>
                    <a:pt x="106014" y="205287"/>
                  </a:moveTo>
                  <a:lnTo>
                    <a:pt x="155227" y="205287"/>
                  </a:lnTo>
                  <a:cubicBezTo>
                    <a:pt x="155533" y="209082"/>
                    <a:pt x="155533" y="213060"/>
                    <a:pt x="155227" y="216855"/>
                  </a:cubicBezTo>
                  <a:lnTo>
                    <a:pt x="106014" y="216855"/>
                  </a:lnTo>
                  <a:lnTo>
                    <a:pt x="106014" y="205287"/>
                  </a:lnTo>
                  <a:close/>
                  <a:moveTo>
                    <a:pt x="106014" y="158280"/>
                  </a:moveTo>
                  <a:lnTo>
                    <a:pt x="129580" y="158280"/>
                  </a:lnTo>
                  <a:cubicBezTo>
                    <a:pt x="133558" y="162014"/>
                    <a:pt x="137170" y="165809"/>
                    <a:pt x="140353" y="169848"/>
                  </a:cubicBezTo>
                  <a:lnTo>
                    <a:pt x="106014" y="169848"/>
                  </a:lnTo>
                  <a:lnTo>
                    <a:pt x="106014" y="158280"/>
                  </a:lnTo>
                  <a:close/>
                  <a:moveTo>
                    <a:pt x="100077" y="135940"/>
                  </a:moveTo>
                  <a:cubicBezTo>
                    <a:pt x="104974" y="139306"/>
                    <a:pt x="109687" y="142550"/>
                    <a:pt x="114155" y="145917"/>
                  </a:cubicBezTo>
                  <a:lnTo>
                    <a:pt x="86060" y="145917"/>
                  </a:lnTo>
                  <a:cubicBezTo>
                    <a:pt x="90589" y="142489"/>
                    <a:pt x="95364" y="139184"/>
                    <a:pt x="100077" y="135940"/>
                  </a:cubicBezTo>
                  <a:lnTo>
                    <a:pt x="100077" y="135940"/>
                  </a:lnTo>
                  <a:close/>
                  <a:moveTo>
                    <a:pt x="52456" y="158280"/>
                  </a:moveTo>
                  <a:lnTo>
                    <a:pt x="93650" y="158280"/>
                  </a:lnTo>
                  <a:lnTo>
                    <a:pt x="93650" y="169848"/>
                  </a:lnTo>
                  <a:cubicBezTo>
                    <a:pt x="86550" y="169848"/>
                    <a:pt x="55333" y="169848"/>
                    <a:pt x="43704" y="169848"/>
                  </a:cubicBezTo>
                  <a:cubicBezTo>
                    <a:pt x="46213" y="165931"/>
                    <a:pt x="49090" y="162075"/>
                    <a:pt x="52456" y="158280"/>
                  </a:cubicBezTo>
                  <a:close/>
                  <a:moveTo>
                    <a:pt x="52518" y="182212"/>
                  </a:moveTo>
                  <a:lnTo>
                    <a:pt x="147636" y="182212"/>
                  </a:lnTo>
                  <a:cubicBezTo>
                    <a:pt x="149412" y="185884"/>
                    <a:pt x="150880" y="189679"/>
                    <a:pt x="151983" y="193780"/>
                  </a:cubicBezTo>
                  <a:lnTo>
                    <a:pt x="48172" y="193780"/>
                  </a:lnTo>
                  <a:cubicBezTo>
                    <a:pt x="49212" y="189740"/>
                    <a:pt x="50682" y="185946"/>
                    <a:pt x="52518" y="182212"/>
                  </a:cubicBezTo>
                  <a:lnTo>
                    <a:pt x="52518" y="182212"/>
                  </a:lnTo>
                  <a:close/>
                  <a:moveTo>
                    <a:pt x="31707" y="205287"/>
                  </a:moveTo>
                  <a:lnTo>
                    <a:pt x="93650" y="205287"/>
                  </a:lnTo>
                  <a:lnTo>
                    <a:pt x="93650" y="216855"/>
                  </a:lnTo>
                  <a:cubicBezTo>
                    <a:pt x="83183" y="216855"/>
                    <a:pt x="38807" y="216855"/>
                    <a:pt x="31707" y="216855"/>
                  </a:cubicBezTo>
                  <a:cubicBezTo>
                    <a:pt x="31462" y="213121"/>
                    <a:pt x="31462" y="209143"/>
                    <a:pt x="31707" y="205287"/>
                  </a:cubicBezTo>
                  <a:lnTo>
                    <a:pt x="31707" y="205287"/>
                  </a:lnTo>
                  <a:close/>
                  <a:moveTo>
                    <a:pt x="48172" y="229157"/>
                  </a:moveTo>
                  <a:lnTo>
                    <a:pt x="151983" y="229157"/>
                  </a:lnTo>
                  <a:cubicBezTo>
                    <a:pt x="150880" y="233197"/>
                    <a:pt x="149412" y="237053"/>
                    <a:pt x="147636" y="240726"/>
                  </a:cubicBezTo>
                  <a:lnTo>
                    <a:pt x="52518" y="240726"/>
                  </a:lnTo>
                  <a:cubicBezTo>
                    <a:pt x="50682" y="236992"/>
                    <a:pt x="49212" y="233136"/>
                    <a:pt x="48172" y="229157"/>
                  </a:cubicBezTo>
                  <a:close/>
                  <a:moveTo>
                    <a:pt x="43704" y="253089"/>
                  </a:moveTo>
                  <a:lnTo>
                    <a:pt x="93650" y="253089"/>
                  </a:lnTo>
                  <a:lnTo>
                    <a:pt x="93650" y="264657"/>
                  </a:lnTo>
                  <a:lnTo>
                    <a:pt x="52456" y="264657"/>
                  </a:lnTo>
                  <a:cubicBezTo>
                    <a:pt x="49090" y="260801"/>
                    <a:pt x="46213" y="257006"/>
                    <a:pt x="43704" y="253089"/>
                  </a:cubicBezTo>
                  <a:lnTo>
                    <a:pt x="43704" y="253089"/>
                  </a:lnTo>
                  <a:close/>
                  <a:moveTo>
                    <a:pt x="114094" y="276164"/>
                  </a:moveTo>
                  <a:cubicBezTo>
                    <a:pt x="109626" y="279469"/>
                    <a:pt x="104913" y="282774"/>
                    <a:pt x="100077" y="286140"/>
                  </a:cubicBezTo>
                  <a:cubicBezTo>
                    <a:pt x="95242" y="282836"/>
                    <a:pt x="90528" y="279530"/>
                    <a:pt x="86060" y="276164"/>
                  </a:cubicBezTo>
                  <a:lnTo>
                    <a:pt x="114094" y="276164"/>
                  </a:lnTo>
                  <a:close/>
                  <a:moveTo>
                    <a:pt x="85999" y="351203"/>
                  </a:moveTo>
                  <a:cubicBezTo>
                    <a:pt x="90467" y="347898"/>
                    <a:pt x="95119" y="344593"/>
                    <a:pt x="100016" y="341226"/>
                  </a:cubicBezTo>
                  <a:cubicBezTo>
                    <a:pt x="104852" y="344532"/>
                    <a:pt x="109564" y="347837"/>
                    <a:pt x="114033" y="351203"/>
                  </a:cubicBezTo>
                  <a:cubicBezTo>
                    <a:pt x="96588" y="351203"/>
                    <a:pt x="103443" y="351203"/>
                    <a:pt x="85999" y="351203"/>
                  </a:cubicBezTo>
                  <a:close/>
                  <a:moveTo>
                    <a:pt x="33665" y="409717"/>
                  </a:moveTo>
                  <a:lnTo>
                    <a:pt x="13038" y="409717"/>
                  </a:lnTo>
                  <a:cubicBezTo>
                    <a:pt x="15425" y="367851"/>
                    <a:pt x="41684" y="342206"/>
                    <a:pt x="70819" y="321028"/>
                  </a:cubicBezTo>
                  <a:cubicBezTo>
                    <a:pt x="76879" y="325252"/>
                    <a:pt x="83000" y="329291"/>
                    <a:pt x="89059" y="333331"/>
                  </a:cubicBezTo>
                  <a:cubicBezTo>
                    <a:pt x="59985" y="353468"/>
                    <a:pt x="36175" y="374584"/>
                    <a:pt x="33665" y="409717"/>
                  </a:cubicBezTo>
                  <a:close/>
                  <a:moveTo>
                    <a:pt x="70146" y="363567"/>
                  </a:moveTo>
                  <a:lnTo>
                    <a:pt x="93650" y="363567"/>
                  </a:lnTo>
                  <a:lnTo>
                    <a:pt x="93650" y="375135"/>
                  </a:lnTo>
                  <a:lnTo>
                    <a:pt x="59373" y="375135"/>
                  </a:lnTo>
                  <a:cubicBezTo>
                    <a:pt x="62556" y="371096"/>
                    <a:pt x="66167" y="367239"/>
                    <a:pt x="70146" y="363567"/>
                  </a:cubicBezTo>
                  <a:close/>
                </a:path>
              </a:pathLst>
            </a:custGeom>
            <a:solidFill>
              <a:schemeClr val="dk1"/>
            </a:solidFill>
            <a:ln w="6350">
              <a:solidFill>
                <a:schemeClr val="tx2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1022;p54">
              <a:extLst>
                <a:ext uri="{FF2B5EF4-FFF2-40B4-BE49-F238E27FC236}">
                  <a16:creationId xmlns:a16="http://schemas.microsoft.com/office/drawing/2014/main" id="{2A39A914-85DB-7DA4-9B78-B0FD0DD5A69C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965535" y="4124005"/>
              <a:ext cx="162033" cy="343274"/>
            </a:xfrm>
            <a:custGeom>
              <a:avLst/>
              <a:gdLst/>
              <a:ahLst/>
              <a:cxnLst/>
              <a:rect l="l" t="t" r="r" b="b"/>
              <a:pathLst>
                <a:path w="199664" h="422998" extrusionOk="0">
                  <a:moveTo>
                    <a:pt x="139924" y="313439"/>
                  </a:moveTo>
                  <a:cubicBezTo>
                    <a:pt x="152839" y="303829"/>
                    <a:pt x="167591" y="291405"/>
                    <a:pt x="178853" y="275797"/>
                  </a:cubicBezTo>
                  <a:cubicBezTo>
                    <a:pt x="192870" y="256455"/>
                    <a:pt x="199664" y="235278"/>
                    <a:pt x="199664" y="211041"/>
                  </a:cubicBezTo>
                  <a:cubicBezTo>
                    <a:pt x="199664" y="182640"/>
                    <a:pt x="190238" y="158219"/>
                    <a:pt x="170773" y="136246"/>
                  </a:cubicBezTo>
                  <a:cubicBezTo>
                    <a:pt x="161531" y="125841"/>
                    <a:pt x="151003" y="116843"/>
                    <a:pt x="139924" y="108642"/>
                  </a:cubicBezTo>
                  <a:cubicBezTo>
                    <a:pt x="152778" y="99094"/>
                    <a:pt x="167407" y="86730"/>
                    <a:pt x="178670" y="71245"/>
                  </a:cubicBezTo>
                  <a:cubicBezTo>
                    <a:pt x="192625" y="52087"/>
                    <a:pt x="199481" y="31154"/>
                    <a:pt x="199664" y="7284"/>
                  </a:cubicBezTo>
                  <a:cubicBezTo>
                    <a:pt x="199664" y="5693"/>
                    <a:pt x="199236" y="4163"/>
                    <a:pt x="198317" y="2877"/>
                  </a:cubicBezTo>
                  <a:cubicBezTo>
                    <a:pt x="196971" y="1041"/>
                    <a:pt x="194890" y="0"/>
                    <a:pt x="192625" y="0"/>
                  </a:cubicBezTo>
                  <a:lnTo>
                    <a:pt x="161347" y="0"/>
                  </a:lnTo>
                  <a:cubicBezTo>
                    <a:pt x="157491" y="0"/>
                    <a:pt x="154369" y="3122"/>
                    <a:pt x="154308" y="6978"/>
                  </a:cubicBezTo>
                  <a:cubicBezTo>
                    <a:pt x="154186" y="17383"/>
                    <a:pt x="151983" y="26686"/>
                    <a:pt x="147575" y="35439"/>
                  </a:cubicBezTo>
                  <a:lnTo>
                    <a:pt x="141271" y="35439"/>
                  </a:lnTo>
                  <a:cubicBezTo>
                    <a:pt x="138088" y="35439"/>
                    <a:pt x="135272" y="37704"/>
                    <a:pt x="134905" y="40825"/>
                  </a:cubicBezTo>
                  <a:cubicBezTo>
                    <a:pt x="134476" y="44559"/>
                    <a:pt x="137353" y="47803"/>
                    <a:pt x="141026" y="47803"/>
                  </a:cubicBezTo>
                  <a:lnTo>
                    <a:pt x="155900" y="47803"/>
                  </a:lnTo>
                  <a:cubicBezTo>
                    <a:pt x="153390" y="51720"/>
                    <a:pt x="150513" y="55514"/>
                    <a:pt x="147147" y="59370"/>
                  </a:cubicBezTo>
                  <a:cubicBezTo>
                    <a:pt x="136986" y="59370"/>
                    <a:pt x="113421" y="59370"/>
                    <a:pt x="105953" y="59370"/>
                  </a:cubicBezTo>
                  <a:lnTo>
                    <a:pt x="105953" y="47803"/>
                  </a:lnTo>
                  <a:lnTo>
                    <a:pt x="111646" y="47803"/>
                  </a:lnTo>
                  <a:cubicBezTo>
                    <a:pt x="114829" y="47803"/>
                    <a:pt x="117644" y="45538"/>
                    <a:pt x="118012" y="42417"/>
                  </a:cubicBezTo>
                  <a:cubicBezTo>
                    <a:pt x="118440" y="38683"/>
                    <a:pt x="115563" y="35439"/>
                    <a:pt x="111891" y="35439"/>
                  </a:cubicBezTo>
                  <a:lnTo>
                    <a:pt x="52395" y="35439"/>
                  </a:lnTo>
                  <a:cubicBezTo>
                    <a:pt x="48233" y="27053"/>
                    <a:pt x="45846" y="17750"/>
                    <a:pt x="45723" y="6978"/>
                  </a:cubicBezTo>
                  <a:cubicBezTo>
                    <a:pt x="45662" y="3122"/>
                    <a:pt x="42540" y="0"/>
                    <a:pt x="38684" y="0"/>
                  </a:cubicBezTo>
                  <a:lnTo>
                    <a:pt x="7590" y="0"/>
                  </a:lnTo>
                  <a:cubicBezTo>
                    <a:pt x="5999" y="0"/>
                    <a:pt x="4469" y="429"/>
                    <a:pt x="3183" y="1408"/>
                  </a:cubicBezTo>
                  <a:cubicBezTo>
                    <a:pt x="1347" y="2816"/>
                    <a:pt x="306" y="4897"/>
                    <a:pt x="368" y="7100"/>
                  </a:cubicBezTo>
                  <a:cubicBezTo>
                    <a:pt x="551" y="35194"/>
                    <a:pt x="10099" y="59493"/>
                    <a:pt x="29503" y="81344"/>
                  </a:cubicBezTo>
                  <a:cubicBezTo>
                    <a:pt x="38684" y="91688"/>
                    <a:pt x="49151" y="100563"/>
                    <a:pt x="60169" y="108703"/>
                  </a:cubicBezTo>
                  <a:cubicBezTo>
                    <a:pt x="54476" y="112926"/>
                    <a:pt x="49518" y="116904"/>
                    <a:pt x="44867" y="120944"/>
                  </a:cubicBezTo>
                  <a:cubicBezTo>
                    <a:pt x="42479" y="123025"/>
                    <a:pt x="41867" y="126637"/>
                    <a:pt x="43643" y="129268"/>
                  </a:cubicBezTo>
                  <a:cubicBezTo>
                    <a:pt x="45785" y="132390"/>
                    <a:pt x="50070" y="132818"/>
                    <a:pt x="52824" y="130431"/>
                  </a:cubicBezTo>
                  <a:cubicBezTo>
                    <a:pt x="58088" y="125841"/>
                    <a:pt x="63842" y="121311"/>
                    <a:pt x="70696" y="116292"/>
                  </a:cubicBezTo>
                  <a:cubicBezTo>
                    <a:pt x="76695" y="120455"/>
                    <a:pt x="82816" y="124494"/>
                    <a:pt x="88937" y="128595"/>
                  </a:cubicBezTo>
                  <a:cubicBezTo>
                    <a:pt x="81102" y="134042"/>
                    <a:pt x="73267" y="139796"/>
                    <a:pt x="66167" y="145978"/>
                  </a:cubicBezTo>
                  <a:lnTo>
                    <a:pt x="51600" y="145978"/>
                  </a:lnTo>
                  <a:cubicBezTo>
                    <a:pt x="49457" y="145978"/>
                    <a:pt x="47437" y="146896"/>
                    <a:pt x="45968" y="148487"/>
                  </a:cubicBezTo>
                  <a:cubicBezTo>
                    <a:pt x="39296" y="155771"/>
                    <a:pt x="34155" y="163115"/>
                    <a:pt x="30177" y="171011"/>
                  </a:cubicBezTo>
                  <a:cubicBezTo>
                    <a:pt x="29197" y="172970"/>
                    <a:pt x="28952" y="175296"/>
                    <a:pt x="29748" y="177377"/>
                  </a:cubicBezTo>
                  <a:cubicBezTo>
                    <a:pt x="30911" y="180437"/>
                    <a:pt x="33727" y="182273"/>
                    <a:pt x="36848" y="182273"/>
                  </a:cubicBezTo>
                  <a:lnTo>
                    <a:pt x="38746" y="182273"/>
                  </a:lnTo>
                  <a:cubicBezTo>
                    <a:pt x="37338" y="185762"/>
                    <a:pt x="36236" y="189312"/>
                    <a:pt x="35379" y="192985"/>
                  </a:cubicBezTo>
                  <a:lnTo>
                    <a:pt x="29136" y="192985"/>
                  </a:lnTo>
                  <a:cubicBezTo>
                    <a:pt x="25280" y="192985"/>
                    <a:pt x="22035" y="195861"/>
                    <a:pt x="21546" y="199717"/>
                  </a:cubicBezTo>
                  <a:cubicBezTo>
                    <a:pt x="20689" y="207001"/>
                    <a:pt x="20689" y="214957"/>
                    <a:pt x="21546" y="222547"/>
                  </a:cubicBezTo>
                  <a:cubicBezTo>
                    <a:pt x="21974" y="226342"/>
                    <a:pt x="25218" y="229280"/>
                    <a:pt x="29074" y="229280"/>
                  </a:cubicBezTo>
                  <a:lnTo>
                    <a:pt x="35257" y="229280"/>
                  </a:lnTo>
                  <a:cubicBezTo>
                    <a:pt x="36175" y="233258"/>
                    <a:pt x="37338" y="237053"/>
                    <a:pt x="38868" y="240848"/>
                  </a:cubicBezTo>
                  <a:lnTo>
                    <a:pt x="37031" y="240848"/>
                  </a:lnTo>
                  <a:cubicBezTo>
                    <a:pt x="34828" y="240848"/>
                    <a:pt x="32686" y="241705"/>
                    <a:pt x="31278" y="243296"/>
                  </a:cubicBezTo>
                  <a:cubicBezTo>
                    <a:pt x="29074" y="245744"/>
                    <a:pt x="28646" y="249050"/>
                    <a:pt x="30054" y="251865"/>
                  </a:cubicBezTo>
                  <a:cubicBezTo>
                    <a:pt x="34033" y="259822"/>
                    <a:pt x="39235" y="267228"/>
                    <a:pt x="45968" y="274634"/>
                  </a:cubicBezTo>
                  <a:cubicBezTo>
                    <a:pt x="47376" y="276225"/>
                    <a:pt x="49457" y="277082"/>
                    <a:pt x="51538" y="277082"/>
                  </a:cubicBezTo>
                  <a:lnTo>
                    <a:pt x="66473" y="277082"/>
                  </a:lnTo>
                  <a:cubicBezTo>
                    <a:pt x="109075" y="314234"/>
                    <a:pt x="182587" y="338840"/>
                    <a:pt x="186627" y="409778"/>
                  </a:cubicBezTo>
                  <a:lnTo>
                    <a:pt x="166244" y="409778"/>
                  </a:lnTo>
                  <a:cubicBezTo>
                    <a:pt x="165693" y="401882"/>
                    <a:pt x="163979" y="394538"/>
                    <a:pt x="161164" y="387499"/>
                  </a:cubicBezTo>
                  <a:lnTo>
                    <a:pt x="163061" y="387499"/>
                  </a:lnTo>
                  <a:cubicBezTo>
                    <a:pt x="168754" y="387499"/>
                    <a:pt x="172426" y="381562"/>
                    <a:pt x="169855" y="376482"/>
                  </a:cubicBezTo>
                  <a:cubicBezTo>
                    <a:pt x="165877" y="368525"/>
                    <a:pt x="160674" y="361118"/>
                    <a:pt x="153941" y="353713"/>
                  </a:cubicBezTo>
                  <a:cubicBezTo>
                    <a:pt x="152472" y="352122"/>
                    <a:pt x="150452" y="351203"/>
                    <a:pt x="148310" y="351203"/>
                  </a:cubicBezTo>
                  <a:lnTo>
                    <a:pt x="134048" y="351203"/>
                  </a:lnTo>
                  <a:cubicBezTo>
                    <a:pt x="89916" y="312704"/>
                    <a:pt x="12426" y="287365"/>
                    <a:pt x="12426" y="210856"/>
                  </a:cubicBezTo>
                  <a:cubicBezTo>
                    <a:pt x="12426" y="188027"/>
                    <a:pt x="19220" y="168196"/>
                    <a:pt x="33175" y="150140"/>
                  </a:cubicBezTo>
                  <a:cubicBezTo>
                    <a:pt x="34951" y="147814"/>
                    <a:pt x="35012" y="144509"/>
                    <a:pt x="33175" y="142305"/>
                  </a:cubicBezTo>
                  <a:cubicBezTo>
                    <a:pt x="30544" y="139123"/>
                    <a:pt x="25830" y="139367"/>
                    <a:pt x="23444" y="142428"/>
                  </a:cubicBezTo>
                  <a:cubicBezTo>
                    <a:pt x="7651" y="162748"/>
                    <a:pt x="0" y="185150"/>
                    <a:pt x="0" y="210856"/>
                  </a:cubicBezTo>
                  <a:cubicBezTo>
                    <a:pt x="0" y="239379"/>
                    <a:pt x="9487" y="263984"/>
                    <a:pt x="29013" y="286079"/>
                  </a:cubicBezTo>
                  <a:cubicBezTo>
                    <a:pt x="38256" y="296546"/>
                    <a:pt x="48906" y="305543"/>
                    <a:pt x="60046" y="313806"/>
                  </a:cubicBezTo>
                  <a:cubicBezTo>
                    <a:pt x="47131" y="323415"/>
                    <a:pt x="32441" y="335779"/>
                    <a:pt x="21117" y="351387"/>
                  </a:cubicBezTo>
                  <a:cubicBezTo>
                    <a:pt x="7101" y="370605"/>
                    <a:pt x="184" y="391661"/>
                    <a:pt x="0" y="415715"/>
                  </a:cubicBezTo>
                  <a:cubicBezTo>
                    <a:pt x="0" y="417061"/>
                    <a:pt x="306" y="418469"/>
                    <a:pt x="1041" y="419632"/>
                  </a:cubicBezTo>
                  <a:cubicBezTo>
                    <a:pt x="2387" y="421774"/>
                    <a:pt x="4652" y="422999"/>
                    <a:pt x="7039" y="422999"/>
                  </a:cubicBezTo>
                  <a:lnTo>
                    <a:pt x="38440" y="422999"/>
                  </a:lnTo>
                  <a:cubicBezTo>
                    <a:pt x="42357" y="422999"/>
                    <a:pt x="45601" y="419816"/>
                    <a:pt x="45601" y="415898"/>
                  </a:cubicBezTo>
                  <a:cubicBezTo>
                    <a:pt x="45723" y="404881"/>
                    <a:pt x="48172" y="395333"/>
                    <a:pt x="52456" y="386764"/>
                  </a:cubicBezTo>
                  <a:lnTo>
                    <a:pt x="111891" y="386764"/>
                  </a:lnTo>
                  <a:cubicBezTo>
                    <a:pt x="115135" y="386764"/>
                    <a:pt x="117706" y="384132"/>
                    <a:pt x="117644" y="380827"/>
                  </a:cubicBezTo>
                  <a:cubicBezTo>
                    <a:pt x="117583" y="377644"/>
                    <a:pt x="114767" y="375196"/>
                    <a:pt x="111585" y="375196"/>
                  </a:cubicBezTo>
                  <a:lnTo>
                    <a:pt x="105770" y="375196"/>
                  </a:lnTo>
                  <a:lnTo>
                    <a:pt x="105770" y="363628"/>
                  </a:lnTo>
                  <a:lnTo>
                    <a:pt x="146963" y="363628"/>
                  </a:lnTo>
                  <a:cubicBezTo>
                    <a:pt x="150330" y="367423"/>
                    <a:pt x="153207" y="371279"/>
                    <a:pt x="155716" y="375196"/>
                  </a:cubicBezTo>
                  <a:cubicBezTo>
                    <a:pt x="152166" y="375196"/>
                    <a:pt x="140720" y="375196"/>
                    <a:pt x="140720" y="375196"/>
                  </a:cubicBezTo>
                  <a:cubicBezTo>
                    <a:pt x="137537" y="375196"/>
                    <a:pt x="134783" y="377644"/>
                    <a:pt x="134660" y="380827"/>
                  </a:cubicBezTo>
                  <a:cubicBezTo>
                    <a:pt x="134599" y="384071"/>
                    <a:pt x="137170" y="386764"/>
                    <a:pt x="140414" y="386764"/>
                  </a:cubicBezTo>
                  <a:lnTo>
                    <a:pt x="147330" y="386764"/>
                  </a:lnTo>
                  <a:cubicBezTo>
                    <a:pt x="151738" y="395517"/>
                    <a:pt x="153941" y="404881"/>
                    <a:pt x="154063" y="415225"/>
                  </a:cubicBezTo>
                  <a:cubicBezTo>
                    <a:pt x="154125" y="419081"/>
                    <a:pt x="157246" y="422203"/>
                    <a:pt x="161102" y="422203"/>
                  </a:cubicBezTo>
                  <a:lnTo>
                    <a:pt x="192196" y="422203"/>
                  </a:lnTo>
                  <a:cubicBezTo>
                    <a:pt x="193788" y="422203"/>
                    <a:pt x="195319" y="421774"/>
                    <a:pt x="196604" y="420795"/>
                  </a:cubicBezTo>
                  <a:cubicBezTo>
                    <a:pt x="198440" y="419387"/>
                    <a:pt x="199481" y="417306"/>
                    <a:pt x="199420" y="415103"/>
                  </a:cubicBezTo>
                  <a:cubicBezTo>
                    <a:pt x="199236" y="387009"/>
                    <a:pt x="189687" y="362710"/>
                    <a:pt x="170284" y="340920"/>
                  </a:cubicBezTo>
                  <a:cubicBezTo>
                    <a:pt x="161408" y="330454"/>
                    <a:pt x="150880" y="321579"/>
                    <a:pt x="139924" y="313439"/>
                  </a:cubicBezTo>
                  <a:lnTo>
                    <a:pt x="139924" y="313439"/>
                  </a:lnTo>
                  <a:close/>
                  <a:moveTo>
                    <a:pt x="148432" y="71734"/>
                  </a:moveTo>
                  <a:cubicBezTo>
                    <a:pt x="150574" y="71734"/>
                    <a:pt x="152595" y="70816"/>
                    <a:pt x="154002" y="69286"/>
                  </a:cubicBezTo>
                  <a:cubicBezTo>
                    <a:pt x="160735" y="61880"/>
                    <a:pt x="165938" y="54474"/>
                    <a:pt x="169917" y="46517"/>
                  </a:cubicBezTo>
                  <a:cubicBezTo>
                    <a:pt x="170773" y="44803"/>
                    <a:pt x="171018" y="42845"/>
                    <a:pt x="170467" y="41008"/>
                  </a:cubicBezTo>
                  <a:cubicBezTo>
                    <a:pt x="169427" y="37642"/>
                    <a:pt x="166489" y="35500"/>
                    <a:pt x="163122" y="35500"/>
                  </a:cubicBezTo>
                  <a:lnTo>
                    <a:pt x="161164" y="35500"/>
                  </a:lnTo>
                  <a:cubicBezTo>
                    <a:pt x="164102" y="28217"/>
                    <a:pt x="165877" y="20566"/>
                    <a:pt x="166489" y="12425"/>
                  </a:cubicBezTo>
                  <a:lnTo>
                    <a:pt x="187361" y="12425"/>
                  </a:lnTo>
                  <a:cubicBezTo>
                    <a:pt x="184974" y="54535"/>
                    <a:pt x="158532" y="80365"/>
                    <a:pt x="129213" y="101603"/>
                  </a:cubicBezTo>
                  <a:cubicBezTo>
                    <a:pt x="123153" y="97380"/>
                    <a:pt x="117032" y="93340"/>
                    <a:pt x="110850" y="89240"/>
                  </a:cubicBezTo>
                  <a:cubicBezTo>
                    <a:pt x="118746" y="83792"/>
                    <a:pt x="126642" y="77977"/>
                    <a:pt x="133742" y="71796"/>
                  </a:cubicBezTo>
                  <a:lnTo>
                    <a:pt x="148432" y="71796"/>
                  </a:lnTo>
                  <a:close/>
                  <a:moveTo>
                    <a:pt x="114094" y="71734"/>
                  </a:moveTo>
                  <a:cubicBezTo>
                    <a:pt x="109503" y="75162"/>
                    <a:pt x="104790" y="78467"/>
                    <a:pt x="100077" y="81711"/>
                  </a:cubicBezTo>
                  <a:cubicBezTo>
                    <a:pt x="95180" y="78344"/>
                    <a:pt x="90467" y="75101"/>
                    <a:pt x="85999" y="71734"/>
                  </a:cubicBezTo>
                  <a:lnTo>
                    <a:pt x="114094" y="71734"/>
                  </a:lnTo>
                  <a:close/>
                  <a:moveTo>
                    <a:pt x="93650" y="47803"/>
                  </a:moveTo>
                  <a:lnTo>
                    <a:pt x="93650" y="59370"/>
                  </a:lnTo>
                  <a:lnTo>
                    <a:pt x="70084" y="59370"/>
                  </a:lnTo>
                  <a:cubicBezTo>
                    <a:pt x="66106" y="55637"/>
                    <a:pt x="62495" y="51842"/>
                    <a:pt x="59312" y="47803"/>
                  </a:cubicBezTo>
                  <a:lnTo>
                    <a:pt x="93650" y="47803"/>
                  </a:lnTo>
                  <a:close/>
                  <a:moveTo>
                    <a:pt x="12976" y="12364"/>
                  </a:moveTo>
                  <a:lnTo>
                    <a:pt x="33604" y="12364"/>
                  </a:lnTo>
                  <a:cubicBezTo>
                    <a:pt x="36604" y="54046"/>
                    <a:pt x="70207" y="76386"/>
                    <a:pt x="105708" y="100012"/>
                  </a:cubicBezTo>
                  <a:cubicBezTo>
                    <a:pt x="143903" y="125473"/>
                    <a:pt x="187239" y="154302"/>
                    <a:pt x="187239" y="211041"/>
                  </a:cubicBezTo>
                  <a:cubicBezTo>
                    <a:pt x="187239" y="256578"/>
                    <a:pt x="159817" y="283754"/>
                    <a:pt x="129274" y="305911"/>
                  </a:cubicBezTo>
                  <a:cubicBezTo>
                    <a:pt x="123275" y="301748"/>
                    <a:pt x="117154" y="297709"/>
                    <a:pt x="111033" y="293608"/>
                  </a:cubicBezTo>
                  <a:cubicBezTo>
                    <a:pt x="111033" y="293608"/>
                    <a:pt x="111033" y="293608"/>
                    <a:pt x="111033" y="293608"/>
                  </a:cubicBezTo>
                  <a:cubicBezTo>
                    <a:pt x="142128" y="272063"/>
                    <a:pt x="166611" y="249723"/>
                    <a:pt x="166611" y="211041"/>
                  </a:cubicBezTo>
                  <a:cubicBezTo>
                    <a:pt x="166611" y="165319"/>
                    <a:pt x="131478" y="141938"/>
                    <a:pt x="94262" y="117210"/>
                  </a:cubicBezTo>
                  <a:cubicBezTo>
                    <a:pt x="57537" y="92667"/>
                    <a:pt x="16037" y="65063"/>
                    <a:pt x="12976" y="12364"/>
                  </a:cubicBezTo>
                  <a:lnTo>
                    <a:pt x="12976" y="12364"/>
                  </a:lnTo>
                  <a:close/>
                  <a:moveTo>
                    <a:pt x="106014" y="253089"/>
                  </a:moveTo>
                  <a:lnTo>
                    <a:pt x="140291" y="253089"/>
                  </a:lnTo>
                  <a:cubicBezTo>
                    <a:pt x="137108" y="257129"/>
                    <a:pt x="133497" y="260924"/>
                    <a:pt x="129519" y="264657"/>
                  </a:cubicBezTo>
                  <a:lnTo>
                    <a:pt x="106014" y="264657"/>
                  </a:lnTo>
                  <a:lnTo>
                    <a:pt x="106014" y="253089"/>
                  </a:lnTo>
                  <a:close/>
                  <a:moveTo>
                    <a:pt x="106014" y="205287"/>
                  </a:moveTo>
                  <a:lnTo>
                    <a:pt x="155227" y="205287"/>
                  </a:lnTo>
                  <a:cubicBezTo>
                    <a:pt x="155533" y="209082"/>
                    <a:pt x="155533" y="213060"/>
                    <a:pt x="155227" y="216855"/>
                  </a:cubicBezTo>
                  <a:lnTo>
                    <a:pt x="106014" y="216855"/>
                  </a:lnTo>
                  <a:lnTo>
                    <a:pt x="106014" y="205287"/>
                  </a:lnTo>
                  <a:close/>
                  <a:moveTo>
                    <a:pt x="106014" y="158280"/>
                  </a:moveTo>
                  <a:lnTo>
                    <a:pt x="129580" y="158280"/>
                  </a:lnTo>
                  <a:cubicBezTo>
                    <a:pt x="133558" y="162014"/>
                    <a:pt x="137170" y="165809"/>
                    <a:pt x="140353" y="169848"/>
                  </a:cubicBezTo>
                  <a:lnTo>
                    <a:pt x="106014" y="169848"/>
                  </a:lnTo>
                  <a:lnTo>
                    <a:pt x="106014" y="158280"/>
                  </a:lnTo>
                  <a:close/>
                  <a:moveTo>
                    <a:pt x="100077" y="135940"/>
                  </a:moveTo>
                  <a:cubicBezTo>
                    <a:pt x="104974" y="139306"/>
                    <a:pt x="109687" y="142550"/>
                    <a:pt x="114155" y="145917"/>
                  </a:cubicBezTo>
                  <a:lnTo>
                    <a:pt x="86060" y="145917"/>
                  </a:lnTo>
                  <a:cubicBezTo>
                    <a:pt x="90589" y="142489"/>
                    <a:pt x="95364" y="139184"/>
                    <a:pt x="100077" y="135940"/>
                  </a:cubicBezTo>
                  <a:lnTo>
                    <a:pt x="100077" y="135940"/>
                  </a:lnTo>
                  <a:close/>
                  <a:moveTo>
                    <a:pt x="52456" y="158280"/>
                  </a:moveTo>
                  <a:lnTo>
                    <a:pt x="93650" y="158280"/>
                  </a:lnTo>
                  <a:lnTo>
                    <a:pt x="93650" y="169848"/>
                  </a:lnTo>
                  <a:cubicBezTo>
                    <a:pt x="86550" y="169848"/>
                    <a:pt x="55333" y="169848"/>
                    <a:pt x="43704" y="169848"/>
                  </a:cubicBezTo>
                  <a:cubicBezTo>
                    <a:pt x="46213" y="165931"/>
                    <a:pt x="49090" y="162075"/>
                    <a:pt x="52456" y="158280"/>
                  </a:cubicBezTo>
                  <a:close/>
                  <a:moveTo>
                    <a:pt x="52518" y="182212"/>
                  </a:moveTo>
                  <a:lnTo>
                    <a:pt x="147636" y="182212"/>
                  </a:lnTo>
                  <a:cubicBezTo>
                    <a:pt x="149412" y="185884"/>
                    <a:pt x="150880" y="189679"/>
                    <a:pt x="151983" y="193780"/>
                  </a:cubicBezTo>
                  <a:lnTo>
                    <a:pt x="48172" y="193780"/>
                  </a:lnTo>
                  <a:cubicBezTo>
                    <a:pt x="49212" y="189740"/>
                    <a:pt x="50682" y="185946"/>
                    <a:pt x="52518" y="182212"/>
                  </a:cubicBezTo>
                  <a:lnTo>
                    <a:pt x="52518" y="182212"/>
                  </a:lnTo>
                  <a:close/>
                  <a:moveTo>
                    <a:pt x="31707" y="205287"/>
                  </a:moveTo>
                  <a:lnTo>
                    <a:pt x="93650" y="205287"/>
                  </a:lnTo>
                  <a:lnTo>
                    <a:pt x="93650" y="216855"/>
                  </a:lnTo>
                  <a:cubicBezTo>
                    <a:pt x="83183" y="216855"/>
                    <a:pt x="38807" y="216855"/>
                    <a:pt x="31707" y="216855"/>
                  </a:cubicBezTo>
                  <a:cubicBezTo>
                    <a:pt x="31462" y="213121"/>
                    <a:pt x="31462" y="209143"/>
                    <a:pt x="31707" y="205287"/>
                  </a:cubicBezTo>
                  <a:lnTo>
                    <a:pt x="31707" y="205287"/>
                  </a:lnTo>
                  <a:close/>
                  <a:moveTo>
                    <a:pt x="48172" y="229157"/>
                  </a:moveTo>
                  <a:lnTo>
                    <a:pt x="151983" y="229157"/>
                  </a:lnTo>
                  <a:cubicBezTo>
                    <a:pt x="150880" y="233197"/>
                    <a:pt x="149412" y="237053"/>
                    <a:pt x="147636" y="240726"/>
                  </a:cubicBezTo>
                  <a:lnTo>
                    <a:pt x="52518" y="240726"/>
                  </a:lnTo>
                  <a:cubicBezTo>
                    <a:pt x="50682" y="236992"/>
                    <a:pt x="49212" y="233136"/>
                    <a:pt x="48172" y="229157"/>
                  </a:cubicBezTo>
                  <a:close/>
                  <a:moveTo>
                    <a:pt x="43704" y="253089"/>
                  </a:moveTo>
                  <a:lnTo>
                    <a:pt x="93650" y="253089"/>
                  </a:lnTo>
                  <a:lnTo>
                    <a:pt x="93650" y="264657"/>
                  </a:lnTo>
                  <a:lnTo>
                    <a:pt x="52456" y="264657"/>
                  </a:lnTo>
                  <a:cubicBezTo>
                    <a:pt x="49090" y="260801"/>
                    <a:pt x="46213" y="257006"/>
                    <a:pt x="43704" y="253089"/>
                  </a:cubicBezTo>
                  <a:lnTo>
                    <a:pt x="43704" y="253089"/>
                  </a:lnTo>
                  <a:close/>
                  <a:moveTo>
                    <a:pt x="114094" y="276164"/>
                  </a:moveTo>
                  <a:cubicBezTo>
                    <a:pt x="109626" y="279469"/>
                    <a:pt x="104913" y="282774"/>
                    <a:pt x="100077" y="286140"/>
                  </a:cubicBezTo>
                  <a:cubicBezTo>
                    <a:pt x="95242" y="282836"/>
                    <a:pt x="90528" y="279530"/>
                    <a:pt x="86060" y="276164"/>
                  </a:cubicBezTo>
                  <a:lnTo>
                    <a:pt x="114094" y="276164"/>
                  </a:lnTo>
                  <a:close/>
                  <a:moveTo>
                    <a:pt x="85999" y="351203"/>
                  </a:moveTo>
                  <a:cubicBezTo>
                    <a:pt x="90467" y="347898"/>
                    <a:pt x="95119" y="344593"/>
                    <a:pt x="100016" y="341226"/>
                  </a:cubicBezTo>
                  <a:cubicBezTo>
                    <a:pt x="104852" y="344532"/>
                    <a:pt x="109564" y="347837"/>
                    <a:pt x="114033" y="351203"/>
                  </a:cubicBezTo>
                  <a:cubicBezTo>
                    <a:pt x="96588" y="351203"/>
                    <a:pt x="103443" y="351203"/>
                    <a:pt x="85999" y="351203"/>
                  </a:cubicBezTo>
                  <a:close/>
                  <a:moveTo>
                    <a:pt x="33665" y="409717"/>
                  </a:moveTo>
                  <a:lnTo>
                    <a:pt x="13038" y="409717"/>
                  </a:lnTo>
                  <a:cubicBezTo>
                    <a:pt x="15425" y="367851"/>
                    <a:pt x="41684" y="342206"/>
                    <a:pt x="70819" y="321028"/>
                  </a:cubicBezTo>
                  <a:cubicBezTo>
                    <a:pt x="76879" y="325252"/>
                    <a:pt x="83000" y="329291"/>
                    <a:pt x="89059" y="333331"/>
                  </a:cubicBezTo>
                  <a:cubicBezTo>
                    <a:pt x="59985" y="353468"/>
                    <a:pt x="36175" y="374584"/>
                    <a:pt x="33665" y="409717"/>
                  </a:cubicBezTo>
                  <a:close/>
                  <a:moveTo>
                    <a:pt x="70146" y="363567"/>
                  </a:moveTo>
                  <a:lnTo>
                    <a:pt x="93650" y="363567"/>
                  </a:lnTo>
                  <a:lnTo>
                    <a:pt x="93650" y="375135"/>
                  </a:lnTo>
                  <a:lnTo>
                    <a:pt x="59373" y="375135"/>
                  </a:lnTo>
                  <a:cubicBezTo>
                    <a:pt x="62556" y="371096"/>
                    <a:pt x="66167" y="367239"/>
                    <a:pt x="70146" y="363567"/>
                  </a:cubicBezTo>
                  <a:close/>
                </a:path>
              </a:pathLst>
            </a:custGeom>
            <a:solidFill>
              <a:schemeClr val="dk1"/>
            </a:solidFill>
            <a:ln w="6350">
              <a:solidFill>
                <a:schemeClr val="tx2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1022;p54">
              <a:extLst>
                <a:ext uri="{FF2B5EF4-FFF2-40B4-BE49-F238E27FC236}">
                  <a16:creationId xmlns:a16="http://schemas.microsoft.com/office/drawing/2014/main" id="{678EEF53-9A97-35A6-BE4B-0DCC45B9F688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733001" y="4124005"/>
              <a:ext cx="162033" cy="343274"/>
            </a:xfrm>
            <a:custGeom>
              <a:avLst/>
              <a:gdLst/>
              <a:ahLst/>
              <a:cxnLst/>
              <a:rect l="l" t="t" r="r" b="b"/>
              <a:pathLst>
                <a:path w="199664" h="422998" extrusionOk="0">
                  <a:moveTo>
                    <a:pt x="139924" y="313439"/>
                  </a:moveTo>
                  <a:cubicBezTo>
                    <a:pt x="152839" y="303829"/>
                    <a:pt x="167591" y="291405"/>
                    <a:pt x="178853" y="275797"/>
                  </a:cubicBezTo>
                  <a:cubicBezTo>
                    <a:pt x="192870" y="256455"/>
                    <a:pt x="199664" y="235278"/>
                    <a:pt x="199664" y="211041"/>
                  </a:cubicBezTo>
                  <a:cubicBezTo>
                    <a:pt x="199664" y="182640"/>
                    <a:pt x="190238" y="158219"/>
                    <a:pt x="170773" y="136246"/>
                  </a:cubicBezTo>
                  <a:cubicBezTo>
                    <a:pt x="161531" y="125841"/>
                    <a:pt x="151003" y="116843"/>
                    <a:pt x="139924" y="108642"/>
                  </a:cubicBezTo>
                  <a:cubicBezTo>
                    <a:pt x="152778" y="99094"/>
                    <a:pt x="167407" y="86730"/>
                    <a:pt x="178670" y="71245"/>
                  </a:cubicBezTo>
                  <a:cubicBezTo>
                    <a:pt x="192625" y="52087"/>
                    <a:pt x="199481" y="31154"/>
                    <a:pt x="199664" y="7284"/>
                  </a:cubicBezTo>
                  <a:cubicBezTo>
                    <a:pt x="199664" y="5693"/>
                    <a:pt x="199236" y="4163"/>
                    <a:pt x="198317" y="2877"/>
                  </a:cubicBezTo>
                  <a:cubicBezTo>
                    <a:pt x="196971" y="1041"/>
                    <a:pt x="194890" y="0"/>
                    <a:pt x="192625" y="0"/>
                  </a:cubicBezTo>
                  <a:lnTo>
                    <a:pt x="161347" y="0"/>
                  </a:lnTo>
                  <a:cubicBezTo>
                    <a:pt x="157491" y="0"/>
                    <a:pt x="154369" y="3122"/>
                    <a:pt x="154308" y="6978"/>
                  </a:cubicBezTo>
                  <a:cubicBezTo>
                    <a:pt x="154186" y="17383"/>
                    <a:pt x="151983" y="26686"/>
                    <a:pt x="147575" y="35439"/>
                  </a:cubicBezTo>
                  <a:lnTo>
                    <a:pt x="141271" y="35439"/>
                  </a:lnTo>
                  <a:cubicBezTo>
                    <a:pt x="138088" y="35439"/>
                    <a:pt x="135272" y="37704"/>
                    <a:pt x="134905" y="40825"/>
                  </a:cubicBezTo>
                  <a:cubicBezTo>
                    <a:pt x="134476" y="44559"/>
                    <a:pt x="137353" y="47803"/>
                    <a:pt x="141026" y="47803"/>
                  </a:cubicBezTo>
                  <a:lnTo>
                    <a:pt x="155900" y="47803"/>
                  </a:lnTo>
                  <a:cubicBezTo>
                    <a:pt x="153390" y="51720"/>
                    <a:pt x="150513" y="55514"/>
                    <a:pt x="147147" y="59370"/>
                  </a:cubicBezTo>
                  <a:cubicBezTo>
                    <a:pt x="136986" y="59370"/>
                    <a:pt x="113421" y="59370"/>
                    <a:pt x="105953" y="59370"/>
                  </a:cubicBezTo>
                  <a:lnTo>
                    <a:pt x="105953" y="47803"/>
                  </a:lnTo>
                  <a:lnTo>
                    <a:pt x="111646" y="47803"/>
                  </a:lnTo>
                  <a:cubicBezTo>
                    <a:pt x="114829" y="47803"/>
                    <a:pt x="117644" y="45538"/>
                    <a:pt x="118012" y="42417"/>
                  </a:cubicBezTo>
                  <a:cubicBezTo>
                    <a:pt x="118440" y="38683"/>
                    <a:pt x="115563" y="35439"/>
                    <a:pt x="111891" y="35439"/>
                  </a:cubicBezTo>
                  <a:lnTo>
                    <a:pt x="52395" y="35439"/>
                  </a:lnTo>
                  <a:cubicBezTo>
                    <a:pt x="48233" y="27053"/>
                    <a:pt x="45846" y="17750"/>
                    <a:pt x="45723" y="6978"/>
                  </a:cubicBezTo>
                  <a:cubicBezTo>
                    <a:pt x="45662" y="3122"/>
                    <a:pt x="42540" y="0"/>
                    <a:pt x="38684" y="0"/>
                  </a:cubicBezTo>
                  <a:lnTo>
                    <a:pt x="7590" y="0"/>
                  </a:lnTo>
                  <a:cubicBezTo>
                    <a:pt x="5999" y="0"/>
                    <a:pt x="4469" y="429"/>
                    <a:pt x="3183" y="1408"/>
                  </a:cubicBezTo>
                  <a:cubicBezTo>
                    <a:pt x="1347" y="2816"/>
                    <a:pt x="306" y="4897"/>
                    <a:pt x="368" y="7100"/>
                  </a:cubicBezTo>
                  <a:cubicBezTo>
                    <a:pt x="551" y="35194"/>
                    <a:pt x="10099" y="59493"/>
                    <a:pt x="29503" y="81344"/>
                  </a:cubicBezTo>
                  <a:cubicBezTo>
                    <a:pt x="38684" y="91688"/>
                    <a:pt x="49151" y="100563"/>
                    <a:pt x="60169" y="108703"/>
                  </a:cubicBezTo>
                  <a:cubicBezTo>
                    <a:pt x="54476" y="112926"/>
                    <a:pt x="49518" y="116904"/>
                    <a:pt x="44867" y="120944"/>
                  </a:cubicBezTo>
                  <a:cubicBezTo>
                    <a:pt x="42479" y="123025"/>
                    <a:pt x="41867" y="126637"/>
                    <a:pt x="43643" y="129268"/>
                  </a:cubicBezTo>
                  <a:cubicBezTo>
                    <a:pt x="45785" y="132390"/>
                    <a:pt x="50070" y="132818"/>
                    <a:pt x="52824" y="130431"/>
                  </a:cubicBezTo>
                  <a:cubicBezTo>
                    <a:pt x="58088" y="125841"/>
                    <a:pt x="63842" y="121311"/>
                    <a:pt x="70696" y="116292"/>
                  </a:cubicBezTo>
                  <a:cubicBezTo>
                    <a:pt x="76695" y="120455"/>
                    <a:pt x="82816" y="124494"/>
                    <a:pt x="88937" y="128595"/>
                  </a:cubicBezTo>
                  <a:cubicBezTo>
                    <a:pt x="81102" y="134042"/>
                    <a:pt x="73267" y="139796"/>
                    <a:pt x="66167" y="145978"/>
                  </a:cubicBezTo>
                  <a:lnTo>
                    <a:pt x="51600" y="145978"/>
                  </a:lnTo>
                  <a:cubicBezTo>
                    <a:pt x="49457" y="145978"/>
                    <a:pt x="47437" y="146896"/>
                    <a:pt x="45968" y="148487"/>
                  </a:cubicBezTo>
                  <a:cubicBezTo>
                    <a:pt x="39296" y="155771"/>
                    <a:pt x="34155" y="163115"/>
                    <a:pt x="30177" y="171011"/>
                  </a:cubicBezTo>
                  <a:cubicBezTo>
                    <a:pt x="29197" y="172970"/>
                    <a:pt x="28952" y="175296"/>
                    <a:pt x="29748" y="177377"/>
                  </a:cubicBezTo>
                  <a:cubicBezTo>
                    <a:pt x="30911" y="180437"/>
                    <a:pt x="33727" y="182273"/>
                    <a:pt x="36848" y="182273"/>
                  </a:cubicBezTo>
                  <a:lnTo>
                    <a:pt x="38746" y="182273"/>
                  </a:lnTo>
                  <a:cubicBezTo>
                    <a:pt x="37338" y="185762"/>
                    <a:pt x="36236" y="189312"/>
                    <a:pt x="35379" y="192985"/>
                  </a:cubicBezTo>
                  <a:lnTo>
                    <a:pt x="29136" y="192985"/>
                  </a:lnTo>
                  <a:cubicBezTo>
                    <a:pt x="25280" y="192985"/>
                    <a:pt x="22035" y="195861"/>
                    <a:pt x="21546" y="199717"/>
                  </a:cubicBezTo>
                  <a:cubicBezTo>
                    <a:pt x="20689" y="207001"/>
                    <a:pt x="20689" y="214957"/>
                    <a:pt x="21546" y="222547"/>
                  </a:cubicBezTo>
                  <a:cubicBezTo>
                    <a:pt x="21974" y="226342"/>
                    <a:pt x="25218" y="229280"/>
                    <a:pt x="29074" y="229280"/>
                  </a:cubicBezTo>
                  <a:lnTo>
                    <a:pt x="35257" y="229280"/>
                  </a:lnTo>
                  <a:cubicBezTo>
                    <a:pt x="36175" y="233258"/>
                    <a:pt x="37338" y="237053"/>
                    <a:pt x="38868" y="240848"/>
                  </a:cubicBezTo>
                  <a:lnTo>
                    <a:pt x="37031" y="240848"/>
                  </a:lnTo>
                  <a:cubicBezTo>
                    <a:pt x="34828" y="240848"/>
                    <a:pt x="32686" y="241705"/>
                    <a:pt x="31278" y="243296"/>
                  </a:cubicBezTo>
                  <a:cubicBezTo>
                    <a:pt x="29074" y="245744"/>
                    <a:pt x="28646" y="249050"/>
                    <a:pt x="30054" y="251865"/>
                  </a:cubicBezTo>
                  <a:cubicBezTo>
                    <a:pt x="34033" y="259822"/>
                    <a:pt x="39235" y="267228"/>
                    <a:pt x="45968" y="274634"/>
                  </a:cubicBezTo>
                  <a:cubicBezTo>
                    <a:pt x="47376" y="276225"/>
                    <a:pt x="49457" y="277082"/>
                    <a:pt x="51538" y="277082"/>
                  </a:cubicBezTo>
                  <a:lnTo>
                    <a:pt x="66473" y="277082"/>
                  </a:lnTo>
                  <a:cubicBezTo>
                    <a:pt x="109075" y="314234"/>
                    <a:pt x="182587" y="338840"/>
                    <a:pt x="186627" y="409778"/>
                  </a:cubicBezTo>
                  <a:lnTo>
                    <a:pt x="166244" y="409778"/>
                  </a:lnTo>
                  <a:cubicBezTo>
                    <a:pt x="165693" y="401882"/>
                    <a:pt x="163979" y="394538"/>
                    <a:pt x="161164" y="387499"/>
                  </a:cubicBezTo>
                  <a:lnTo>
                    <a:pt x="163061" y="387499"/>
                  </a:lnTo>
                  <a:cubicBezTo>
                    <a:pt x="168754" y="387499"/>
                    <a:pt x="172426" y="381562"/>
                    <a:pt x="169855" y="376482"/>
                  </a:cubicBezTo>
                  <a:cubicBezTo>
                    <a:pt x="165877" y="368525"/>
                    <a:pt x="160674" y="361118"/>
                    <a:pt x="153941" y="353713"/>
                  </a:cubicBezTo>
                  <a:cubicBezTo>
                    <a:pt x="152472" y="352122"/>
                    <a:pt x="150452" y="351203"/>
                    <a:pt x="148310" y="351203"/>
                  </a:cubicBezTo>
                  <a:lnTo>
                    <a:pt x="134048" y="351203"/>
                  </a:lnTo>
                  <a:cubicBezTo>
                    <a:pt x="89916" y="312704"/>
                    <a:pt x="12426" y="287365"/>
                    <a:pt x="12426" y="210856"/>
                  </a:cubicBezTo>
                  <a:cubicBezTo>
                    <a:pt x="12426" y="188027"/>
                    <a:pt x="19220" y="168196"/>
                    <a:pt x="33175" y="150140"/>
                  </a:cubicBezTo>
                  <a:cubicBezTo>
                    <a:pt x="34951" y="147814"/>
                    <a:pt x="35012" y="144509"/>
                    <a:pt x="33175" y="142305"/>
                  </a:cubicBezTo>
                  <a:cubicBezTo>
                    <a:pt x="30544" y="139123"/>
                    <a:pt x="25830" y="139367"/>
                    <a:pt x="23444" y="142428"/>
                  </a:cubicBezTo>
                  <a:cubicBezTo>
                    <a:pt x="7651" y="162748"/>
                    <a:pt x="0" y="185150"/>
                    <a:pt x="0" y="210856"/>
                  </a:cubicBezTo>
                  <a:cubicBezTo>
                    <a:pt x="0" y="239379"/>
                    <a:pt x="9487" y="263984"/>
                    <a:pt x="29013" y="286079"/>
                  </a:cubicBezTo>
                  <a:cubicBezTo>
                    <a:pt x="38256" y="296546"/>
                    <a:pt x="48906" y="305543"/>
                    <a:pt x="60046" y="313806"/>
                  </a:cubicBezTo>
                  <a:cubicBezTo>
                    <a:pt x="47131" y="323415"/>
                    <a:pt x="32441" y="335779"/>
                    <a:pt x="21117" y="351387"/>
                  </a:cubicBezTo>
                  <a:cubicBezTo>
                    <a:pt x="7101" y="370605"/>
                    <a:pt x="184" y="391661"/>
                    <a:pt x="0" y="415715"/>
                  </a:cubicBezTo>
                  <a:cubicBezTo>
                    <a:pt x="0" y="417061"/>
                    <a:pt x="306" y="418469"/>
                    <a:pt x="1041" y="419632"/>
                  </a:cubicBezTo>
                  <a:cubicBezTo>
                    <a:pt x="2387" y="421774"/>
                    <a:pt x="4652" y="422999"/>
                    <a:pt x="7039" y="422999"/>
                  </a:cubicBezTo>
                  <a:lnTo>
                    <a:pt x="38440" y="422999"/>
                  </a:lnTo>
                  <a:cubicBezTo>
                    <a:pt x="42357" y="422999"/>
                    <a:pt x="45601" y="419816"/>
                    <a:pt x="45601" y="415898"/>
                  </a:cubicBezTo>
                  <a:cubicBezTo>
                    <a:pt x="45723" y="404881"/>
                    <a:pt x="48172" y="395333"/>
                    <a:pt x="52456" y="386764"/>
                  </a:cubicBezTo>
                  <a:lnTo>
                    <a:pt x="111891" y="386764"/>
                  </a:lnTo>
                  <a:cubicBezTo>
                    <a:pt x="115135" y="386764"/>
                    <a:pt x="117706" y="384132"/>
                    <a:pt x="117644" y="380827"/>
                  </a:cubicBezTo>
                  <a:cubicBezTo>
                    <a:pt x="117583" y="377644"/>
                    <a:pt x="114767" y="375196"/>
                    <a:pt x="111585" y="375196"/>
                  </a:cubicBezTo>
                  <a:lnTo>
                    <a:pt x="105770" y="375196"/>
                  </a:lnTo>
                  <a:lnTo>
                    <a:pt x="105770" y="363628"/>
                  </a:lnTo>
                  <a:lnTo>
                    <a:pt x="146963" y="363628"/>
                  </a:lnTo>
                  <a:cubicBezTo>
                    <a:pt x="150330" y="367423"/>
                    <a:pt x="153207" y="371279"/>
                    <a:pt x="155716" y="375196"/>
                  </a:cubicBezTo>
                  <a:cubicBezTo>
                    <a:pt x="152166" y="375196"/>
                    <a:pt x="140720" y="375196"/>
                    <a:pt x="140720" y="375196"/>
                  </a:cubicBezTo>
                  <a:cubicBezTo>
                    <a:pt x="137537" y="375196"/>
                    <a:pt x="134783" y="377644"/>
                    <a:pt x="134660" y="380827"/>
                  </a:cubicBezTo>
                  <a:cubicBezTo>
                    <a:pt x="134599" y="384071"/>
                    <a:pt x="137170" y="386764"/>
                    <a:pt x="140414" y="386764"/>
                  </a:cubicBezTo>
                  <a:lnTo>
                    <a:pt x="147330" y="386764"/>
                  </a:lnTo>
                  <a:cubicBezTo>
                    <a:pt x="151738" y="395517"/>
                    <a:pt x="153941" y="404881"/>
                    <a:pt x="154063" y="415225"/>
                  </a:cubicBezTo>
                  <a:cubicBezTo>
                    <a:pt x="154125" y="419081"/>
                    <a:pt x="157246" y="422203"/>
                    <a:pt x="161102" y="422203"/>
                  </a:cubicBezTo>
                  <a:lnTo>
                    <a:pt x="192196" y="422203"/>
                  </a:lnTo>
                  <a:cubicBezTo>
                    <a:pt x="193788" y="422203"/>
                    <a:pt x="195319" y="421774"/>
                    <a:pt x="196604" y="420795"/>
                  </a:cubicBezTo>
                  <a:cubicBezTo>
                    <a:pt x="198440" y="419387"/>
                    <a:pt x="199481" y="417306"/>
                    <a:pt x="199420" y="415103"/>
                  </a:cubicBezTo>
                  <a:cubicBezTo>
                    <a:pt x="199236" y="387009"/>
                    <a:pt x="189687" y="362710"/>
                    <a:pt x="170284" y="340920"/>
                  </a:cubicBezTo>
                  <a:cubicBezTo>
                    <a:pt x="161408" y="330454"/>
                    <a:pt x="150880" y="321579"/>
                    <a:pt x="139924" y="313439"/>
                  </a:cubicBezTo>
                  <a:lnTo>
                    <a:pt x="139924" y="313439"/>
                  </a:lnTo>
                  <a:close/>
                  <a:moveTo>
                    <a:pt x="148432" y="71734"/>
                  </a:moveTo>
                  <a:cubicBezTo>
                    <a:pt x="150574" y="71734"/>
                    <a:pt x="152595" y="70816"/>
                    <a:pt x="154002" y="69286"/>
                  </a:cubicBezTo>
                  <a:cubicBezTo>
                    <a:pt x="160735" y="61880"/>
                    <a:pt x="165938" y="54474"/>
                    <a:pt x="169917" y="46517"/>
                  </a:cubicBezTo>
                  <a:cubicBezTo>
                    <a:pt x="170773" y="44803"/>
                    <a:pt x="171018" y="42845"/>
                    <a:pt x="170467" y="41008"/>
                  </a:cubicBezTo>
                  <a:cubicBezTo>
                    <a:pt x="169427" y="37642"/>
                    <a:pt x="166489" y="35500"/>
                    <a:pt x="163122" y="35500"/>
                  </a:cubicBezTo>
                  <a:lnTo>
                    <a:pt x="161164" y="35500"/>
                  </a:lnTo>
                  <a:cubicBezTo>
                    <a:pt x="164102" y="28217"/>
                    <a:pt x="165877" y="20566"/>
                    <a:pt x="166489" y="12425"/>
                  </a:cubicBezTo>
                  <a:lnTo>
                    <a:pt x="187361" y="12425"/>
                  </a:lnTo>
                  <a:cubicBezTo>
                    <a:pt x="184974" y="54535"/>
                    <a:pt x="158532" y="80365"/>
                    <a:pt x="129213" y="101603"/>
                  </a:cubicBezTo>
                  <a:cubicBezTo>
                    <a:pt x="123153" y="97380"/>
                    <a:pt x="117032" y="93340"/>
                    <a:pt x="110850" y="89240"/>
                  </a:cubicBezTo>
                  <a:cubicBezTo>
                    <a:pt x="118746" y="83792"/>
                    <a:pt x="126642" y="77977"/>
                    <a:pt x="133742" y="71796"/>
                  </a:cubicBezTo>
                  <a:lnTo>
                    <a:pt x="148432" y="71796"/>
                  </a:lnTo>
                  <a:close/>
                  <a:moveTo>
                    <a:pt x="114094" y="71734"/>
                  </a:moveTo>
                  <a:cubicBezTo>
                    <a:pt x="109503" y="75162"/>
                    <a:pt x="104790" y="78467"/>
                    <a:pt x="100077" y="81711"/>
                  </a:cubicBezTo>
                  <a:cubicBezTo>
                    <a:pt x="95180" y="78344"/>
                    <a:pt x="90467" y="75101"/>
                    <a:pt x="85999" y="71734"/>
                  </a:cubicBezTo>
                  <a:lnTo>
                    <a:pt x="114094" y="71734"/>
                  </a:lnTo>
                  <a:close/>
                  <a:moveTo>
                    <a:pt x="93650" y="47803"/>
                  </a:moveTo>
                  <a:lnTo>
                    <a:pt x="93650" y="59370"/>
                  </a:lnTo>
                  <a:lnTo>
                    <a:pt x="70084" y="59370"/>
                  </a:lnTo>
                  <a:cubicBezTo>
                    <a:pt x="66106" y="55637"/>
                    <a:pt x="62495" y="51842"/>
                    <a:pt x="59312" y="47803"/>
                  </a:cubicBezTo>
                  <a:lnTo>
                    <a:pt x="93650" y="47803"/>
                  </a:lnTo>
                  <a:close/>
                  <a:moveTo>
                    <a:pt x="12976" y="12364"/>
                  </a:moveTo>
                  <a:lnTo>
                    <a:pt x="33604" y="12364"/>
                  </a:lnTo>
                  <a:cubicBezTo>
                    <a:pt x="36604" y="54046"/>
                    <a:pt x="70207" y="76386"/>
                    <a:pt x="105708" y="100012"/>
                  </a:cubicBezTo>
                  <a:cubicBezTo>
                    <a:pt x="143903" y="125473"/>
                    <a:pt x="187239" y="154302"/>
                    <a:pt x="187239" y="211041"/>
                  </a:cubicBezTo>
                  <a:cubicBezTo>
                    <a:pt x="187239" y="256578"/>
                    <a:pt x="159817" y="283754"/>
                    <a:pt x="129274" y="305911"/>
                  </a:cubicBezTo>
                  <a:cubicBezTo>
                    <a:pt x="123275" y="301748"/>
                    <a:pt x="117154" y="297709"/>
                    <a:pt x="111033" y="293608"/>
                  </a:cubicBezTo>
                  <a:cubicBezTo>
                    <a:pt x="111033" y="293608"/>
                    <a:pt x="111033" y="293608"/>
                    <a:pt x="111033" y="293608"/>
                  </a:cubicBezTo>
                  <a:cubicBezTo>
                    <a:pt x="142128" y="272063"/>
                    <a:pt x="166611" y="249723"/>
                    <a:pt x="166611" y="211041"/>
                  </a:cubicBezTo>
                  <a:cubicBezTo>
                    <a:pt x="166611" y="165319"/>
                    <a:pt x="131478" y="141938"/>
                    <a:pt x="94262" y="117210"/>
                  </a:cubicBezTo>
                  <a:cubicBezTo>
                    <a:pt x="57537" y="92667"/>
                    <a:pt x="16037" y="65063"/>
                    <a:pt x="12976" y="12364"/>
                  </a:cubicBezTo>
                  <a:lnTo>
                    <a:pt x="12976" y="12364"/>
                  </a:lnTo>
                  <a:close/>
                  <a:moveTo>
                    <a:pt x="106014" y="253089"/>
                  </a:moveTo>
                  <a:lnTo>
                    <a:pt x="140291" y="253089"/>
                  </a:lnTo>
                  <a:cubicBezTo>
                    <a:pt x="137108" y="257129"/>
                    <a:pt x="133497" y="260924"/>
                    <a:pt x="129519" y="264657"/>
                  </a:cubicBezTo>
                  <a:lnTo>
                    <a:pt x="106014" y="264657"/>
                  </a:lnTo>
                  <a:lnTo>
                    <a:pt x="106014" y="253089"/>
                  </a:lnTo>
                  <a:close/>
                  <a:moveTo>
                    <a:pt x="106014" y="205287"/>
                  </a:moveTo>
                  <a:lnTo>
                    <a:pt x="155227" y="205287"/>
                  </a:lnTo>
                  <a:cubicBezTo>
                    <a:pt x="155533" y="209082"/>
                    <a:pt x="155533" y="213060"/>
                    <a:pt x="155227" y="216855"/>
                  </a:cubicBezTo>
                  <a:lnTo>
                    <a:pt x="106014" y="216855"/>
                  </a:lnTo>
                  <a:lnTo>
                    <a:pt x="106014" y="205287"/>
                  </a:lnTo>
                  <a:close/>
                  <a:moveTo>
                    <a:pt x="106014" y="158280"/>
                  </a:moveTo>
                  <a:lnTo>
                    <a:pt x="129580" y="158280"/>
                  </a:lnTo>
                  <a:cubicBezTo>
                    <a:pt x="133558" y="162014"/>
                    <a:pt x="137170" y="165809"/>
                    <a:pt x="140353" y="169848"/>
                  </a:cubicBezTo>
                  <a:lnTo>
                    <a:pt x="106014" y="169848"/>
                  </a:lnTo>
                  <a:lnTo>
                    <a:pt x="106014" y="158280"/>
                  </a:lnTo>
                  <a:close/>
                  <a:moveTo>
                    <a:pt x="100077" y="135940"/>
                  </a:moveTo>
                  <a:cubicBezTo>
                    <a:pt x="104974" y="139306"/>
                    <a:pt x="109687" y="142550"/>
                    <a:pt x="114155" y="145917"/>
                  </a:cubicBezTo>
                  <a:lnTo>
                    <a:pt x="86060" y="145917"/>
                  </a:lnTo>
                  <a:cubicBezTo>
                    <a:pt x="90589" y="142489"/>
                    <a:pt x="95364" y="139184"/>
                    <a:pt x="100077" y="135940"/>
                  </a:cubicBezTo>
                  <a:lnTo>
                    <a:pt x="100077" y="135940"/>
                  </a:lnTo>
                  <a:close/>
                  <a:moveTo>
                    <a:pt x="52456" y="158280"/>
                  </a:moveTo>
                  <a:lnTo>
                    <a:pt x="93650" y="158280"/>
                  </a:lnTo>
                  <a:lnTo>
                    <a:pt x="93650" y="169848"/>
                  </a:lnTo>
                  <a:cubicBezTo>
                    <a:pt x="86550" y="169848"/>
                    <a:pt x="55333" y="169848"/>
                    <a:pt x="43704" y="169848"/>
                  </a:cubicBezTo>
                  <a:cubicBezTo>
                    <a:pt x="46213" y="165931"/>
                    <a:pt x="49090" y="162075"/>
                    <a:pt x="52456" y="158280"/>
                  </a:cubicBezTo>
                  <a:close/>
                  <a:moveTo>
                    <a:pt x="52518" y="182212"/>
                  </a:moveTo>
                  <a:lnTo>
                    <a:pt x="147636" y="182212"/>
                  </a:lnTo>
                  <a:cubicBezTo>
                    <a:pt x="149412" y="185884"/>
                    <a:pt x="150880" y="189679"/>
                    <a:pt x="151983" y="193780"/>
                  </a:cubicBezTo>
                  <a:lnTo>
                    <a:pt x="48172" y="193780"/>
                  </a:lnTo>
                  <a:cubicBezTo>
                    <a:pt x="49212" y="189740"/>
                    <a:pt x="50682" y="185946"/>
                    <a:pt x="52518" y="182212"/>
                  </a:cubicBezTo>
                  <a:lnTo>
                    <a:pt x="52518" y="182212"/>
                  </a:lnTo>
                  <a:close/>
                  <a:moveTo>
                    <a:pt x="31707" y="205287"/>
                  </a:moveTo>
                  <a:lnTo>
                    <a:pt x="93650" y="205287"/>
                  </a:lnTo>
                  <a:lnTo>
                    <a:pt x="93650" y="216855"/>
                  </a:lnTo>
                  <a:cubicBezTo>
                    <a:pt x="83183" y="216855"/>
                    <a:pt x="38807" y="216855"/>
                    <a:pt x="31707" y="216855"/>
                  </a:cubicBezTo>
                  <a:cubicBezTo>
                    <a:pt x="31462" y="213121"/>
                    <a:pt x="31462" y="209143"/>
                    <a:pt x="31707" y="205287"/>
                  </a:cubicBezTo>
                  <a:lnTo>
                    <a:pt x="31707" y="205287"/>
                  </a:lnTo>
                  <a:close/>
                  <a:moveTo>
                    <a:pt x="48172" y="229157"/>
                  </a:moveTo>
                  <a:lnTo>
                    <a:pt x="151983" y="229157"/>
                  </a:lnTo>
                  <a:cubicBezTo>
                    <a:pt x="150880" y="233197"/>
                    <a:pt x="149412" y="237053"/>
                    <a:pt x="147636" y="240726"/>
                  </a:cubicBezTo>
                  <a:lnTo>
                    <a:pt x="52518" y="240726"/>
                  </a:lnTo>
                  <a:cubicBezTo>
                    <a:pt x="50682" y="236992"/>
                    <a:pt x="49212" y="233136"/>
                    <a:pt x="48172" y="229157"/>
                  </a:cubicBezTo>
                  <a:close/>
                  <a:moveTo>
                    <a:pt x="43704" y="253089"/>
                  </a:moveTo>
                  <a:lnTo>
                    <a:pt x="93650" y="253089"/>
                  </a:lnTo>
                  <a:lnTo>
                    <a:pt x="93650" y="264657"/>
                  </a:lnTo>
                  <a:lnTo>
                    <a:pt x="52456" y="264657"/>
                  </a:lnTo>
                  <a:cubicBezTo>
                    <a:pt x="49090" y="260801"/>
                    <a:pt x="46213" y="257006"/>
                    <a:pt x="43704" y="253089"/>
                  </a:cubicBezTo>
                  <a:lnTo>
                    <a:pt x="43704" y="253089"/>
                  </a:lnTo>
                  <a:close/>
                  <a:moveTo>
                    <a:pt x="114094" y="276164"/>
                  </a:moveTo>
                  <a:cubicBezTo>
                    <a:pt x="109626" y="279469"/>
                    <a:pt x="104913" y="282774"/>
                    <a:pt x="100077" y="286140"/>
                  </a:cubicBezTo>
                  <a:cubicBezTo>
                    <a:pt x="95242" y="282836"/>
                    <a:pt x="90528" y="279530"/>
                    <a:pt x="86060" y="276164"/>
                  </a:cubicBezTo>
                  <a:lnTo>
                    <a:pt x="114094" y="276164"/>
                  </a:lnTo>
                  <a:close/>
                  <a:moveTo>
                    <a:pt x="85999" y="351203"/>
                  </a:moveTo>
                  <a:cubicBezTo>
                    <a:pt x="90467" y="347898"/>
                    <a:pt x="95119" y="344593"/>
                    <a:pt x="100016" y="341226"/>
                  </a:cubicBezTo>
                  <a:cubicBezTo>
                    <a:pt x="104852" y="344532"/>
                    <a:pt x="109564" y="347837"/>
                    <a:pt x="114033" y="351203"/>
                  </a:cubicBezTo>
                  <a:cubicBezTo>
                    <a:pt x="96588" y="351203"/>
                    <a:pt x="103443" y="351203"/>
                    <a:pt x="85999" y="351203"/>
                  </a:cubicBezTo>
                  <a:close/>
                  <a:moveTo>
                    <a:pt x="33665" y="409717"/>
                  </a:moveTo>
                  <a:lnTo>
                    <a:pt x="13038" y="409717"/>
                  </a:lnTo>
                  <a:cubicBezTo>
                    <a:pt x="15425" y="367851"/>
                    <a:pt x="41684" y="342206"/>
                    <a:pt x="70819" y="321028"/>
                  </a:cubicBezTo>
                  <a:cubicBezTo>
                    <a:pt x="76879" y="325252"/>
                    <a:pt x="83000" y="329291"/>
                    <a:pt x="89059" y="333331"/>
                  </a:cubicBezTo>
                  <a:cubicBezTo>
                    <a:pt x="59985" y="353468"/>
                    <a:pt x="36175" y="374584"/>
                    <a:pt x="33665" y="409717"/>
                  </a:cubicBezTo>
                  <a:close/>
                  <a:moveTo>
                    <a:pt x="70146" y="363567"/>
                  </a:moveTo>
                  <a:lnTo>
                    <a:pt x="93650" y="363567"/>
                  </a:lnTo>
                  <a:lnTo>
                    <a:pt x="93650" y="375135"/>
                  </a:lnTo>
                  <a:lnTo>
                    <a:pt x="59373" y="375135"/>
                  </a:lnTo>
                  <a:cubicBezTo>
                    <a:pt x="62556" y="371096"/>
                    <a:pt x="66167" y="367239"/>
                    <a:pt x="70146" y="363567"/>
                  </a:cubicBezTo>
                  <a:close/>
                </a:path>
              </a:pathLst>
            </a:custGeom>
            <a:solidFill>
              <a:schemeClr val="dk1"/>
            </a:solidFill>
            <a:ln w="6350">
              <a:solidFill>
                <a:schemeClr val="tx2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1022;p54">
              <a:extLst>
                <a:ext uri="{FF2B5EF4-FFF2-40B4-BE49-F238E27FC236}">
                  <a16:creationId xmlns:a16="http://schemas.microsoft.com/office/drawing/2014/main" id="{C8AF3575-6354-D08F-1B7C-E898DAECBE3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500468" y="4124006"/>
              <a:ext cx="162033" cy="343274"/>
            </a:xfrm>
            <a:custGeom>
              <a:avLst/>
              <a:gdLst/>
              <a:ahLst/>
              <a:cxnLst/>
              <a:rect l="l" t="t" r="r" b="b"/>
              <a:pathLst>
                <a:path w="199664" h="422998" extrusionOk="0">
                  <a:moveTo>
                    <a:pt x="139924" y="313439"/>
                  </a:moveTo>
                  <a:cubicBezTo>
                    <a:pt x="152839" y="303829"/>
                    <a:pt x="167591" y="291405"/>
                    <a:pt x="178853" y="275797"/>
                  </a:cubicBezTo>
                  <a:cubicBezTo>
                    <a:pt x="192870" y="256455"/>
                    <a:pt x="199664" y="235278"/>
                    <a:pt x="199664" y="211041"/>
                  </a:cubicBezTo>
                  <a:cubicBezTo>
                    <a:pt x="199664" y="182640"/>
                    <a:pt x="190238" y="158219"/>
                    <a:pt x="170773" y="136246"/>
                  </a:cubicBezTo>
                  <a:cubicBezTo>
                    <a:pt x="161531" y="125841"/>
                    <a:pt x="151003" y="116843"/>
                    <a:pt x="139924" y="108642"/>
                  </a:cubicBezTo>
                  <a:cubicBezTo>
                    <a:pt x="152778" y="99094"/>
                    <a:pt x="167407" y="86730"/>
                    <a:pt x="178670" y="71245"/>
                  </a:cubicBezTo>
                  <a:cubicBezTo>
                    <a:pt x="192625" y="52087"/>
                    <a:pt x="199481" y="31154"/>
                    <a:pt x="199664" y="7284"/>
                  </a:cubicBezTo>
                  <a:cubicBezTo>
                    <a:pt x="199664" y="5693"/>
                    <a:pt x="199236" y="4163"/>
                    <a:pt x="198317" y="2877"/>
                  </a:cubicBezTo>
                  <a:cubicBezTo>
                    <a:pt x="196971" y="1041"/>
                    <a:pt x="194890" y="0"/>
                    <a:pt x="192625" y="0"/>
                  </a:cubicBezTo>
                  <a:lnTo>
                    <a:pt x="161347" y="0"/>
                  </a:lnTo>
                  <a:cubicBezTo>
                    <a:pt x="157491" y="0"/>
                    <a:pt x="154369" y="3122"/>
                    <a:pt x="154308" y="6978"/>
                  </a:cubicBezTo>
                  <a:cubicBezTo>
                    <a:pt x="154186" y="17383"/>
                    <a:pt x="151983" y="26686"/>
                    <a:pt x="147575" y="35439"/>
                  </a:cubicBezTo>
                  <a:lnTo>
                    <a:pt x="141271" y="35439"/>
                  </a:lnTo>
                  <a:cubicBezTo>
                    <a:pt x="138088" y="35439"/>
                    <a:pt x="135272" y="37704"/>
                    <a:pt x="134905" y="40825"/>
                  </a:cubicBezTo>
                  <a:cubicBezTo>
                    <a:pt x="134476" y="44559"/>
                    <a:pt x="137353" y="47803"/>
                    <a:pt x="141026" y="47803"/>
                  </a:cubicBezTo>
                  <a:lnTo>
                    <a:pt x="155900" y="47803"/>
                  </a:lnTo>
                  <a:cubicBezTo>
                    <a:pt x="153390" y="51720"/>
                    <a:pt x="150513" y="55514"/>
                    <a:pt x="147147" y="59370"/>
                  </a:cubicBezTo>
                  <a:cubicBezTo>
                    <a:pt x="136986" y="59370"/>
                    <a:pt x="113421" y="59370"/>
                    <a:pt x="105953" y="59370"/>
                  </a:cubicBezTo>
                  <a:lnTo>
                    <a:pt x="105953" y="47803"/>
                  </a:lnTo>
                  <a:lnTo>
                    <a:pt x="111646" y="47803"/>
                  </a:lnTo>
                  <a:cubicBezTo>
                    <a:pt x="114829" y="47803"/>
                    <a:pt x="117644" y="45538"/>
                    <a:pt x="118012" y="42417"/>
                  </a:cubicBezTo>
                  <a:cubicBezTo>
                    <a:pt x="118440" y="38683"/>
                    <a:pt x="115563" y="35439"/>
                    <a:pt x="111891" y="35439"/>
                  </a:cubicBezTo>
                  <a:lnTo>
                    <a:pt x="52395" y="35439"/>
                  </a:lnTo>
                  <a:cubicBezTo>
                    <a:pt x="48233" y="27053"/>
                    <a:pt x="45846" y="17750"/>
                    <a:pt x="45723" y="6978"/>
                  </a:cubicBezTo>
                  <a:cubicBezTo>
                    <a:pt x="45662" y="3122"/>
                    <a:pt x="42540" y="0"/>
                    <a:pt x="38684" y="0"/>
                  </a:cubicBezTo>
                  <a:lnTo>
                    <a:pt x="7590" y="0"/>
                  </a:lnTo>
                  <a:cubicBezTo>
                    <a:pt x="5999" y="0"/>
                    <a:pt x="4469" y="429"/>
                    <a:pt x="3183" y="1408"/>
                  </a:cubicBezTo>
                  <a:cubicBezTo>
                    <a:pt x="1347" y="2816"/>
                    <a:pt x="306" y="4897"/>
                    <a:pt x="368" y="7100"/>
                  </a:cubicBezTo>
                  <a:cubicBezTo>
                    <a:pt x="551" y="35194"/>
                    <a:pt x="10099" y="59493"/>
                    <a:pt x="29503" y="81344"/>
                  </a:cubicBezTo>
                  <a:cubicBezTo>
                    <a:pt x="38684" y="91688"/>
                    <a:pt x="49151" y="100563"/>
                    <a:pt x="60169" y="108703"/>
                  </a:cubicBezTo>
                  <a:cubicBezTo>
                    <a:pt x="54476" y="112926"/>
                    <a:pt x="49518" y="116904"/>
                    <a:pt x="44867" y="120944"/>
                  </a:cubicBezTo>
                  <a:cubicBezTo>
                    <a:pt x="42479" y="123025"/>
                    <a:pt x="41867" y="126637"/>
                    <a:pt x="43643" y="129268"/>
                  </a:cubicBezTo>
                  <a:cubicBezTo>
                    <a:pt x="45785" y="132390"/>
                    <a:pt x="50070" y="132818"/>
                    <a:pt x="52824" y="130431"/>
                  </a:cubicBezTo>
                  <a:cubicBezTo>
                    <a:pt x="58088" y="125841"/>
                    <a:pt x="63842" y="121311"/>
                    <a:pt x="70696" y="116292"/>
                  </a:cubicBezTo>
                  <a:cubicBezTo>
                    <a:pt x="76695" y="120455"/>
                    <a:pt x="82816" y="124494"/>
                    <a:pt x="88937" y="128595"/>
                  </a:cubicBezTo>
                  <a:cubicBezTo>
                    <a:pt x="81102" y="134042"/>
                    <a:pt x="73267" y="139796"/>
                    <a:pt x="66167" y="145978"/>
                  </a:cubicBezTo>
                  <a:lnTo>
                    <a:pt x="51600" y="145978"/>
                  </a:lnTo>
                  <a:cubicBezTo>
                    <a:pt x="49457" y="145978"/>
                    <a:pt x="47437" y="146896"/>
                    <a:pt x="45968" y="148487"/>
                  </a:cubicBezTo>
                  <a:cubicBezTo>
                    <a:pt x="39296" y="155771"/>
                    <a:pt x="34155" y="163115"/>
                    <a:pt x="30177" y="171011"/>
                  </a:cubicBezTo>
                  <a:cubicBezTo>
                    <a:pt x="29197" y="172970"/>
                    <a:pt x="28952" y="175296"/>
                    <a:pt x="29748" y="177377"/>
                  </a:cubicBezTo>
                  <a:cubicBezTo>
                    <a:pt x="30911" y="180437"/>
                    <a:pt x="33727" y="182273"/>
                    <a:pt x="36848" y="182273"/>
                  </a:cubicBezTo>
                  <a:lnTo>
                    <a:pt x="38746" y="182273"/>
                  </a:lnTo>
                  <a:cubicBezTo>
                    <a:pt x="37338" y="185762"/>
                    <a:pt x="36236" y="189312"/>
                    <a:pt x="35379" y="192985"/>
                  </a:cubicBezTo>
                  <a:lnTo>
                    <a:pt x="29136" y="192985"/>
                  </a:lnTo>
                  <a:cubicBezTo>
                    <a:pt x="25280" y="192985"/>
                    <a:pt x="22035" y="195861"/>
                    <a:pt x="21546" y="199717"/>
                  </a:cubicBezTo>
                  <a:cubicBezTo>
                    <a:pt x="20689" y="207001"/>
                    <a:pt x="20689" y="214957"/>
                    <a:pt x="21546" y="222547"/>
                  </a:cubicBezTo>
                  <a:cubicBezTo>
                    <a:pt x="21974" y="226342"/>
                    <a:pt x="25218" y="229280"/>
                    <a:pt x="29074" y="229280"/>
                  </a:cubicBezTo>
                  <a:lnTo>
                    <a:pt x="35257" y="229280"/>
                  </a:lnTo>
                  <a:cubicBezTo>
                    <a:pt x="36175" y="233258"/>
                    <a:pt x="37338" y="237053"/>
                    <a:pt x="38868" y="240848"/>
                  </a:cubicBezTo>
                  <a:lnTo>
                    <a:pt x="37031" y="240848"/>
                  </a:lnTo>
                  <a:cubicBezTo>
                    <a:pt x="34828" y="240848"/>
                    <a:pt x="32686" y="241705"/>
                    <a:pt x="31278" y="243296"/>
                  </a:cubicBezTo>
                  <a:cubicBezTo>
                    <a:pt x="29074" y="245744"/>
                    <a:pt x="28646" y="249050"/>
                    <a:pt x="30054" y="251865"/>
                  </a:cubicBezTo>
                  <a:cubicBezTo>
                    <a:pt x="34033" y="259822"/>
                    <a:pt x="39235" y="267228"/>
                    <a:pt x="45968" y="274634"/>
                  </a:cubicBezTo>
                  <a:cubicBezTo>
                    <a:pt x="47376" y="276225"/>
                    <a:pt x="49457" y="277082"/>
                    <a:pt x="51538" y="277082"/>
                  </a:cubicBezTo>
                  <a:lnTo>
                    <a:pt x="66473" y="277082"/>
                  </a:lnTo>
                  <a:cubicBezTo>
                    <a:pt x="109075" y="314234"/>
                    <a:pt x="182587" y="338840"/>
                    <a:pt x="186627" y="409778"/>
                  </a:cubicBezTo>
                  <a:lnTo>
                    <a:pt x="166244" y="409778"/>
                  </a:lnTo>
                  <a:cubicBezTo>
                    <a:pt x="165693" y="401882"/>
                    <a:pt x="163979" y="394538"/>
                    <a:pt x="161164" y="387499"/>
                  </a:cubicBezTo>
                  <a:lnTo>
                    <a:pt x="163061" y="387499"/>
                  </a:lnTo>
                  <a:cubicBezTo>
                    <a:pt x="168754" y="387499"/>
                    <a:pt x="172426" y="381562"/>
                    <a:pt x="169855" y="376482"/>
                  </a:cubicBezTo>
                  <a:cubicBezTo>
                    <a:pt x="165877" y="368525"/>
                    <a:pt x="160674" y="361118"/>
                    <a:pt x="153941" y="353713"/>
                  </a:cubicBezTo>
                  <a:cubicBezTo>
                    <a:pt x="152472" y="352122"/>
                    <a:pt x="150452" y="351203"/>
                    <a:pt x="148310" y="351203"/>
                  </a:cubicBezTo>
                  <a:lnTo>
                    <a:pt x="134048" y="351203"/>
                  </a:lnTo>
                  <a:cubicBezTo>
                    <a:pt x="89916" y="312704"/>
                    <a:pt x="12426" y="287365"/>
                    <a:pt x="12426" y="210856"/>
                  </a:cubicBezTo>
                  <a:cubicBezTo>
                    <a:pt x="12426" y="188027"/>
                    <a:pt x="19220" y="168196"/>
                    <a:pt x="33175" y="150140"/>
                  </a:cubicBezTo>
                  <a:cubicBezTo>
                    <a:pt x="34951" y="147814"/>
                    <a:pt x="35012" y="144509"/>
                    <a:pt x="33175" y="142305"/>
                  </a:cubicBezTo>
                  <a:cubicBezTo>
                    <a:pt x="30544" y="139123"/>
                    <a:pt x="25830" y="139367"/>
                    <a:pt x="23444" y="142428"/>
                  </a:cubicBezTo>
                  <a:cubicBezTo>
                    <a:pt x="7651" y="162748"/>
                    <a:pt x="0" y="185150"/>
                    <a:pt x="0" y="210856"/>
                  </a:cubicBezTo>
                  <a:cubicBezTo>
                    <a:pt x="0" y="239379"/>
                    <a:pt x="9487" y="263984"/>
                    <a:pt x="29013" y="286079"/>
                  </a:cubicBezTo>
                  <a:cubicBezTo>
                    <a:pt x="38256" y="296546"/>
                    <a:pt x="48906" y="305543"/>
                    <a:pt x="60046" y="313806"/>
                  </a:cubicBezTo>
                  <a:cubicBezTo>
                    <a:pt x="47131" y="323415"/>
                    <a:pt x="32441" y="335779"/>
                    <a:pt x="21117" y="351387"/>
                  </a:cubicBezTo>
                  <a:cubicBezTo>
                    <a:pt x="7101" y="370605"/>
                    <a:pt x="184" y="391661"/>
                    <a:pt x="0" y="415715"/>
                  </a:cubicBezTo>
                  <a:cubicBezTo>
                    <a:pt x="0" y="417061"/>
                    <a:pt x="306" y="418469"/>
                    <a:pt x="1041" y="419632"/>
                  </a:cubicBezTo>
                  <a:cubicBezTo>
                    <a:pt x="2387" y="421774"/>
                    <a:pt x="4652" y="422999"/>
                    <a:pt x="7039" y="422999"/>
                  </a:cubicBezTo>
                  <a:lnTo>
                    <a:pt x="38440" y="422999"/>
                  </a:lnTo>
                  <a:cubicBezTo>
                    <a:pt x="42357" y="422999"/>
                    <a:pt x="45601" y="419816"/>
                    <a:pt x="45601" y="415898"/>
                  </a:cubicBezTo>
                  <a:cubicBezTo>
                    <a:pt x="45723" y="404881"/>
                    <a:pt x="48172" y="395333"/>
                    <a:pt x="52456" y="386764"/>
                  </a:cubicBezTo>
                  <a:lnTo>
                    <a:pt x="111891" y="386764"/>
                  </a:lnTo>
                  <a:cubicBezTo>
                    <a:pt x="115135" y="386764"/>
                    <a:pt x="117706" y="384132"/>
                    <a:pt x="117644" y="380827"/>
                  </a:cubicBezTo>
                  <a:cubicBezTo>
                    <a:pt x="117583" y="377644"/>
                    <a:pt x="114767" y="375196"/>
                    <a:pt x="111585" y="375196"/>
                  </a:cubicBezTo>
                  <a:lnTo>
                    <a:pt x="105770" y="375196"/>
                  </a:lnTo>
                  <a:lnTo>
                    <a:pt x="105770" y="363628"/>
                  </a:lnTo>
                  <a:lnTo>
                    <a:pt x="146963" y="363628"/>
                  </a:lnTo>
                  <a:cubicBezTo>
                    <a:pt x="150330" y="367423"/>
                    <a:pt x="153207" y="371279"/>
                    <a:pt x="155716" y="375196"/>
                  </a:cubicBezTo>
                  <a:cubicBezTo>
                    <a:pt x="152166" y="375196"/>
                    <a:pt x="140720" y="375196"/>
                    <a:pt x="140720" y="375196"/>
                  </a:cubicBezTo>
                  <a:cubicBezTo>
                    <a:pt x="137537" y="375196"/>
                    <a:pt x="134783" y="377644"/>
                    <a:pt x="134660" y="380827"/>
                  </a:cubicBezTo>
                  <a:cubicBezTo>
                    <a:pt x="134599" y="384071"/>
                    <a:pt x="137170" y="386764"/>
                    <a:pt x="140414" y="386764"/>
                  </a:cubicBezTo>
                  <a:lnTo>
                    <a:pt x="147330" y="386764"/>
                  </a:lnTo>
                  <a:cubicBezTo>
                    <a:pt x="151738" y="395517"/>
                    <a:pt x="153941" y="404881"/>
                    <a:pt x="154063" y="415225"/>
                  </a:cubicBezTo>
                  <a:cubicBezTo>
                    <a:pt x="154125" y="419081"/>
                    <a:pt x="157246" y="422203"/>
                    <a:pt x="161102" y="422203"/>
                  </a:cubicBezTo>
                  <a:lnTo>
                    <a:pt x="192196" y="422203"/>
                  </a:lnTo>
                  <a:cubicBezTo>
                    <a:pt x="193788" y="422203"/>
                    <a:pt x="195319" y="421774"/>
                    <a:pt x="196604" y="420795"/>
                  </a:cubicBezTo>
                  <a:cubicBezTo>
                    <a:pt x="198440" y="419387"/>
                    <a:pt x="199481" y="417306"/>
                    <a:pt x="199420" y="415103"/>
                  </a:cubicBezTo>
                  <a:cubicBezTo>
                    <a:pt x="199236" y="387009"/>
                    <a:pt x="189687" y="362710"/>
                    <a:pt x="170284" y="340920"/>
                  </a:cubicBezTo>
                  <a:cubicBezTo>
                    <a:pt x="161408" y="330454"/>
                    <a:pt x="150880" y="321579"/>
                    <a:pt x="139924" y="313439"/>
                  </a:cubicBezTo>
                  <a:lnTo>
                    <a:pt x="139924" y="313439"/>
                  </a:lnTo>
                  <a:close/>
                  <a:moveTo>
                    <a:pt x="148432" y="71734"/>
                  </a:moveTo>
                  <a:cubicBezTo>
                    <a:pt x="150574" y="71734"/>
                    <a:pt x="152595" y="70816"/>
                    <a:pt x="154002" y="69286"/>
                  </a:cubicBezTo>
                  <a:cubicBezTo>
                    <a:pt x="160735" y="61880"/>
                    <a:pt x="165938" y="54474"/>
                    <a:pt x="169917" y="46517"/>
                  </a:cubicBezTo>
                  <a:cubicBezTo>
                    <a:pt x="170773" y="44803"/>
                    <a:pt x="171018" y="42845"/>
                    <a:pt x="170467" y="41008"/>
                  </a:cubicBezTo>
                  <a:cubicBezTo>
                    <a:pt x="169427" y="37642"/>
                    <a:pt x="166489" y="35500"/>
                    <a:pt x="163122" y="35500"/>
                  </a:cubicBezTo>
                  <a:lnTo>
                    <a:pt x="161164" y="35500"/>
                  </a:lnTo>
                  <a:cubicBezTo>
                    <a:pt x="164102" y="28217"/>
                    <a:pt x="165877" y="20566"/>
                    <a:pt x="166489" y="12425"/>
                  </a:cubicBezTo>
                  <a:lnTo>
                    <a:pt x="187361" y="12425"/>
                  </a:lnTo>
                  <a:cubicBezTo>
                    <a:pt x="184974" y="54535"/>
                    <a:pt x="158532" y="80365"/>
                    <a:pt x="129213" y="101603"/>
                  </a:cubicBezTo>
                  <a:cubicBezTo>
                    <a:pt x="123153" y="97380"/>
                    <a:pt x="117032" y="93340"/>
                    <a:pt x="110850" y="89240"/>
                  </a:cubicBezTo>
                  <a:cubicBezTo>
                    <a:pt x="118746" y="83792"/>
                    <a:pt x="126642" y="77977"/>
                    <a:pt x="133742" y="71796"/>
                  </a:cubicBezTo>
                  <a:lnTo>
                    <a:pt x="148432" y="71796"/>
                  </a:lnTo>
                  <a:close/>
                  <a:moveTo>
                    <a:pt x="114094" y="71734"/>
                  </a:moveTo>
                  <a:cubicBezTo>
                    <a:pt x="109503" y="75162"/>
                    <a:pt x="104790" y="78467"/>
                    <a:pt x="100077" y="81711"/>
                  </a:cubicBezTo>
                  <a:cubicBezTo>
                    <a:pt x="95180" y="78344"/>
                    <a:pt x="90467" y="75101"/>
                    <a:pt x="85999" y="71734"/>
                  </a:cubicBezTo>
                  <a:lnTo>
                    <a:pt x="114094" y="71734"/>
                  </a:lnTo>
                  <a:close/>
                  <a:moveTo>
                    <a:pt x="93650" y="47803"/>
                  </a:moveTo>
                  <a:lnTo>
                    <a:pt x="93650" y="59370"/>
                  </a:lnTo>
                  <a:lnTo>
                    <a:pt x="70084" y="59370"/>
                  </a:lnTo>
                  <a:cubicBezTo>
                    <a:pt x="66106" y="55637"/>
                    <a:pt x="62495" y="51842"/>
                    <a:pt x="59312" y="47803"/>
                  </a:cubicBezTo>
                  <a:lnTo>
                    <a:pt x="93650" y="47803"/>
                  </a:lnTo>
                  <a:close/>
                  <a:moveTo>
                    <a:pt x="12976" y="12364"/>
                  </a:moveTo>
                  <a:lnTo>
                    <a:pt x="33604" y="12364"/>
                  </a:lnTo>
                  <a:cubicBezTo>
                    <a:pt x="36604" y="54046"/>
                    <a:pt x="70207" y="76386"/>
                    <a:pt x="105708" y="100012"/>
                  </a:cubicBezTo>
                  <a:cubicBezTo>
                    <a:pt x="143903" y="125473"/>
                    <a:pt x="187239" y="154302"/>
                    <a:pt x="187239" y="211041"/>
                  </a:cubicBezTo>
                  <a:cubicBezTo>
                    <a:pt x="187239" y="256578"/>
                    <a:pt x="159817" y="283754"/>
                    <a:pt x="129274" y="305911"/>
                  </a:cubicBezTo>
                  <a:cubicBezTo>
                    <a:pt x="123275" y="301748"/>
                    <a:pt x="117154" y="297709"/>
                    <a:pt x="111033" y="293608"/>
                  </a:cubicBezTo>
                  <a:cubicBezTo>
                    <a:pt x="111033" y="293608"/>
                    <a:pt x="111033" y="293608"/>
                    <a:pt x="111033" y="293608"/>
                  </a:cubicBezTo>
                  <a:cubicBezTo>
                    <a:pt x="142128" y="272063"/>
                    <a:pt x="166611" y="249723"/>
                    <a:pt x="166611" y="211041"/>
                  </a:cubicBezTo>
                  <a:cubicBezTo>
                    <a:pt x="166611" y="165319"/>
                    <a:pt x="131478" y="141938"/>
                    <a:pt x="94262" y="117210"/>
                  </a:cubicBezTo>
                  <a:cubicBezTo>
                    <a:pt x="57537" y="92667"/>
                    <a:pt x="16037" y="65063"/>
                    <a:pt x="12976" y="12364"/>
                  </a:cubicBezTo>
                  <a:lnTo>
                    <a:pt x="12976" y="12364"/>
                  </a:lnTo>
                  <a:close/>
                  <a:moveTo>
                    <a:pt x="106014" y="253089"/>
                  </a:moveTo>
                  <a:lnTo>
                    <a:pt x="140291" y="253089"/>
                  </a:lnTo>
                  <a:cubicBezTo>
                    <a:pt x="137108" y="257129"/>
                    <a:pt x="133497" y="260924"/>
                    <a:pt x="129519" y="264657"/>
                  </a:cubicBezTo>
                  <a:lnTo>
                    <a:pt x="106014" y="264657"/>
                  </a:lnTo>
                  <a:lnTo>
                    <a:pt x="106014" y="253089"/>
                  </a:lnTo>
                  <a:close/>
                  <a:moveTo>
                    <a:pt x="106014" y="205287"/>
                  </a:moveTo>
                  <a:lnTo>
                    <a:pt x="155227" y="205287"/>
                  </a:lnTo>
                  <a:cubicBezTo>
                    <a:pt x="155533" y="209082"/>
                    <a:pt x="155533" y="213060"/>
                    <a:pt x="155227" y="216855"/>
                  </a:cubicBezTo>
                  <a:lnTo>
                    <a:pt x="106014" y="216855"/>
                  </a:lnTo>
                  <a:lnTo>
                    <a:pt x="106014" y="205287"/>
                  </a:lnTo>
                  <a:close/>
                  <a:moveTo>
                    <a:pt x="106014" y="158280"/>
                  </a:moveTo>
                  <a:lnTo>
                    <a:pt x="129580" y="158280"/>
                  </a:lnTo>
                  <a:cubicBezTo>
                    <a:pt x="133558" y="162014"/>
                    <a:pt x="137170" y="165809"/>
                    <a:pt x="140353" y="169848"/>
                  </a:cubicBezTo>
                  <a:lnTo>
                    <a:pt x="106014" y="169848"/>
                  </a:lnTo>
                  <a:lnTo>
                    <a:pt x="106014" y="158280"/>
                  </a:lnTo>
                  <a:close/>
                  <a:moveTo>
                    <a:pt x="100077" y="135940"/>
                  </a:moveTo>
                  <a:cubicBezTo>
                    <a:pt x="104974" y="139306"/>
                    <a:pt x="109687" y="142550"/>
                    <a:pt x="114155" y="145917"/>
                  </a:cubicBezTo>
                  <a:lnTo>
                    <a:pt x="86060" y="145917"/>
                  </a:lnTo>
                  <a:cubicBezTo>
                    <a:pt x="90589" y="142489"/>
                    <a:pt x="95364" y="139184"/>
                    <a:pt x="100077" y="135940"/>
                  </a:cubicBezTo>
                  <a:lnTo>
                    <a:pt x="100077" y="135940"/>
                  </a:lnTo>
                  <a:close/>
                  <a:moveTo>
                    <a:pt x="52456" y="158280"/>
                  </a:moveTo>
                  <a:lnTo>
                    <a:pt x="93650" y="158280"/>
                  </a:lnTo>
                  <a:lnTo>
                    <a:pt x="93650" y="169848"/>
                  </a:lnTo>
                  <a:cubicBezTo>
                    <a:pt x="86550" y="169848"/>
                    <a:pt x="55333" y="169848"/>
                    <a:pt x="43704" y="169848"/>
                  </a:cubicBezTo>
                  <a:cubicBezTo>
                    <a:pt x="46213" y="165931"/>
                    <a:pt x="49090" y="162075"/>
                    <a:pt x="52456" y="158280"/>
                  </a:cubicBezTo>
                  <a:close/>
                  <a:moveTo>
                    <a:pt x="52518" y="182212"/>
                  </a:moveTo>
                  <a:lnTo>
                    <a:pt x="147636" y="182212"/>
                  </a:lnTo>
                  <a:cubicBezTo>
                    <a:pt x="149412" y="185884"/>
                    <a:pt x="150880" y="189679"/>
                    <a:pt x="151983" y="193780"/>
                  </a:cubicBezTo>
                  <a:lnTo>
                    <a:pt x="48172" y="193780"/>
                  </a:lnTo>
                  <a:cubicBezTo>
                    <a:pt x="49212" y="189740"/>
                    <a:pt x="50682" y="185946"/>
                    <a:pt x="52518" y="182212"/>
                  </a:cubicBezTo>
                  <a:lnTo>
                    <a:pt x="52518" y="182212"/>
                  </a:lnTo>
                  <a:close/>
                  <a:moveTo>
                    <a:pt x="31707" y="205287"/>
                  </a:moveTo>
                  <a:lnTo>
                    <a:pt x="93650" y="205287"/>
                  </a:lnTo>
                  <a:lnTo>
                    <a:pt x="93650" y="216855"/>
                  </a:lnTo>
                  <a:cubicBezTo>
                    <a:pt x="83183" y="216855"/>
                    <a:pt x="38807" y="216855"/>
                    <a:pt x="31707" y="216855"/>
                  </a:cubicBezTo>
                  <a:cubicBezTo>
                    <a:pt x="31462" y="213121"/>
                    <a:pt x="31462" y="209143"/>
                    <a:pt x="31707" y="205287"/>
                  </a:cubicBezTo>
                  <a:lnTo>
                    <a:pt x="31707" y="205287"/>
                  </a:lnTo>
                  <a:close/>
                  <a:moveTo>
                    <a:pt x="48172" y="229157"/>
                  </a:moveTo>
                  <a:lnTo>
                    <a:pt x="151983" y="229157"/>
                  </a:lnTo>
                  <a:cubicBezTo>
                    <a:pt x="150880" y="233197"/>
                    <a:pt x="149412" y="237053"/>
                    <a:pt x="147636" y="240726"/>
                  </a:cubicBezTo>
                  <a:lnTo>
                    <a:pt x="52518" y="240726"/>
                  </a:lnTo>
                  <a:cubicBezTo>
                    <a:pt x="50682" y="236992"/>
                    <a:pt x="49212" y="233136"/>
                    <a:pt x="48172" y="229157"/>
                  </a:cubicBezTo>
                  <a:close/>
                  <a:moveTo>
                    <a:pt x="43704" y="253089"/>
                  </a:moveTo>
                  <a:lnTo>
                    <a:pt x="93650" y="253089"/>
                  </a:lnTo>
                  <a:lnTo>
                    <a:pt x="93650" y="264657"/>
                  </a:lnTo>
                  <a:lnTo>
                    <a:pt x="52456" y="264657"/>
                  </a:lnTo>
                  <a:cubicBezTo>
                    <a:pt x="49090" y="260801"/>
                    <a:pt x="46213" y="257006"/>
                    <a:pt x="43704" y="253089"/>
                  </a:cubicBezTo>
                  <a:lnTo>
                    <a:pt x="43704" y="253089"/>
                  </a:lnTo>
                  <a:close/>
                  <a:moveTo>
                    <a:pt x="114094" y="276164"/>
                  </a:moveTo>
                  <a:cubicBezTo>
                    <a:pt x="109626" y="279469"/>
                    <a:pt x="104913" y="282774"/>
                    <a:pt x="100077" y="286140"/>
                  </a:cubicBezTo>
                  <a:cubicBezTo>
                    <a:pt x="95242" y="282836"/>
                    <a:pt x="90528" y="279530"/>
                    <a:pt x="86060" y="276164"/>
                  </a:cubicBezTo>
                  <a:lnTo>
                    <a:pt x="114094" y="276164"/>
                  </a:lnTo>
                  <a:close/>
                  <a:moveTo>
                    <a:pt x="85999" y="351203"/>
                  </a:moveTo>
                  <a:cubicBezTo>
                    <a:pt x="90467" y="347898"/>
                    <a:pt x="95119" y="344593"/>
                    <a:pt x="100016" y="341226"/>
                  </a:cubicBezTo>
                  <a:cubicBezTo>
                    <a:pt x="104852" y="344532"/>
                    <a:pt x="109564" y="347837"/>
                    <a:pt x="114033" y="351203"/>
                  </a:cubicBezTo>
                  <a:cubicBezTo>
                    <a:pt x="96588" y="351203"/>
                    <a:pt x="103443" y="351203"/>
                    <a:pt x="85999" y="351203"/>
                  </a:cubicBezTo>
                  <a:close/>
                  <a:moveTo>
                    <a:pt x="33665" y="409717"/>
                  </a:moveTo>
                  <a:lnTo>
                    <a:pt x="13038" y="409717"/>
                  </a:lnTo>
                  <a:cubicBezTo>
                    <a:pt x="15425" y="367851"/>
                    <a:pt x="41684" y="342206"/>
                    <a:pt x="70819" y="321028"/>
                  </a:cubicBezTo>
                  <a:cubicBezTo>
                    <a:pt x="76879" y="325252"/>
                    <a:pt x="83000" y="329291"/>
                    <a:pt x="89059" y="333331"/>
                  </a:cubicBezTo>
                  <a:cubicBezTo>
                    <a:pt x="59985" y="353468"/>
                    <a:pt x="36175" y="374584"/>
                    <a:pt x="33665" y="409717"/>
                  </a:cubicBezTo>
                  <a:close/>
                  <a:moveTo>
                    <a:pt x="70146" y="363567"/>
                  </a:moveTo>
                  <a:lnTo>
                    <a:pt x="93650" y="363567"/>
                  </a:lnTo>
                  <a:lnTo>
                    <a:pt x="93650" y="375135"/>
                  </a:lnTo>
                  <a:lnTo>
                    <a:pt x="59373" y="375135"/>
                  </a:lnTo>
                  <a:cubicBezTo>
                    <a:pt x="62556" y="371096"/>
                    <a:pt x="66167" y="367239"/>
                    <a:pt x="70146" y="363567"/>
                  </a:cubicBezTo>
                  <a:close/>
                </a:path>
              </a:pathLst>
            </a:custGeom>
            <a:solidFill>
              <a:schemeClr val="dk1"/>
            </a:solidFill>
            <a:ln w="6350">
              <a:solidFill>
                <a:schemeClr val="tx2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798;p43">
            <a:extLst>
              <a:ext uri="{FF2B5EF4-FFF2-40B4-BE49-F238E27FC236}">
                <a16:creationId xmlns:a16="http://schemas.microsoft.com/office/drawing/2014/main" id="{B3B0398C-4ACD-FCEC-8EEB-409299157C74}"/>
              </a:ext>
            </a:extLst>
          </p:cNvPr>
          <p:cNvSpPr txBox="1">
            <a:spLocks/>
          </p:cNvSpPr>
          <p:nvPr/>
        </p:nvSpPr>
        <p:spPr>
          <a:xfrm>
            <a:off x="2412797" y="1212695"/>
            <a:ext cx="4770408" cy="60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4500" b="0" i="0" u="none" strike="noStrike" cap="none" spc="0">
                <a:solidFill>
                  <a:schemeClr val="accent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2600" dirty="0">
                <a:solidFill>
                  <a:schemeClr val="tx2">
                    <a:lumMod val="50000"/>
                  </a:schemeClr>
                </a:solidFill>
              </a:rPr>
              <a:t>Training : </a:t>
            </a:r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CROSS ENTROPY LOSS </a:t>
            </a:r>
          </a:p>
        </p:txBody>
      </p:sp>
      <p:sp>
        <p:nvSpPr>
          <p:cNvPr id="55" name="Google Shape;798;p43">
            <a:extLst>
              <a:ext uri="{FF2B5EF4-FFF2-40B4-BE49-F238E27FC236}">
                <a16:creationId xmlns:a16="http://schemas.microsoft.com/office/drawing/2014/main" id="{BFFBE731-508A-1B31-5AB9-B89E8DDFF8AE}"/>
              </a:ext>
            </a:extLst>
          </p:cNvPr>
          <p:cNvSpPr txBox="1">
            <a:spLocks/>
          </p:cNvSpPr>
          <p:nvPr/>
        </p:nvSpPr>
        <p:spPr>
          <a:xfrm>
            <a:off x="2743421" y="1984287"/>
            <a:ext cx="5646849" cy="60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4500" b="0" i="0" u="none" strike="noStrike" cap="none" spc="0">
                <a:solidFill>
                  <a:schemeClr val="accent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2600" dirty="0">
                <a:solidFill>
                  <a:schemeClr val="tx2">
                    <a:lumMod val="50000"/>
                  </a:schemeClr>
                </a:solidFill>
              </a:rPr>
              <a:t>Bilanciamento : </a:t>
            </a:r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BALANCED BATCH SAMPLING</a:t>
            </a:r>
          </a:p>
        </p:txBody>
      </p:sp>
      <p:sp>
        <p:nvSpPr>
          <p:cNvPr id="57" name="Google Shape;798;p43">
            <a:extLst>
              <a:ext uri="{FF2B5EF4-FFF2-40B4-BE49-F238E27FC236}">
                <a16:creationId xmlns:a16="http://schemas.microsoft.com/office/drawing/2014/main" id="{FA24B93E-0E71-B0E1-ECDC-86004F6D3A26}"/>
              </a:ext>
            </a:extLst>
          </p:cNvPr>
          <p:cNvSpPr txBox="1">
            <a:spLocks/>
          </p:cNvSpPr>
          <p:nvPr/>
        </p:nvSpPr>
        <p:spPr>
          <a:xfrm>
            <a:off x="2643316" y="2755879"/>
            <a:ext cx="5646849" cy="60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4500" b="0" i="0" u="none" strike="noStrike" cap="none" spc="0">
                <a:solidFill>
                  <a:schemeClr val="accent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2600" dirty="0">
                <a:solidFill>
                  <a:schemeClr val="tx2">
                    <a:lumMod val="50000"/>
                  </a:schemeClr>
                </a:solidFill>
              </a:rPr>
              <a:t>Model Selection : </a:t>
            </a:r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 MACRO F1</a:t>
            </a:r>
          </a:p>
        </p:txBody>
      </p:sp>
    </p:spTree>
    <p:extLst>
      <p:ext uri="{BB962C8B-B14F-4D97-AF65-F5344CB8AC3E}">
        <p14:creationId xmlns:p14="http://schemas.microsoft.com/office/powerpoint/2010/main" val="2357831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>
          <a:extLst>
            <a:ext uri="{FF2B5EF4-FFF2-40B4-BE49-F238E27FC236}">
              <a16:creationId xmlns:a16="http://schemas.microsoft.com/office/drawing/2014/main" id="{0DF3A5D8-AC03-735C-AAF8-2022DB83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7">
            <a:extLst>
              <a:ext uri="{FF2B5EF4-FFF2-40B4-BE49-F238E27FC236}">
                <a16:creationId xmlns:a16="http://schemas.microsoft.com/office/drawing/2014/main" id="{5E847B97-449D-4B04-3F84-CA9125A494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1975" y="2429100"/>
            <a:ext cx="4056900" cy="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Risultati</a:t>
            </a:r>
            <a:endParaRPr dirty="0"/>
          </a:p>
        </p:txBody>
      </p:sp>
      <p:sp>
        <p:nvSpPr>
          <p:cNvPr id="705" name="Google Shape;705;p37">
            <a:extLst>
              <a:ext uri="{FF2B5EF4-FFF2-40B4-BE49-F238E27FC236}">
                <a16:creationId xmlns:a16="http://schemas.microsoft.com/office/drawing/2014/main" id="{1DDCA348-2086-D817-C00C-E12F1C5E1A0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71975" y="1793850"/>
            <a:ext cx="1239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707" name="Google Shape;707;p37">
            <a:extLst>
              <a:ext uri="{FF2B5EF4-FFF2-40B4-BE49-F238E27FC236}">
                <a16:creationId xmlns:a16="http://schemas.microsoft.com/office/drawing/2014/main" id="{B91D62E4-A3C9-C46C-8A00-E237723FD78D}"/>
              </a:ext>
            </a:extLst>
          </p:cNvPr>
          <p:cNvCxnSpPr/>
          <p:nvPr/>
        </p:nvCxnSpPr>
        <p:spPr>
          <a:xfrm>
            <a:off x="4000500" y="3349638"/>
            <a:ext cx="51435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Segnaposto immagine 5">
            <a:extLst>
              <a:ext uri="{FF2B5EF4-FFF2-40B4-BE49-F238E27FC236}">
                <a16:creationId xmlns:a16="http://schemas.microsoft.com/office/drawing/2014/main" id="{B1F8D151-5CCB-1960-203B-1FEA5650FFF1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5872" r="15872"/>
          <a:stretch>
            <a:fillRect/>
          </a:stretch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8839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AAB1F21A-F4F6-4833-441B-7257D52F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0">
            <a:extLst>
              <a:ext uri="{FF2B5EF4-FFF2-40B4-BE49-F238E27FC236}">
                <a16:creationId xmlns:a16="http://schemas.microsoft.com/office/drawing/2014/main" id="{117E7990-0419-558A-D6FE-BFA35599C4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8399" y="190259"/>
            <a:ext cx="432720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Ablation e scelte finali</a:t>
            </a:r>
            <a:endParaRPr dirty="0"/>
          </a:p>
        </p:txBody>
      </p:sp>
      <p:sp>
        <p:nvSpPr>
          <p:cNvPr id="733" name="Google Shape;733;p40">
            <a:extLst>
              <a:ext uri="{FF2B5EF4-FFF2-40B4-BE49-F238E27FC236}">
                <a16:creationId xmlns:a16="http://schemas.microsoft.com/office/drawing/2014/main" id="{A13264A6-4951-7FA3-B480-3A5C227B2A2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00956" y="1066880"/>
            <a:ext cx="2175300" cy="5031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25384D"/>
                </a:solidFill>
              </a:rPr>
              <a:t>Risoluzione FCGR</a:t>
            </a:r>
            <a:endParaRPr sz="1600" dirty="0">
              <a:solidFill>
                <a:srgbClr val="25384D"/>
              </a:solidFill>
            </a:endParaRPr>
          </a:p>
        </p:txBody>
      </p:sp>
      <p:cxnSp>
        <p:nvCxnSpPr>
          <p:cNvPr id="739" name="Google Shape;739;p40">
            <a:extLst>
              <a:ext uri="{FF2B5EF4-FFF2-40B4-BE49-F238E27FC236}">
                <a16:creationId xmlns:a16="http://schemas.microsoft.com/office/drawing/2014/main" id="{5E7ECFCC-BF99-13D6-CA3C-F7EAB528FC39}"/>
              </a:ext>
            </a:extLst>
          </p:cNvPr>
          <p:cNvCxnSpPr>
            <a:cxnSpLocks/>
          </p:cNvCxnSpPr>
          <p:nvPr/>
        </p:nvCxnSpPr>
        <p:spPr>
          <a:xfrm flipH="1">
            <a:off x="500956" y="2926888"/>
            <a:ext cx="3347048" cy="0"/>
          </a:xfrm>
          <a:prstGeom prst="straightConnector1">
            <a:avLst/>
          </a:prstGeom>
          <a:noFill/>
          <a:ln w="1905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0" name="Google Shape;740;p40">
            <a:extLst>
              <a:ext uri="{FF2B5EF4-FFF2-40B4-BE49-F238E27FC236}">
                <a16:creationId xmlns:a16="http://schemas.microsoft.com/office/drawing/2014/main" id="{C9A4A02A-B373-50B0-0F38-F95EFD66C42B}"/>
              </a:ext>
            </a:extLst>
          </p:cNvPr>
          <p:cNvCxnSpPr>
            <a:cxnSpLocks/>
          </p:cNvCxnSpPr>
          <p:nvPr/>
        </p:nvCxnSpPr>
        <p:spPr>
          <a:xfrm flipV="1">
            <a:off x="4599825" y="1171093"/>
            <a:ext cx="0" cy="3511591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sellaDiTesto 37">
                <a:extLst>
                  <a:ext uri="{FF2B5EF4-FFF2-40B4-BE49-F238E27FC236}">
                    <a16:creationId xmlns:a16="http://schemas.microsoft.com/office/drawing/2014/main" id="{248922CE-257F-B83E-690A-38B340C61738}"/>
                  </a:ext>
                </a:extLst>
              </p:cNvPr>
              <p:cNvSpPr txBox="1"/>
              <p:nvPr/>
            </p:nvSpPr>
            <p:spPr>
              <a:xfrm>
                <a:off x="750488" y="1570014"/>
                <a:ext cx="2068195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 = 6  matrice 64 x 64</a:t>
                </a:r>
                <a:endParaRPr lang="it-IT" dirty="0">
                  <a:solidFill>
                    <a:schemeClr val="accent1">
                      <a:lumMod val="75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 = 7 matrice 128 x 128</a:t>
                </a:r>
              </a:p>
              <a:p>
                <a:endParaRPr lang="it-IT" dirty="0">
                  <a:solidFill>
                    <a:srgbClr val="25384D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SCELTA </a:t>
                </a:r>
                <a14:m>
                  <m:oMath xmlns:m="http://schemas.openxmlformats.org/officeDocument/2006/math">
                    <m:r>
                      <a:rPr lang="it-IT" i="1" smtClean="0">
                        <a:solidFill>
                          <a:srgbClr val="2538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→</m:t>
                    </m:r>
                  </m:oMath>
                </a14:m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k = 6</a:t>
                </a:r>
              </a:p>
            </p:txBody>
          </p:sp>
        </mc:Choice>
        <mc:Fallback xmlns="">
          <p:sp>
            <p:nvSpPr>
              <p:cNvPr id="38" name="CasellaDiTesto 37">
                <a:extLst>
                  <a:ext uri="{FF2B5EF4-FFF2-40B4-BE49-F238E27FC236}">
                    <a16:creationId xmlns:a16="http://schemas.microsoft.com/office/drawing/2014/main" id="{248922CE-257F-B83E-690A-38B340C61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88" y="1570014"/>
                <a:ext cx="2068195" cy="954107"/>
              </a:xfrm>
              <a:prstGeom prst="rect">
                <a:avLst/>
              </a:prstGeom>
              <a:blipFill>
                <a:blip r:embed="rId3"/>
                <a:stretch>
                  <a:fillRect l="-885" t="-1282" b="-57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Google Shape;733;p40">
            <a:extLst>
              <a:ext uri="{FF2B5EF4-FFF2-40B4-BE49-F238E27FC236}">
                <a16:creationId xmlns:a16="http://schemas.microsoft.com/office/drawing/2014/main" id="{34D9F689-6E5A-B8C8-5455-8C21EEEF504D}"/>
              </a:ext>
            </a:extLst>
          </p:cNvPr>
          <p:cNvSpPr txBox="1">
            <a:spLocks/>
          </p:cNvSpPr>
          <p:nvPr/>
        </p:nvSpPr>
        <p:spPr>
          <a:xfrm>
            <a:off x="500956" y="2992219"/>
            <a:ext cx="2175300" cy="50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600" dirty="0">
                <a:solidFill>
                  <a:srgbClr val="25384D"/>
                </a:solidFill>
              </a:rPr>
              <a:t>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asellaDiTesto 61">
                <a:extLst>
                  <a:ext uri="{FF2B5EF4-FFF2-40B4-BE49-F238E27FC236}">
                    <a16:creationId xmlns:a16="http://schemas.microsoft.com/office/drawing/2014/main" id="{FE0F51C5-6839-60D4-6662-3A0F57E76B60}"/>
                  </a:ext>
                </a:extLst>
              </p:cNvPr>
              <p:cNvSpPr txBox="1"/>
              <p:nvPr/>
            </p:nvSpPr>
            <p:spPr>
              <a:xfrm>
                <a:off x="750488" y="3495353"/>
                <a:ext cx="3175869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Euclidean contrastive loss</a:t>
                </a:r>
              </a:p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Cosine-</a:t>
                </a:r>
                <a:r>
                  <a:rPr lang="it-IT" dirty="0" err="1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based</a:t>
                </a:r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loss</a:t>
                </a:r>
              </a:p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Triplet batch-hard</a:t>
                </a:r>
              </a:p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</a:p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SCELTA </a:t>
                </a:r>
                <a14:m>
                  <m:oMath xmlns:m="http://schemas.openxmlformats.org/officeDocument/2006/math">
                    <m:r>
                      <a:rPr lang="it-IT" i="1" smtClean="0">
                        <a:solidFill>
                          <a:srgbClr val="2538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→</m:t>
                    </m:r>
                  </m:oMath>
                </a14:m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Euclidean </a:t>
                </a:r>
                <a:r>
                  <a:rPr lang="it-IT" dirty="0" err="1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constrastive</a:t>
                </a:r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loss</a:t>
                </a:r>
              </a:p>
            </p:txBody>
          </p:sp>
        </mc:Choice>
        <mc:Fallback xmlns="">
          <p:sp>
            <p:nvSpPr>
              <p:cNvPr id="62" name="CasellaDiTesto 61">
                <a:extLst>
                  <a:ext uri="{FF2B5EF4-FFF2-40B4-BE49-F238E27FC236}">
                    <a16:creationId xmlns:a16="http://schemas.microsoft.com/office/drawing/2014/main" id="{FE0F51C5-6839-60D4-6662-3A0F57E76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88" y="3495353"/>
                <a:ext cx="3175869" cy="1169551"/>
              </a:xfrm>
              <a:prstGeom prst="rect">
                <a:avLst/>
              </a:prstGeom>
              <a:blipFill>
                <a:blip r:embed="rId4"/>
                <a:stretch>
                  <a:fillRect l="-576" t="-521" b="-46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7" name="Google Shape;733;p40">
            <a:extLst>
              <a:ext uri="{FF2B5EF4-FFF2-40B4-BE49-F238E27FC236}">
                <a16:creationId xmlns:a16="http://schemas.microsoft.com/office/drawing/2014/main" id="{1B2FCEE5-C7E2-20DD-61AB-E65760C2C485}"/>
              </a:ext>
            </a:extLst>
          </p:cNvPr>
          <p:cNvSpPr txBox="1">
            <a:spLocks/>
          </p:cNvSpPr>
          <p:nvPr/>
        </p:nvSpPr>
        <p:spPr>
          <a:xfrm>
            <a:off x="5113212" y="1066880"/>
            <a:ext cx="2175300" cy="50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600" dirty="0">
                <a:solidFill>
                  <a:srgbClr val="25384D"/>
                </a:solidFill>
              </a:rPr>
              <a:t>Negative Mining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8" name="CasellaDiTesto 707">
                <a:extLst>
                  <a:ext uri="{FF2B5EF4-FFF2-40B4-BE49-F238E27FC236}">
                    <a16:creationId xmlns:a16="http://schemas.microsoft.com/office/drawing/2014/main" id="{27DA4510-0A74-9619-C856-3868EBB79466}"/>
                  </a:ext>
                </a:extLst>
              </p:cNvPr>
              <p:cNvSpPr txBox="1"/>
              <p:nvPr/>
            </p:nvSpPr>
            <p:spPr>
              <a:xfrm>
                <a:off x="5362744" y="1570014"/>
                <a:ext cx="2597186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Random</a:t>
                </a:r>
              </a:p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Hard aggressivo</a:t>
                </a:r>
              </a:p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Semi-hard</a:t>
                </a:r>
              </a:p>
              <a:p>
                <a:endParaRPr lang="it-IT" dirty="0">
                  <a:solidFill>
                    <a:srgbClr val="25384D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SCELTA </a:t>
                </a:r>
                <a14:m>
                  <m:oMath xmlns:m="http://schemas.openxmlformats.org/officeDocument/2006/math">
                    <m:r>
                      <a:rPr lang="it-IT" i="1" smtClean="0">
                        <a:solidFill>
                          <a:srgbClr val="2538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→</m:t>
                    </m:r>
                  </m:oMath>
                </a14:m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Dynamic semi-hard</a:t>
                </a:r>
              </a:p>
            </p:txBody>
          </p:sp>
        </mc:Choice>
        <mc:Fallback xmlns="">
          <p:sp>
            <p:nvSpPr>
              <p:cNvPr id="708" name="CasellaDiTesto 707">
                <a:extLst>
                  <a:ext uri="{FF2B5EF4-FFF2-40B4-BE49-F238E27FC236}">
                    <a16:creationId xmlns:a16="http://schemas.microsoft.com/office/drawing/2014/main" id="{27DA4510-0A74-9619-C856-3868EBB79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44" y="1570014"/>
                <a:ext cx="2597186" cy="1169551"/>
              </a:xfrm>
              <a:prstGeom prst="rect">
                <a:avLst/>
              </a:prstGeom>
              <a:blipFill>
                <a:blip r:embed="rId5"/>
                <a:stretch>
                  <a:fillRect l="-704" t="-1047" b="-47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9" name="Google Shape;739;p40">
            <a:extLst>
              <a:ext uri="{FF2B5EF4-FFF2-40B4-BE49-F238E27FC236}">
                <a16:creationId xmlns:a16="http://schemas.microsoft.com/office/drawing/2014/main" id="{C1E78D9C-7C40-025D-9944-11383CEFDE66}"/>
              </a:ext>
            </a:extLst>
          </p:cNvPr>
          <p:cNvCxnSpPr>
            <a:cxnSpLocks/>
          </p:cNvCxnSpPr>
          <p:nvPr/>
        </p:nvCxnSpPr>
        <p:spPr>
          <a:xfrm flipH="1">
            <a:off x="4961947" y="2914581"/>
            <a:ext cx="3347048" cy="0"/>
          </a:xfrm>
          <a:prstGeom prst="straightConnector1">
            <a:avLst/>
          </a:prstGeom>
          <a:noFill/>
          <a:ln w="1905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1" name="Google Shape;733;p40">
            <a:extLst>
              <a:ext uri="{FF2B5EF4-FFF2-40B4-BE49-F238E27FC236}">
                <a16:creationId xmlns:a16="http://schemas.microsoft.com/office/drawing/2014/main" id="{DCBF6D42-E564-50B2-B4DB-DA7958EA3B25}"/>
              </a:ext>
            </a:extLst>
          </p:cNvPr>
          <p:cNvSpPr txBox="1">
            <a:spLocks/>
          </p:cNvSpPr>
          <p:nvPr/>
        </p:nvSpPr>
        <p:spPr>
          <a:xfrm>
            <a:off x="5039584" y="2992219"/>
            <a:ext cx="2175300" cy="50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600" dirty="0">
                <a:solidFill>
                  <a:srgbClr val="25384D"/>
                </a:solidFill>
              </a:rPr>
              <a:t>Inferenza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2" name="CasellaDiTesto 711">
                <a:extLst>
                  <a:ext uri="{FF2B5EF4-FFF2-40B4-BE49-F238E27FC236}">
                    <a16:creationId xmlns:a16="http://schemas.microsoft.com/office/drawing/2014/main" id="{4FD8287C-98C4-574C-5818-393CB3020C7C}"/>
                  </a:ext>
                </a:extLst>
              </p:cNvPr>
              <p:cNvSpPr txBox="1"/>
              <p:nvPr/>
            </p:nvSpPr>
            <p:spPr>
              <a:xfrm>
                <a:off x="5289116" y="3495353"/>
                <a:ext cx="3018775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Prototype</a:t>
                </a:r>
              </a:p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Reference bank</a:t>
                </a:r>
              </a:p>
              <a:p>
                <a:endParaRPr lang="it-IT" dirty="0">
                  <a:solidFill>
                    <a:srgbClr val="25384D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SCELTA </a:t>
                </a:r>
                <a14:m>
                  <m:oMath xmlns:m="http://schemas.openxmlformats.org/officeDocument/2006/math">
                    <m:r>
                      <a:rPr lang="it-IT" i="1" smtClean="0">
                        <a:solidFill>
                          <a:srgbClr val="2538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→</m:t>
                    </m:r>
                  </m:oMath>
                </a14:m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Balanced </a:t>
                </a:r>
                <a:r>
                  <a:rPr lang="it-IT" dirty="0" err="1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reference</a:t>
                </a:r>
                <a:r>
                  <a:rPr lang="it-IT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bank</a:t>
                </a:r>
              </a:p>
            </p:txBody>
          </p:sp>
        </mc:Choice>
        <mc:Fallback xmlns="">
          <p:sp>
            <p:nvSpPr>
              <p:cNvPr id="712" name="CasellaDiTesto 711">
                <a:extLst>
                  <a:ext uri="{FF2B5EF4-FFF2-40B4-BE49-F238E27FC236}">
                    <a16:creationId xmlns:a16="http://schemas.microsoft.com/office/drawing/2014/main" id="{4FD8287C-98C4-574C-5818-393CB3020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116" y="3495353"/>
                <a:ext cx="3018775" cy="954107"/>
              </a:xfrm>
              <a:prstGeom prst="rect">
                <a:avLst/>
              </a:prstGeom>
              <a:blipFill>
                <a:blip r:embed="rId6"/>
                <a:stretch>
                  <a:fillRect l="-606" t="-637" b="-573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056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>
          <a:extLst>
            <a:ext uri="{FF2B5EF4-FFF2-40B4-BE49-F238E27FC236}">
              <a16:creationId xmlns:a16="http://schemas.microsoft.com/office/drawing/2014/main" id="{A8092CB6-F19C-FAFC-CA42-8FA36687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9">
            <a:extLst>
              <a:ext uri="{FF2B5EF4-FFF2-40B4-BE49-F238E27FC236}">
                <a16:creationId xmlns:a16="http://schemas.microsoft.com/office/drawing/2014/main" id="{43DFE190-9121-49C4-E0AB-B1C067EAC9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327" y="176583"/>
            <a:ext cx="6855177" cy="6096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Effetto del training set completo</a:t>
            </a:r>
            <a:endParaRPr dirty="0"/>
          </a:p>
        </p:txBody>
      </p:sp>
      <p:cxnSp>
        <p:nvCxnSpPr>
          <p:cNvPr id="20" name="Google Shape;789;p42">
            <a:extLst>
              <a:ext uri="{FF2B5EF4-FFF2-40B4-BE49-F238E27FC236}">
                <a16:creationId xmlns:a16="http://schemas.microsoft.com/office/drawing/2014/main" id="{7047ED9A-2890-E0AD-F05B-7C7A4B5E8DFA}"/>
              </a:ext>
            </a:extLst>
          </p:cNvPr>
          <p:cNvCxnSpPr>
            <a:cxnSpLocks/>
          </p:cNvCxnSpPr>
          <p:nvPr/>
        </p:nvCxnSpPr>
        <p:spPr>
          <a:xfrm>
            <a:off x="2425147" y="4489207"/>
            <a:ext cx="3419061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magine 2">
            <a:extLst>
              <a:ext uri="{FF2B5EF4-FFF2-40B4-BE49-F238E27FC236}">
                <a16:creationId xmlns:a16="http://schemas.microsoft.com/office/drawing/2014/main" id="{EC037C17-42C0-9BC2-CF08-43F21FFF3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094" y="879132"/>
            <a:ext cx="3361060" cy="1850472"/>
          </a:xfrm>
          <a:prstGeom prst="rect">
            <a:avLst/>
          </a:prstGeom>
        </p:spPr>
      </p:pic>
      <p:sp>
        <p:nvSpPr>
          <p:cNvPr id="11" name="Google Shape;798;p43">
            <a:extLst>
              <a:ext uri="{FF2B5EF4-FFF2-40B4-BE49-F238E27FC236}">
                <a16:creationId xmlns:a16="http://schemas.microsoft.com/office/drawing/2014/main" id="{BB4F7344-DB81-5230-AB7D-B44309139753}"/>
              </a:ext>
            </a:extLst>
          </p:cNvPr>
          <p:cNvSpPr txBox="1">
            <a:spLocks/>
          </p:cNvSpPr>
          <p:nvPr/>
        </p:nvSpPr>
        <p:spPr>
          <a:xfrm>
            <a:off x="624246" y="1205088"/>
            <a:ext cx="3767754" cy="119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4500" b="0" i="0" u="none" strike="noStrike" cap="none" spc="0">
                <a:solidFill>
                  <a:schemeClr val="accent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2000" dirty="0">
                <a:solidFill>
                  <a:schemeClr val="tx2">
                    <a:lumMod val="50000"/>
                  </a:schemeClr>
                </a:solidFill>
              </a:rPr>
              <a:t>Downsampled : </a:t>
            </a: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2111 CAMPIONI/CLASSE</a:t>
            </a: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MIGLIORE SU TOP-1</a:t>
            </a: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MIGLIORE SU MACRO F1 </a:t>
            </a:r>
          </a:p>
        </p:txBody>
      </p:sp>
      <p:sp>
        <p:nvSpPr>
          <p:cNvPr id="23" name="Google Shape;798;p43">
            <a:extLst>
              <a:ext uri="{FF2B5EF4-FFF2-40B4-BE49-F238E27FC236}">
                <a16:creationId xmlns:a16="http://schemas.microsoft.com/office/drawing/2014/main" id="{F8AF6CDB-F428-681C-E8C0-4280F61FA3A5}"/>
              </a:ext>
            </a:extLst>
          </p:cNvPr>
          <p:cNvSpPr txBox="1">
            <a:spLocks/>
          </p:cNvSpPr>
          <p:nvPr/>
        </p:nvSpPr>
        <p:spPr>
          <a:xfrm>
            <a:off x="4757747" y="2955521"/>
            <a:ext cx="3767754" cy="119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4500" b="0" i="0" u="none" strike="noStrike" cap="none" spc="0">
                <a:solidFill>
                  <a:schemeClr val="accent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2000" dirty="0">
                <a:solidFill>
                  <a:schemeClr val="tx2">
                    <a:lumMod val="50000"/>
                  </a:schemeClr>
                </a:solidFill>
              </a:rPr>
              <a:t>Full Train Balanced : </a:t>
            </a: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NESSUN CAMPIONE ELIMINATO</a:t>
            </a: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MIGLIORE SU TOP-3</a:t>
            </a: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MIGLIORE SU TOP-5 </a:t>
            </a:r>
          </a:p>
        </p:txBody>
      </p:sp>
      <p:sp>
        <p:nvSpPr>
          <p:cNvPr id="25" name="Sottotitolo 2">
            <a:extLst>
              <a:ext uri="{FF2B5EF4-FFF2-40B4-BE49-F238E27FC236}">
                <a16:creationId xmlns:a16="http://schemas.microsoft.com/office/drawing/2014/main" id="{350F9004-711F-C631-4332-8411CD9FFCAA}"/>
              </a:ext>
            </a:extLst>
          </p:cNvPr>
          <p:cNvSpPr txBox="1">
            <a:spLocks/>
          </p:cNvSpPr>
          <p:nvPr/>
        </p:nvSpPr>
        <p:spPr>
          <a:xfrm>
            <a:off x="618499" y="4581267"/>
            <a:ext cx="7907002" cy="4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Più dati migliorano il ranking profondo, ma non garantiscono un miglioramento Top-1</a:t>
            </a:r>
          </a:p>
        </p:txBody>
      </p:sp>
      <p:graphicFrame>
        <p:nvGraphicFramePr>
          <p:cNvPr id="26" name="Tabella 25">
            <a:extLst>
              <a:ext uri="{FF2B5EF4-FFF2-40B4-BE49-F238E27FC236}">
                <a16:creationId xmlns:a16="http://schemas.microsoft.com/office/drawing/2014/main" id="{E1AF1485-6B49-D7D0-F91E-AAAFCCE6B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79146"/>
              </p:ext>
            </p:extLst>
          </p:nvPr>
        </p:nvGraphicFramePr>
        <p:xfrm>
          <a:off x="769122" y="2600165"/>
          <a:ext cx="3704078" cy="1692525"/>
        </p:xfrm>
        <a:graphic>
          <a:graphicData uri="http://schemas.openxmlformats.org/drawingml/2006/table">
            <a:tbl>
              <a:tblPr firstRow="1" bandRow="1">
                <a:tableStyleId>{2CDA97CB-BC0C-4334-BA0E-3EFF393776C6}</a:tableStyleId>
              </a:tblPr>
              <a:tblGrid>
                <a:gridCol w="1169868">
                  <a:extLst>
                    <a:ext uri="{9D8B030D-6E8A-4147-A177-3AD203B41FA5}">
                      <a16:colId xmlns:a16="http://schemas.microsoft.com/office/drawing/2014/main" val="619229288"/>
                    </a:ext>
                  </a:extLst>
                </a:gridCol>
                <a:gridCol w="1270675">
                  <a:extLst>
                    <a:ext uri="{9D8B030D-6E8A-4147-A177-3AD203B41FA5}">
                      <a16:colId xmlns:a16="http://schemas.microsoft.com/office/drawing/2014/main" val="706731322"/>
                    </a:ext>
                  </a:extLst>
                </a:gridCol>
                <a:gridCol w="1263535">
                  <a:extLst>
                    <a:ext uri="{9D8B030D-6E8A-4147-A177-3AD203B41FA5}">
                      <a16:colId xmlns:a16="http://schemas.microsoft.com/office/drawing/2014/main" val="2288406842"/>
                    </a:ext>
                  </a:extLst>
                </a:gridCol>
              </a:tblGrid>
              <a:tr h="338505">
                <a:tc>
                  <a:txBody>
                    <a:bodyPr/>
                    <a:lstStyle/>
                    <a:p>
                      <a:pPr algn="ctr"/>
                      <a:endParaRPr lang="it-IT" sz="1200" baseline="0" dirty="0">
                        <a:solidFill>
                          <a:schemeClr val="tx2">
                            <a:lumMod val="75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DOWNSAMP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916467"/>
                  </a:ext>
                </a:extLst>
              </a:tr>
              <a:tr h="338505">
                <a:tc>
                  <a:txBody>
                    <a:bodyPr/>
                    <a:lstStyle/>
                    <a:p>
                      <a:pPr algn="ctr"/>
                      <a:r>
                        <a:rPr lang="it-IT" sz="12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TOP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baseline="0" dirty="0">
                          <a:solidFill>
                            <a:srgbClr val="25384D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31.58%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aseline="0" dirty="0">
                          <a:solidFill>
                            <a:srgbClr val="25384D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30.68%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165949"/>
                  </a:ext>
                </a:extLst>
              </a:tr>
              <a:tr h="338505">
                <a:tc>
                  <a:txBody>
                    <a:bodyPr/>
                    <a:lstStyle/>
                    <a:p>
                      <a:pPr algn="ctr"/>
                      <a:r>
                        <a:rPr lang="it-IT" sz="12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MARCO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baseline="0" dirty="0">
                          <a:solidFill>
                            <a:srgbClr val="25384D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27.84%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aseline="0" dirty="0">
                          <a:solidFill>
                            <a:srgbClr val="25384D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26.88%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406215"/>
                  </a:ext>
                </a:extLst>
              </a:tr>
              <a:tr h="338505">
                <a:tc>
                  <a:txBody>
                    <a:bodyPr/>
                    <a:lstStyle/>
                    <a:p>
                      <a:pPr algn="ctr"/>
                      <a:r>
                        <a:rPr lang="it-IT" sz="12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TOP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aseline="0" dirty="0">
                          <a:solidFill>
                            <a:srgbClr val="25384D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65.83%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baseline="0" dirty="0">
                          <a:solidFill>
                            <a:srgbClr val="25384D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66.48%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161755"/>
                  </a:ext>
                </a:extLst>
              </a:tr>
              <a:tr h="338505">
                <a:tc>
                  <a:txBody>
                    <a:bodyPr/>
                    <a:lstStyle/>
                    <a:p>
                      <a:pPr algn="ctr"/>
                      <a:r>
                        <a:rPr lang="it-IT" sz="12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TOP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aseline="0" dirty="0">
                          <a:solidFill>
                            <a:srgbClr val="25384D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82.53%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baseline="0" dirty="0">
                          <a:solidFill>
                            <a:srgbClr val="25384D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83.34%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65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530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8"/>
          <p:cNvSpPr txBox="1">
            <a:spLocks noGrp="1"/>
          </p:cNvSpPr>
          <p:nvPr>
            <p:ph type="title"/>
          </p:nvPr>
        </p:nvSpPr>
        <p:spPr>
          <a:xfrm>
            <a:off x="526875" y="257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Confronto finale dei modelli</a:t>
            </a:r>
            <a:endParaRPr dirty="0"/>
          </a:p>
        </p:txBody>
      </p:sp>
      <p:sp>
        <p:nvSpPr>
          <p:cNvPr id="847" name="Google Shape;847;p48"/>
          <p:cNvSpPr/>
          <p:nvPr/>
        </p:nvSpPr>
        <p:spPr>
          <a:xfrm>
            <a:off x="720075" y="961237"/>
            <a:ext cx="3658800" cy="439647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rPr>
              <a:t>Siamese downsampled</a:t>
            </a:r>
            <a:endParaRPr sz="1800" dirty="0">
              <a:solidFill>
                <a:schemeClr val="dk1"/>
              </a:solidFill>
              <a:latin typeface="Gotu"/>
              <a:ea typeface="Gotu"/>
              <a:cs typeface="Gotu"/>
              <a:sym typeface="Gotu"/>
            </a:endParaRPr>
          </a:p>
        </p:txBody>
      </p:sp>
      <p:sp>
        <p:nvSpPr>
          <p:cNvPr id="848" name="Google Shape;848;p48"/>
          <p:cNvSpPr/>
          <p:nvPr/>
        </p:nvSpPr>
        <p:spPr>
          <a:xfrm>
            <a:off x="720075" y="1400909"/>
            <a:ext cx="3658800" cy="104515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34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Open Sans"/>
              <a:buChar char="●"/>
            </a:pPr>
            <a:r>
              <a:rPr lang="en" sz="12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Hind"/>
              </a:rPr>
              <a:t>TOP-1 : 31.58%</a:t>
            </a:r>
          </a:p>
          <a:p>
            <a:pPr marL="285750" lvl="0" indent="-234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Open Sans"/>
              <a:buChar char="●"/>
            </a:pPr>
            <a:r>
              <a:rPr lang="en" sz="12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Hind"/>
              </a:rPr>
              <a:t>MACRO F1 :  27.84%</a:t>
            </a:r>
          </a:p>
          <a:p>
            <a:pPr marL="285750" lvl="0" indent="-234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Open Sans"/>
              <a:buChar char="●"/>
            </a:pPr>
            <a:r>
              <a:rPr lang="en" sz="12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Hind"/>
              </a:rPr>
              <a:t>BALANCED ACC. : 31.97%</a:t>
            </a:r>
            <a:endParaRPr sz="1200" dirty="0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Hind"/>
            </a:endParaRPr>
          </a:p>
        </p:txBody>
      </p:sp>
      <p:sp>
        <p:nvSpPr>
          <p:cNvPr id="3" name="Google Shape;847;p48">
            <a:extLst>
              <a:ext uri="{FF2B5EF4-FFF2-40B4-BE49-F238E27FC236}">
                <a16:creationId xmlns:a16="http://schemas.microsoft.com/office/drawing/2014/main" id="{71D2679D-4F65-6337-9D8B-5FF67A4341B5}"/>
              </a:ext>
            </a:extLst>
          </p:cNvPr>
          <p:cNvSpPr/>
          <p:nvPr/>
        </p:nvSpPr>
        <p:spPr>
          <a:xfrm>
            <a:off x="4765125" y="961237"/>
            <a:ext cx="3658800" cy="439647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rPr>
              <a:t>Siamese full train</a:t>
            </a:r>
            <a:endParaRPr sz="1800" dirty="0">
              <a:solidFill>
                <a:schemeClr val="dk1"/>
              </a:solidFill>
              <a:latin typeface="Gotu"/>
              <a:ea typeface="Gotu"/>
              <a:cs typeface="Gotu"/>
              <a:sym typeface="Gotu"/>
            </a:endParaRPr>
          </a:p>
        </p:txBody>
      </p:sp>
      <p:sp>
        <p:nvSpPr>
          <p:cNvPr id="5" name="Google Shape;848;p48">
            <a:extLst>
              <a:ext uri="{FF2B5EF4-FFF2-40B4-BE49-F238E27FC236}">
                <a16:creationId xmlns:a16="http://schemas.microsoft.com/office/drawing/2014/main" id="{1FB72E4D-1BD1-1C0D-6605-FAC498A77702}"/>
              </a:ext>
            </a:extLst>
          </p:cNvPr>
          <p:cNvSpPr/>
          <p:nvPr/>
        </p:nvSpPr>
        <p:spPr>
          <a:xfrm>
            <a:off x="4765125" y="1400909"/>
            <a:ext cx="3658800" cy="104515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34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Open Sans"/>
              <a:buChar char="●"/>
            </a:pPr>
            <a:r>
              <a:rPr lang="en" sz="12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Hind"/>
              </a:rPr>
              <a:t>TOP-1 : 30.68%</a:t>
            </a:r>
          </a:p>
          <a:p>
            <a:pPr marL="285750" lvl="0" indent="-234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Open Sans"/>
              <a:buChar char="●"/>
            </a:pPr>
            <a:r>
              <a:rPr lang="en" sz="12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Hind"/>
              </a:rPr>
              <a:t>MACRO F1 :  26.88%</a:t>
            </a:r>
          </a:p>
          <a:p>
            <a:pPr marL="285750" lvl="0" indent="-234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Open Sans"/>
              <a:buChar char="●"/>
            </a:pPr>
            <a:r>
              <a:rPr lang="en" sz="12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Hind"/>
              </a:rPr>
              <a:t>BALANCED ACC. : 31.05%</a:t>
            </a:r>
            <a:endParaRPr sz="1200" dirty="0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Hind"/>
            </a:endParaRPr>
          </a:p>
        </p:txBody>
      </p:sp>
      <p:sp>
        <p:nvSpPr>
          <p:cNvPr id="7" name="Google Shape;847;p48">
            <a:extLst>
              <a:ext uri="{FF2B5EF4-FFF2-40B4-BE49-F238E27FC236}">
                <a16:creationId xmlns:a16="http://schemas.microsoft.com/office/drawing/2014/main" id="{E4B17E74-717D-47D7-9CB2-AEBAB9045818}"/>
              </a:ext>
            </a:extLst>
          </p:cNvPr>
          <p:cNvSpPr/>
          <p:nvPr/>
        </p:nvSpPr>
        <p:spPr>
          <a:xfrm>
            <a:off x="720075" y="2828476"/>
            <a:ext cx="3658800" cy="439647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rPr>
              <a:t>CNN multiclass diretta</a:t>
            </a:r>
            <a:endParaRPr sz="1800" dirty="0">
              <a:solidFill>
                <a:schemeClr val="dk1"/>
              </a:solidFill>
              <a:latin typeface="Gotu"/>
              <a:ea typeface="Gotu"/>
              <a:cs typeface="Gotu"/>
              <a:sym typeface="Gotu"/>
            </a:endParaRPr>
          </a:p>
        </p:txBody>
      </p:sp>
      <p:sp>
        <p:nvSpPr>
          <p:cNvPr id="9" name="Google Shape;848;p48">
            <a:extLst>
              <a:ext uri="{FF2B5EF4-FFF2-40B4-BE49-F238E27FC236}">
                <a16:creationId xmlns:a16="http://schemas.microsoft.com/office/drawing/2014/main" id="{DB81EF61-696E-6A0F-047D-DF5FE890EA1B}"/>
              </a:ext>
            </a:extLst>
          </p:cNvPr>
          <p:cNvSpPr/>
          <p:nvPr/>
        </p:nvSpPr>
        <p:spPr>
          <a:xfrm>
            <a:off x="720075" y="3268148"/>
            <a:ext cx="3658800" cy="104515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34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Open Sans"/>
              <a:buChar char="●"/>
            </a:pPr>
            <a:r>
              <a:rPr lang="en" sz="12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Hind"/>
              </a:rPr>
              <a:t>TOP-1 : 32.83%</a:t>
            </a:r>
          </a:p>
          <a:p>
            <a:pPr marL="285750" lvl="0" indent="-234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Open Sans"/>
              <a:buChar char="●"/>
            </a:pPr>
            <a:r>
              <a:rPr lang="en" sz="12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Hind"/>
              </a:rPr>
              <a:t>MACRO F1 :  28.58%</a:t>
            </a:r>
          </a:p>
          <a:p>
            <a:pPr marL="285750" lvl="0" indent="-234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Open Sans"/>
              <a:buChar char="●"/>
            </a:pPr>
            <a:r>
              <a:rPr lang="en" sz="12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Hind"/>
              </a:rPr>
              <a:t>BALANCED ACC. : 33.06%</a:t>
            </a:r>
            <a:endParaRPr sz="1200" dirty="0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Hind"/>
            </a:endParaRPr>
          </a:p>
        </p:txBody>
      </p:sp>
      <p:sp>
        <p:nvSpPr>
          <p:cNvPr id="11" name="Sottotitolo 2">
            <a:extLst>
              <a:ext uri="{FF2B5EF4-FFF2-40B4-BE49-F238E27FC236}">
                <a16:creationId xmlns:a16="http://schemas.microsoft.com/office/drawing/2014/main" id="{9E778D68-CCC6-6013-54B3-AAA0028499DD}"/>
              </a:ext>
            </a:extLst>
          </p:cNvPr>
          <p:cNvSpPr txBox="1">
            <a:spLocks/>
          </p:cNvSpPr>
          <p:nvPr/>
        </p:nvSpPr>
        <p:spPr>
          <a:xfrm>
            <a:off x="1198739" y="4663784"/>
            <a:ext cx="6360271" cy="4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200" dirty="0"/>
              <a:t>La CNN diretta ottiene le migliori prestazioni complessive sul test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6D89B171-651B-782E-3E6F-A505B3800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125" y="2612842"/>
            <a:ext cx="3775983" cy="2056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7"/>
          <p:cNvSpPr txBox="1">
            <a:spLocks noGrp="1"/>
          </p:cNvSpPr>
          <p:nvPr>
            <p:ph type="title"/>
          </p:nvPr>
        </p:nvSpPr>
        <p:spPr>
          <a:xfrm>
            <a:off x="404117" y="25383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Analisi delle principali confusioni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C416BC1-9855-52B5-D867-78A3464CC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912" y="1168098"/>
            <a:ext cx="4787088" cy="3032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798;p43">
                <a:extLst>
                  <a:ext uri="{FF2B5EF4-FFF2-40B4-BE49-F238E27FC236}">
                    <a16:creationId xmlns:a16="http://schemas.microsoft.com/office/drawing/2014/main" id="{9476B371-7CE9-E64D-95C0-04D2FA39F0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880" y="1103970"/>
                <a:ext cx="3767754" cy="11385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4500" b="0" i="0" u="none" strike="noStrike" cap="none" spc="0">
                    <a:solidFill>
                      <a:schemeClr val="accent1"/>
                    </a:solidFill>
                    <a:latin typeface="Gotu"/>
                    <a:ea typeface="Gotu"/>
                    <a:cs typeface="Gotu"/>
                    <a:sym typeface="Gotu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9pPr>
              </a:lstStyle>
              <a:p>
                <a:r>
                  <a:rPr lang="it-IT" sz="2000" dirty="0">
                    <a:solidFill>
                      <a:schemeClr val="tx2">
                        <a:lumMod val="50000"/>
                      </a:schemeClr>
                    </a:solidFill>
                  </a:rPr>
                  <a:t>Condivise : </a:t>
                </a:r>
              </a:p>
              <a:p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Prostate </a:t>
                </a:r>
                <a14:m>
                  <m:oMath xmlns:m="http://schemas.openxmlformats.org/officeDocument/2006/math">
                    <m:r>
                      <a:rPr lang="it-IT" sz="1400" i="1" smtClean="0">
                        <a:solidFill>
                          <a:srgbClr val="2538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→</m:t>
                    </m:r>
                  </m:oMath>
                </a14:m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Ovarian</a:t>
                </a:r>
              </a:p>
              <a:p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Hypopharyngeal SCC </a:t>
                </a:r>
                <a14:m>
                  <m:oMath xmlns:m="http://schemas.openxmlformats.org/officeDocument/2006/math">
                    <m:r>
                      <a:rPr lang="it-IT" sz="1400" i="1" smtClean="0">
                        <a:solidFill>
                          <a:srgbClr val="2538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↔</m:t>
                    </m:r>
                  </m:oMath>
                </a14:m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Hypopharynx</a:t>
                </a:r>
              </a:p>
              <a:p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Glioblastoma </a:t>
                </a:r>
                <a14:m>
                  <m:oMath xmlns:m="http://schemas.openxmlformats.org/officeDocument/2006/math">
                    <m:r>
                      <a:rPr lang="it-IT" sz="1400" i="1" smtClean="0">
                        <a:solidFill>
                          <a:srgbClr val="2538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→</m:t>
                    </m:r>
                  </m:oMath>
                </a14:m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Leukemia</a:t>
                </a:r>
              </a:p>
            </p:txBody>
          </p:sp>
        </mc:Choice>
        <mc:Fallback xmlns="">
          <p:sp>
            <p:nvSpPr>
              <p:cNvPr id="7" name="Google Shape;798;p43">
                <a:extLst>
                  <a:ext uri="{FF2B5EF4-FFF2-40B4-BE49-F238E27FC236}">
                    <a16:creationId xmlns:a16="http://schemas.microsoft.com/office/drawing/2014/main" id="{9476B371-7CE9-E64D-95C0-04D2FA39F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1103970"/>
                <a:ext cx="3767754" cy="1138524"/>
              </a:xfrm>
              <a:prstGeom prst="rect">
                <a:avLst/>
              </a:prstGeom>
              <a:blipFill>
                <a:blip r:embed="rId4"/>
                <a:stretch>
                  <a:fillRect b="-10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798;p43">
                <a:extLst>
                  <a:ext uri="{FF2B5EF4-FFF2-40B4-BE49-F238E27FC236}">
                    <a16:creationId xmlns:a16="http://schemas.microsoft.com/office/drawing/2014/main" id="{7EBE2964-132D-C6C5-CF7D-727760728C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880" y="2395489"/>
                <a:ext cx="3767754" cy="1011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4500" b="0" i="0" u="none" strike="noStrike" cap="none" spc="0">
                    <a:solidFill>
                      <a:schemeClr val="accent1"/>
                    </a:solidFill>
                    <a:latin typeface="Gotu"/>
                    <a:ea typeface="Gotu"/>
                    <a:cs typeface="Gotu"/>
                    <a:sym typeface="Gotu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9pPr>
              </a:lstStyle>
              <a:p>
                <a:r>
                  <a:rPr lang="it-IT" sz="2000" dirty="0">
                    <a:solidFill>
                      <a:schemeClr val="tx2">
                        <a:lumMod val="50000"/>
                      </a:schemeClr>
                    </a:solidFill>
                  </a:rPr>
                  <a:t>CNN migliora : </a:t>
                </a:r>
              </a:p>
              <a:p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Glioblastoma </a:t>
                </a:r>
                <a14:m>
                  <m:oMath xmlns:m="http://schemas.openxmlformats.org/officeDocument/2006/math">
                    <m:r>
                      <a:rPr lang="it-IT" sz="1400" i="1">
                        <a:solidFill>
                          <a:srgbClr val="2538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→</m:t>
                    </m:r>
                  </m:oMath>
                </a14:m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Leukemia </a:t>
                </a:r>
              </a:p>
              <a:p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Colorectal </a:t>
                </a:r>
                <a14:m>
                  <m:oMath xmlns:m="http://schemas.openxmlformats.org/officeDocument/2006/math">
                    <m:r>
                      <a:rPr lang="it-IT" sz="1400" i="1">
                        <a:solidFill>
                          <a:srgbClr val="2538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→</m:t>
                    </m:r>
                  </m:oMath>
                </a14:m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Cervical</a:t>
                </a:r>
              </a:p>
            </p:txBody>
          </p:sp>
        </mc:Choice>
        <mc:Fallback xmlns="">
          <p:sp>
            <p:nvSpPr>
              <p:cNvPr id="9" name="Google Shape;798;p43">
                <a:extLst>
                  <a:ext uri="{FF2B5EF4-FFF2-40B4-BE49-F238E27FC236}">
                    <a16:creationId xmlns:a16="http://schemas.microsoft.com/office/drawing/2014/main" id="{7EBE2964-132D-C6C5-CF7D-727760728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2395489"/>
                <a:ext cx="3767754" cy="10110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798;p43">
                <a:extLst>
                  <a:ext uri="{FF2B5EF4-FFF2-40B4-BE49-F238E27FC236}">
                    <a16:creationId xmlns:a16="http://schemas.microsoft.com/office/drawing/2014/main" id="{76F504EF-334A-8CFC-8630-4FA02B6632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880" y="3559519"/>
                <a:ext cx="3767754" cy="1011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4500" b="0" i="0" u="none" strike="noStrike" cap="none" spc="0">
                    <a:solidFill>
                      <a:schemeClr val="accent1"/>
                    </a:solidFill>
                    <a:latin typeface="Gotu"/>
                    <a:ea typeface="Gotu"/>
                    <a:cs typeface="Gotu"/>
                    <a:sym typeface="Gotu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000"/>
                  <a:buFont typeface="Gotu"/>
                  <a:buNone/>
                  <a:defRPr sz="6000" b="0" i="0" u="none" strike="noStrike" cap="none" spc="0">
                    <a:solidFill>
                      <a:schemeClr val="lt1"/>
                    </a:solidFill>
                    <a:latin typeface="Gotu"/>
                    <a:ea typeface="Gotu"/>
                    <a:cs typeface="Gotu"/>
                    <a:sym typeface="Gotu"/>
                  </a:defRPr>
                </a:lvl9pPr>
              </a:lstStyle>
              <a:p>
                <a:r>
                  <a:rPr lang="it-IT" sz="2000" dirty="0">
                    <a:solidFill>
                      <a:schemeClr val="tx2">
                        <a:lumMod val="50000"/>
                      </a:schemeClr>
                    </a:solidFill>
                  </a:rPr>
                  <a:t>CNN peggiora : </a:t>
                </a:r>
              </a:p>
              <a:p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Cervical </a:t>
                </a:r>
                <a14:m>
                  <m:oMath xmlns:m="http://schemas.openxmlformats.org/officeDocument/2006/math">
                    <m:r>
                      <a:rPr lang="it-IT" sz="1400" i="1">
                        <a:solidFill>
                          <a:srgbClr val="2538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→</m:t>
                    </m:r>
                  </m:oMath>
                </a14:m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Gastric </a:t>
                </a:r>
              </a:p>
              <a:p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Cervical </a:t>
                </a:r>
                <a14:m>
                  <m:oMath xmlns:m="http://schemas.openxmlformats.org/officeDocument/2006/math">
                    <m:r>
                      <a:rPr lang="it-IT" sz="1400" i="1">
                        <a:solidFill>
                          <a:srgbClr val="25384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→</m:t>
                    </m:r>
                  </m:oMath>
                </a14:m>
                <a:r>
                  <a:rPr lang="it-IT" sz="1400" dirty="0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it-IT" sz="1400" dirty="0" err="1">
                    <a:solidFill>
                      <a:srgbClr val="25384D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Lymphoma</a:t>
                </a:r>
                <a:endParaRPr lang="it-IT" sz="1400" dirty="0">
                  <a:solidFill>
                    <a:srgbClr val="25384D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11" name="Google Shape;798;p43">
                <a:extLst>
                  <a:ext uri="{FF2B5EF4-FFF2-40B4-BE49-F238E27FC236}">
                    <a16:creationId xmlns:a16="http://schemas.microsoft.com/office/drawing/2014/main" id="{76F504EF-334A-8CFC-8630-4FA02B663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3559519"/>
                <a:ext cx="3767754" cy="10110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ottotitolo 2">
            <a:extLst>
              <a:ext uri="{FF2B5EF4-FFF2-40B4-BE49-F238E27FC236}">
                <a16:creationId xmlns:a16="http://schemas.microsoft.com/office/drawing/2014/main" id="{7787AC7B-9C15-FFEC-7833-0CB301537B3A}"/>
              </a:ext>
            </a:extLst>
          </p:cNvPr>
          <p:cNvSpPr txBox="1">
            <a:spLocks/>
          </p:cNvSpPr>
          <p:nvPr/>
        </p:nvSpPr>
        <p:spPr>
          <a:xfrm>
            <a:off x="3950634" y="4570554"/>
            <a:ext cx="4911116" cy="4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200" dirty="0"/>
              <a:t>Errori simili con obiettivi di training diversi suggeriscono una sovrapposizione strutturale delle rappresentazioni FCGR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2"/>
          <p:cNvSpPr txBox="1">
            <a:spLocks noGrp="1"/>
          </p:cNvSpPr>
          <p:nvPr>
            <p:ph type="title"/>
          </p:nvPr>
        </p:nvSpPr>
        <p:spPr>
          <a:xfrm>
            <a:off x="718900" y="2095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Prestazioni per classe e spazio latente</a:t>
            </a:r>
            <a:endParaRPr dirty="0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F346FADD-0185-71D4-3D8E-75EE6DAAE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0655"/>
            <a:ext cx="5615611" cy="2208556"/>
          </a:xfrm>
          <a:prstGeom prst="rect">
            <a:avLst/>
          </a:prstGeom>
        </p:spPr>
      </p:pic>
      <p:sp>
        <p:nvSpPr>
          <p:cNvPr id="29" name="Google Shape;798;p43">
            <a:extLst>
              <a:ext uri="{FF2B5EF4-FFF2-40B4-BE49-F238E27FC236}">
                <a16:creationId xmlns:a16="http://schemas.microsoft.com/office/drawing/2014/main" id="{C55F611E-6565-B492-5AEB-A98A9AE2E1C9}"/>
              </a:ext>
            </a:extLst>
          </p:cNvPr>
          <p:cNvSpPr txBox="1">
            <a:spLocks/>
          </p:cNvSpPr>
          <p:nvPr/>
        </p:nvSpPr>
        <p:spPr>
          <a:xfrm>
            <a:off x="5550813" y="1063453"/>
            <a:ext cx="3767754" cy="11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4500" b="0" i="0" u="none" strike="noStrike" cap="none" spc="0">
                <a:solidFill>
                  <a:schemeClr val="accent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2000" dirty="0">
                <a:solidFill>
                  <a:schemeClr val="tx2">
                    <a:lumMod val="50000"/>
                  </a:schemeClr>
                </a:solidFill>
              </a:rPr>
              <a:t>Classi più facili : </a:t>
            </a: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Melanoma</a:t>
            </a: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Gastric cancer</a:t>
            </a: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Ovarian cancer</a:t>
            </a:r>
          </a:p>
        </p:txBody>
      </p:sp>
      <p:sp>
        <p:nvSpPr>
          <p:cNvPr id="31" name="Google Shape;798;p43">
            <a:extLst>
              <a:ext uri="{FF2B5EF4-FFF2-40B4-BE49-F238E27FC236}">
                <a16:creationId xmlns:a16="http://schemas.microsoft.com/office/drawing/2014/main" id="{F97400B2-2C40-E152-9938-56CA059B240B}"/>
              </a:ext>
            </a:extLst>
          </p:cNvPr>
          <p:cNvSpPr txBox="1">
            <a:spLocks/>
          </p:cNvSpPr>
          <p:nvPr/>
        </p:nvSpPr>
        <p:spPr>
          <a:xfrm>
            <a:off x="5550813" y="2351187"/>
            <a:ext cx="3767754" cy="11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4500" b="0" i="0" u="none" strike="noStrike" cap="none" spc="0">
                <a:solidFill>
                  <a:schemeClr val="accent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2000" dirty="0">
                <a:solidFill>
                  <a:schemeClr val="tx2">
                    <a:lumMod val="50000"/>
                  </a:schemeClr>
                </a:solidFill>
              </a:rPr>
              <a:t>Classi più difficili : </a:t>
            </a:r>
            <a:endParaRPr lang="it-IT" sz="1400" dirty="0">
              <a:solidFill>
                <a:srgbClr val="25384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Prostate cancer</a:t>
            </a: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Healthy</a:t>
            </a:r>
          </a:p>
        </p:txBody>
      </p:sp>
      <p:sp>
        <p:nvSpPr>
          <p:cNvPr id="33" name="Google Shape;798;p43">
            <a:extLst>
              <a:ext uri="{FF2B5EF4-FFF2-40B4-BE49-F238E27FC236}">
                <a16:creationId xmlns:a16="http://schemas.microsoft.com/office/drawing/2014/main" id="{AF14AFF1-FEA3-259C-2A89-FBC3B1CE26E1}"/>
              </a:ext>
            </a:extLst>
          </p:cNvPr>
          <p:cNvSpPr txBox="1">
            <a:spLocks/>
          </p:cNvSpPr>
          <p:nvPr/>
        </p:nvSpPr>
        <p:spPr>
          <a:xfrm>
            <a:off x="4762775" y="3638921"/>
            <a:ext cx="4163994" cy="11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4500" b="0" i="0" u="none" strike="noStrike" cap="none" spc="0">
                <a:solidFill>
                  <a:schemeClr val="accent1"/>
                </a:solidFill>
                <a:latin typeface="Gotu"/>
                <a:ea typeface="Gotu"/>
                <a:cs typeface="Gotu"/>
                <a:sym typeface="Gotu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otu"/>
              <a:buNone/>
              <a:defRPr sz="6000" b="0" i="0" u="none" strike="noStrike" cap="none" spc="0">
                <a:solidFill>
                  <a:schemeClr val="lt1"/>
                </a:solidFill>
                <a:latin typeface="Gotu"/>
                <a:ea typeface="Gotu"/>
                <a:cs typeface="Gotu"/>
                <a:sym typeface="Gotu"/>
              </a:defRPr>
            </a:lvl9pPr>
          </a:lstStyle>
          <a:p>
            <a:r>
              <a:rPr lang="it-IT" sz="2000" dirty="0">
                <a:solidFill>
                  <a:schemeClr val="tx2">
                    <a:lumMod val="50000"/>
                  </a:schemeClr>
                </a:solidFill>
              </a:rPr>
              <a:t>Geometria dello spazio latente: </a:t>
            </a:r>
            <a:endParaRPr lang="it-IT" sz="1400" dirty="0">
              <a:solidFill>
                <a:srgbClr val="25384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11 classi su 12 hanno </a:t>
            </a:r>
            <a:r>
              <a:rPr lang="it-IT" sz="1400" dirty="0" err="1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sparation</a:t>
            </a:r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ratio &lt; 1</a:t>
            </a:r>
          </a:p>
          <a:p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Melanoma mostra una separazione netta nello spazio</a:t>
            </a:r>
          </a:p>
        </p:txBody>
      </p:sp>
      <p:sp>
        <p:nvSpPr>
          <p:cNvPr id="35" name="Sottotitolo 2">
            <a:extLst>
              <a:ext uri="{FF2B5EF4-FFF2-40B4-BE49-F238E27FC236}">
                <a16:creationId xmlns:a16="http://schemas.microsoft.com/office/drawing/2014/main" id="{13979E5B-736A-3008-A9E6-D5F80DFE692A}"/>
              </a:ext>
            </a:extLst>
          </p:cNvPr>
          <p:cNvSpPr txBox="1">
            <a:spLocks/>
          </p:cNvSpPr>
          <p:nvPr/>
        </p:nvSpPr>
        <p:spPr>
          <a:xfrm>
            <a:off x="110573" y="3824967"/>
            <a:ext cx="3962663" cy="76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200" dirty="0"/>
              <a:t>Le classi difficili rimangono tali con modelli diversi: la sovrapposizione è già presente nelle feature FCGR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>
          <a:extLst>
            <a:ext uri="{FF2B5EF4-FFF2-40B4-BE49-F238E27FC236}">
              <a16:creationId xmlns:a16="http://schemas.microsoft.com/office/drawing/2014/main" id="{9F1960BA-446D-27EA-2EAF-75C771A5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7">
            <a:extLst>
              <a:ext uri="{FF2B5EF4-FFF2-40B4-BE49-F238E27FC236}">
                <a16:creationId xmlns:a16="http://schemas.microsoft.com/office/drawing/2014/main" id="{E43F6C13-A25F-B5E9-1835-76DC26356C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1975" y="2429100"/>
            <a:ext cx="4056900" cy="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Conclusioni</a:t>
            </a:r>
            <a:endParaRPr dirty="0"/>
          </a:p>
        </p:txBody>
      </p:sp>
      <p:sp>
        <p:nvSpPr>
          <p:cNvPr id="705" name="Google Shape;705;p37">
            <a:extLst>
              <a:ext uri="{FF2B5EF4-FFF2-40B4-BE49-F238E27FC236}">
                <a16:creationId xmlns:a16="http://schemas.microsoft.com/office/drawing/2014/main" id="{00E61137-996F-6C64-1562-08C598E5C53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71975" y="1793850"/>
            <a:ext cx="1239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707" name="Google Shape;707;p37">
            <a:extLst>
              <a:ext uri="{FF2B5EF4-FFF2-40B4-BE49-F238E27FC236}">
                <a16:creationId xmlns:a16="http://schemas.microsoft.com/office/drawing/2014/main" id="{2F13DC87-C46E-7E35-F6C4-31D06D966189}"/>
              </a:ext>
            </a:extLst>
          </p:cNvPr>
          <p:cNvCxnSpPr/>
          <p:nvPr/>
        </p:nvCxnSpPr>
        <p:spPr>
          <a:xfrm>
            <a:off x="4000500" y="3349638"/>
            <a:ext cx="51435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Segnaposto immagine 13">
            <a:extLst>
              <a:ext uri="{FF2B5EF4-FFF2-40B4-BE49-F238E27FC236}">
                <a16:creationId xmlns:a16="http://schemas.microsoft.com/office/drawing/2014/main" id="{B43E7B0C-8643-2759-57BB-B682DE905636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t="13373" b="13373"/>
          <a:stretch>
            <a:fillRect/>
          </a:stretch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1845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>
          <a:extLst>
            <a:ext uri="{FF2B5EF4-FFF2-40B4-BE49-F238E27FC236}">
              <a16:creationId xmlns:a16="http://schemas.microsoft.com/office/drawing/2014/main" id="{B8822A40-725C-55CD-C029-65DB22954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1">
            <a:extLst>
              <a:ext uri="{FF2B5EF4-FFF2-40B4-BE49-F238E27FC236}">
                <a16:creationId xmlns:a16="http://schemas.microsoft.com/office/drawing/2014/main" id="{0ED4016E-7834-5457-4B68-8887A308A1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6389" y="3205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Conclusioni</a:t>
            </a:r>
            <a:endParaRPr dirty="0"/>
          </a:p>
        </p:txBody>
      </p:sp>
      <p:sp>
        <p:nvSpPr>
          <p:cNvPr id="767" name="Google Shape;767;p41">
            <a:extLst>
              <a:ext uri="{FF2B5EF4-FFF2-40B4-BE49-F238E27FC236}">
                <a16:creationId xmlns:a16="http://schemas.microsoft.com/office/drawing/2014/main" id="{06D3C6E6-A648-5698-2F23-107554C1A9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142233"/>
            <a:ext cx="29670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Siamese Network</a:t>
            </a:r>
            <a:endParaRPr dirty="0"/>
          </a:p>
        </p:txBody>
      </p:sp>
      <p:cxnSp>
        <p:nvCxnSpPr>
          <p:cNvPr id="771" name="Google Shape;771;p41">
            <a:extLst>
              <a:ext uri="{FF2B5EF4-FFF2-40B4-BE49-F238E27FC236}">
                <a16:creationId xmlns:a16="http://schemas.microsoft.com/office/drawing/2014/main" id="{75FC4B02-ED47-83F2-0021-AB74FFBB3906}"/>
              </a:ext>
            </a:extLst>
          </p:cNvPr>
          <p:cNvCxnSpPr>
            <a:cxnSpLocks/>
          </p:cNvCxnSpPr>
          <p:nvPr/>
        </p:nvCxnSpPr>
        <p:spPr>
          <a:xfrm flipV="1">
            <a:off x="4572000" y="1405183"/>
            <a:ext cx="0" cy="1498884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771;p41">
            <a:extLst>
              <a:ext uri="{FF2B5EF4-FFF2-40B4-BE49-F238E27FC236}">
                <a16:creationId xmlns:a16="http://schemas.microsoft.com/office/drawing/2014/main" id="{E3573730-B170-8ACC-48F0-90D9CA568A7A}"/>
              </a:ext>
            </a:extLst>
          </p:cNvPr>
          <p:cNvCxnSpPr>
            <a:cxnSpLocks/>
          </p:cNvCxnSpPr>
          <p:nvPr/>
        </p:nvCxnSpPr>
        <p:spPr>
          <a:xfrm flipH="1">
            <a:off x="907926" y="3079897"/>
            <a:ext cx="7328147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767;p41">
            <a:extLst>
              <a:ext uri="{FF2B5EF4-FFF2-40B4-BE49-F238E27FC236}">
                <a16:creationId xmlns:a16="http://schemas.microsoft.com/office/drawing/2014/main" id="{A91991CB-2F7C-B8AA-0AF6-998E3CE42335}"/>
              </a:ext>
            </a:extLst>
          </p:cNvPr>
          <p:cNvSpPr txBox="1">
            <a:spLocks/>
          </p:cNvSpPr>
          <p:nvPr/>
        </p:nvSpPr>
        <p:spPr>
          <a:xfrm>
            <a:off x="1159932" y="4560037"/>
            <a:ext cx="6824134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400" dirty="0"/>
              <a:t>FCGR contiene informazione disease-aware, ma da sola non garantisce una separazione netta delle 12 classi</a:t>
            </a:r>
          </a:p>
        </p:txBody>
      </p:sp>
      <p:sp>
        <p:nvSpPr>
          <p:cNvPr id="42" name="Google Shape;762;p41">
            <a:extLst>
              <a:ext uri="{FF2B5EF4-FFF2-40B4-BE49-F238E27FC236}">
                <a16:creationId xmlns:a16="http://schemas.microsoft.com/office/drawing/2014/main" id="{64F5F6D3-B6CF-2997-6884-5D9897518640}"/>
              </a:ext>
            </a:extLst>
          </p:cNvPr>
          <p:cNvSpPr txBox="1">
            <a:spLocks/>
          </p:cNvSpPr>
          <p:nvPr/>
        </p:nvSpPr>
        <p:spPr>
          <a:xfrm>
            <a:off x="225405" y="1566770"/>
            <a:ext cx="3772351" cy="120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it-IT" sz="1400" dirty="0"/>
              <a:t>✓</a:t>
            </a:r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it-IT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APPRENDE UNO SPAIZO DISEASE AWARE</a:t>
            </a:r>
          </a:p>
          <a:p>
            <a:pPr marL="0" indent="0"/>
            <a:r>
              <a:rPr lang="it-IT" dirty="0"/>
              <a:t>✓ CONSENTE SIMILARITY SEARCH E RANKING</a:t>
            </a:r>
          </a:p>
          <a:p>
            <a:pPr marL="0" indent="0"/>
            <a:r>
              <a:rPr lang="it-IT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TOP-3 ≈ 66%  TOP-5 ≈ 83%</a:t>
            </a:r>
          </a:p>
          <a:p>
            <a:pPr marL="0" indent="0"/>
            <a:endParaRPr lang="it-IT" dirty="0">
              <a:solidFill>
                <a:srgbClr val="25384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/>
            <a:r>
              <a:rPr lang="it-IT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UTILE QUANDO INTERESSA LA SIMILARITÀ TRA CAMPIONI</a:t>
            </a:r>
          </a:p>
          <a:p>
            <a:pPr marL="0" indent="0"/>
            <a:endParaRPr lang="it-IT" dirty="0">
              <a:solidFill>
                <a:srgbClr val="25384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Google Shape;767;p41">
            <a:extLst>
              <a:ext uri="{FF2B5EF4-FFF2-40B4-BE49-F238E27FC236}">
                <a16:creationId xmlns:a16="http://schemas.microsoft.com/office/drawing/2014/main" id="{C9D94CD4-4D0B-24EA-2D75-E248D3432120}"/>
              </a:ext>
            </a:extLst>
          </p:cNvPr>
          <p:cNvSpPr txBox="1">
            <a:spLocks/>
          </p:cNvSpPr>
          <p:nvPr/>
        </p:nvSpPr>
        <p:spPr>
          <a:xfrm>
            <a:off x="4693502" y="1142233"/>
            <a:ext cx="29670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dirty="0"/>
              <a:t>CNN diretta</a:t>
            </a:r>
          </a:p>
        </p:txBody>
      </p:sp>
      <p:sp>
        <p:nvSpPr>
          <p:cNvPr id="6" name="Google Shape;762;p41">
            <a:extLst>
              <a:ext uri="{FF2B5EF4-FFF2-40B4-BE49-F238E27FC236}">
                <a16:creationId xmlns:a16="http://schemas.microsoft.com/office/drawing/2014/main" id="{9A603B4D-2895-CC37-5079-80B244E9B58F}"/>
              </a:ext>
            </a:extLst>
          </p:cNvPr>
          <p:cNvSpPr txBox="1">
            <a:spLocks/>
          </p:cNvSpPr>
          <p:nvPr/>
        </p:nvSpPr>
        <p:spPr>
          <a:xfrm>
            <a:off x="4918907" y="1566770"/>
            <a:ext cx="3772351" cy="120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it-IT" sz="1400" dirty="0"/>
              <a:t>✓</a:t>
            </a:r>
            <a:r>
              <a:rPr lang="it-IT" sz="1400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it-IT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MIGLIORE PER CLASSIFICAZIONE HARD</a:t>
            </a:r>
          </a:p>
          <a:p>
            <a:pPr marL="0" indent="0"/>
            <a:r>
              <a:rPr lang="it-IT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TOP-1 ≈ 33%  BAL ACC≈ 33%</a:t>
            </a:r>
          </a:p>
          <a:p>
            <a:pPr marL="0" indent="0"/>
            <a:endParaRPr lang="it-IT" dirty="0">
              <a:solidFill>
                <a:srgbClr val="25384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/>
            <a:r>
              <a:rPr lang="it-IT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IL METRIC LEARNING NON SUPERA LA CLASSIFICAZIONE SUPERVISIONATA STANDARD NEL TASK A 12 CLASSI.</a:t>
            </a:r>
          </a:p>
        </p:txBody>
      </p:sp>
      <p:sp>
        <p:nvSpPr>
          <p:cNvPr id="10" name="Google Shape;767;p41">
            <a:extLst>
              <a:ext uri="{FF2B5EF4-FFF2-40B4-BE49-F238E27FC236}">
                <a16:creationId xmlns:a16="http://schemas.microsoft.com/office/drawing/2014/main" id="{FE5EB52D-518D-F4FF-432F-9236DB591C7B}"/>
              </a:ext>
            </a:extLst>
          </p:cNvPr>
          <p:cNvSpPr txBox="1">
            <a:spLocks/>
          </p:cNvSpPr>
          <p:nvPr/>
        </p:nvSpPr>
        <p:spPr>
          <a:xfrm>
            <a:off x="3088499" y="3153087"/>
            <a:ext cx="29670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dirty="0"/>
              <a:t>LIMITE PRINCIPALE</a:t>
            </a:r>
          </a:p>
        </p:txBody>
      </p:sp>
      <p:sp>
        <p:nvSpPr>
          <p:cNvPr id="14" name="Google Shape;762;p41">
            <a:extLst>
              <a:ext uri="{FF2B5EF4-FFF2-40B4-BE49-F238E27FC236}">
                <a16:creationId xmlns:a16="http://schemas.microsoft.com/office/drawing/2014/main" id="{E7E6F028-00D8-8ED9-BF88-C47F1F49A765}"/>
              </a:ext>
            </a:extLst>
          </p:cNvPr>
          <p:cNvSpPr txBox="1">
            <a:spLocks/>
          </p:cNvSpPr>
          <p:nvPr/>
        </p:nvSpPr>
        <p:spPr>
          <a:xfrm>
            <a:off x="2111580" y="3624411"/>
            <a:ext cx="5145844" cy="5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 spc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it-IT" sz="1400" dirty="0"/>
              <a:t>SOVRAPPOSIZIONE TRA LE CLASSI</a:t>
            </a:r>
          </a:p>
          <a:p>
            <a:pPr marL="0" indent="0"/>
            <a:r>
              <a:rPr lang="it-IT" dirty="0">
                <a:solidFill>
                  <a:srgbClr val="2538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limitazione sembra essere già presente nelle feature FCGR apprese</a:t>
            </a:r>
          </a:p>
        </p:txBody>
      </p:sp>
    </p:spTree>
    <p:extLst>
      <p:ext uri="{BB962C8B-B14F-4D97-AF65-F5344CB8AC3E}">
        <p14:creationId xmlns:p14="http://schemas.microsoft.com/office/powerpoint/2010/main" val="2895091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>
          <a:extLst>
            <a:ext uri="{FF2B5EF4-FFF2-40B4-BE49-F238E27FC236}">
              <a16:creationId xmlns:a16="http://schemas.microsoft.com/office/drawing/2014/main" id="{5D0584D6-0420-3669-A306-79448F28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1">
            <a:extLst>
              <a:ext uri="{FF2B5EF4-FFF2-40B4-BE49-F238E27FC236}">
                <a16:creationId xmlns:a16="http://schemas.microsoft.com/office/drawing/2014/main" id="{92F89BE8-00A7-4F6E-A4C1-ABFAC2953F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6389" y="3205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Sviluppi</a:t>
            </a:r>
            <a:r>
              <a:rPr lang="en" dirty="0"/>
              <a:t> futuri</a:t>
            </a:r>
            <a:endParaRPr dirty="0"/>
          </a:p>
        </p:txBody>
      </p:sp>
      <p:sp>
        <p:nvSpPr>
          <p:cNvPr id="4" name="Google Shape;781;p42">
            <a:extLst>
              <a:ext uri="{FF2B5EF4-FFF2-40B4-BE49-F238E27FC236}">
                <a16:creationId xmlns:a16="http://schemas.microsoft.com/office/drawing/2014/main" id="{017415D7-9B24-CBE4-05D4-7A47A6FEE305}"/>
              </a:ext>
            </a:extLst>
          </p:cNvPr>
          <p:cNvSpPr txBox="1">
            <a:spLocks/>
          </p:cNvSpPr>
          <p:nvPr/>
        </p:nvSpPr>
        <p:spPr>
          <a:xfrm>
            <a:off x="1012097" y="1490240"/>
            <a:ext cx="2868249" cy="97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600" dirty="0"/>
              <a:t>Integrare lunghezza, GC content, coordinate e annotazioni funzionali</a:t>
            </a:r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24332D0D-A9C1-F784-D36D-DC7265E20DCF}"/>
              </a:ext>
            </a:extLst>
          </p:cNvPr>
          <p:cNvGrpSpPr>
            <a:grpSpLocks noChangeAspect="1"/>
          </p:cNvGrpSpPr>
          <p:nvPr/>
        </p:nvGrpSpPr>
        <p:grpSpPr>
          <a:xfrm>
            <a:off x="987384" y="1161907"/>
            <a:ext cx="2875487" cy="1627161"/>
            <a:chOff x="552379" y="1382369"/>
            <a:chExt cx="2529250" cy="1431235"/>
          </a:xfrm>
        </p:grpSpPr>
        <p:sp>
          <p:nvSpPr>
            <p:cNvPr id="7" name="Rettangolo con angoli arrotondati 6">
              <a:extLst>
                <a:ext uri="{FF2B5EF4-FFF2-40B4-BE49-F238E27FC236}">
                  <a16:creationId xmlns:a16="http://schemas.microsoft.com/office/drawing/2014/main" id="{F41EC753-A91C-4D89-177F-268C0A8FE31D}"/>
                </a:ext>
              </a:extLst>
            </p:cNvPr>
            <p:cNvSpPr/>
            <p:nvPr/>
          </p:nvSpPr>
          <p:spPr>
            <a:xfrm>
              <a:off x="552379" y="1382369"/>
              <a:ext cx="2529250" cy="1431235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Rettangolo con angoli arrotondati 24">
              <a:extLst>
                <a:ext uri="{FF2B5EF4-FFF2-40B4-BE49-F238E27FC236}">
                  <a16:creationId xmlns:a16="http://schemas.microsoft.com/office/drawing/2014/main" id="{0A0EF697-6B8A-ECB1-ACEA-E9E9833AFB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294" y="1438028"/>
              <a:ext cx="2332529" cy="1319916"/>
            </a:xfrm>
            <a:prstGeom prst="roundRect">
              <a:avLst/>
            </a:prstGeom>
            <a:noFill/>
            <a:ln w="12700">
              <a:solidFill>
                <a:srgbClr val="CFD8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7" name="Google Shape;781;p42">
            <a:extLst>
              <a:ext uri="{FF2B5EF4-FFF2-40B4-BE49-F238E27FC236}">
                <a16:creationId xmlns:a16="http://schemas.microsoft.com/office/drawing/2014/main" id="{10D13AAD-5C99-618A-A541-5067A2D5E572}"/>
              </a:ext>
            </a:extLst>
          </p:cNvPr>
          <p:cNvSpPr txBox="1">
            <a:spLocks/>
          </p:cNvSpPr>
          <p:nvPr/>
        </p:nvSpPr>
        <p:spPr>
          <a:xfrm>
            <a:off x="4893118" y="1490240"/>
            <a:ext cx="2868249" cy="97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600" dirty="0"/>
              <a:t>Valutare split più severi per tissue / cell line / source database</a:t>
            </a:r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239E4AF7-6A05-C77F-9810-5907D9D5634F}"/>
              </a:ext>
            </a:extLst>
          </p:cNvPr>
          <p:cNvGrpSpPr>
            <a:grpSpLocks noChangeAspect="1"/>
          </p:cNvGrpSpPr>
          <p:nvPr/>
        </p:nvGrpSpPr>
        <p:grpSpPr>
          <a:xfrm>
            <a:off x="4868405" y="1161907"/>
            <a:ext cx="2875487" cy="1627161"/>
            <a:chOff x="552379" y="1382369"/>
            <a:chExt cx="2529250" cy="1431235"/>
          </a:xfrm>
        </p:grpSpPr>
        <p:sp>
          <p:nvSpPr>
            <p:cNvPr id="29" name="Rettangolo con angoli arrotondati 28">
              <a:extLst>
                <a:ext uri="{FF2B5EF4-FFF2-40B4-BE49-F238E27FC236}">
                  <a16:creationId xmlns:a16="http://schemas.microsoft.com/office/drawing/2014/main" id="{6AEF6D60-4DA0-9C35-6133-53C88B6BF190}"/>
                </a:ext>
              </a:extLst>
            </p:cNvPr>
            <p:cNvSpPr/>
            <p:nvPr/>
          </p:nvSpPr>
          <p:spPr>
            <a:xfrm>
              <a:off x="552379" y="1382369"/>
              <a:ext cx="2529250" cy="1431235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0" name="Rettangolo con angoli arrotondati 29">
              <a:extLst>
                <a:ext uri="{FF2B5EF4-FFF2-40B4-BE49-F238E27FC236}">
                  <a16:creationId xmlns:a16="http://schemas.microsoft.com/office/drawing/2014/main" id="{F4D9A8CC-64E3-D62F-D7E0-F17565E161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294" y="1438028"/>
              <a:ext cx="2332529" cy="1319916"/>
            </a:xfrm>
            <a:prstGeom prst="roundRect">
              <a:avLst/>
            </a:prstGeom>
            <a:noFill/>
            <a:ln w="12700">
              <a:solidFill>
                <a:srgbClr val="CFD8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31" name="Google Shape;781;p42">
            <a:extLst>
              <a:ext uri="{FF2B5EF4-FFF2-40B4-BE49-F238E27FC236}">
                <a16:creationId xmlns:a16="http://schemas.microsoft.com/office/drawing/2014/main" id="{909EBFB5-40C4-3DE5-6A7F-7D30C327EA84}"/>
              </a:ext>
            </a:extLst>
          </p:cNvPr>
          <p:cNvSpPr txBox="1">
            <a:spLocks/>
          </p:cNvSpPr>
          <p:nvPr/>
        </p:nvSpPr>
        <p:spPr>
          <a:xfrm>
            <a:off x="3056278" y="3433067"/>
            <a:ext cx="2760043" cy="97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Gotu"/>
                <a:ea typeface="Gotu"/>
                <a:cs typeface="Gotu"/>
                <a:sym typeface="Go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600" dirty="0"/>
              <a:t>Esplorare pretraining self-supervised delle FCGR</a:t>
            </a:r>
            <a:endParaRPr lang="it-IT" sz="1600" dirty="0"/>
          </a:p>
        </p:txBody>
      </p: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61EA2F21-1DD0-11EC-4FF3-954FC0441F1C}"/>
              </a:ext>
            </a:extLst>
          </p:cNvPr>
          <p:cNvGrpSpPr>
            <a:grpSpLocks noChangeAspect="1"/>
          </p:cNvGrpSpPr>
          <p:nvPr/>
        </p:nvGrpSpPr>
        <p:grpSpPr>
          <a:xfrm>
            <a:off x="2977462" y="3104734"/>
            <a:ext cx="2875487" cy="1627161"/>
            <a:chOff x="552379" y="1382369"/>
            <a:chExt cx="2529250" cy="1431235"/>
          </a:xfrm>
        </p:grpSpPr>
        <p:sp>
          <p:nvSpPr>
            <p:cNvPr id="33" name="Rettangolo con angoli arrotondati 32">
              <a:extLst>
                <a:ext uri="{FF2B5EF4-FFF2-40B4-BE49-F238E27FC236}">
                  <a16:creationId xmlns:a16="http://schemas.microsoft.com/office/drawing/2014/main" id="{A4EFF03D-56C0-171C-9D48-387FEA1DBBE3}"/>
                </a:ext>
              </a:extLst>
            </p:cNvPr>
            <p:cNvSpPr/>
            <p:nvPr/>
          </p:nvSpPr>
          <p:spPr>
            <a:xfrm>
              <a:off x="552379" y="1382369"/>
              <a:ext cx="2529250" cy="1431235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4" name="Rettangolo con angoli arrotondati 33">
              <a:extLst>
                <a:ext uri="{FF2B5EF4-FFF2-40B4-BE49-F238E27FC236}">
                  <a16:creationId xmlns:a16="http://schemas.microsoft.com/office/drawing/2014/main" id="{13748D68-39DE-ACD9-196F-758DABD80B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294" y="1438028"/>
              <a:ext cx="2332529" cy="1319916"/>
            </a:xfrm>
            <a:prstGeom prst="roundRect">
              <a:avLst/>
            </a:prstGeom>
            <a:noFill/>
            <a:ln w="12700">
              <a:solidFill>
                <a:srgbClr val="CFD8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664207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3"/>
          <p:cNvSpPr txBox="1">
            <a:spLocks noGrp="1"/>
          </p:cNvSpPr>
          <p:nvPr>
            <p:ph type="ctrTitle"/>
          </p:nvPr>
        </p:nvSpPr>
        <p:spPr>
          <a:xfrm>
            <a:off x="-1013948" y="844372"/>
            <a:ext cx="7215242" cy="18455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Grazie per l’attenzione</a:t>
            </a:r>
            <a:endParaRPr dirty="0"/>
          </a:p>
        </p:txBody>
      </p:sp>
      <p:cxnSp>
        <p:nvCxnSpPr>
          <p:cNvPr id="928" name="Google Shape;928;p53"/>
          <p:cNvCxnSpPr/>
          <p:nvPr/>
        </p:nvCxnSpPr>
        <p:spPr>
          <a:xfrm>
            <a:off x="149579" y="2816874"/>
            <a:ext cx="46767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AI and DNA Medical Breakthrough by Slidesgo">
  <a:themeElements>
    <a:clrScheme name="Simple Light">
      <a:dk1>
        <a:srgbClr val="25384D"/>
      </a:dk1>
      <a:lt1>
        <a:srgbClr val="FFFFFF"/>
      </a:lt1>
      <a:dk2>
        <a:srgbClr val="F0F0F0"/>
      </a:dk2>
      <a:lt2>
        <a:srgbClr val="CFD8DF"/>
      </a:lt2>
      <a:accent1>
        <a:srgbClr val="9CB1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538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4567</Words>
  <Application>Microsoft Office PowerPoint</Application>
  <PresentationFormat>Presentazione su schermo (16:9)</PresentationFormat>
  <Paragraphs>373</Paragraphs>
  <Slides>25</Slides>
  <Notes>25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3" baseType="lpstr">
      <vt:lpstr>Raleway</vt:lpstr>
      <vt:lpstr>Lato</vt:lpstr>
      <vt:lpstr>Cambria Math</vt:lpstr>
      <vt:lpstr>Gotu</vt:lpstr>
      <vt:lpstr>Arial</vt:lpstr>
      <vt:lpstr>Hind</vt:lpstr>
      <vt:lpstr>Open Sans</vt:lpstr>
      <vt:lpstr>AI and DNA Medical Breakthrough by Slidesgo</vt:lpstr>
      <vt:lpstr>FCGR e Siamese Networks per l’analisi di similarità di eccDNA</vt:lpstr>
      <vt:lpstr>Obiettivi del Progetto</vt:lpstr>
      <vt:lpstr>Table of contents</vt:lpstr>
      <vt:lpstr>Background</vt:lpstr>
      <vt:lpstr>DNA extracromosomico circolare (eccDNA) </vt:lpstr>
      <vt:lpstr>Dalle sequenze alle FCGR</vt:lpstr>
      <vt:lpstr>Siamese Network e metric learning</vt:lpstr>
      <vt:lpstr>Dataset</vt:lpstr>
      <vt:lpstr>Dataset e task finale</vt:lpstr>
      <vt:lpstr>Split, leakage e bilanciamento</vt:lpstr>
      <vt:lpstr>Metodologia</vt:lpstr>
      <vt:lpstr>Backbone CNN condivisa</vt:lpstr>
      <vt:lpstr>Training della Siamese Network</vt:lpstr>
      <vt:lpstr>Presentazione standard di PowerPoint</vt:lpstr>
      <vt:lpstr>CNN multiclass diretta</vt:lpstr>
      <vt:lpstr>Risultati</vt:lpstr>
      <vt:lpstr>Ablation e scelte finali</vt:lpstr>
      <vt:lpstr>Effetto del training set completo</vt:lpstr>
      <vt:lpstr>Confronto finale dei modelli</vt:lpstr>
      <vt:lpstr>Analisi delle principali confusioni</vt:lpstr>
      <vt:lpstr>Prestazioni per classe e spazio latente</vt:lpstr>
      <vt:lpstr>Conclusioni</vt:lpstr>
      <vt:lpstr>Conclusioni</vt:lpstr>
      <vt:lpstr>Sviluppi futuri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DARIA SIMONETTI</cp:lastModifiedBy>
  <cp:revision>8</cp:revision>
  <dcterms:modified xsi:type="dcterms:W3CDTF">2026-09-12T09:10:13Z</dcterms:modified>
</cp:coreProperties>
</file>